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2F1EE"/>
          </a:solidFill>
          <a:ln w="15875">
            <a:solidFill>
              <a:srgbClr val="8C8A83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02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3A36"/>
                </a:solidFill>
              </a:rPr>
              <a:t>Source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A83"/>
                </a:solidFill>
              </a:rPr>
              <a:t>system of record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88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EDFB"/>
          </a:solidFill>
          <a:ln w="15875">
            <a:solidFill>
              <a:srgbClr val="6B5DD3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788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489"/>
                </a:solidFill>
              </a:rPr>
              <a:t>Scheduled Extractor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DD3"/>
                </a:solidFill>
              </a:rPr>
              <a:t>Function / Logic App / ADF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6F4EE"/>
          </a:solidFill>
          <a:ln w="15875">
            <a:solidFill>
              <a:srgbClr val="2E8B6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74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</a:rPr>
              <a:t>Stage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8B6B"/>
                </a:solidFill>
              </a:rPr>
              <a:t>ADLS Gen2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BEEDC"/>
          </a:solidFill>
          <a:ln w="15875">
            <a:solidFill>
              <a:srgbClr val="B5842F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60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</a:rPr>
              <a:t>COPY INTO / Snowpipe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5842F"/>
                </a:solidFill>
              </a:rPr>
              <a:t>bulk load / auto-ingest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46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5875">
            <a:solidFill>
              <a:srgbClr val="3F7FC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46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6B"/>
                </a:solidFill>
              </a:rPr>
              <a:t>Snowflake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F7FCB"/>
                </a:solidFill>
              </a:rPr>
              <a:t>raw schema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59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45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31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17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3726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7FCB"/>
                </a:solidFill>
              </a:rPr>
              <a:t>off operational sync path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2C2A"/>
                </a:solidFill>
              </a:rPr>
              <a:t>Pattern — Scheduled Batch Ingestion (watermark / CDC)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5E5A"/>
                </a:solidFill>
              </a:rPr>
              <a:t>Extractor is an implementation choice, selected in the build phase by extraction complexity — the staged hand-off contract is the invariant.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</a:rPr>
              <a:t>Managed identity to source &amp; stage  ·  watermark / CDC state persisted (durable, externalised)  ·  Snowflake is the load target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2F1EE"/>
          </a:solidFill>
          <a:ln w="15875">
            <a:solidFill>
              <a:srgbClr val="8C8A83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02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3A36"/>
                </a:solidFill>
              </a:rPr>
              <a:t>Sources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A83"/>
                </a:solidFill>
              </a:rPr>
              <a:t>multi-system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88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EDFB"/>
          </a:solidFill>
          <a:ln w="15875">
            <a:solidFill>
              <a:srgbClr val="6B5DD3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788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489"/>
                </a:solidFill>
              </a:rPr>
              <a:t>Orchestrator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DD3"/>
                </a:solidFill>
              </a:rPr>
              <a:t>extract &amp; stage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6F4EE"/>
          </a:solidFill>
          <a:ln w="15875">
            <a:solidFill>
              <a:srgbClr val="2E8B6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74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</a:rPr>
              <a:t>Stage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8B6B"/>
                </a:solidFill>
              </a:rPr>
              <a:t>ADLS Gen2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BEEDC"/>
          </a:solidFill>
          <a:ln w="15875">
            <a:solidFill>
              <a:srgbClr val="B5842F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60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</a:rPr>
              <a:t>Snowpipe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5842F"/>
                </a:solidFill>
              </a:rPr>
              <a:t>auto-ingest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469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5875">
            <a:solidFill>
              <a:srgbClr val="3F7FC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469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6B"/>
                </a:solidFill>
              </a:rPr>
              <a:t>Snowflake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F7FCB"/>
                </a:solidFill>
              </a:rPr>
              <a:t>transform pushdown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59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45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31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17736" y="2857500"/>
            <a:ext cx="29260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3726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7FCB"/>
                </a:solidFill>
              </a:rPr>
              <a:t>off operational sync path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2C2A"/>
                </a:solidFill>
              </a:rPr>
              <a:t>Pattern — ELT with Transformation Pushdown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5E5A"/>
                </a:solidFill>
              </a:rPr>
              <a:t>Orchestrator does extract-and-stage only; Snowpipe auto-ingests from the stage; all transformation runs inside Snowflake.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</a:rPr>
              <a:t>Transformation runs inside Snowflake  ·  not in transit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E6F4EE"/>
          </a:solidFill>
          <a:ln w="15875">
            <a:solidFill>
              <a:srgbClr val="2E8B6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28016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</a:rPr>
              <a:t>Consumer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8B6B"/>
                </a:solidFill>
              </a:rPr>
              <a:t>analytical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92624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FBECEA"/>
          </a:solidFill>
          <a:ln w="15875">
            <a:solidFill>
              <a:srgbClr val="C0503C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992624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3324"/>
                </a:solidFill>
              </a:rPr>
              <a:t>APIM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0503C"/>
                </a:solidFill>
              </a:rPr>
              <a:t>System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05088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5875">
            <a:solidFill>
              <a:srgbClr val="3F7FC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705088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6B"/>
                </a:solidFill>
              </a:rPr>
              <a:t>Snowflake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F7FCB"/>
                </a:solidFill>
              </a:rPr>
              <a:t>SQL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11296" y="2638044"/>
            <a:ext cx="1444752" cy="0"/>
          </a:xfrm>
          <a:prstGeom prst="line">
            <a:avLst/>
          </a:prstGeom>
          <a:noFill/>
          <a:ln w="19050">
            <a:solidFill>
              <a:srgbClr val="3B3A3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23760" y="2638044"/>
            <a:ext cx="1444752" cy="0"/>
          </a:xfrm>
          <a:prstGeom prst="line">
            <a:avLst/>
          </a:prstGeom>
          <a:noFill/>
          <a:ln w="19050">
            <a:solidFill>
              <a:srgbClr val="3B3A3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56048" y="3076956"/>
            <a:ext cx="-1444752" cy="0"/>
          </a:xfrm>
          <a:prstGeom prst="line">
            <a:avLst/>
          </a:prstGeom>
          <a:noFill/>
          <a:ln w="19050">
            <a:solidFill>
              <a:srgbClr val="2E8B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68512" y="3076956"/>
            <a:ext cx="-1444752" cy="0"/>
          </a:xfrm>
          <a:prstGeom prst="line">
            <a:avLst/>
          </a:prstGeom>
          <a:noFill/>
          <a:ln w="19050">
            <a:solidFill>
              <a:srgbClr val="2E8B6B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410712" y="23271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3A36"/>
                </a:solidFill>
              </a:rPr>
              <a:t>request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31318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6B"/>
                </a:solidFill>
              </a:rPr>
              <a:t>response (JSON)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2C2A"/>
                </a:solidFill>
              </a:rPr>
              <a:t>Pattern — API-Based Access (request / response)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5E5A"/>
                </a:solidFill>
              </a:rPr>
              <a:t>Synchronous read via an APIM System API to the Snowflake SQL API; by exception where staged storage is unsuitable.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</a:rPr>
              <a:t>Synchronous request / response  ·  JSON payload  ·  warehouse sits in the request path — reserve for low-QPS or front with a serving store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E9F1FB"/>
          </a:solidFill>
          <a:ln w="15875">
            <a:solidFill>
              <a:srgbClr val="3F7FC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73152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6B"/>
                </a:solidFill>
              </a:rPr>
              <a:t>Snowflake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F7FCB"/>
                </a:solidFill>
              </a:rPr>
              <a:t>export task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575304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E6F4EE"/>
          </a:solidFill>
          <a:ln w="15875">
            <a:solidFill>
              <a:srgbClr val="2E8B6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575304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</a:rPr>
              <a:t>ADLS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E8B6B"/>
                </a:solidFill>
              </a:rPr>
              <a:t>Parquet / CSV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19088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FBEEDC"/>
          </a:solidFill>
          <a:ln w="15875">
            <a:solidFill>
              <a:srgbClr val="B5842F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19088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</a:rPr>
              <a:t>Orchestration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5842F"/>
                </a:solidFill>
              </a:rPr>
              <a:t>Event Grid / Logic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62872" y="233172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EEF4E0"/>
          </a:solidFill>
          <a:ln w="15875">
            <a:solidFill>
              <a:srgbClr val="7A9A3B"/>
            </a:solidFill>
            <a:prstDash val="solid"/>
          </a:ln>
          <a:effectLst>
            <a:outerShdw sx="100000" sy="100000" kx="0" ky="0" algn="bl" rotWithShape="0" blurRad="50800" dist="12700" dir="5400000">
              <a:srgbClr val="9A9A9A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262872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E1F"/>
                </a:solidFill>
              </a:rPr>
              <a:t>Downstream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9A3B"/>
                </a:solidFill>
              </a:rPr>
              <a:t>any consumer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62656" y="2711196"/>
            <a:ext cx="576072" cy="0"/>
          </a:xfrm>
          <a:prstGeom prst="line">
            <a:avLst/>
          </a:prstGeom>
          <a:noFill/>
          <a:ln w="19050">
            <a:solidFill>
              <a:srgbClr val="2E8B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711196"/>
            <a:ext cx="576072" cy="0"/>
          </a:xfrm>
          <a:prstGeom prst="line">
            <a:avLst/>
          </a:prstGeom>
          <a:noFill/>
          <a:ln w="19050">
            <a:solidFill>
              <a:srgbClr val="3B3A3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50224" y="2711196"/>
            <a:ext cx="576072" cy="0"/>
          </a:xfrm>
          <a:prstGeom prst="line">
            <a:avLst/>
          </a:prstGeom>
          <a:noFill/>
          <a:ln w="19050">
            <a:solidFill>
              <a:srgbClr val="3B3A3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519172" y="24003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6B"/>
                </a:solidFill>
              </a:rPr>
              <a:t>unload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362956" y="24003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3A36"/>
                </a:solidFill>
              </a:rPr>
              <a:t>notify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06740" y="24003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3A36"/>
                </a:solidFill>
              </a:rPr>
              <a:t>trigger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60152" y="3657600"/>
            <a:ext cx="-5687568" cy="0"/>
          </a:xfrm>
          <a:prstGeom prst="line">
            <a:avLst/>
          </a:prstGeom>
          <a:noFill/>
          <a:ln w="19050">
            <a:solidFill>
              <a:srgbClr val="2E8B6B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510528" y="3712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E8B6B"/>
                </a:solidFill>
              </a:rPr>
              <a:t>reads files (pull)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2C2A"/>
                </a:solidFill>
              </a:rPr>
              <a:t>Pattern — Staged File Export (preferred)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5E5A"/>
                </a:solidFill>
              </a:rPr>
              <a:t>Asynchronous: Snowflake unloads to ADLS, an event notifies orchestration, and the consumer pulls the files from the stage — no synchronous response.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</a:rPr>
              <a:t>Blob / ADLS is the hand-off  ·  analytical &amp; eventually-consistent  ·  the warehouse never writes into a live operational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2026-09-10T18:16:34Z</dcterms:created>
  <dcterms:modified xsi:type="dcterms:W3CDTF">2026-09-10T18:16:34Z</dcterms:modified>
</cp:coreProperties>
</file>