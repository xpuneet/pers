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Staged import, platform-driven ingestion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Framework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source systems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Stage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ADLS / Blob</a:t>
            </a:r>
          </a:p>
        </p:txBody>
      </p:sp>
      <p:sp>
        <p:nvSpPr>
          <p:cNvPr id="7" name="Can 6"/>
          <p:cNvSpPr/>
          <p:nvPr/>
        </p:nvSpPr>
        <p:spPr>
          <a:xfrm>
            <a:off x="8615659" y="306994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write 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77" i="1" b="0">
                <a:solidFill>
                  <a:srgbClr val="7A828F"/>
                </a:solidFill>
                <a:latin typeface="Arial"/>
              </a:rPr>
              <a:t>The stage is the contract. The platform ingests on its own schedule.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Direct streaming connector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Framework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event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E7D6"/>
          </a:solidFill>
          <a:ln w="25019">
            <a:solidFill>
              <a:srgbClr val="C05621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7B3410"/>
                </a:solidFill>
                <a:latin typeface="Arial"/>
              </a:rPr>
              <a:t>Event Hubs</a:t>
            </a:r>
          </a:p>
          <a:p>
            <a:pPr algn="ctr"/>
            <a:r>
              <a:rPr sz="1336" b="0" i="0">
                <a:solidFill>
                  <a:srgbClr val="7B3410"/>
                </a:solidFill>
                <a:latin typeface="Arial"/>
              </a:rPr>
              <a:t>Kafka surface</a:t>
            </a:r>
          </a:p>
        </p:txBody>
      </p:sp>
      <p:sp>
        <p:nvSpPr>
          <p:cNvPr id="7" name="Can 6"/>
          <p:cNvSpPr/>
          <p:nvPr/>
        </p:nvSpPr>
        <p:spPr>
          <a:xfrm>
            <a:off x="8615659" y="306994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Snowpipe 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77" i="1" b="0">
                <a:solidFill>
                  <a:srgbClr val="7A828F"/>
                </a:solidFill>
                <a:latin typeface="Arial"/>
              </a:rPr>
              <a:t>Governed exception. Named, owned and time-bound.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Governed API write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 Management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governed write</a:t>
            </a:r>
          </a:p>
        </p:txBody>
      </p:sp>
      <p:sp>
        <p:nvSpPr>
          <p:cNvPr id="7" name="Can 6"/>
          <p:cNvSpPr/>
          <p:nvPr/>
        </p:nvSpPr>
        <p:spPr>
          <a:xfrm>
            <a:off x="8615659" y="324865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controlled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write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Bulk unload to a serving store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Serving store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ADLS / Blob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15659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Framework services</a:t>
            </a:r>
          </a:p>
        </p:txBody>
      </p:sp>
      <p:sp>
        <p:nvSpPr>
          <p:cNvPr id="7" name="Can 6"/>
          <p:cNvSpPr/>
          <p:nvPr/>
        </p:nvSpPr>
        <p:spPr>
          <a:xfrm>
            <a:off x="895383" y="306994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bulk unload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77" i="1" b="0">
                <a:solidFill>
                  <a:srgbClr val="7A828F"/>
                </a:solidFill>
                <a:latin typeface="Arial"/>
              </a:rPr>
              <a:t>The store is the contract. The platform stays off the live path.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Curated reads through API Management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 Management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curated read</a:t>
            </a:r>
          </a:p>
        </p:txBody>
      </p:sp>
      <p:sp>
        <p:nvSpPr>
          <p:cNvPr id="7" name="Can 6"/>
          <p:cNvSpPr/>
          <p:nvPr/>
        </p:nvSpPr>
        <p:spPr>
          <a:xfrm>
            <a:off x="8615659" y="324865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or serving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curated query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API Composition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40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40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8515151" y="2691420"/>
            <a:ext cx="846096" cy="105762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515151" y="3749040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515151" y="3749040"/>
            <a:ext cx="846096" cy="1057619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18508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aggregator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232125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Client sys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87687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Policy sys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4436492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Claims 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aggregate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0919" y="300870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reads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API Facade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Consumer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broker 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APIM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Backend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policy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invoke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Async request-reply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1812489" y="3378873"/>
            <a:ext cx="856671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18508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1F3864"/>
                </a:solidFill>
                <a:latin typeface="Arial"/>
              </a:rPr>
              <a:t>APIM</a:t>
            </a:r>
          </a:p>
          <a:p>
            <a:pPr algn="ctr"/>
            <a:r>
              <a:rPr sz="988" b="0" i="0">
                <a:solidFill>
                  <a:srgbClr val="1F3864"/>
                </a:solidFill>
                <a:latin typeface="Arial"/>
              </a:rPr>
              <a:t>202 +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8508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1D5253"/>
                </a:solidFill>
                <a:latin typeface="Arial"/>
              </a:rPr>
              <a:t>Queue</a:t>
            </a:r>
          </a:p>
          <a:p>
            <a:pPr algn="ctr"/>
            <a:r>
              <a:rPr sz="988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+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enqueue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0919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process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98567" y="3167349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callback /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Bordereaux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50828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616722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82616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9148509" y="3224527"/>
            <a:ext cx="671376" cy="41961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148509" y="3644137"/>
            <a:ext cx="671376" cy="41961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77291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Coverholder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MGA / DCA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9078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14686">
            <a:solidFill>
              <a:srgbClr val="6D4AA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4A2E7A"/>
                </a:solidFill>
                <a:latin typeface="Arial"/>
              </a:rPr>
              <a:t>Validate &amp; map</a:t>
            </a:r>
          </a:p>
          <a:p>
            <a:pPr algn="ctr"/>
            <a:r>
              <a:rPr sz="784" b="0" i="0">
                <a:solidFill>
                  <a:srgbClr val="4A2E7A"/>
                </a:solidFill>
                <a:latin typeface="Arial"/>
              </a:rPr>
              <a:t>to canonical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74972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4686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1D5253"/>
                </a:solidFill>
                <a:latin typeface="Arial"/>
              </a:rPr>
              <a:t>Canonical events</a:t>
            </a:r>
          </a:p>
          <a:p>
            <a:pPr algn="ctr"/>
            <a:r>
              <a:rPr sz="784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40866" y="293080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Policy admin</a:t>
            </a:r>
          </a:p>
        </p:txBody>
      </p:sp>
      <p:sp>
        <p:nvSpPr>
          <p:cNvPr id="12" name="Can 11"/>
          <p:cNvSpPr/>
          <p:nvPr/>
        </p:nvSpPr>
        <p:spPr>
          <a:xfrm>
            <a:off x="3043185" y="3350410"/>
            <a:ext cx="1573537" cy="587453"/>
          </a:xfrm>
          <a:prstGeom prst="can">
            <a:avLst/>
          </a:prstGeom>
          <a:solidFill>
            <a:srgbClr val="E8EDF3"/>
          </a:solidFill>
          <a:ln w="14686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Blob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13" name="Can 12"/>
          <p:cNvSpPr/>
          <p:nvPr/>
        </p:nvSpPr>
        <p:spPr>
          <a:xfrm>
            <a:off x="9840866" y="3770020"/>
            <a:ext cx="1573537" cy="587453"/>
          </a:xfrm>
          <a:prstGeom prst="can">
            <a:avLst/>
          </a:prstGeom>
          <a:solidFill>
            <a:srgbClr val="E8EDF3"/>
          </a:solidFill>
          <a:ln w="14686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reporting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9236" y="34762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bordereaux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5130" y="34762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validate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1024" y="34762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6917" y="3266488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distribute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8567" y="4708897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7" i="1" b="0">
                <a:solidFill>
                  <a:srgbClr val="7A828F"/>
                </a:solidFill>
                <a:latin typeface="Arial"/>
              </a:rPr>
              <a:t>Target state: coverholder API capture-at-source replaces manual bordereaux re-key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Bulk Boundary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FF1F4"/>
          </a:solidFill>
          <a:ln w="25019">
            <a:solidFill>
              <a:srgbClr val="AEB6C2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7A828F"/>
                </a:solidFill>
                <a:latin typeface="Arial"/>
              </a:rPr>
              <a:t>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FF1F4"/>
          </a:solidFill>
          <a:ln w="25019">
            <a:solidFill>
              <a:srgbClr val="AEB6C2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7A828F"/>
                </a:solidFill>
                <a:latin typeface="Arial"/>
              </a:rPr>
              <a:t>Data Platform</a:t>
            </a:r>
          </a:p>
          <a:p>
            <a:pPr algn="ctr"/>
            <a:r>
              <a:rPr sz="1336" b="0" i="0">
                <a:solidFill>
                  <a:srgbClr val="7A828F"/>
                </a:solidFill>
                <a:latin typeface="Arial"/>
              </a:rPr>
              <a:t>ELT (not SIF)</a:t>
            </a:r>
          </a:p>
        </p:txBody>
      </p:sp>
      <p:sp>
        <p:nvSpPr>
          <p:cNvPr id="7" name="Can 6"/>
          <p:cNvSpPr/>
          <p:nvPr/>
        </p:nvSpPr>
        <p:spPr>
          <a:xfrm>
            <a:off x="8615659" y="3069941"/>
            <a:ext cx="2680651" cy="1000776"/>
          </a:xfrm>
          <a:prstGeom prst="can">
            <a:avLst/>
          </a:prstGeom>
          <a:solidFill>
            <a:srgbClr val="E8EDF3"/>
          </a:solidFill>
          <a:ln w="25019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bulk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77" i="1" b="0">
                <a:solidFill>
                  <a:srgbClr val="7A828F"/>
                </a:solidFill>
                <a:latin typeface="Arial"/>
              </a:rPr>
              <a:t>Owned by the Data Platform; the SIF only raises a trigger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Canonical Contract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5186042" y="2650611"/>
            <a:ext cx="1764470" cy="1102794"/>
          </a:xfrm>
          <a:prstGeom prst="line">
            <a:avLst/>
          </a:prstGeom>
          <a:ln w="41354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186042" y="3753405"/>
            <a:ext cx="1764470" cy="1102794"/>
          </a:xfrm>
          <a:prstGeom prst="line">
            <a:avLst/>
          </a:prstGeom>
          <a:ln w="41354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050565" y="2981449"/>
            <a:ext cx="4135477" cy="1543911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38597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2713" b="1" i="0">
                <a:solidFill>
                  <a:srgbClr val="1D5253"/>
                </a:solidFill>
                <a:latin typeface="Arial"/>
              </a:rPr>
              <a:t>Canonical events</a:t>
            </a:r>
          </a:p>
          <a:p>
            <a:pPr algn="ctr"/>
            <a:r>
              <a:rPr sz="2062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5652" y="1878655"/>
            <a:ext cx="4135477" cy="1543911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38597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2713" b="1" i="0">
                <a:solidFill>
                  <a:srgbClr val="33414F"/>
                </a:solidFill>
                <a:latin typeface="Arial"/>
              </a:rPr>
              <a:t>Operational</a:t>
            </a:r>
          </a:p>
          <a:p>
            <a:pPr algn="ctr"/>
            <a:r>
              <a:rPr sz="2062" b="0" i="0">
                <a:solidFill>
                  <a:srgbClr val="33414F"/>
                </a:solidFill>
                <a:latin typeface="Arial"/>
              </a:rPr>
              <a:t>systems</a:t>
            </a:r>
          </a:p>
        </p:txBody>
      </p:sp>
      <p:sp>
        <p:nvSpPr>
          <p:cNvPr id="7" name="Can 6"/>
          <p:cNvSpPr/>
          <p:nvPr/>
        </p:nvSpPr>
        <p:spPr>
          <a:xfrm>
            <a:off x="7005652" y="4084243"/>
            <a:ext cx="4135477" cy="1543911"/>
          </a:xfrm>
          <a:prstGeom prst="can">
            <a:avLst/>
          </a:prstGeom>
          <a:solidFill>
            <a:srgbClr val="E8EDF3"/>
          </a:solidFill>
          <a:ln w="38597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2713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2062" b="0" i="0">
                <a:solidFill>
                  <a:srgbClr val="33414F"/>
                </a:solidFill>
                <a:latin typeface="Arial"/>
              </a:rPr>
              <a:t>data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0997" y="276089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170" i="0" b="0">
                <a:solidFill>
                  <a:srgbClr val="5A6675"/>
                </a:solidFill>
                <a:latin typeface="Arial"/>
              </a:rPr>
              <a:t>one shared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8567" y="655174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279" i="1" b="0">
                <a:solidFill>
                  <a:srgbClr val="7A828F"/>
                </a:solidFill>
                <a:latin typeface="Arial"/>
              </a:rPr>
              <a:t>The canonical model is the contract for operational and analytical consumers alike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Canonical Model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2559218"/>
            <a:ext cx="846096" cy="1057619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804007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804007" y="3616837"/>
            <a:ext cx="846096" cy="1057619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59579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515151" y="3088027"/>
            <a:ext cx="846096" cy="52881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515151" y="3616837"/>
            <a:ext cx="846096" cy="52881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0971" y="2189051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Broker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EDI / XML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971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Coverholder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bordereaux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0971" y="430429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Bureau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ACORD / CDR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76543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Translator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Functions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2717861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Policy sys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87687" y="377548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Claims sys</a:t>
            </a:r>
          </a:p>
        </p:txBody>
      </p:sp>
      <p:sp>
        <p:nvSpPr>
          <p:cNvPr id="15" name="Can 14"/>
          <p:cNvSpPr/>
          <p:nvPr/>
        </p:nvSpPr>
        <p:spPr>
          <a:xfrm>
            <a:off x="6532115" y="3246670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Canonical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9775" y="287650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5347" y="340531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canonical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0919" y="3140908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distribute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8567" y="5487501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93" i="1" b="0">
                <a:solidFill>
                  <a:srgbClr val="7A828F"/>
                </a:solidFill>
                <a:latin typeface="Arial"/>
              </a:rPr>
              <a:t>One translator per format; internal systems see only the canonical model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CDC Ingest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676543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CDC connector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log-based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115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E7D6"/>
          </a:solidFill>
          <a:ln w="18508">
            <a:solidFill>
              <a:srgbClr val="C05621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7B3410"/>
                </a:solidFill>
                <a:latin typeface="Arial"/>
              </a:rPr>
              <a:t>Event Hubs</a:t>
            </a:r>
          </a:p>
          <a:p>
            <a:pPr algn="ctr"/>
            <a:r>
              <a:rPr sz="988" b="0" i="0">
                <a:solidFill>
                  <a:srgbClr val="7B3410"/>
                </a:solidFill>
                <a:latin typeface="Arial"/>
              </a:rPr>
              <a:t>change stream</a:t>
            </a:r>
          </a:p>
        </p:txBody>
      </p:sp>
      <p:sp>
        <p:nvSpPr>
          <p:cNvPr id="8" name="Can 7"/>
          <p:cNvSpPr/>
          <p:nvPr/>
        </p:nvSpPr>
        <p:spPr>
          <a:xfrm>
            <a:off x="820971" y="3246670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Operational DB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source</a:t>
            </a:r>
          </a:p>
        </p:txBody>
      </p:sp>
      <p:sp>
        <p:nvSpPr>
          <p:cNvPr id="9" name="Can 8"/>
          <p:cNvSpPr/>
          <p:nvPr/>
        </p:nvSpPr>
        <p:spPr>
          <a:xfrm>
            <a:off x="9387687" y="3246670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40531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change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40531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40531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8567" y="442988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93" i="1" b="0">
                <a:solidFill>
                  <a:srgbClr val="7A828F"/>
                </a:solidFill>
                <a:latin typeface="Arial"/>
              </a:rPr>
              <a:t>Only when the source cannot emit domain events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Claim Check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95488" y="2633771"/>
            <a:ext cx="1115268" cy="0"/>
          </a:xfrm>
          <a:prstGeom prst="line">
            <a:avLst/>
          </a:prstGeom>
          <a:ln w="26982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44962" y="2633771"/>
            <a:ext cx="1115268" cy="0"/>
          </a:xfrm>
          <a:prstGeom prst="line">
            <a:avLst/>
          </a:prstGeom>
          <a:ln w="26982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246373" y="3137441"/>
            <a:ext cx="3219887" cy="1223197"/>
          </a:xfrm>
          <a:prstGeom prst="line">
            <a:avLst/>
          </a:prstGeom>
          <a:ln w="26982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6725434" y="3137441"/>
            <a:ext cx="3219887" cy="1223197"/>
          </a:xfrm>
          <a:prstGeom prst="line">
            <a:avLst/>
          </a:prstGeom>
          <a:ln w="26982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97258" y="2130102"/>
            <a:ext cx="2698229" cy="1007339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183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70" b="1" i="0">
                <a:solidFill>
                  <a:srgbClr val="33414F"/>
                </a:solidFill>
                <a:latin typeface="Arial"/>
              </a:rPr>
              <a:t>Producer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46732" y="2130102"/>
            <a:ext cx="2698229" cy="1007339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25183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70" b="1" i="0">
                <a:solidFill>
                  <a:srgbClr val="1D5253"/>
                </a:solidFill>
                <a:latin typeface="Arial"/>
              </a:rPr>
              <a:t>Queue: reference</a:t>
            </a:r>
          </a:p>
          <a:p>
            <a:pPr algn="ctr"/>
            <a:r>
              <a:rPr sz="1345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6206" y="2130102"/>
            <a:ext cx="2698229" cy="1007339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183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70" b="1" i="0">
                <a:solidFill>
                  <a:srgbClr val="7A4F12"/>
                </a:solidFill>
                <a:latin typeface="Arial"/>
              </a:rPr>
              <a:t>Consumer</a:t>
            </a:r>
          </a:p>
          <a:p>
            <a:pPr algn="ctr"/>
            <a:r>
              <a:rPr sz="1345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10" name="Can 9"/>
          <p:cNvSpPr/>
          <p:nvPr/>
        </p:nvSpPr>
        <p:spPr>
          <a:xfrm>
            <a:off x="4746732" y="4360638"/>
            <a:ext cx="2698229" cy="1007339"/>
          </a:xfrm>
          <a:prstGeom prst="can">
            <a:avLst/>
          </a:prstGeom>
          <a:solidFill>
            <a:srgbClr val="E8EDF3"/>
          </a:solidFill>
          <a:ln w="25183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70" b="1" i="0">
                <a:solidFill>
                  <a:srgbClr val="33414F"/>
                </a:solidFill>
                <a:latin typeface="Arial"/>
              </a:rPr>
              <a:t>Blob store</a:t>
            </a:r>
          </a:p>
          <a:p>
            <a:pPr algn="ctr"/>
            <a:r>
              <a:rPr sz="1345" b="0" i="0">
                <a:solidFill>
                  <a:srgbClr val="33414F"/>
                </a:solidFill>
                <a:latin typeface="Arial"/>
              </a:rPr>
              <a:t>payload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55842" y="23459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16" i="0" b="0">
                <a:solidFill>
                  <a:srgbClr val="5A6675"/>
                </a:solidFill>
                <a:latin typeface="Arial"/>
              </a:rPr>
              <a:t>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5316" y="23459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16" i="0" b="0">
                <a:solidFill>
                  <a:srgbClr val="5A6675"/>
                </a:solidFill>
                <a:latin typeface="Arial"/>
              </a:rPr>
              <a:t>reference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9037" y="3461228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16" i="0" b="0">
                <a:solidFill>
                  <a:srgbClr val="5A6675"/>
                </a:solidFill>
                <a:latin typeface="Arial"/>
              </a:rPr>
              <a:t>store payload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8098" y="3461228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16" i="0" b="0">
                <a:solidFill>
                  <a:srgbClr val="5A6675"/>
                </a:solidFill>
                <a:latin typeface="Arial"/>
              </a:rPr>
              <a:t>fetch payload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Compensation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095847" y="4249428"/>
            <a:ext cx="3860138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25019">
            <a:solidFill>
              <a:srgbClr val="6D4AA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4A2E7A"/>
                </a:solidFill>
                <a:latin typeface="Arial"/>
              </a:rPr>
              <a:t>Logic App</a:t>
            </a:r>
          </a:p>
          <a:p>
            <a:pPr algn="ctr"/>
            <a:r>
              <a:rPr sz="1336" b="0" i="0">
                <a:solidFill>
                  <a:srgbClr val="4A2E7A"/>
                </a:solidFill>
                <a:latin typeface="Arial"/>
              </a:rPr>
              <a:t>orchestrator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Bind policy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System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Post to</a:t>
            </a:r>
          </a:p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8636" y="396349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on failure → compensate (void bind)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Competing Consumers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7436173" y="2319359"/>
            <a:ext cx="1143744" cy="142968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36173" y="3749039"/>
            <a:ext cx="1143744" cy="1429681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Producer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25019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D5253"/>
                </a:solidFill>
                <a:latin typeface="Arial"/>
              </a:rPr>
              <a:t>Queue</a:t>
            </a:r>
          </a:p>
          <a:p>
            <a:pPr algn="ctr"/>
            <a:r>
              <a:rPr sz="1336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5659" y="1818970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Worker 1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Worker 2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5659" y="4678332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Worker 3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enqueue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0765" y="274826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compete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Content Router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7436173" y="2319359"/>
            <a:ext cx="1143744" cy="142968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36173" y="3749039"/>
            <a:ext cx="1143744" cy="1429681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25019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D5253"/>
                </a:solidFill>
                <a:latin typeface="Arial"/>
              </a:rPr>
              <a:t>Router</a:t>
            </a:r>
          </a:p>
          <a:p>
            <a:pPr algn="ctr"/>
            <a:r>
              <a:rPr sz="1336" b="0" i="0">
                <a:solidFill>
                  <a:srgbClr val="1D5253"/>
                </a:solidFill>
                <a:latin typeface="Arial"/>
              </a:rPr>
              <a:t>SB / Event Grid rules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5659" y="1818970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Motor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LOB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Property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LOB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5659" y="4678332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Casualty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LOB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message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0765" y="274826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route by content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Data Product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18508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Serving</a:t>
            </a:r>
          </a:p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Function / cache</a:t>
            </a:r>
          </a:p>
        </p:txBody>
      </p:sp>
      <p:sp>
        <p:nvSpPr>
          <p:cNvPr id="9" name="Can 8"/>
          <p:cNvSpPr/>
          <p:nvPr/>
        </p:nvSpPr>
        <p:spPr>
          <a:xfrm>
            <a:off x="9387687" y="3378873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curated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query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Decision Tree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69389" y="1875941"/>
            <a:ext cx="0" cy="284269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759781" y="2558187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69389" y="2956165"/>
            <a:ext cx="0" cy="397977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759781" y="3752119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69389" y="4150096"/>
            <a:ext cx="0" cy="397977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59781" y="4946051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869389" y="5344028"/>
            <a:ext cx="0" cy="397977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59781" y="6139982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69389" y="6537960"/>
            <a:ext cx="0" cy="397977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59781" y="7333914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869389" y="7731891"/>
            <a:ext cx="0" cy="397977"/>
          </a:xfrm>
          <a:prstGeom prst="line">
            <a:avLst/>
          </a:prstGeom>
          <a:ln w="22741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59781" y="8527846"/>
            <a:ext cx="1961459" cy="0"/>
          </a:xfrm>
          <a:prstGeom prst="line">
            <a:avLst/>
          </a:prstGeom>
          <a:ln w="22741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8997" y="1307402"/>
            <a:ext cx="3780783" cy="568538"/>
          </a:xfrm>
          <a:prstGeom prst="roundRect">
            <a:avLst>
              <a:gd name="adj" fmla="val 25000"/>
            </a:avLst>
          </a:prstGeom>
          <a:solidFill>
            <a:srgbClr val="DCE7F5"/>
          </a:solidFill>
          <a:ln w="21320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98" b="1" i="0">
                <a:solidFill>
                  <a:srgbClr val="1F3864"/>
                </a:solidFill>
                <a:latin typeface="Arial"/>
              </a:rPr>
              <a:t>New integration requirement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997" y="2160210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Bulk, analytical or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historical data?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1240" y="2160210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Data Platform (Snowflake)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outside SIF; only triggers/notifies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997" y="3354142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Multi-step, stateful process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across systems?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1240" y="3354142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Orchestration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Logic Apps (Standard) + Functions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997" y="4548073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Synchronous reply needed AND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work is short/bounded?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1240" y="4548073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Request / Response API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API Management (+ Functions)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997" y="5742005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Synchronous reply needed but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work is long-running?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1240" y="5742005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Asynchronous Request-Reply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APIM + Service Bus (202 + status)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997" y="6935937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A command directed to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one known consumer?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1240" y="6935937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Asynchronous Messaging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Service Bus queue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997" y="8129868"/>
            <a:ext cx="3780783" cy="795954"/>
          </a:xfrm>
          <a:prstGeom prst="roundRect">
            <a:avLst>
              <a:gd name="adj" fmla="val 17857"/>
            </a:avLst>
          </a:prstGeom>
          <a:solidFill>
            <a:srgbClr val="FDF3E0"/>
          </a:solidFill>
          <a:ln w="21320">
            <a:solidFill>
              <a:srgbClr val="C08A2E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3" b="1" i="0">
                <a:solidFill>
                  <a:srgbClr val="7A4F12"/>
                </a:solidFill>
                <a:latin typeface="Arial"/>
              </a:rPr>
              <a:t>A broadcast event for</a:t>
            </a:r>
          </a:p>
          <a:p>
            <a:pPr algn="ctr"/>
            <a:r>
              <a:rPr sz="1253" b="0" i="0">
                <a:solidFill>
                  <a:srgbClr val="7A4F12"/>
                </a:solidFill>
                <a:latin typeface="Arial"/>
              </a:rPr>
              <a:t>any interested consumer?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1240" y="8129868"/>
            <a:ext cx="4519883" cy="795954"/>
          </a:xfrm>
          <a:prstGeom prst="roundRect">
            <a:avLst>
              <a:gd name="adj" fmla="val 17857"/>
            </a:avLst>
          </a:prstGeom>
          <a:solidFill>
            <a:srgbClr val="E4F0E6"/>
          </a:solidFill>
          <a:ln w="21320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43" b="1" i="0">
                <a:solidFill>
                  <a:srgbClr val="1C5138"/>
                </a:solidFill>
                <a:latin typeface="Arial"/>
              </a:rPr>
              <a:t>Event-Driven</a:t>
            </a:r>
          </a:p>
          <a:p>
            <a:pPr algn="ctr"/>
            <a:r>
              <a:rPr sz="1063" b="0" i="0">
                <a:solidFill>
                  <a:srgbClr val="1C5138"/>
                </a:solidFill>
                <a:latin typeface="Arial"/>
              </a:rPr>
              <a:t>Event Grid / SB Topics / Event Hubs (see §5.3)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997" y="9238519"/>
            <a:ext cx="3780783" cy="568538"/>
          </a:xfrm>
          <a:prstGeom prst="roundRect">
            <a:avLst>
              <a:gd name="adj" fmla="val 25000"/>
            </a:avLst>
          </a:prstGeom>
          <a:solidFill>
            <a:srgbClr val="EEF1F5"/>
          </a:solidFill>
          <a:ln w="21320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31" b="1" i="0">
                <a:solidFill>
                  <a:srgbClr val="33414F"/>
                </a:solidFill>
                <a:latin typeface="Arial"/>
              </a:rPr>
              <a:t>Revisit requirement /</a:t>
            </a:r>
          </a:p>
          <a:p>
            <a:pPr algn="ctr"/>
            <a:r>
              <a:rPr sz="1231" b="0" i="0">
                <a:solidFill>
                  <a:srgbClr val="33414F"/>
                </a:solidFill>
                <a:latin typeface="Arial"/>
              </a:rPr>
              <a:t>combine patterns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3230" y="244448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19" i="0" b="1">
                <a:solidFill>
                  <a:srgbClr val="1C5138"/>
                </a:solidFill>
                <a:latin typeface="Arial"/>
              </a:rPr>
              <a:t>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85817" y="2998805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19" i="0" b="1">
                <a:solidFill>
                  <a:srgbClr val="5A6675"/>
                </a:solidFill>
                <a:latin typeface="Arial"/>
              </a:rPr>
              <a:t>No 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3230" y="3638411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19" i="0" b="1">
                <a:solidFill>
                  <a:srgbClr val="1C5138"/>
                </a:solidFill>
                <a:latin typeface="Arial"/>
              </a:rPr>
              <a:t>Yes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85817" y="4192737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19" i="0" b="1">
                <a:solidFill>
                  <a:srgbClr val="5A6675"/>
                </a:solidFill>
                <a:latin typeface="Arial"/>
              </a:rPr>
              <a:t>No 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3230" y="483234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19" i="0" b="1">
                <a:solidFill>
                  <a:srgbClr val="1C5138"/>
                </a:solidFill>
                <a:latin typeface="Arial"/>
              </a:rPr>
              <a:t>Yes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85817" y="5386668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19" i="0" b="1">
                <a:solidFill>
                  <a:srgbClr val="5A6675"/>
                </a:solidFill>
                <a:latin typeface="Arial"/>
              </a:rPr>
              <a:t>No 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3230" y="6026275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19" i="0" b="1">
                <a:solidFill>
                  <a:srgbClr val="1C5138"/>
                </a:solidFill>
                <a:latin typeface="Arial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85817" y="658060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19" i="0" b="1">
                <a:solidFill>
                  <a:srgbClr val="5A6675"/>
                </a:solidFill>
                <a:latin typeface="Arial"/>
              </a:rPr>
              <a:t>No 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3230" y="722020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19" i="0" b="1">
                <a:solidFill>
                  <a:srgbClr val="1C5138"/>
                </a:solidFill>
                <a:latin typeface="Arial"/>
              </a:rPr>
              <a:t>Yes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85817" y="777453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19" i="0" b="1">
                <a:solidFill>
                  <a:srgbClr val="5A6675"/>
                </a:solidFill>
                <a:latin typeface="Arial"/>
              </a:rPr>
              <a:t>No 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3230" y="8414138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19" i="0" b="1">
                <a:solidFill>
                  <a:srgbClr val="1C5138"/>
                </a:solidFill>
                <a:latin typeface="Arial"/>
              </a:rPr>
              <a:t>Yes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Event Notification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40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7436173" y="3034199"/>
            <a:ext cx="1143744" cy="714841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436173" y="3749040"/>
            <a:ext cx="1143744" cy="71484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Source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e.g. Blob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FF1E2"/>
          </a:solidFill>
          <a:ln w="25019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C5138"/>
                </a:solidFill>
                <a:latin typeface="Arial"/>
              </a:rPr>
              <a:t>Event Grid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15659" y="253381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Handler 1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5659" y="3963492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25019">
            <a:solidFill>
              <a:srgbClr val="6D4AA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4A2E7A"/>
                </a:solidFill>
                <a:latin typeface="Arial"/>
              </a:rPr>
              <a:t>Handler 2</a:t>
            </a:r>
          </a:p>
          <a:p>
            <a:pPr algn="ctr"/>
            <a:r>
              <a:rPr sz="1336" b="0" i="0">
                <a:solidFill>
                  <a:srgbClr val="4A2E7A"/>
                </a:solidFill>
                <a:latin typeface="Arial"/>
              </a:rPr>
              <a:t>Logic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emits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0765" y="310568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routes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Event Offload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Operational</a:t>
            </a:r>
          </a:p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systems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E7D6"/>
          </a:solidFill>
          <a:ln w="18508">
            <a:solidFill>
              <a:srgbClr val="C05621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49" b="1" i="0">
                <a:solidFill>
                  <a:srgbClr val="7B3410"/>
                </a:solidFill>
                <a:latin typeface="Arial"/>
              </a:rPr>
              <a:t>Event Hubs /</a:t>
            </a:r>
          </a:p>
          <a:p>
            <a:pPr algn="ctr"/>
            <a:r>
              <a:rPr sz="1249" b="1" i="0">
                <a:solidFill>
                  <a:srgbClr val="7B3410"/>
                </a:solidFill>
                <a:latin typeface="Arial"/>
              </a:rPr>
              <a:t>Service Bus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Capture /</a:t>
            </a:r>
          </a:p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9" name="Can 8"/>
          <p:cNvSpPr/>
          <p:nvPr/>
        </p:nvSpPr>
        <p:spPr>
          <a:xfrm>
            <a:off x="9387687" y="3378873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load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Exp1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847691" y="2891790"/>
            <a:ext cx="0" cy="2002536"/>
          </a:xfrm>
          <a:prstGeom prst="line">
            <a:avLst/>
          </a:prstGeom>
          <a:ln w="24688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11015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507327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97783" y="3989070"/>
            <a:ext cx="603504" cy="0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44865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44865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386419" y="3989070"/>
            <a:ext cx="0" cy="0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386419" y="3810762"/>
            <a:ext cx="356616" cy="178308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386419" y="3989070"/>
            <a:ext cx="356616" cy="178308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n 11"/>
          <p:cNvSpPr/>
          <p:nvPr/>
        </p:nvSpPr>
        <p:spPr>
          <a:xfrm>
            <a:off x="5821527" y="3687318"/>
            <a:ext cx="548640" cy="603503"/>
          </a:xfrm>
          <a:prstGeom prst="can">
            <a:avLst/>
          </a:prstGeom>
          <a:solidFill>
            <a:srgbClr val="7EB1E0"/>
          </a:solidFill>
          <a:ln w="19202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50411" y="263118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0" b="1">
                <a:solidFill>
                  <a:srgbClr val="C0392B"/>
                </a:solidFill>
                <a:latin typeface="Arial"/>
              </a:rPr>
              <a:t>hand-off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0411" y="501091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26" i="0" b="0">
                <a:solidFill>
                  <a:srgbClr val="C0392B"/>
                </a:solidFill>
                <a:latin typeface="Arial"/>
              </a:rPr>
              <a:t>Private Link / PE · Managed Identity · TLS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255" y="222656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Data platform · Snowflake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6723" y="222656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SIF · 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0411" y="366674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COPY INTO (unload)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6723" y="366674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read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2255" y="43662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8567" y="43662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Blob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8567" y="459943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SIF serving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4879" y="43662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4879" y="459943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Function / Logic 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98567" y="523722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1" b="0">
                <a:solidFill>
                  <a:srgbClr val="5A6470"/>
                </a:solidFill>
                <a:latin typeface="Arial"/>
              </a:rPr>
              <a:t>Bulk or large result sets. The platform unloads a curated extract into the SIF-owned serving store; the SIF reads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Exp2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5847" y="2788920"/>
            <a:ext cx="0" cy="2002536"/>
          </a:xfrm>
          <a:prstGeom prst="line">
            <a:avLst/>
          </a:prstGeom>
          <a:ln w="24688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62859" y="388620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59171" y="388620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55483" y="388620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049627" y="3886200"/>
            <a:ext cx="603504" cy="0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00503" y="362422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200503" y="362422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998567" y="25283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0" b="1">
                <a:solidFill>
                  <a:srgbClr val="C0392B"/>
                </a:solidFill>
                <a:latin typeface="Arial"/>
              </a:rPr>
              <a:t>hand-off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8567" y="490804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26" i="0" b="0">
                <a:solidFill>
                  <a:srgbClr val="C0392B"/>
                </a:solidFill>
                <a:latin typeface="Arial"/>
              </a:rPr>
              <a:t>Private Link / PE · Managed Identity · TLS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255" y="212369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Data platform · Snowflake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4879" y="212369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SIF · 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255" y="356387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567" y="356387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read via Private Link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4879" y="356387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serve to consumer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4099" y="426339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0411" y="377647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4" i="0" b="1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0411" y="426339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SQL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0411" y="449656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Snowflake SQL 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6723" y="3749039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28" i="0" b="1">
                <a:solidFill>
                  <a:srgbClr val="FFFFFF"/>
                </a:solidFill>
                <a:latin typeface="Arial"/>
              </a:rPr>
              <a:t>&lt;/&gt;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6723" y="426339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APIM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6723" y="449656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gateway + cache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43035" y="426339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43035" y="449656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consumer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98567" y="513435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1" b="0">
                <a:solidFill>
                  <a:srgbClr val="5A6470"/>
                </a:solidFill>
                <a:latin typeface="Arial"/>
              </a:rPr>
              <a:t>On-demand, small, low-latency reads. APIM fronts and caches. Curated and eventually-consistent; watch warehouse cost under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8567" y="53400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1" b="0">
                <a:solidFill>
                  <a:srgbClr val="5A6470"/>
                </a:solidFill>
                <a:latin typeface="Arial"/>
              </a:rPr>
              <a:t>load.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File Egress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50828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616722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82616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8509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77291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991" b="1" i="0">
                <a:solidFill>
                  <a:srgbClr val="33414F"/>
                </a:solidFill>
                <a:latin typeface="Arial"/>
              </a:rPr>
              <a:t>Records /</a:t>
            </a:r>
          </a:p>
          <a:p>
            <a:pPr algn="ctr"/>
            <a:r>
              <a:rPr sz="991" b="1" i="0">
                <a:solidFill>
                  <a:srgbClr val="33414F"/>
                </a:solidFill>
                <a:latin typeface="Arial"/>
              </a:rPr>
              <a:t>events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3185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14686">
            <a:solidFill>
              <a:srgbClr val="6D4AA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4A2E7A"/>
                </a:solidFill>
                <a:latin typeface="Arial"/>
              </a:rPr>
              <a:t>Logic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9078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4686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784" b="0" i="0">
                <a:solidFill>
                  <a:srgbClr val="7A4F12"/>
                </a:solidFill>
                <a:latin typeface="Arial"/>
              </a:rPr>
              <a:t>render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40866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Partner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collects</a:t>
            </a:r>
          </a:p>
        </p:txBody>
      </p:sp>
      <p:sp>
        <p:nvSpPr>
          <p:cNvPr id="11" name="Can 10"/>
          <p:cNvSpPr/>
          <p:nvPr/>
        </p:nvSpPr>
        <p:spPr>
          <a:xfrm>
            <a:off x="7574972" y="3455313"/>
            <a:ext cx="1573537" cy="587453"/>
          </a:xfrm>
          <a:prstGeom prst="can">
            <a:avLst/>
          </a:prstGeom>
          <a:solidFill>
            <a:srgbClr val="E8EDF3"/>
          </a:solidFill>
          <a:ln w="14686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SFTP / Blob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9236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collect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5130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1024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6917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deliver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File Ingestion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50828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616722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82616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8509" y="3644137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77291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Partner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via SFTP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9078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FF1E2"/>
          </a:solidFill>
          <a:ln w="14686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1C5138"/>
                </a:solidFill>
                <a:latin typeface="Arial"/>
              </a:rPr>
              <a:t>Event Grid</a:t>
            </a:r>
          </a:p>
          <a:p>
            <a:pPr algn="ctr"/>
            <a:r>
              <a:rPr sz="784" b="0" i="0">
                <a:solidFill>
                  <a:srgbClr val="1C5138"/>
                </a:solidFill>
                <a:latin typeface="Arial"/>
              </a:rPr>
              <a:t>blob-created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74972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14686">
            <a:solidFill>
              <a:srgbClr val="6D4AA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4A2E7A"/>
                </a:solidFill>
                <a:latin typeface="Arial"/>
              </a:rPr>
              <a:t>Logic App</a:t>
            </a:r>
          </a:p>
          <a:p>
            <a:pPr algn="ctr"/>
            <a:r>
              <a:rPr sz="784" b="0" i="0">
                <a:solidFill>
                  <a:srgbClr val="4A2E7A"/>
                </a:solidFill>
                <a:latin typeface="Arial"/>
              </a:rPr>
              <a:t>+ Function: parse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40866" y="3350410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4686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1D5253"/>
                </a:solidFill>
                <a:latin typeface="Arial"/>
              </a:rPr>
              <a:t>Service Bus</a:t>
            </a:r>
          </a:p>
          <a:p>
            <a:pPr algn="ctr"/>
            <a:r>
              <a:rPr sz="784" b="0" i="0">
                <a:solidFill>
                  <a:srgbClr val="1D5253"/>
                </a:solidFill>
                <a:latin typeface="Arial"/>
              </a:rPr>
              <a:t>records</a:t>
            </a:r>
          </a:p>
        </p:txBody>
      </p:sp>
      <p:sp>
        <p:nvSpPr>
          <p:cNvPr id="11" name="Can 10"/>
          <p:cNvSpPr/>
          <p:nvPr/>
        </p:nvSpPr>
        <p:spPr>
          <a:xfrm>
            <a:off x="3043185" y="3350410"/>
            <a:ext cx="1573537" cy="587453"/>
          </a:xfrm>
          <a:prstGeom prst="can">
            <a:avLst/>
          </a:prstGeom>
          <a:solidFill>
            <a:srgbClr val="E8EDF3"/>
          </a:solidFill>
          <a:ln w="14686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Blob</a:t>
            </a:r>
          </a:p>
          <a:p>
            <a:pPr algn="ctr"/>
            <a:r>
              <a:rPr sz="784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9236" y="34762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drop 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5130" y="34762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on arrival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1024" y="34762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orchestrate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6917" y="34762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emit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4289287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7" i="1" b="0">
                <a:solidFill>
                  <a:srgbClr val="7A828F"/>
                </a:solidFill>
                <a:latin typeface="Arial"/>
              </a:rPr>
              <a:t>A file is a transport: react on arrival, decompose into messages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Human Approval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25019">
            <a:solidFill>
              <a:srgbClr val="6D4AA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4A2E7A"/>
                </a:solidFill>
                <a:latin typeface="Arial"/>
              </a:rPr>
              <a:t>Logic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Approver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Teams / Email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Continue</a:t>
            </a:r>
          </a:p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/ reject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request approval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decision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Imp1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5847" y="2891790"/>
            <a:ext cx="0" cy="2002536"/>
          </a:xfrm>
          <a:prstGeom prst="line">
            <a:avLst/>
          </a:prstGeom>
          <a:ln w="24688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62859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59171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55483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45639" y="3989070"/>
            <a:ext cx="0" cy="0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145639" y="3810762"/>
            <a:ext cx="356616" cy="178308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45639" y="3989070"/>
            <a:ext cx="356616" cy="178308"/>
          </a:xfrm>
          <a:prstGeom prst="line">
            <a:avLst/>
          </a:prstGeom>
          <a:ln w="38404">
            <a:solidFill>
              <a:srgbClr val="007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538563" y="3989070"/>
            <a:ext cx="603504" cy="0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68943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968943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n 12"/>
          <p:cNvSpPr/>
          <p:nvPr/>
        </p:nvSpPr>
        <p:spPr>
          <a:xfrm>
            <a:off x="4573371" y="3687318"/>
            <a:ext cx="548640" cy="603503"/>
          </a:xfrm>
          <a:prstGeom prst="can">
            <a:avLst/>
          </a:prstGeom>
          <a:solidFill>
            <a:srgbClr val="7EB1E0"/>
          </a:solidFill>
          <a:ln w="19202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98567" y="263118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0" b="1">
                <a:solidFill>
                  <a:srgbClr val="C0392B"/>
                </a:solidFill>
                <a:latin typeface="Arial"/>
              </a:rPr>
              <a:t>hand-off 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567" y="501091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26" i="0" b="0">
                <a:solidFill>
                  <a:srgbClr val="C0392B"/>
                </a:solidFill>
                <a:latin typeface="Arial"/>
              </a:rPr>
              <a:t>Private Link / PE · Managed Identity · TLS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255" y="222656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SIF · 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4879" y="222656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Data platform · Snowflake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255" y="366674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write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8567" y="366674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Event Grid notify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4879" y="366674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COPY into 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4099" y="43662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4099" y="459943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Logic App / Function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0411" y="43662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Blob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50411" y="459943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ADLS external stage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6723" y="43662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Snowpipe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6723" y="459943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auto-ingest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43035" y="43662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567" y="523722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1" b="0">
                <a:solidFill>
                  <a:srgbClr val="5A6470"/>
                </a:solidFill>
                <a:latin typeface="Arial"/>
              </a:rPr>
              <a:t>Preferred for batch and near-real-time. SIF owns the stage object; the platform's Snowpipe ingests on notification.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Imp2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44003" y="2788920"/>
            <a:ext cx="0" cy="2002536"/>
          </a:xfrm>
          <a:prstGeom prst="line">
            <a:avLst/>
          </a:prstGeom>
          <a:ln w="24688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11015" y="388620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507327" y="388620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290407" y="3886200"/>
            <a:ext cx="603504" cy="0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441283" y="362422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8441283" y="362422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46723" y="25283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0" b="1">
                <a:solidFill>
                  <a:srgbClr val="C0392B"/>
                </a:solidFill>
                <a:latin typeface="Arial"/>
              </a:rPr>
              <a:t>hand-off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6723" y="490804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26" i="0" b="0">
                <a:solidFill>
                  <a:srgbClr val="C0392B"/>
                </a:solidFill>
                <a:latin typeface="Arial"/>
              </a:rPr>
              <a:t>Private Link / PE · Managed Identity · TLS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0411" y="212369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SIF · 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4879" y="212369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Data platform · Snowflake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0411" y="356387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load / stream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6723" y="356387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Snowpipe Streaming /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255" y="366674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592" i="1" b="1">
                <a:solidFill>
                  <a:srgbClr val="FFFFFF"/>
                </a:solidFill>
                <a:latin typeface="Arial"/>
              </a:rPr>
              <a:t>ƒx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255" y="426339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2255" y="449656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Function / driver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8567" y="426339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Connector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8567" y="449656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Snowflake driver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4879" y="426339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8567" y="513435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1" b="0">
                <a:solidFill>
                  <a:srgbClr val="5A6470"/>
                </a:solidFill>
                <a:latin typeface="Arial"/>
              </a:rPr>
              <a:t>Direct load via a Snowflake connector or driver. Use only for sub-second streams or where a connector is required; no Blob,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8567" y="53400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1" b="0">
                <a:solidFill>
                  <a:srgbClr val="5A6470"/>
                </a:solidFill>
                <a:latin typeface="Arial"/>
              </a:rPr>
              <a:t>no APIM. Governed by exception.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Imp3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5847" y="2891790"/>
            <a:ext cx="0" cy="2002536"/>
          </a:xfrm>
          <a:prstGeom prst="line">
            <a:avLst/>
          </a:prstGeom>
          <a:ln w="24688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62859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259171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55483" y="3989070"/>
            <a:ext cx="1673352" cy="0"/>
          </a:xfrm>
          <a:prstGeom prst="line">
            <a:avLst/>
          </a:prstGeom>
          <a:ln w="32918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538563" y="3989070"/>
            <a:ext cx="603504" cy="0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68943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9689439" y="3727094"/>
            <a:ext cx="301752" cy="523951"/>
          </a:xfrm>
          <a:prstGeom prst="line">
            <a:avLst/>
          </a:prstGeom>
          <a:ln w="43891">
            <a:solidFill>
              <a:srgbClr val="1FA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998567" y="263118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0" b="1">
                <a:solidFill>
                  <a:srgbClr val="C0392B"/>
                </a:solidFill>
                <a:latin typeface="Arial"/>
              </a:rPr>
              <a:t>hand-off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8567" y="501091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26" i="0" b="0">
                <a:solidFill>
                  <a:srgbClr val="C0392B"/>
                </a:solidFill>
                <a:latin typeface="Arial"/>
              </a:rPr>
              <a:t>Private Link / PE · Managed Identity · TLS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255" y="222656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SIF · 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4879" y="222656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Data platform · Snowflake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255" y="366674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small 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567" y="366674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governed call (OAuth)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4879" y="366674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41" i="0" b="0">
                <a:solidFill>
                  <a:srgbClr val="3A4557"/>
                </a:solidFill>
                <a:latin typeface="Arial"/>
              </a:rPr>
              <a:t>INSERT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4099" y="376961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592" i="1" b="1">
                <a:solidFill>
                  <a:srgbClr val="FFFFFF"/>
                </a:solidFill>
                <a:latin typeface="Arial"/>
              </a:rPr>
              <a:t>ƒx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4099" y="43662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4099" y="459943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event source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0411" y="385191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28" i="0" b="1">
                <a:solidFill>
                  <a:srgbClr val="FFFFFF"/>
                </a:solidFill>
                <a:latin typeface="Arial"/>
              </a:rPr>
              <a:t>&lt;/&gt;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0411" y="43662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APIM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50411" y="459943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6723" y="3879341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4" i="0" b="1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6723" y="43662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SQL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6723" y="459943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4" i="0" b="0">
                <a:solidFill>
                  <a:srgbClr val="5A6470"/>
                </a:solidFill>
                <a:latin typeface="Arial"/>
              </a:rPr>
              <a:t>Snowflake SQL REST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3035" y="436626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i="0" b="1">
                <a:solidFill>
                  <a:srgbClr val="33414F"/>
                </a:solidFill>
                <a:latin typeface="Arial"/>
              </a:rPr>
              <a:t>Snowflake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8567" y="523722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8" i="1" b="0">
                <a:solidFill>
                  <a:srgbClr val="5A6470"/>
                </a:solidFill>
                <a:latin typeface="Arial"/>
              </a:rPr>
              <a:t>Small, event-driven writes fronted by APIM. Low-volume and governed only; not for bulk. Trigger: a SIF event.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Inbound Webhook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50828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616722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82616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8509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77291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991" b="1" i="0">
                <a:solidFill>
                  <a:srgbClr val="33414F"/>
                </a:solidFill>
                <a:latin typeface="Arial"/>
              </a:rPr>
              <a:t>Partner /</a:t>
            </a:r>
          </a:p>
          <a:p>
            <a:pPr algn="ctr"/>
            <a:r>
              <a:rPr sz="991" b="1" i="0">
                <a:solidFill>
                  <a:srgbClr val="33414F"/>
                </a:solidFill>
                <a:latin typeface="Arial"/>
              </a:rPr>
              <a:t>SaaS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3185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E6EEF0"/>
          </a:solidFill>
          <a:ln w="14686">
            <a:solidFill>
              <a:srgbClr val="2C6E8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194155"/>
                </a:solidFill>
                <a:latin typeface="Arial"/>
              </a:rPr>
              <a:t>Front Door</a:t>
            </a:r>
          </a:p>
          <a:p>
            <a:pPr algn="ctr"/>
            <a:r>
              <a:rPr sz="784" b="0" i="0">
                <a:solidFill>
                  <a:srgbClr val="194155"/>
                </a:solidFill>
                <a:latin typeface="Arial"/>
              </a:rPr>
              <a:t>+ WAF / DDoS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9078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14686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1F3864"/>
                </a:solidFill>
                <a:latin typeface="Arial"/>
              </a:rPr>
              <a:t>APIM</a:t>
            </a:r>
          </a:p>
          <a:p>
            <a:pPr algn="ctr"/>
            <a:r>
              <a:rPr sz="784" b="0" i="0">
                <a:solidFill>
                  <a:srgbClr val="1F3864"/>
                </a:solidFill>
                <a:latin typeface="Arial"/>
              </a:rPr>
              <a:t>validate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74972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4686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991" b="1" i="0">
                <a:solidFill>
                  <a:srgbClr val="1D5253"/>
                </a:solidFill>
                <a:latin typeface="Arial"/>
              </a:rPr>
              <a:t>Event Grid /</a:t>
            </a:r>
          </a:p>
          <a:p>
            <a:pPr algn="ctr"/>
            <a:r>
              <a:rPr sz="991" b="1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40866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4686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784" b="0" i="0">
                <a:solidFill>
                  <a:srgbClr val="7A4F12"/>
                </a:solidFill>
                <a:latin typeface="Arial"/>
              </a:rPr>
              <a:t>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9236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HTTPS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5130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1024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enqueue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6917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async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Orch Impl Sep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25019">
            <a:solidFill>
              <a:srgbClr val="6D4AA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4A2E7A"/>
                </a:solidFill>
                <a:latin typeface="Arial"/>
              </a:rPr>
              <a:t>Logic App</a:t>
            </a:r>
          </a:p>
          <a:p>
            <a:pPr algn="ctr"/>
            <a:r>
              <a:rPr sz="1336" b="0" i="0">
                <a:solidFill>
                  <a:srgbClr val="4A2E7A"/>
                </a:solidFill>
                <a:latin typeface="Arial"/>
              </a:rPr>
              <a:t>control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logic / compute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delegates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invokes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77" i="1" b="0">
                <a:solidFill>
                  <a:srgbClr val="7A828F"/>
                </a:solidFill>
                <a:latin typeface="Arial"/>
              </a:rPr>
              <a:t>Process control in Logic Apps; business logic in Functions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Orchestration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7436173" y="2319359"/>
            <a:ext cx="1143744" cy="142968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36173" y="3749039"/>
            <a:ext cx="1143744" cy="1429681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Trigger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25019">
            <a:solidFill>
              <a:srgbClr val="6D4AA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4A2E7A"/>
                </a:solidFill>
                <a:latin typeface="Arial"/>
              </a:rPr>
              <a:t>Logic App</a:t>
            </a:r>
          </a:p>
          <a:p>
            <a:pPr algn="ctr"/>
            <a:r>
              <a:rPr sz="1336" b="0" i="0">
                <a:solidFill>
                  <a:srgbClr val="4A2E7A"/>
                </a:solidFill>
                <a:latin typeface="Arial"/>
              </a:rPr>
              <a:t>Standard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5659" y="1818970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APIM → System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logic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5659" y="4678332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25019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D5253"/>
                </a:solidFill>
                <a:latin typeface="Arial"/>
              </a:rPr>
              <a:t>Service Bus</a:t>
            </a:r>
          </a:p>
          <a:p>
            <a:pPr algn="ctr"/>
            <a:r>
              <a:rPr sz="1336" b="0" i="0">
                <a:solidFill>
                  <a:srgbClr val="1D5253"/>
                </a:solidFill>
                <a:latin typeface="Arial"/>
              </a:rPr>
              <a:t>async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0765" y="274826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coordinates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Outbound Webhook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Event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FF1E2"/>
          </a:solidFill>
          <a:ln w="25019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688" b="1" i="0">
                <a:solidFill>
                  <a:srgbClr val="1C5138"/>
                </a:solidFill>
                <a:latin typeface="Arial"/>
              </a:rPr>
              <a:t>Event Grid /</a:t>
            </a:r>
          </a:p>
          <a:p>
            <a:pPr algn="ctr"/>
            <a:r>
              <a:rPr sz="1688" b="1" i="0">
                <a:solidFill>
                  <a:srgbClr val="1C5138"/>
                </a:solidFill>
                <a:latin typeface="Arial"/>
              </a:rPr>
              <a:t>Logic 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External</a:t>
            </a:r>
          </a:p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subscriber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event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push (HTTPS)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Principle Stack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5847" y="2062212"/>
            <a:ext cx="0" cy="375385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847" y="3274995"/>
            <a:ext cx="0" cy="404261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5847" y="4343400"/>
            <a:ext cx="0" cy="490888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186963" y="1340317"/>
            <a:ext cx="9817768" cy="721894"/>
          </a:xfrm>
          <a:prstGeom prst="roundRect">
            <a:avLst>
              <a:gd name="adj" fmla="val 20000"/>
            </a:avLst>
          </a:prstGeom>
          <a:solidFill>
            <a:srgbClr val="DCE7F5"/>
          </a:solidFill>
          <a:ln w="21656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421" b="1" i="0">
                <a:solidFill>
                  <a:srgbClr val="1F3864"/>
                </a:solidFill>
                <a:latin typeface="Arial"/>
              </a:rPr>
              <a:t>Global Enterprise Architecture Principles</a:t>
            </a:r>
          </a:p>
          <a:p>
            <a:pPr algn="ctr"/>
            <a:r>
              <a:rPr sz="1080" b="0" i="0">
                <a:solidFill>
                  <a:srgbClr val="1F3864"/>
                </a:solidFill>
                <a:latin typeface="Arial"/>
              </a:rPr>
              <a:t>Enterprise-first • SaaS &gt; PaaS &gt; IaaS • API-first • open standards • reuse before build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6963" y="2437597"/>
            <a:ext cx="1848050" cy="837397"/>
          </a:xfrm>
          <a:prstGeom prst="roundRect">
            <a:avLst>
              <a:gd name="adj" fmla="val 15517"/>
            </a:avLst>
          </a:prstGeom>
          <a:solidFill>
            <a:srgbClr val="EAF0EC"/>
          </a:solidFill>
          <a:ln w="21656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0" b="1" i="0">
                <a:solidFill>
                  <a:srgbClr val="1C5138"/>
                </a:solidFill>
                <a:latin typeface="Arial"/>
              </a:rPr>
              <a:t>Integration</a:t>
            </a:r>
          </a:p>
          <a:p>
            <a:pPr algn="ctr"/>
            <a:r>
              <a:rPr sz="977" b="0" i="0">
                <a:solidFill>
                  <a:srgbClr val="1C5138"/>
                </a:solidFill>
                <a:latin typeface="Arial"/>
              </a:rPr>
              <a:t>mediated, central, reusable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9392" y="2437597"/>
            <a:ext cx="1848050" cy="837397"/>
          </a:xfrm>
          <a:prstGeom prst="roundRect">
            <a:avLst>
              <a:gd name="adj" fmla="val 15517"/>
            </a:avLst>
          </a:prstGeom>
          <a:solidFill>
            <a:srgbClr val="EAF0EC"/>
          </a:solidFill>
          <a:ln w="21656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0" b="1" i="0">
                <a:solidFill>
                  <a:srgbClr val="1C5138"/>
                </a:solidFill>
                <a:latin typeface="Arial"/>
              </a:rPr>
              <a:t>Application</a:t>
            </a:r>
          </a:p>
          <a:p>
            <a:pPr algn="ctr"/>
            <a:r>
              <a:rPr sz="977" b="0" i="0">
                <a:solidFill>
                  <a:srgbClr val="1C5138"/>
                </a:solidFill>
                <a:latin typeface="Arial"/>
              </a:rPr>
              <a:t>expose as APIs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71822" y="2437597"/>
            <a:ext cx="1848050" cy="837397"/>
          </a:xfrm>
          <a:prstGeom prst="roundRect">
            <a:avLst>
              <a:gd name="adj" fmla="val 15517"/>
            </a:avLst>
          </a:prstGeom>
          <a:solidFill>
            <a:srgbClr val="EAF0EC"/>
          </a:solidFill>
          <a:ln w="21656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0" b="1" i="0">
                <a:solidFill>
                  <a:srgbClr val="1C5138"/>
                </a:solidFill>
                <a:latin typeface="Arial"/>
              </a:rPr>
              <a:t>Data</a:t>
            </a:r>
          </a:p>
          <a:p>
            <a:pPr algn="ctr"/>
            <a:r>
              <a:rPr sz="977" b="0" i="0">
                <a:solidFill>
                  <a:srgbClr val="1C5138"/>
                </a:solidFill>
                <a:latin typeface="Arial"/>
              </a:rPr>
              <a:t>FAIR, platform-owned bulk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64251" y="2437597"/>
            <a:ext cx="1848050" cy="837397"/>
          </a:xfrm>
          <a:prstGeom prst="roundRect">
            <a:avLst>
              <a:gd name="adj" fmla="val 15517"/>
            </a:avLst>
          </a:prstGeom>
          <a:solidFill>
            <a:srgbClr val="EAF0EC"/>
          </a:solidFill>
          <a:ln w="21656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0" b="1" i="0">
                <a:solidFill>
                  <a:srgbClr val="1C5138"/>
                </a:solidFill>
                <a:latin typeface="Arial"/>
              </a:rPr>
              <a:t>Technology</a:t>
            </a:r>
          </a:p>
          <a:p>
            <a:pPr algn="ctr"/>
            <a:r>
              <a:rPr sz="977" b="0" i="0">
                <a:solidFill>
                  <a:srgbClr val="1C5138"/>
                </a:solidFill>
                <a:latin typeface="Arial"/>
              </a:rPr>
              <a:t>exploit cloud, open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56681" y="2437597"/>
            <a:ext cx="1848050" cy="837397"/>
          </a:xfrm>
          <a:prstGeom prst="roundRect">
            <a:avLst>
              <a:gd name="adj" fmla="val 15517"/>
            </a:avLst>
          </a:prstGeom>
          <a:solidFill>
            <a:srgbClr val="EAF0EC"/>
          </a:solidFill>
          <a:ln w="21656">
            <a:solidFill>
              <a:srgbClr val="2F855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0" b="1" i="0">
                <a:solidFill>
                  <a:srgbClr val="1C5138"/>
                </a:solidFill>
                <a:latin typeface="Arial"/>
              </a:rPr>
              <a:t>Security</a:t>
            </a:r>
          </a:p>
          <a:p>
            <a:pPr algn="ctr"/>
            <a:r>
              <a:rPr sz="977" b="0" i="0">
                <a:solidFill>
                  <a:srgbClr val="1C5138"/>
                </a:solidFill>
                <a:latin typeface="Arial"/>
              </a:rPr>
              <a:t>shift-left, Zero Trust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6963" y="3679256"/>
            <a:ext cx="9817768" cy="664143"/>
          </a:xfrm>
          <a:prstGeom prst="roundRect">
            <a:avLst>
              <a:gd name="adj" fmla="val 21739"/>
            </a:avLst>
          </a:prstGeom>
          <a:solidFill>
            <a:srgbClr val="FBF1DA"/>
          </a:solidFill>
          <a:ln w="21656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64" b="1" i="0">
                <a:solidFill>
                  <a:srgbClr val="7A4F12"/>
                </a:solidFill>
                <a:latin typeface="Arial"/>
              </a:rPr>
              <a:t>Engineering Standards (Cloud)</a:t>
            </a:r>
          </a:p>
          <a:p>
            <a:pPr algn="ctr"/>
            <a:r>
              <a:rPr sz="1080" b="0" i="0">
                <a:solidFill>
                  <a:srgbClr val="7A4F12"/>
                </a:solidFill>
                <a:latin typeface="Arial"/>
              </a:rPr>
              <a:t>vWAN hub-spoke • Managed Identity (no keys) • Key Vault • WAF/DDoS • IaC/DevSecOps • ASR/ZRS/GRS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6963" y="4834288"/>
            <a:ext cx="9817768" cy="952901"/>
          </a:xfrm>
          <a:prstGeom prst="roundRect">
            <a:avLst>
              <a:gd name="adj" fmla="val 18181"/>
            </a:avLst>
          </a:prstGeom>
          <a:solidFill>
            <a:srgbClr val="2E5496"/>
          </a:solidFill>
          <a:ln w="21656">
            <a:solidFill>
              <a:srgbClr val="1B3A6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591" b="1" i="0">
                <a:solidFill>
                  <a:srgbClr val="FFFFFF"/>
                </a:solidFill>
                <a:latin typeface="Arial"/>
              </a:rPr>
              <a:t>Systems Integration Framework</a:t>
            </a:r>
          </a:p>
          <a:p>
            <a:pPr algn="ctr"/>
            <a:r>
              <a:rPr sz="1250" b="0" i="0">
                <a:solidFill>
                  <a:srgbClr val="DCE7F5"/>
                </a:solidFill>
                <a:latin typeface="Arial"/>
              </a:rPr>
              <a:t>Pattern catalogue  •  decision tree  •  guardrails  •  exception process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83" y="219937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93" i="0" b="1">
                <a:solidFill>
                  <a:srgbClr val="5A6675"/>
                </a:solidFill>
                <a:latin typeface="Arial"/>
              </a:rPr>
              <a:t>Domain 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567" y="4473341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6" i="0" b="1">
                <a:solidFill>
                  <a:srgbClr val="5A6675"/>
                </a:solidFill>
                <a:latin typeface="Arial"/>
              </a:rPr>
              <a:t>applies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58738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36" i="1" b="0">
                <a:solidFill>
                  <a:srgbClr val="7A828F"/>
                </a:solidFill>
                <a:latin typeface="Arial"/>
              </a:rPr>
              <a:t>The SIF does not redefine these principles; it applies them to integration.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Protocol Mediation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Modern</a:t>
            </a:r>
          </a:p>
          <a:p>
            <a:pPr algn="ctr"/>
            <a:r>
              <a:rPr sz="1688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APIM / Function</a:t>
            </a:r>
          </a:p>
          <a:p>
            <a:pPr algn="ctr"/>
            <a:r>
              <a:rPr sz="1336" b="0" i="0">
                <a:solidFill>
                  <a:srgbClr val="1F3864"/>
                </a:solidFill>
                <a:latin typeface="Arial"/>
              </a:rPr>
              <a:t>translate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Legacy SOAP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REST/JSON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SOAP/XML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Pub/sub Fanout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7436173" y="2319359"/>
            <a:ext cx="1143744" cy="142968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436173" y="374903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36173" y="3749039"/>
            <a:ext cx="1143744" cy="1429681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95383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Publisher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5521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25019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D5253"/>
                </a:solidFill>
                <a:latin typeface="Arial"/>
              </a:rPr>
              <a:t>Topic</a:t>
            </a:r>
          </a:p>
          <a:p>
            <a:pPr algn="ctr"/>
            <a:r>
              <a:rPr sz="1336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5659" y="1818970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Finance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subscription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15659" y="324865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Doc gen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subscription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5659" y="4678332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Analytics</a:t>
            </a:r>
          </a:p>
          <a:p>
            <a:pPr algn="ctr"/>
            <a:r>
              <a:rPr sz="1336" b="0" i="0">
                <a:solidFill>
                  <a:srgbClr val="33414F"/>
                </a:solidFill>
                <a:latin typeface="Arial"/>
              </a:rPr>
              <a:t>subscription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0627" y="346310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publish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0765" y="274826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subscriptions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Queue Leveling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50828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616722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82616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8509" y="3749040"/>
            <a:ext cx="671376" cy="0"/>
          </a:xfrm>
          <a:prstGeom prst="line">
            <a:avLst/>
          </a:prstGeom>
          <a:ln w="15735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77291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Producers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3185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14686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9078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4686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1D5253"/>
                </a:solidFill>
                <a:latin typeface="Arial"/>
              </a:rPr>
              <a:t>Queue</a:t>
            </a:r>
          </a:p>
          <a:p>
            <a:pPr algn="ctr"/>
            <a:r>
              <a:rPr sz="784" b="0" i="0">
                <a:solidFill>
                  <a:srgbClr val="1D5253"/>
                </a:solidFill>
                <a:latin typeface="Arial"/>
              </a:rPr>
              <a:t>Service Bus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74972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4686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784" b="0" i="0">
                <a:solidFill>
                  <a:srgbClr val="7A4F12"/>
                </a:solidFill>
                <a:latin typeface="Arial"/>
              </a:rPr>
              <a:t>consumer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40866" y="3455313"/>
            <a:ext cx="1573537" cy="58745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468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32" b="1" i="0">
                <a:solidFill>
                  <a:srgbClr val="33414F"/>
                </a:solidFill>
                <a:latin typeface="Arial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9236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submit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5130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enqueue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1024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dequeue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6917" y="358119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6" i="0" b="0">
                <a:solidFill>
                  <a:srgbClr val="5A6675"/>
                </a:solidFill>
                <a:latin typeface="Arial"/>
              </a:rPr>
              <a:t>process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Reference 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79279" y="2350970"/>
            <a:ext cx="0" cy="231006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79279" y="3506002"/>
            <a:ext cx="0" cy="231006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879279" y="4661033"/>
            <a:ext cx="0" cy="231007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86373" y="1744578"/>
            <a:ext cx="288758" cy="0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79279" y="5816065"/>
            <a:ext cx="0" cy="231006"/>
          </a:xfrm>
          <a:prstGeom prst="line">
            <a:avLst/>
          </a:prstGeom>
          <a:ln w="2310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98205" y="1426945"/>
            <a:ext cx="1588168" cy="635267"/>
          </a:xfrm>
          <a:prstGeom prst="roundRect">
            <a:avLst>
              <a:gd name="adj" fmla="val 20454"/>
            </a:avLst>
          </a:prstGeom>
          <a:solidFill>
            <a:srgbClr val="EEF1F5"/>
          </a:solidFill>
          <a:ln w="21656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0" b="1" i="0">
                <a:solidFill>
                  <a:srgbClr val="33414F"/>
                </a:solidFill>
                <a:latin typeface="Arial"/>
              </a:rPr>
              <a:t>Consumers /</a:t>
            </a:r>
          </a:p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producers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5131" y="1426945"/>
            <a:ext cx="6208294" cy="924025"/>
          </a:xfrm>
          <a:prstGeom prst="roundRect">
            <a:avLst>
              <a:gd name="adj" fmla="val 15625"/>
            </a:avLst>
          </a:prstGeom>
          <a:solidFill>
            <a:srgbClr val="DCE7F5"/>
          </a:solidFill>
          <a:ln w="21656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64" b="1" i="0">
                <a:solidFill>
                  <a:srgbClr val="1F3864"/>
                </a:solidFill>
                <a:latin typeface="Arial"/>
              </a:rPr>
              <a:t>Exposure</a:t>
            </a:r>
          </a:p>
          <a:p>
            <a:pPr algn="ctr"/>
            <a:r>
              <a:rPr sz="1364" b="0" i="0">
                <a:solidFill>
                  <a:srgbClr val="1F3864"/>
                </a:solidFill>
                <a:latin typeface="Arial"/>
              </a:rPr>
              <a:t>API Management  •  (shared, non-public)</a:t>
            </a:r>
          </a:p>
          <a:p>
            <a:pPr algn="ctr"/>
            <a:r>
              <a:rPr sz="1080" b="0" i="1">
                <a:solidFill>
                  <a:srgbClr val="1F3864"/>
                </a:solidFill>
                <a:latin typeface="Arial"/>
              </a:rPr>
              <a:t>Front Door + WAF + DDoS for public ingress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5131" y="2581976"/>
            <a:ext cx="6208294" cy="924025"/>
          </a:xfrm>
          <a:prstGeom prst="roundRect">
            <a:avLst>
              <a:gd name="adj" fmla="val 15625"/>
            </a:avLst>
          </a:prstGeom>
          <a:solidFill>
            <a:srgbClr val="E9E2F5"/>
          </a:solidFill>
          <a:ln w="21656">
            <a:solidFill>
              <a:srgbClr val="6D4AA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64" b="1" i="0">
                <a:solidFill>
                  <a:srgbClr val="4A2E7A"/>
                </a:solidFill>
                <a:latin typeface="Arial"/>
              </a:rPr>
              <a:t>Orchestration</a:t>
            </a:r>
          </a:p>
          <a:p>
            <a:pPr algn="ctr"/>
            <a:r>
              <a:rPr sz="1364" b="0" i="0">
                <a:solidFill>
                  <a:srgbClr val="4A2E7A"/>
                </a:solidFill>
                <a:latin typeface="Arial"/>
              </a:rPr>
              <a:t>Logic Apps (Standard)</a:t>
            </a:r>
          </a:p>
          <a:p>
            <a:pPr algn="ctr"/>
            <a:r>
              <a:rPr sz="1080" b="0" i="1">
                <a:solidFill>
                  <a:srgbClr val="4A2E7A"/>
                </a:solidFill>
                <a:latin typeface="Arial"/>
              </a:rPr>
              <a:t>Stateful control flow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75131" y="3737008"/>
            <a:ext cx="6208294" cy="924025"/>
          </a:xfrm>
          <a:prstGeom prst="roundRect">
            <a:avLst>
              <a:gd name="adj" fmla="val 15625"/>
            </a:avLst>
          </a:prstGeom>
          <a:solidFill>
            <a:srgbClr val="D6ECEC"/>
          </a:solidFill>
          <a:ln w="21656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64" b="1" i="0">
                <a:solidFill>
                  <a:srgbClr val="1D5253"/>
                </a:solidFill>
                <a:latin typeface="Arial"/>
              </a:rPr>
              <a:t>Messaging &amp; Eventing</a:t>
            </a:r>
          </a:p>
          <a:p>
            <a:pPr algn="ctr"/>
            <a:r>
              <a:rPr sz="1364" b="0" i="0">
                <a:solidFill>
                  <a:srgbClr val="1D5253"/>
                </a:solidFill>
                <a:latin typeface="Arial"/>
              </a:rPr>
              <a:t>Service Bus   •   Event Grid   •   Event Hubs</a:t>
            </a:r>
          </a:p>
          <a:p>
            <a:pPr algn="ctr"/>
            <a:r>
              <a:rPr sz="1080" b="0" i="1">
                <a:solidFill>
                  <a:srgbClr val="1D5253"/>
                </a:solidFill>
                <a:latin typeface="Arial"/>
              </a:rPr>
              <a:t>Async, pub/sub, streaming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75131" y="4892040"/>
            <a:ext cx="6208294" cy="924025"/>
          </a:xfrm>
          <a:prstGeom prst="roundRect">
            <a:avLst>
              <a:gd name="adj" fmla="val 15625"/>
            </a:avLst>
          </a:prstGeom>
          <a:solidFill>
            <a:srgbClr val="FBF1DA"/>
          </a:solidFill>
          <a:ln w="21656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64" b="1" i="0">
                <a:solidFill>
                  <a:srgbClr val="7A4F12"/>
                </a:solidFill>
                <a:latin typeface="Arial"/>
              </a:rPr>
              <a:t>Implementation</a:t>
            </a:r>
          </a:p>
          <a:p>
            <a:pPr algn="ctr"/>
            <a:r>
              <a:rPr sz="1364" b="0" i="0">
                <a:solidFill>
                  <a:srgbClr val="7A4F12"/>
                </a:solidFill>
                <a:latin typeface="Arial"/>
              </a:rPr>
              <a:t>Azure Functions  (Python / .NET)</a:t>
            </a:r>
          </a:p>
          <a:p>
            <a:pPr algn="ctr"/>
            <a:r>
              <a:rPr sz="1080" b="0" i="1">
                <a:solidFill>
                  <a:srgbClr val="7A4F12"/>
                </a:solidFill>
                <a:latin typeface="Arial"/>
              </a:rPr>
              <a:t>Logic, transform, compute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5131" y="6047071"/>
            <a:ext cx="6208294" cy="808522"/>
          </a:xfrm>
          <a:prstGeom prst="roundRect">
            <a:avLst>
              <a:gd name="adj" fmla="val 17857"/>
            </a:avLst>
          </a:prstGeom>
          <a:solidFill>
            <a:srgbClr val="F3F5F8"/>
          </a:solidFill>
          <a:ln w="21656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64" b="1" i="0">
                <a:solidFill>
                  <a:srgbClr val="33414F"/>
                </a:solidFill>
                <a:latin typeface="Arial"/>
              </a:rPr>
              <a:t>Data Platform Exchange (boundary)</a:t>
            </a:r>
          </a:p>
          <a:p>
            <a:pPr algn="ctr"/>
            <a:r>
              <a:rPr sz="1364" b="0" i="0">
                <a:solidFill>
                  <a:srgbClr val="33414F"/>
                </a:solidFill>
                <a:latin typeface="Arial"/>
              </a:rPr>
              <a:t>Snowflake: events in / curated products out, via defined patterns only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43308" y="1426945"/>
            <a:ext cx="2165684" cy="837397"/>
          </a:xfrm>
          <a:prstGeom prst="roundRect">
            <a:avLst>
              <a:gd name="adj" fmla="val 15517"/>
            </a:avLst>
          </a:prstGeom>
          <a:solidFill>
            <a:srgbClr val="F1F4F8"/>
          </a:solidFill>
          <a:ln w="2165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Entra ID +</a:t>
            </a:r>
          </a:p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Managed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43308" y="2437597"/>
            <a:ext cx="2165684" cy="837397"/>
          </a:xfrm>
          <a:prstGeom prst="roundRect">
            <a:avLst>
              <a:gd name="adj" fmla="val 15517"/>
            </a:avLst>
          </a:prstGeom>
          <a:solidFill>
            <a:srgbClr val="F1F4F8"/>
          </a:solidFill>
          <a:ln w="2165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Key Vault</a:t>
            </a:r>
          </a:p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(Cyber sub)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43308" y="3448250"/>
            <a:ext cx="2165684" cy="837397"/>
          </a:xfrm>
          <a:prstGeom prst="roundRect">
            <a:avLst>
              <a:gd name="adj" fmla="val 15517"/>
            </a:avLst>
          </a:prstGeom>
          <a:solidFill>
            <a:srgbClr val="F1F4F8"/>
          </a:solidFill>
          <a:ln w="2165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Monitor /</a:t>
            </a:r>
          </a:p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Log Analytics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43308" y="4458903"/>
            <a:ext cx="2165684" cy="837397"/>
          </a:xfrm>
          <a:prstGeom prst="roundRect">
            <a:avLst>
              <a:gd name="adj" fmla="val 15517"/>
            </a:avLst>
          </a:prstGeom>
          <a:solidFill>
            <a:srgbClr val="F1F4F8"/>
          </a:solidFill>
          <a:ln w="21656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vWAN + Private</a:t>
            </a:r>
          </a:p>
          <a:p>
            <a:pPr algn="ctr"/>
            <a:r>
              <a:rPr sz="1250" b="0" i="0">
                <a:solidFill>
                  <a:srgbClr val="33414F"/>
                </a:solidFill>
                <a:latin typeface="Arial"/>
              </a:rPr>
              <a:t>Endpoints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8870" y="1159844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93" i="0" b="1">
                <a:solidFill>
                  <a:srgbClr val="5A6675"/>
                </a:solidFill>
                <a:latin typeface="Arial"/>
              </a:rPr>
              <a:t>Cross-cutting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Reliable Messaging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Producer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8508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1D5253"/>
                </a:solidFill>
                <a:latin typeface="Arial"/>
              </a:rPr>
              <a:t>Queue</a:t>
            </a:r>
          </a:p>
          <a:p>
            <a:pPr algn="ctr"/>
            <a:r>
              <a:rPr sz="988" b="0" i="0">
                <a:solidFill>
                  <a:srgbClr val="1D5253"/>
                </a:solidFill>
                <a:latin typeface="Arial"/>
              </a:rPr>
              <a:t>sessions, dedup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Idempotent</a:t>
            </a:r>
          </a:p>
          <a:p>
            <a:pPr algn="ctr"/>
            <a:r>
              <a:rPr sz="1249" b="1" i="0">
                <a:solidFill>
                  <a:srgbClr val="7A4F12"/>
                </a:solidFill>
                <a:latin typeface="Arial"/>
              </a:rPr>
              <a:t>consumer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87687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System of</a:t>
            </a:r>
          </a:p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send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deliver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apply once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Reverse Etl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676543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Pipeline /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Function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115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D6ECEC"/>
          </a:solidFill>
          <a:ln w="18508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1D5253"/>
                </a:solidFill>
                <a:latin typeface="Arial"/>
              </a:rPr>
              <a:t>Service Bus /</a:t>
            </a:r>
          </a:p>
          <a:p>
            <a:pPr algn="ctr"/>
            <a:r>
              <a:rPr sz="988" b="0" i="0">
                <a:solidFill>
                  <a:srgbClr val="1D5253"/>
                </a:solidFill>
                <a:latin typeface="Arial"/>
              </a:rPr>
              <a:t>APIM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87687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Operational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system</a:t>
            </a:r>
          </a:p>
        </p:txBody>
      </p:sp>
      <p:sp>
        <p:nvSpPr>
          <p:cNvPr id="9" name="Can 8"/>
          <p:cNvSpPr/>
          <p:nvPr/>
        </p:nvSpPr>
        <p:spPr>
          <a:xfrm>
            <a:off x="820971" y="3246670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curated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40531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40531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publish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40531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8567" y="442988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93" i="1" b="0">
                <a:solidFill>
                  <a:srgbClr val="7A828F"/>
                </a:solidFill>
                <a:latin typeface="Arial"/>
              </a:rPr>
              <a:t>Analytics informs operations — it does not overwrite the system of record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Scheduled Trigger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616837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0971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Schedule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recurrence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76543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E9E2F5"/>
          </a:solidFill>
          <a:ln w="18508">
            <a:solidFill>
              <a:srgbClr val="6D4AA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4A2E7A"/>
                </a:solidFill>
                <a:latin typeface="Arial"/>
              </a:rPr>
              <a:t>Logic App</a:t>
            </a:r>
          </a:p>
          <a:p>
            <a:pPr algn="ctr"/>
            <a:r>
              <a:rPr sz="988" b="0" i="0">
                <a:solidFill>
                  <a:srgbClr val="4A2E7A"/>
                </a:solidFill>
                <a:latin typeface="Arial"/>
              </a:rPr>
              <a:t>Standard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2115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Function /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Service Bus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87687" y="3246670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40531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fires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40531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40531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dispatch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8567" y="442988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93" i="1" b="0">
                <a:solidFill>
                  <a:srgbClr val="7A828F"/>
                </a:solidFill>
                <a:latin typeface="Arial"/>
              </a:rPr>
              <a:t>Use only where there is no event to react to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Security Zones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021558" y="1827642"/>
            <a:ext cx="0" cy="3819646"/>
          </a:xfrm>
          <a:prstGeom prst="line">
            <a:avLst/>
          </a:prstGeom>
          <a:ln w="18519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859513" y="3830062"/>
            <a:ext cx="347240" cy="0"/>
          </a:xfrm>
          <a:prstGeom prst="line">
            <a:avLst/>
          </a:prstGeom>
          <a:ln w="18519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850358" y="3830062"/>
            <a:ext cx="289368" cy="0"/>
          </a:xfrm>
          <a:prstGeom prst="line">
            <a:avLst/>
          </a:prstGeom>
          <a:ln w="18519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783331" y="3830062"/>
            <a:ext cx="289367" cy="0"/>
          </a:xfrm>
          <a:prstGeom prst="line">
            <a:avLst/>
          </a:prstGeom>
          <a:ln w="18519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341336" y="3853212"/>
            <a:ext cx="289367" cy="0"/>
          </a:xfrm>
          <a:prstGeom prst="line">
            <a:avLst/>
          </a:prstGeom>
          <a:ln w="18519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7207017" y="4559267"/>
            <a:ext cx="0" cy="231494"/>
          </a:xfrm>
          <a:prstGeom prst="line">
            <a:avLst/>
          </a:prstGeom>
          <a:ln w="18519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4642" y="3424948"/>
            <a:ext cx="1064870" cy="810227"/>
          </a:xfrm>
          <a:prstGeom prst="roundRect">
            <a:avLst>
              <a:gd name="adj" fmla="val 12857"/>
            </a:avLst>
          </a:prstGeom>
          <a:solidFill>
            <a:srgbClr val="EEF1F5"/>
          </a:solidFill>
          <a:ln w="17362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02" b="0" i="0">
                <a:solidFill>
                  <a:srgbClr val="33414F"/>
                </a:solidFill>
                <a:latin typeface="Arial"/>
              </a:rPr>
              <a:t>Internet /</a:t>
            </a:r>
          </a:p>
          <a:p>
            <a:pPr algn="ctr"/>
            <a:r>
              <a:rPr sz="1002" b="0" i="0">
                <a:solidFill>
                  <a:srgbClr val="33414F"/>
                </a:solidFill>
                <a:latin typeface="Arial"/>
              </a:rPr>
              <a:t>partners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6753" y="3424948"/>
            <a:ext cx="1643605" cy="810227"/>
          </a:xfrm>
          <a:prstGeom prst="roundRect">
            <a:avLst>
              <a:gd name="adj" fmla="val 12857"/>
            </a:avLst>
          </a:prstGeom>
          <a:solidFill>
            <a:srgbClr val="E6EEF0"/>
          </a:solidFill>
          <a:ln w="17362">
            <a:solidFill>
              <a:srgbClr val="2C6E8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48" b="1" i="0">
                <a:solidFill>
                  <a:srgbClr val="194155"/>
                </a:solidFill>
                <a:latin typeface="Arial"/>
              </a:rPr>
              <a:t>Front Door</a:t>
            </a:r>
          </a:p>
          <a:p>
            <a:pPr algn="ctr"/>
            <a:r>
              <a:rPr sz="1048" b="0" i="0">
                <a:solidFill>
                  <a:srgbClr val="194155"/>
                </a:solidFill>
                <a:latin typeface="Arial"/>
              </a:rPr>
              <a:t>+ WAF + DDoS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39726" y="3424948"/>
            <a:ext cx="1643605" cy="810227"/>
          </a:xfrm>
          <a:prstGeom prst="roundRect">
            <a:avLst>
              <a:gd name="adj" fmla="val 12857"/>
            </a:avLst>
          </a:prstGeom>
          <a:solidFill>
            <a:srgbClr val="DCE7F5"/>
          </a:solidFill>
          <a:ln w="17362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93" b="1" i="0">
                <a:solidFill>
                  <a:srgbClr val="1F3864"/>
                </a:solidFill>
                <a:latin typeface="Arial"/>
              </a:rPr>
              <a:t>API Management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2698" y="3216604"/>
            <a:ext cx="2268637" cy="1342663"/>
          </a:xfrm>
          <a:prstGeom prst="roundRect">
            <a:avLst>
              <a:gd name="adj" fmla="val 8620"/>
            </a:avLst>
          </a:prstGeom>
          <a:solidFill>
            <a:srgbClr val="D6ECEC"/>
          </a:solidFill>
          <a:ln w="17362">
            <a:solidFill>
              <a:srgbClr val="2C7A7B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865" b="0" i="0">
                <a:solidFill>
                  <a:srgbClr val="7A828F"/>
                </a:solidFill>
                <a:latin typeface="Arial"/>
              </a:rPr>
              <a:t>Workload spokes · private</a:t>
            </a:r>
          </a:p>
          <a:p>
            <a:pPr algn="ctr"/>
            <a:r>
              <a:rPr sz="1002" b="0" i="0">
                <a:solidFill>
                  <a:srgbClr val="1D5253"/>
                </a:solidFill>
                <a:latin typeface="Arial"/>
              </a:rPr>
              <a:t>Logic Apps</a:t>
            </a:r>
          </a:p>
          <a:p>
            <a:pPr algn="ctr"/>
            <a:r>
              <a:rPr sz="1002" b="0" i="0">
                <a:solidFill>
                  <a:srgbClr val="1D5253"/>
                </a:solidFill>
                <a:latin typeface="Arial"/>
              </a:rPr>
              <a:t>Functions</a:t>
            </a:r>
          </a:p>
          <a:p>
            <a:pPr algn="ctr"/>
            <a:r>
              <a:rPr sz="1002" b="0" i="0">
                <a:solidFill>
                  <a:srgbClr val="1D5253"/>
                </a:solidFill>
                <a:latin typeface="Arial"/>
              </a:rPr>
              <a:t>Service Bus / Event</a:t>
            </a:r>
          </a:p>
          <a:p>
            <a:pPr algn="ctr"/>
            <a:r>
              <a:rPr sz="1002" b="0" i="0">
                <a:solidFill>
                  <a:srgbClr val="1D5253"/>
                </a:solidFill>
                <a:latin typeface="Arial"/>
              </a:rPr>
              <a:t>Grid / Event Hubs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30703" y="3424948"/>
            <a:ext cx="1736202" cy="856526"/>
          </a:xfrm>
          <a:prstGeom prst="roundRect">
            <a:avLst>
              <a:gd name="adj" fmla="val 12162"/>
            </a:avLst>
          </a:prstGeom>
          <a:solidFill>
            <a:srgbClr val="EEF1F5"/>
          </a:solidFill>
          <a:ln w="17362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956" b="0" i="0">
                <a:solidFill>
                  <a:srgbClr val="33414F"/>
                </a:solidFill>
                <a:latin typeface="Arial"/>
              </a:rPr>
              <a:t>Systems (PE)</a:t>
            </a:r>
          </a:p>
          <a:p>
            <a:pPr algn="ctr"/>
            <a:r>
              <a:rPr sz="956" b="0" i="0">
                <a:solidFill>
                  <a:srgbClr val="33414F"/>
                </a:solidFill>
                <a:latin typeface="Arial"/>
              </a:rPr>
              <a:t>Snowflake (Priv Link)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2698" y="4790761"/>
            <a:ext cx="2268637" cy="509286"/>
          </a:xfrm>
          <a:prstGeom prst="roundRect">
            <a:avLst>
              <a:gd name="adj" fmla="val 20454"/>
            </a:avLst>
          </a:prstGeom>
          <a:solidFill>
            <a:srgbClr val="FDF3E0"/>
          </a:solidFill>
          <a:ln w="17362">
            <a:solidFill>
              <a:srgbClr val="C08A2E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002" b="1" i="0">
                <a:solidFill>
                  <a:srgbClr val="7A4F12"/>
                </a:solidFill>
                <a:latin typeface="Arial"/>
              </a:rPr>
              <a:t>Key Vault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278" y="1619298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11" i="0" b="1">
                <a:solidFill>
                  <a:srgbClr val="C0392B"/>
                </a:solidFill>
                <a:latin typeface="Arial"/>
              </a:rPr>
              <a:t>Internet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4278" y="5728310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0" i="1" b="0">
                <a:solidFill>
                  <a:srgbClr val="C0392B"/>
                </a:solidFill>
                <a:latin typeface="Arial"/>
              </a:rPr>
              <a:t>crossed only at the 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1276" y="319924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5" i="0" b="0">
                <a:solidFill>
                  <a:srgbClr val="7A828F"/>
                </a:solidFill>
                <a:latin typeface="Arial"/>
              </a:rPr>
              <a:t>Online subscription (edge)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4248" y="319924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5" i="0" b="0">
                <a:solidFill>
                  <a:srgbClr val="7A828F"/>
                </a:solidFill>
                <a:latin typeface="Arial"/>
              </a:rPr>
              <a:t>Shared sub · non-public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1524" y="3199242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5" i="0" b="0">
                <a:solidFill>
                  <a:srgbClr val="7A828F"/>
                </a:solidFill>
                <a:latin typeface="Arial"/>
              </a:rPr>
              <a:t>Backends &amp;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9737" y="535213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5" i="0" b="0">
                <a:solidFill>
                  <a:srgbClr val="7A828F"/>
                </a:solidFill>
                <a:latin typeface="Arial"/>
              </a:rPr>
              <a:t>Cyber subscription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9737" y="4582417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11" i="0" b="1">
                <a:solidFill>
                  <a:srgbClr val="5A6675"/>
                </a:solidFill>
                <a:latin typeface="Arial"/>
              </a:rPr>
              <a:t>MI + KV ref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8567" y="5826695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6" i="1" b="0">
                <a:solidFill>
                  <a:srgbClr val="5A6675"/>
                </a:solidFill>
                <a:latin typeface="Arial"/>
              </a:rPr>
              <a:t>Within Azure, every hop: Private Endpoint · Managed Identity (no keys) · TLS · NSG · default-deny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Streaming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04007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59579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515151" y="3749039"/>
            <a:ext cx="846096" cy="0"/>
          </a:xfrm>
          <a:prstGeom prst="line">
            <a:avLst/>
          </a:prstGeom>
          <a:ln w="19830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0971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18508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Feeds /</a:t>
            </a:r>
          </a:p>
          <a:p>
            <a:pPr algn="ctr"/>
            <a:r>
              <a:rPr sz="1249" b="1" i="0">
                <a:solidFill>
                  <a:srgbClr val="33414F"/>
                </a:solidFill>
                <a:latin typeface="Arial"/>
              </a:rPr>
              <a:t>producers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76543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E7D6"/>
          </a:solidFill>
          <a:ln w="18508">
            <a:solidFill>
              <a:srgbClr val="C05621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7B3410"/>
                </a:solidFill>
                <a:latin typeface="Arial"/>
              </a:rPr>
              <a:t>Event Hubs</a:t>
            </a:r>
          </a:p>
          <a:p>
            <a:pPr algn="ctr"/>
            <a:r>
              <a:rPr sz="988" b="0" i="0">
                <a:solidFill>
                  <a:srgbClr val="7B3410"/>
                </a:solidFill>
                <a:latin typeface="Arial"/>
              </a:rPr>
              <a:t>partitioned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2115" y="3378873"/>
            <a:ext cx="1983036" cy="740333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18508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7A4F12"/>
                </a:solidFill>
                <a:latin typeface="Arial"/>
              </a:rPr>
              <a:t>Processor</a:t>
            </a:r>
          </a:p>
          <a:p>
            <a:pPr algn="ctr"/>
            <a:r>
              <a:rPr sz="988" b="0" i="0">
                <a:solidFill>
                  <a:srgbClr val="7A4F12"/>
                </a:solidFill>
                <a:latin typeface="Arial"/>
              </a:rPr>
              <a:t>Functions / ASA</a:t>
            </a:r>
          </a:p>
        </p:txBody>
      </p:sp>
      <p:sp>
        <p:nvSpPr>
          <p:cNvPr id="9" name="Can 8"/>
          <p:cNvSpPr/>
          <p:nvPr/>
        </p:nvSpPr>
        <p:spPr>
          <a:xfrm>
            <a:off x="9387687" y="3378873"/>
            <a:ext cx="1983036" cy="740333"/>
          </a:xfrm>
          <a:prstGeom prst="can">
            <a:avLst/>
          </a:prstGeom>
          <a:solidFill>
            <a:srgbClr val="E8EDF3"/>
          </a:solidFill>
          <a:ln w="18508">
            <a:solidFill>
              <a:srgbClr val="51607A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301" b="1" i="0">
                <a:solidFill>
                  <a:srgbClr val="33414F"/>
                </a:solidFill>
                <a:latin typeface="Arial"/>
              </a:rPr>
              <a:t>Snowflake</a:t>
            </a:r>
          </a:p>
          <a:p>
            <a:pPr algn="ctr"/>
            <a:r>
              <a:rPr sz="988" b="0" i="0">
                <a:solidFill>
                  <a:srgbClr val="33414F"/>
                </a:solidFill>
                <a:latin typeface="Arial"/>
              </a:rPr>
              <a:t>landing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9775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5347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0919" y="3537516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i="0" b="0">
                <a:solidFill>
                  <a:srgbClr val="5A6675"/>
                </a:solidFill>
                <a:latin typeface="Arial"/>
              </a:rPr>
              <a:t>offload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Sync request-reply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576035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36173" y="3570329"/>
            <a:ext cx="1143744" cy="0"/>
          </a:xfrm>
          <a:prstGeom prst="line">
            <a:avLst/>
          </a:prstGeom>
          <a:ln w="26806">
            <a:solidFill>
              <a:srgbClr val="8A97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895383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1F4F8"/>
          </a:solidFill>
          <a:ln w="25019">
            <a:solidFill>
              <a:srgbClr val="7C8BA0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33414F"/>
                </a:solidFill>
                <a:latin typeface="Arial"/>
              </a:rPr>
              <a:t>Consumer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5521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DCE7F5"/>
          </a:solidFill>
          <a:ln w="25019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15659" y="3069941"/>
            <a:ext cx="2680651" cy="1000776"/>
          </a:xfrm>
          <a:prstGeom prst="roundRect">
            <a:avLst>
              <a:gd name="adj" fmla="val 16071"/>
            </a:avLst>
          </a:prstGeom>
          <a:solidFill>
            <a:srgbClr val="FBF1DA"/>
          </a:solidFill>
          <a:ln w="25019">
            <a:solidFill>
              <a:srgbClr val="B7791F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1758" b="1" i="0">
                <a:solidFill>
                  <a:srgbClr val="7A4F12"/>
                </a:solidFill>
                <a:latin typeface="Arial"/>
              </a:rPr>
              <a:t>Function</a:t>
            </a:r>
          </a:p>
          <a:p>
            <a:pPr algn="ctr"/>
            <a:r>
              <a:rPr sz="1336" b="0" i="0">
                <a:solidFill>
                  <a:srgbClr val="7A4F12"/>
                </a:solidFill>
                <a:latin typeface="Arial"/>
              </a:rPr>
              <a:t>compute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0627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0765" y="3284393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7" i="0" b="0">
                <a:solidFill>
                  <a:srgbClr val="5A6675"/>
                </a:solidFill>
                <a:latin typeface="Arial"/>
              </a:rPr>
              <a:t>invoke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669397"/>
            <a:ext cx="2194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77" i="1" b="0">
                <a:solidFill>
                  <a:srgbClr val="7A828F"/>
                </a:solidFill>
                <a:latin typeface="Arial"/>
              </a:rPr>
              <a:t>Caller blocks for a short, bounded response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75207" y="2651760"/>
            <a:ext cx="4389120" cy="1828800"/>
          </a:xfrm>
          <a:prstGeom prst="roundRect">
            <a:avLst>
              <a:gd name="adj" fmla="val 16000"/>
            </a:avLst>
          </a:prstGeom>
          <a:solidFill>
            <a:srgbClr val="DCE7F5"/>
          </a:solidFill>
          <a:ln w="54864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3744" b="0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447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</a:rPr>
              <a:t>T2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75207" y="2651760"/>
            <a:ext cx="4389120" cy="1828800"/>
          </a:xfrm>
          <a:prstGeom prst="roundRect">
            <a:avLst>
              <a:gd name="adj" fmla="val 16000"/>
            </a:avLst>
          </a:prstGeom>
          <a:solidFill>
            <a:srgbClr val="DCE7F5"/>
          </a:solidFill>
          <a:ln w="54864">
            <a:solidFill>
              <a:srgbClr val="2E5496"/>
            </a:solidFill>
          </a:ln>
          <a:effectLst/>
        </p:spPr>
        <p:txBody>
          <a:bodyPr rtlCol="0" anchor="ctr" wrap="square" lIns="27432" rIns="27432" tIns="9144" bIns="9144"/>
          <a:lstStyle/>
          <a:p>
            <a:pPr algn="ctr"/>
            <a:r>
              <a:rPr sz="3744" b="0" i="0">
                <a:solidFill>
                  <a:srgbClr val="1F3864"/>
                </a:solidFill>
                <a:latin typeface="Arial"/>
              </a:rPr>
              <a:t>APIM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