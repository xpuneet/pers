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C39A"/>
                </a:solidFill>
              </a:rPr>
              <a:t>HOME REPAIR INTEGRATION PLATFORM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6858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Option 1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API-First Integration Hub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65760" y="246888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0C4CE"/>
                </a:solidFill>
              </a:rPr>
              <a:t>A unified, resilient integration architecture on Azure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0C4CE"/>
                </a:solidFill>
              </a:rPr>
              <a:t>for contractor onboarding, work order issuance, and vendor status management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3429000"/>
            <a:ext cx="1595628" cy="237744"/>
          </a:xfrm>
          <a:prstGeom prst="roundRect">
            <a:avLst>
              <a:gd name="adj" fmla="val 2307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429000"/>
            <a:ext cx="15956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Discovery project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89404" y="3429000"/>
            <a:ext cx="2295144" cy="237744"/>
          </a:xfrm>
          <a:prstGeom prst="roundRect">
            <a:avLst>
              <a:gd name="adj" fmla="val 23077"/>
            </a:avLst>
          </a:prstGeom>
          <a:solidFill>
            <a:srgbClr val="015F6B"/>
          </a:solidFill>
          <a:ln w="12700">
            <a:solidFill>
              <a:srgbClr val="015F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89404" y="3429000"/>
            <a:ext cx="2295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Azure Integration Services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12564" y="3429000"/>
            <a:ext cx="1362456" cy="237744"/>
          </a:xfrm>
          <a:prstGeom prst="roundRect">
            <a:avLst>
              <a:gd name="adj" fmla="val 23077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2564" y="3429000"/>
            <a:ext cx="136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Mixed audience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4828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Confidential · Integration Architecture Team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384048" cy="5120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04672"/>
            <a:ext cx="384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04088" y="804672"/>
            <a:ext cx="39776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9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85039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Current state &amp; pain points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07899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What is broken today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" y="1609344"/>
            <a:ext cx="384048" cy="5120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609344"/>
            <a:ext cx="384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04088" y="1609344"/>
            <a:ext cx="39776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9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165506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Solution overview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188366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What Option 1 delivers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414016"/>
            <a:ext cx="384048" cy="5120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414016"/>
            <a:ext cx="384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04088" y="2414016"/>
            <a:ext cx="39776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9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245973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Architecture layers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268833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Five-layer model explained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0040" y="3218688"/>
            <a:ext cx="384048" cy="5120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218688"/>
            <a:ext cx="384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04088" y="3218688"/>
            <a:ext cx="39776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9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7240" y="326440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Work order lifecycle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7240" y="349300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End-to-end flow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" y="4023360"/>
            <a:ext cx="384048" cy="5120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023360"/>
            <a:ext cx="384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04088" y="4023360"/>
            <a:ext cx="39776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9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77240" y="406908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FA vs LA decision rationale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" y="429768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Why each component was chosen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09160" y="804672"/>
            <a:ext cx="384048" cy="5120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804672"/>
            <a:ext cx="384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093208" y="804672"/>
            <a:ext cx="39776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9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166360" y="85039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Contractor portal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66360" y="107899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Plug-and-play onboarding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709160" y="1609344"/>
            <a:ext cx="384048" cy="5120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1609344"/>
            <a:ext cx="384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093208" y="1609344"/>
            <a:ext cx="39776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9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166360" y="165506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Observability &amp; resilience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166360" y="188366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Monitoring, retry, DLQ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09160" y="2414016"/>
            <a:ext cx="384048" cy="5120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2414016"/>
            <a:ext cx="384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08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093208" y="2414016"/>
            <a:ext cx="39776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9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166360" y="245973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Migration approach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166360" y="268833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Phased delivery plan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709160" y="3218688"/>
            <a:ext cx="384048" cy="5120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09160" y="3218688"/>
            <a:ext cx="384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09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5093208" y="3218688"/>
            <a:ext cx="39776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9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5166360" y="326440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Investment &amp; timeline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166360" y="349300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Cost, effort, risk profile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709160" y="4023360"/>
            <a:ext cx="384048" cy="5120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09160" y="4023360"/>
            <a:ext cx="384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10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5093208" y="4023360"/>
            <a:ext cx="39776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9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5166360" y="406908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Recommendations &amp; next steps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166360" y="429768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Decision points for the client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Current state — pain points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The existing architecture has six structural deficiencies that block scale and reliability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4114800" cy="1051560"/>
          </a:xfrm>
          <a:prstGeom prst="rect">
            <a:avLst/>
          </a:prstGeom>
          <a:solidFill>
            <a:srgbClr val="F7C1C1"/>
          </a:solidFill>
          <a:ln w="9525">
            <a:solidFill>
              <a:srgbClr val="A32D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15568"/>
            <a:ext cx="73152" cy="105156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344" y="120700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1313"/>
                </a:solidFill>
              </a:rPr>
              <a:t>No unified API gateway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66344" y="1463040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Contractors call Logic Apps via ad-hoc URLs. No authentication contract, no rate limiting, no single front door.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709160" y="1115568"/>
            <a:ext cx="4114800" cy="1051560"/>
          </a:xfrm>
          <a:prstGeom prst="rect">
            <a:avLst/>
          </a:prstGeom>
          <a:solidFill>
            <a:srgbClr val="F7C1C1"/>
          </a:solidFill>
          <a:ln w="9525">
            <a:solidFill>
              <a:srgbClr val="A32D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115568"/>
            <a:ext cx="73152" cy="105156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55464" y="120700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1313"/>
                </a:solidFill>
              </a:rPr>
              <a:t>Hard contractor onboarding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55464" y="1463040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Each new vendor requires bespoke engineering work. 50 contractors yet to onboard is a significant backlog.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" y="2322576"/>
            <a:ext cx="4114800" cy="1051560"/>
          </a:xfrm>
          <a:prstGeom prst="rect">
            <a:avLst/>
          </a:prstGeom>
          <a:solidFill>
            <a:srgbClr val="FAC775"/>
          </a:solidFill>
          <a:ln w="9525">
            <a:solidFill>
              <a:srgbClr val="854F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322576"/>
            <a:ext cx="73152" cy="1051560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" y="241401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1313"/>
                </a:solidFill>
              </a:rPr>
              <a:t>No retry / dead-letter handling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6344" y="2670048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Logic App failures are silent. Messages are lost. No dead-letter queue, no alerting, no replay.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09160" y="2322576"/>
            <a:ext cx="4114800" cy="1051560"/>
          </a:xfrm>
          <a:prstGeom prst="rect">
            <a:avLst/>
          </a:prstGeom>
          <a:solidFill>
            <a:srgbClr val="FAC775"/>
          </a:solidFill>
          <a:ln w="9525">
            <a:solidFill>
              <a:srgbClr val="854F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322576"/>
            <a:ext cx="73152" cy="1051560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55464" y="241401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1313"/>
                </a:solidFill>
              </a:rPr>
              <a:t>Poor observability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55464" y="2670048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No unified logging across channels. No dashboard. Incidents are discovered by contractors, not the team.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" y="3529584"/>
            <a:ext cx="4114800" cy="1051560"/>
          </a:xfrm>
          <a:prstGeom prst="rect">
            <a:avLst/>
          </a:prstGeom>
          <a:solidFill>
            <a:srgbClr val="FAC775"/>
          </a:solidFill>
          <a:ln w="9525">
            <a:solidFill>
              <a:srgbClr val="854F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529584"/>
            <a:ext cx="73152" cy="1051560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" y="362102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1313"/>
                </a:solidFill>
              </a:rPr>
              <a:t>Dataverse performance bottlenecks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6344" y="3877056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Repeated reads hit Dataverse directly with no caching layer. High-volume scenarios cause timeouts.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09160" y="3529584"/>
            <a:ext cx="4114800" cy="1051560"/>
          </a:xfrm>
          <a:prstGeom prst="rect">
            <a:avLst/>
          </a:prstGeom>
          <a:solidFill>
            <a:srgbClr val="F7C1C1"/>
          </a:solidFill>
          <a:ln w="9525">
            <a:solidFill>
              <a:srgbClr val="A32D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3529584"/>
            <a:ext cx="73152" cy="105156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55464" y="362102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1313"/>
                </a:solidFill>
              </a:rPr>
              <a:t>Fragile Logic Apps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55464" y="3877056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Consumption-tier Logic Apps lack VNET integration, retry policies, and consistent error handling.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Option 1 — solution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CE"/>
                </a:solidFill>
              </a:rPr>
              <a:t>A single Azure API Management gateway becomes the front door for all 50+ contractors across every channel.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0C4CE"/>
                </a:solidFill>
              </a:rPr>
              <a:t>Function Apps handle all transformation. Logic Apps orchestrate all connector flows. Dataverse remains the system of record.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74320" y="1572768"/>
            <a:ext cx="2715768" cy="1389888"/>
          </a:xfrm>
          <a:prstGeom prst="rect">
            <a:avLst/>
          </a:prstGeom>
          <a:solidFill>
            <a:srgbClr val="162637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572768"/>
            <a:ext cx="2715768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719072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Unified gateway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4048" y="1993392"/>
            <a:ext cx="24871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CE"/>
                </a:solidFill>
              </a:rPr>
              <a:t>Azure APIM as single front door. One subscription key per contractor. Auth, rate limiting, schema validation at the boundary.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172968" y="1572768"/>
            <a:ext cx="2715768" cy="1389888"/>
          </a:xfrm>
          <a:prstGeom prst="rect">
            <a:avLst/>
          </a:prstGeom>
          <a:solidFill>
            <a:srgbClr val="162637"/>
          </a:solidFill>
          <a:ln w="12700">
            <a:solidFill>
              <a:srgbClr val="185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72968" y="1572768"/>
            <a:ext cx="2715768" cy="7315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82696" y="1719072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Canonical model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82696" y="1993392"/>
            <a:ext cx="24871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CE"/>
                </a:solidFill>
              </a:rPr>
              <a:t>Function App normalises every vendor format into one internal RepairJobEvent schema. New vendor = new mapper class.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071616" y="1572768"/>
            <a:ext cx="2715768" cy="1389888"/>
          </a:xfrm>
          <a:prstGeom prst="rect">
            <a:avLst/>
          </a:prstGeom>
          <a:solidFill>
            <a:srgbClr val="162637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71616" y="1572768"/>
            <a:ext cx="2715768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81344" y="1719072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Work order engine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181344" y="1993392"/>
            <a:ext cx="24871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CE"/>
                </a:solidFill>
              </a:rPr>
              <a:t>Dataverse entity change triggers FA-based WO Issuer. Vendor resolver looks up channel preference. Fan-out Logic App delivers.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3145536"/>
            <a:ext cx="2715768" cy="1389888"/>
          </a:xfrm>
          <a:prstGeom prst="rect">
            <a:avLst/>
          </a:prstGeom>
          <a:solidFill>
            <a:srgbClr val="162637"/>
          </a:solidFill>
          <a:ln w="12700">
            <a:solidFill>
              <a:srgbClr val="2750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145536"/>
            <a:ext cx="2715768" cy="73152"/>
          </a:xfrm>
          <a:prstGeom prst="rect">
            <a:avLst/>
          </a:prstGeom>
          <a:solidFill>
            <a:srgbClr val="27500A"/>
          </a:solidFill>
          <a:ln w="12700">
            <a:solidFill>
              <a:srgbClr val="2750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291840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Plug-in adapters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84048" y="3566160"/>
            <a:ext cx="24871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CE"/>
                </a:solidFill>
              </a:rPr>
              <a:t>Each outbound channel is an independent adapter. HTTP, File, Email, Service Bus. Adding vendor 51 = config, not code.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172968" y="3145536"/>
            <a:ext cx="2715768" cy="1389888"/>
          </a:xfrm>
          <a:prstGeom prst="rect">
            <a:avLst/>
          </a:prstGeom>
          <a:solidFill>
            <a:srgbClr val="162637"/>
          </a:solidFill>
          <a:ln w="12700">
            <a:solidFill>
              <a:srgbClr val="854F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72968" y="3145536"/>
            <a:ext cx="2715768" cy="73152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82696" y="3291840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Full observability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282696" y="3566160"/>
            <a:ext cx="24871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CE"/>
                </a:solidFill>
              </a:rPr>
              <a:t>App Insights + Log Analytics workspace. Structured traces on every hop. DLQ alerts fire before contractors notice.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071616" y="3145536"/>
            <a:ext cx="2715768" cy="1389888"/>
          </a:xfrm>
          <a:prstGeom prst="rect">
            <a:avLst/>
          </a:prstGeom>
          <a:solidFill>
            <a:srgbClr val="162637"/>
          </a:solidFill>
          <a:ln w="12700">
            <a:solidFill>
              <a:srgbClr val="534A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71616" y="3145536"/>
            <a:ext cx="2715768" cy="7315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81344" y="3291840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Contractor portal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181344" y="3566160"/>
            <a:ext cx="24871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CE"/>
                </a:solidFill>
              </a:rPr>
              <a:t>Azure Static Web App. Self-service key generation, channel config, work order history and delivery status.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Five-layer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685800"/>
            <a:ext cx="8686800" cy="12801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685800"/>
            <a:ext cx="8686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Layer 1 — Experience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228600" y="832104"/>
            <a:ext cx="4297680" cy="475488"/>
          </a:xfrm>
          <a:prstGeom prst="rect">
            <a:avLst/>
          </a:prstGeom>
          <a:solidFill>
            <a:srgbClr val="E0F4F6"/>
          </a:solidFill>
          <a:ln w="9525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68680"/>
            <a:ext cx="285293" cy="1371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68680"/>
            <a:ext cx="28529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LA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283464" y="1014984"/>
            <a:ext cx="41879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Azure APIM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83464" y="1115568"/>
            <a:ext cx="418795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Auth · rate limit · routing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4617720" y="832104"/>
            <a:ext cx="4297680" cy="475488"/>
          </a:xfrm>
          <a:prstGeom prst="rect">
            <a:avLst/>
          </a:prstGeom>
          <a:solidFill>
            <a:srgbClr val="EAF3DE"/>
          </a:solidFill>
          <a:ln w="9525">
            <a:solidFill>
              <a:srgbClr val="3B6D1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868680"/>
            <a:ext cx="354787" cy="137160"/>
          </a:xfrm>
          <a:prstGeom prst="roundRect">
            <a:avLst>
              <a:gd name="adj" fmla="val 20000"/>
            </a:avLst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868680"/>
            <a:ext cx="35478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Web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4672584" y="1014984"/>
            <a:ext cx="41879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Contractor portal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672584" y="1115568"/>
            <a:ext cx="418795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Self-service · keys · config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228600" y="1389888"/>
            <a:ext cx="8686800" cy="128016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1389888"/>
            <a:ext cx="8686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Layer 2 — Canonical model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228600" y="1536192"/>
            <a:ext cx="4297680" cy="475488"/>
          </a:xfrm>
          <a:prstGeom prst="rect">
            <a:avLst/>
          </a:prstGeom>
          <a:solidFill>
            <a:srgbClr val="E6F1FB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1572768"/>
            <a:ext cx="285293" cy="137160"/>
          </a:xfrm>
          <a:prstGeom prst="roundRect">
            <a:avLst>
              <a:gd name="adj" fmla="val 20000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1572768"/>
            <a:ext cx="28529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FA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283464" y="1719072"/>
            <a:ext cx="41879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Normaliser FA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83464" y="1819656"/>
            <a:ext cx="418795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Any format → canonical schema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4617720" y="1536192"/>
            <a:ext cx="4297680" cy="475488"/>
          </a:xfrm>
          <a:prstGeom prst="rect">
            <a:avLst/>
          </a:prstGeom>
          <a:solidFill>
            <a:srgbClr val="E6F1FB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672584" y="1591056"/>
            <a:ext cx="41879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Schema registry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672584" y="1819656"/>
            <a:ext cx="418795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Versioned contracts · APIM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228600" y="2093976"/>
            <a:ext cx="8686800" cy="12801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2093976"/>
            <a:ext cx="8686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Layer 3 — Orchestration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228600" y="2240280"/>
            <a:ext cx="2834640" cy="475488"/>
          </a:xfrm>
          <a:prstGeom prst="rect">
            <a:avLst/>
          </a:prstGeom>
          <a:solidFill>
            <a:srgbClr val="E0F4F6"/>
          </a:solidFill>
          <a:ln w="9525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2276856"/>
            <a:ext cx="285293" cy="1371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2276856"/>
            <a:ext cx="28529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LA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283464" y="24231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Inbound LA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283464" y="2523744"/>
            <a:ext cx="27249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Consume SB · write DV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3154680" y="2240280"/>
            <a:ext cx="2834640" cy="475488"/>
          </a:xfrm>
          <a:prstGeom prst="rect">
            <a:avLst/>
          </a:prstGeom>
          <a:solidFill>
            <a:srgbClr val="E0F4F6"/>
          </a:solidFill>
          <a:ln w="9525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209544" y="2295144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Svc Bus Premium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209544" y="2523744"/>
            <a:ext cx="27249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DLQ · sessions · retry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6080760" y="2240280"/>
            <a:ext cx="2834640" cy="475488"/>
          </a:xfrm>
          <a:prstGeom prst="rect">
            <a:avLst/>
          </a:prstGeom>
          <a:solidFill>
            <a:srgbClr val="E6F1FB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26480" y="2276856"/>
            <a:ext cx="285293" cy="137160"/>
          </a:xfrm>
          <a:prstGeom prst="roundRect">
            <a:avLst>
              <a:gd name="adj" fmla="val 20000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26480" y="2276856"/>
            <a:ext cx="28529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LA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6135624" y="24231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Status update LA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135624" y="2523744"/>
            <a:ext cx="27249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ACK → Dataverse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228600" y="2798064"/>
            <a:ext cx="8686800" cy="128016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28600" y="2798064"/>
            <a:ext cx="8686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Layer 4 — Persistence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228600" y="2944368"/>
            <a:ext cx="2834640" cy="475488"/>
          </a:xfrm>
          <a:prstGeom prst="rect">
            <a:avLst/>
          </a:prstGeom>
          <a:solidFill>
            <a:srgbClr val="EEEDFE"/>
          </a:solidFill>
          <a:ln w="9525">
            <a:solidFill>
              <a:srgbClr val="534A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283464" y="2999232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Dataverse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283464" y="3227832"/>
            <a:ext cx="27249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Repair cases · WOs · vendor profiles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3154680" y="2944368"/>
            <a:ext cx="2834640" cy="475488"/>
          </a:xfrm>
          <a:prstGeom prst="rect">
            <a:avLst/>
          </a:prstGeom>
          <a:solidFill>
            <a:srgbClr val="EEEDFE"/>
          </a:solidFill>
          <a:ln w="9525">
            <a:solidFill>
              <a:srgbClr val="534A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3209544" y="2999232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Redis cache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3209544" y="3227832"/>
            <a:ext cx="27249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Vendor lookups · config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6080760" y="2944368"/>
            <a:ext cx="2834640" cy="475488"/>
          </a:xfrm>
          <a:prstGeom prst="rect">
            <a:avLst/>
          </a:prstGeom>
          <a:solidFill>
            <a:srgbClr val="EEEDFE"/>
          </a:solidFill>
          <a:ln w="9525">
            <a:solidFill>
              <a:srgbClr val="534A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135624" y="2999232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D365 CRM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6135624" y="3227832"/>
            <a:ext cx="27249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Cloud flows · case mgmt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228600" y="3502152"/>
            <a:ext cx="8686800" cy="12801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28600" y="3502152"/>
            <a:ext cx="8686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WO Issuer sub-flow  ↑ triggered by entity change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228600" y="3648456"/>
            <a:ext cx="2103120" cy="475488"/>
          </a:xfrm>
          <a:prstGeom prst="rect">
            <a:avLst/>
          </a:prstGeom>
          <a:solidFill>
            <a:srgbClr val="FFF3E6"/>
          </a:solidFill>
          <a:ln w="9525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274320" y="3685032"/>
            <a:ext cx="285293" cy="137160"/>
          </a:xfrm>
          <a:prstGeom prst="roundRect">
            <a:avLst>
              <a:gd name="adj" fmla="val 20000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320" y="3685032"/>
            <a:ext cx="28529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DV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283464" y="3831336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DV plugin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283464" y="3931920"/>
            <a:ext cx="199339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Post-op step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2423160" y="3648456"/>
            <a:ext cx="2103120" cy="475488"/>
          </a:xfrm>
          <a:prstGeom prst="rect">
            <a:avLst/>
          </a:prstGeom>
          <a:solidFill>
            <a:srgbClr val="FFF3E6"/>
          </a:solidFill>
          <a:ln w="9525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2468880" y="3685032"/>
            <a:ext cx="285293" cy="137160"/>
          </a:xfrm>
          <a:prstGeom prst="roundRect">
            <a:avLst>
              <a:gd name="adj" fmla="val 20000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468880" y="3685032"/>
            <a:ext cx="28529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FA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2478024" y="3831336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WO Issuer FA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2478024" y="3931920"/>
            <a:ext cx="199339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Build · enrich · validate</a:t>
            </a:r>
            <a:endParaRPr lang="en-US" sz="650" dirty="0"/>
          </a:p>
        </p:txBody>
      </p:sp>
      <p:sp>
        <p:nvSpPr>
          <p:cNvPr id="64" name="Shape 62"/>
          <p:cNvSpPr/>
          <p:nvPr/>
        </p:nvSpPr>
        <p:spPr>
          <a:xfrm>
            <a:off x="4617720" y="3648456"/>
            <a:ext cx="2103120" cy="475488"/>
          </a:xfrm>
          <a:prstGeom prst="rect">
            <a:avLst/>
          </a:prstGeom>
          <a:solidFill>
            <a:srgbClr val="FFF3E6"/>
          </a:solidFill>
          <a:ln w="9525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4663440" y="3685032"/>
            <a:ext cx="285293" cy="137160"/>
          </a:xfrm>
          <a:prstGeom prst="roundRect">
            <a:avLst>
              <a:gd name="adj" fmla="val 20000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663440" y="3685032"/>
            <a:ext cx="28529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FA</a:t>
            </a:r>
            <a:endParaRPr lang="en-US" sz="650" dirty="0"/>
          </a:p>
        </p:txBody>
      </p:sp>
      <p:sp>
        <p:nvSpPr>
          <p:cNvPr id="67" name="Text 65"/>
          <p:cNvSpPr/>
          <p:nvPr/>
        </p:nvSpPr>
        <p:spPr>
          <a:xfrm>
            <a:off x="4672584" y="3831336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Vendor resolver FA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4672584" y="3931920"/>
            <a:ext cx="199339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Redis lookup · channel</a:t>
            </a:r>
            <a:endParaRPr lang="en-US" sz="650" dirty="0"/>
          </a:p>
        </p:txBody>
      </p:sp>
      <p:sp>
        <p:nvSpPr>
          <p:cNvPr id="69" name="Shape 67"/>
          <p:cNvSpPr/>
          <p:nvPr/>
        </p:nvSpPr>
        <p:spPr>
          <a:xfrm>
            <a:off x="6812280" y="3648456"/>
            <a:ext cx="2103120" cy="475488"/>
          </a:xfrm>
          <a:prstGeom prst="rect">
            <a:avLst/>
          </a:prstGeom>
          <a:solidFill>
            <a:srgbClr val="E0F4F6"/>
          </a:solidFill>
          <a:ln w="9525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6858000" y="3685032"/>
            <a:ext cx="285293" cy="1371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858000" y="3685032"/>
            <a:ext cx="28529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LA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6867144" y="3831336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Fan-out LA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6867144" y="3931920"/>
            <a:ext cx="199339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Route · retry · DLQ</a:t>
            </a:r>
            <a:endParaRPr lang="en-US" sz="650" dirty="0"/>
          </a:p>
        </p:txBody>
      </p:sp>
      <p:sp>
        <p:nvSpPr>
          <p:cNvPr id="74" name="Shape 72"/>
          <p:cNvSpPr/>
          <p:nvPr/>
        </p:nvSpPr>
        <p:spPr>
          <a:xfrm>
            <a:off x="228600" y="4206240"/>
            <a:ext cx="8686800" cy="128016"/>
          </a:xfrm>
          <a:prstGeom prst="rect">
            <a:avLst/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28600" y="4206240"/>
            <a:ext cx="8686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Layer 5 — Vendor adapters (plug-in)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228600" y="4352544"/>
            <a:ext cx="1664208" cy="475488"/>
          </a:xfrm>
          <a:prstGeom prst="rect">
            <a:avLst/>
          </a:prstGeom>
          <a:solidFill>
            <a:srgbClr val="E9EEF2"/>
          </a:solidFill>
          <a:ln w="9525">
            <a:solidFill>
              <a:srgbClr val="8887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7" name="Text 75"/>
          <p:cNvSpPr/>
          <p:nvPr/>
        </p:nvSpPr>
        <p:spPr>
          <a:xfrm>
            <a:off x="283464" y="440740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HTTP webhook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1984248" y="4352544"/>
            <a:ext cx="1664208" cy="475488"/>
          </a:xfrm>
          <a:prstGeom prst="rect">
            <a:avLst/>
          </a:prstGeom>
          <a:solidFill>
            <a:srgbClr val="E9EEF2"/>
          </a:solidFill>
          <a:ln w="9525">
            <a:solidFill>
              <a:srgbClr val="8887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9" name="Text 77"/>
          <p:cNvSpPr/>
          <p:nvPr/>
        </p:nvSpPr>
        <p:spPr>
          <a:xfrm>
            <a:off x="2039112" y="440740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File / SFTP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3739896" y="4352544"/>
            <a:ext cx="1664208" cy="475488"/>
          </a:xfrm>
          <a:prstGeom prst="rect">
            <a:avLst/>
          </a:prstGeom>
          <a:solidFill>
            <a:srgbClr val="E9EEF2"/>
          </a:solidFill>
          <a:ln w="9525">
            <a:solidFill>
              <a:srgbClr val="8887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1" name="Text 79"/>
          <p:cNvSpPr/>
          <p:nvPr/>
        </p:nvSpPr>
        <p:spPr>
          <a:xfrm>
            <a:off x="3794760" y="440740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Email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5495544" y="4352544"/>
            <a:ext cx="1664208" cy="475488"/>
          </a:xfrm>
          <a:prstGeom prst="rect">
            <a:avLst/>
          </a:prstGeom>
          <a:solidFill>
            <a:srgbClr val="E9EEF2"/>
          </a:solidFill>
          <a:ln w="9525">
            <a:solidFill>
              <a:srgbClr val="8887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3" name="Text 81"/>
          <p:cNvSpPr/>
          <p:nvPr/>
        </p:nvSpPr>
        <p:spPr>
          <a:xfrm>
            <a:off x="5550408" y="440740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Service Bus out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7251192" y="4352544"/>
            <a:ext cx="1664208" cy="475488"/>
          </a:xfrm>
          <a:prstGeom prst="rect">
            <a:avLst/>
          </a:prstGeom>
          <a:solidFill>
            <a:srgbClr val="EAF3DE"/>
          </a:solidFill>
          <a:ln w="9525">
            <a:solidFill>
              <a:srgbClr val="3B6D1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5" name="Text 83"/>
          <p:cNvSpPr/>
          <p:nvPr/>
        </p:nvSpPr>
        <p:spPr>
          <a:xfrm>
            <a:off x="7306056" y="440740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New channel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7306056" y="4636008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Plug-in</a:t>
            </a:r>
            <a:endParaRPr lang="en-US" sz="650" dirty="0"/>
          </a:p>
        </p:txBody>
      </p:sp>
      <p:sp>
        <p:nvSpPr>
          <p:cNvPr id="87" name="Shape 85"/>
          <p:cNvSpPr/>
          <p:nvPr/>
        </p:nvSpPr>
        <p:spPr>
          <a:xfrm>
            <a:off x="731520" y="3621024"/>
            <a:ext cx="0" cy="128016"/>
          </a:xfrm>
          <a:prstGeom prst="line">
            <a:avLst/>
          </a:prstGeom>
          <a:noFill/>
          <a:ln w="19050">
            <a:solidFill>
              <a:srgbClr val="F4A261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Work order lifecycle — end to end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5A30"/>
                </a:solidFill>
              </a:rPr>
              <a:t>Outbound — work order issue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1261872" cy="877824"/>
          </a:xfrm>
          <a:prstGeom prst="rect">
            <a:avLst/>
          </a:prstGeom>
          <a:solidFill>
            <a:srgbClr val="EEEDFE"/>
          </a:solidFill>
          <a:ln w="9525">
            <a:solidFill>
              <a:srgbClr val="534A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1261872" cy="10972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2412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384048" y="1152144"/>
            <a:ext cx="113385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Entity change in Dataverse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(e.g. repair case → Assigned)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581912" y="1463040"/>
            <a:ext cx="164592" cy="0"/>
          </a:xfrm>
          <a:prstGeom prst="line">
            <a:avLst/>
          </a:prstGeom>
          <a:noFill/>
          <a:ln w="19050">
            <a:solidFill>
              <a:srgbClr val="F4A2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46504" y="1024128"/>
            <a:ext cx="1261872" cy="877824"/>
          </a:xfrm>
          <a:prstGeom prst="rect">
            <a:avLst/>
          </a:prstGeom>
          <a:solidFill>
            <a:srgbClr val="FFF3E6"/>
          </a:solidFill>
          <a:ln w="9525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746504" y="1024128"/>
            <a:ext cx="1261872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46504" y="102412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2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810512" y="1152144"/>
            <a:ext cx="113385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Post-op plugin fires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async HTTP call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008376" y="1463040"/>
            <a:ext cx="164592" cy="0"/>
          </a:xfrm>
          <a:prstGeom prst="line">
            <a:avLst/>
          </a:prstGeom>
          <a:noFill/>
          <a:ln w="19050">
            <a:solidFill>
              <a:srgbClr val="F4A2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72968" y="1024128"/>
            <a:ext cx="1261872" cy="877824"/>
          </a:xfrm>
          <a:prstGeom prst="rect">
            <a:avLst/>
          </a:prstGeom>
          <a:solidFill>
            <a:srgbClr val="FFF3E6"/>
          </a:solidFill>
          <a:ln w="9525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72968" y="1024128"/>
            <a:ext cx="1261872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72968" y="102412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3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3236976" y="1152144"/>
            <a:ext cx="113385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WO Issuer FA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build · enrich · validate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434840" y="1463040"/>
            <a:ext cx="164592" cy="0"/>
          </a:xfrm>
          <a:prstGeom prst="line">
            <a:avLst/>
          </a:prstGeom>
          <a:noFill/>
          <a:ln w="19050">
            <a:solidFill>
              <a:srgbClr val="F4A2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99432" y="1024128"/>
            <a:ext cx="1261872" cy="877824"/>
          </a:xfrm>
          <a:prstGeom prst="rect">
            <a:avLst/>
          </a:prstGeom>
          <a:solidFill>
            <a:srgbClr val="FFF3E6"/>
          </a:solidFill>
          <a:ln w="9525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99432" y="1024128"/>
            <a:ext cx="1261872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99432" y="102412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4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4663440" y="1152144"/>
            <a:ext cx="113385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Vendor resolver FA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Redis lookup · channel pref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861304" y="1463040"/>
            <a:ext cx="164592" cy="0"/>
          </a:xfrm>
          <a:prstGeom prst="line">
            <a:avLst/>
          </a:prstGeom>
          <a:noFill/>
          <a:ln w="19050">
            <a:solidFill>
              <a:srgbClr val="F4A2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25896" y="1024128"/>
            <a:ext cx="1261872" cy="877824"/>
          </a:xfrm>
          <a:prstGeom prst="rect">
            <a:avLst/>
          </a:prstGeom>
          <a:solidFill>
            <a:srgbClr val="FFF3E6"/>
          </a:solidFill>
          <a:ln w="9525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25896" y="1024128"/>
            <a:ext cx="1261872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25896" y="102412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5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6089904" y="1152144"/>
            <a:ext cx="113385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Fan-out LA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route to adapter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7287768" y="1463040"/>
            <a:ext cx="164592" cy="0"/>
          </a:xfrm>
          <a:prstGeom prst="line">
            <a:avLst/>
          </a:prstGeom>
          <a:noFill/>
          <a:ln w="19050">
            <a:solidFill>
              <a:srgbClr val="F4A26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52360" y="1024128"/>
            <a:ext cx="1261872" cy="877824"/>
          </a:xfrm>
          <a:prstGeom prst="rect">
            <a:avLst/>
          </a:prstGeom>
          <a:solidFill>
            <a:srgbClr val="E9EEF2"/>
          </a:solidFill>
          <a:ln w="9525">
            <a:solidFill>
              <a:srgbClr val="5F5E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452360" y="1024128"/>
            <a:ext cx="1261872" cy="109728"/>
          </a:xfrm>
          <a:prstGeom prst="rect">
            <a:avLst/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52360" y="102412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6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7516368" y="1152144"/>
            <a:ext cx="113385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Vendor system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receives WO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20040" y="2029968"/>
            <a:ext cx="8503920" cy="0"/>
          </a:xfrm>
          <a:prstGeom prst="line">
            <a:avLst/>
          </a:prstGeom>
          <a:noFill/>
          <a:ln w="9525">
            <a:solidFill>
              <a:srgbClr val="F4A261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320040" y="2084832"/>
            <a:ext cx="8503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85A30"/>
                </a:solidFill>
              </a:rPr>
              <a:t>7  Delivery ACK → WO status = Sent written back to Dataverse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20040" y="239572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5FA5"/>
                </a:solidFill>
              </a:rPr>
              <a:t>Return — vendor status update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040" y="2706624"/>
            <a:ext cx="1261872" cy="877824"/>
          </a:xfrm>
          <a:prstGeom prst="rect">
            <a:avLst/>
          </a:prstGeom>
          <a:solidFill>
            <a:srgbClr val="E9EEF2"/>
          </a:solidFill>
          <a:ln w="9525">
            <a:solidFill>
              <a:srgbClr val="5F5E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0040" y="2706624"/>
            <a:ext cx="1261872" cy="109728"/>
          </a:xfrm>
          <a:prstGeom prst="rect">
            <a:avLst/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2706624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8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384048" y="2834640"/>
            <a:ext cx="113385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Vendor POSTs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status update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1581912" y="3145536"/>
            <a:ext cx="164592" cy="0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746504" y="2706624"/>
            <a:ext cx="1261872" cy="877824"/>
          </a:xfrm>
          <a:prstGeom prst="rect">
            <a:avLst/>
          </a:prstGeom>
          <a:solidFill>
            <a:srgbClr val="E6F1FB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1746504" y="2706624"/>
            <a:ext cx="1261872" cy="10972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746504" y="2706624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9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1810512" y="2834640"/>
            <a:ext cx="113385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APIM auth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+ validate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3008376" y="3145536"/>
            <a:ext cx="164592" cy="0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172968" y="2706624"/>
            <a:ext cx="1261872" cy="877824"/>
          </a:xfrm>
          <a:prstGeom prst="rect">
            <a:avLst/>
          </a:prstGeom>
          <a:solidFill>
            <a:srgbClr val="E6F1FB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172968" y="2706624"/>
            <a:ext cx="1261872" cy="10972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172968" y="2706624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10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3236976" y="2834640"/>
            <a:ext cx="113385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Normaliser FA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map status schema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4434840" y="3145536"/>
            <a:ext cx="164592" cy="0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99432" y="2706624"/>
            <a:ext cx="1261872" cy="877824"/>
          </a:xfrm>
          <a:prstGeom prst="rect">
            <a:avLst/>
          </a:prstGeom>
          <a:solidFill>
            <a:srgbClr val="E6F1FB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599432" y="2706624"/>
            <a:ext cx="1261872" cy="10972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99432" y="2706624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11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4663440" y="2834640"/>
            <a:ext cx="113385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Status update LA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write Dataverse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5861304" y="3145536"/>
            <a:ext cx="164592" cy="0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025896" y="2706624"/>
            <a:ext cx="1261872" cy="877824"/>
          </a:xfrm>
          <a:prstGeom prst="rect">
            <a:avLst/>
          </a:prstGeom>
          <a:solidFill>
            <a:srgbClr val="E6F1FB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6025896" y="2706624"/>
            <a:ext cx="1261872" cy="10972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025896" y="2706624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12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6089904" y="2834640"/>
            <a:ext cx="113385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D365 CRM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cloud flow fires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7287768" y="3145536"/>
            <a:ext cx="164592" cy="0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452360" y="2706624"/>
            <a:ext cx="1261872" cy="877824"/>
          </a:xfrm>
          <a:prstGeom prst="rect">
            <a:avLst/>
          </a:prstGeom>
          <a:solidFill>
            <a:srgbClr val="EAF3DE"/>
          </a:solidFill>
          <a:ln w="9525">
            <a:solidFill>
              <a:srgbClr val="2750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7452360" y="2706624"/>
            <a:ext cx="1261872" cy="109728"/>
          </a:xfrm>
          <a:prstGeom prst="rect">
            <a:avLst/>
          </a:prstGeom>
          <a:solidFill>
            <a:srgbClr val="27500A"/>
          </a:solidFill>
          <a:ln w="12700">
            <a:solidFill>
              <a:srgbClr val="27500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52360" y="2706624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13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7516368" y="2834640"/>
            <a:ext cx="113385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Case closed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+ notifications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320040" y="3721608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Full cycle: Entity change → WO Issued → Vendor executes → Status updated → CRM closed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320040" y="4023360"/>
            <a:ext cx="8503920" cy="786384"/>
          </a:xfrm>
          <a:prstGeom prst="rect">
            <a:avLst/>
          </a:prstGeom>
          <a:solidFill>
            <a:srgbClr val="E6F1FB"/>
          </a:solidFill>
          <a:ln w="9525">
            <a:solidFill>
              <a:srgbClr val="185FA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02920" y="409651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85FA5"/>
                </a:solidFill>
              </a:rPr>
              <a:t>Key resilience principle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502920" y="4315968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✓  Every hop has retry with exponential backoff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502920" y="4553712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✓  Dead-letter queue captures all failures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4709160" y="4315968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✓  Delivery ACK closes the loop — no silent losses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4709160" y="4553712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✓  Return path is fully independent of outbound path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Technology choice — Function App vs Logic App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The rule is simple: FA when transforming, LA when connecting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023360" cy="329184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7899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Function App (FA)  —  use when transforming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800600" y="1078992"/>
            <a:ext cx="402336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07899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Logic App Standard (LA)  —  use when connecting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499616"/>
            <a:ext cx="4023360" cy="868680"/>
          </a:xfrm>
          <a:prstGeom prst="rect">
            <a:avLst/>
          </a:prstGeom>
          <a:solidFill>
            <a:srgbClr val="FAECE7"/>
          </a:solidFill>
          <a:ln w="9525">
            <a:solidFill>
              <a:srgbClr val="D85A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499616"/>
            <a:ext cx="73152" cy="86868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57276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12B13"/>
                </a:solidFill>
              </a:rPr>
              <a:t>Normaliser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" y="181965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Vendor format → canonical RepairJobEvent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" y="202996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85A30"/>
                </a:solidFill>
              </a:rPr>
              <a:t>Why FA: Pure map, no connectors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0040" y="2505456"/>
            <a:ext cx="4023360" cy="868680"/>
          </a:xfrm>
          <a:prstGeom prst="rect">
            <a:avLst/>
          </a:prstGeom>
          <a:solidFill>
            <a:srgbClr val="FAECE7"/>
          </a:solidFill>
          <a:ln w="9525">
            <a:solidFill>
              <a:srgbClr val="D85A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505456"/>
            <a:ext cx="73152" cy="86868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57860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12B13"/>
                </a:solidFill>
              </a:rPr>
              <a:t>WO Issuer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" y="282549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Build, enrich, validate work order payload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5488" y="303580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85A30"/>
                </a:solidFill>
              </a:rPr>
              <a:t>Why FA: CPU-bound, unit-testable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" y="3511296"/>
            <a:ext cx="4023360" cy="868680"/>
          </a:xfrm>
          <a:prstGeom prst="rect">
            <a:avLst/>
          </a:prstGeom>
          <a:solidFill>
            <a:srgbClr val="FAECE7"/>
          </a:solidFill>
          <a:ln w="9525">
            <a:solidFill>
              <a:srgbClr val="D85A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511296"/>
            <a:ext cx="73152" cy="86868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58444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12B13"/>
                </a:solidFill>
              </a:rPr>
              <a:t>Vendor resolver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" y="383133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Redis lookup, channel preference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5488" y="404164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85A30"/>
                </a:solidFill>
              </a:rPr>
              <a:t>Why FA: Sub-ms latency, stateless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800600" y="1499616"/>
            <a:ext cx="4023360" cy="868680"/>
          </a:xfrm>
          <a:prstGeom prst="rect">
            <a:avLst/>
          </a:prstGeom>
          <a:solidFill>
            <a:srgbClr val="E0F4F6"/>
          </a:solidFill>
          <a:ln w="9525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1499616"/>
            <a:ext cx="73152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6048" y="157276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15F6B"/>
                </a:solidFill>
              </a:rPr>
              <a:t>Inbound LA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56048" y="181965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Consume Service Bus → write Dataverse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956048" y="202996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28090"/>
                </a:solidFill>
              </a:rPr>
              <a:t>Why LA: Managed connector, no code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800600" y="2505456"/>
            <a:ext cx="4023360" cy="868680"/>
          </a:xfrm>
          <a:prstGeom prst="rect">
            <a:avLst/>
          </a:prstGeom>
          <a:solidFill>
            <a:srgbClr val="E0F4F6"/>
          </a:solidFill>
          <a:ln w="9525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2505456"/>
            <a:ext cx="73152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56048" y="257860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15F6B"/>
                </a:solidFill>
              </a:rPr>
              <a:t>Fan-out LA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56048" y="282549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Route WO to adapter, retry, DLQ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956048" y="303580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28090"/>
                </a:solidFill>
              </a:rPr>
              <a:t>Why LA: Declarative retry + adapter calls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800600" y="3511296"/>
            <a:ext cx="4023360" cy="868680"/>
          </a:xfrm>
          <a:prstGeom prst="rect">
            <a:avLst/>
          </a:prstGeom>
          <a:solidFill>
            <a:srgbClr val="E0F4F6"/>
          </a:solidFill>
          <a:ln w="9525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00600" y="3511296"/>
            <a:ext cx="73152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56048" y="358444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15F6B"/>
                </a:solidFill>
              </a:rPr>
              <a:t>Status update LA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56048" y="383133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Receive ACK → write Dataverse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956048" y="404164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28090"/>
                </a:solidFill>
              </a:rPr>
              <a:t>Why LA: Managed connector, no code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20040" y="4572000"/>
            <a:ext cx="8503920" cy="329184"/>
          </a:xfrm>
          <a:prstGeom prst="rect">
            <a:avLst/>
          </a:prstGeom>
          <a:solidFill>
            <a:srgbClr val="E9EEF2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572000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Both run on same VNET · same App Service Plan · same Application Insights · no infrastructure boundary between them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7500A"/>
          </a:solidFill>
          <a:ln w="12700">
            <a:solidFill>
              <a:srgbClr val="2750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Contractor portal — plug-and-play onboarding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Every future contractor onboards in under 30 minutes — no engineering involvement required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75488" cy="475488"/>
          </a:xfrm>
          <a:prstGeom prst="ellipse">
            <a:avLst/>
          </a:prstGeom>
          <a:solidFill>
            <a:srgbClr val="27500A"/>
          </a:solidFill>
          <a:ln w="12700">
            <a:solidFill>
              <a:srgbClr val="2750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-91440" y="1572768"/>
            <a:ext cx="13898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Register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company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-91440" y="1975104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6D11"/>
                </a:solidFill>
              </a:rPr>
              <a:t>5 min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41248" y="1289304"/>
            <a:ext cx="1207008" cy="0"/>
          </a:xfrm>
          <a:prstGeom prst="line">
            <a:avLst/>
          </a:prstGeom>
          <a:noFill/>
          <a:ln w="19050">
            <a:solidFill>
              <a:srgbClr val="3B6D1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48256" y="1051560"/>
            <a:ext cx="475488" cy="475488"/>
          </a:xfrm>
          <a:prstGeom prst="ellipse">
            <a:avLst/>
          </a:prstGeom>
          <a:solidFill>
            <a:srgbClr val="27500A"/>
          </a:solidFill>
          <a:ln w="12700">
            <a:solidFill>
              <a:srgbClr val="2750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48256" y="1051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91056" y="1572768"/>
            <a:ext cx="13898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API key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issued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591056" y="1975104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6D11"/>
                </a:solidFill>
              </a:rPr>
              <a:t>2 min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523744" y="1289304"/>
            <a:ext cx="1207008" cy="0"/>
          </a:xfrm>
          <a:prstGeom prst="line">
            <a:avLst/>
          </a:prstGeom>
          <a:noFill/>
          <a:ln w="19050">
            <a:solidFill>
              <a:srgbClr val="3B6D1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30752" y="1051560"/>
            <a:ext cx="475488" cy="475488"/>
          </a:xfrm>
          <a:prstGeom prst="ellipse">
            <a:avLst/>
          </a:prstGeom>
          <a:solidFill>
            <a:srgbClr val="27500A"/>
          </a:solidFill>
          <a:ln w="12700">
            <a:solidFill>
              <a:srgbClr val="2750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30752" y="1051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73552" y="1572768"/>
            <a:ext cx="13898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Configure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channel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73552" y="1975104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6D11"/>
                </a:solidFill>
              </a:rPr>
              <a:t>5 min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206240" y="1289304"/>
            <a:ext cx="1207008" cy="0"/>
          </a:xfrm>
          <a:prstGeom prst="line">
            <a:avLst/>
          </a:prstGeom>
          <a:noFill/>
          <a:ln w="19050">
            <a:solidFill>
              <a:srgbClr val="3B6D1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13248" y="1051560"/>
            <a:ext cx="475488" cy="475488"/>
          </a:xfrm>
          <a:prstGeom prst="ellipse">
            <a:avLst/>
          </a:prstGeom>
          <a:solidFill>
            <a:srgbClr val="27500A"/>
          </a:solidFill>
          <a:ln w="12700">
            <a:solidFill>
              <a:srgbClr val="2750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13248" y="1051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56048" y="1572768"/>
            <a:ext cx="13898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Test via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console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56048" y="1975104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6D11"/>
                </a:solidFill>
              </a:rPr>
              <a:t>15 min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888736" y="1289304"/>
            <a:ext cx="1207008" cy="0"/>
          </a:xfrm>
          <a:prstGeom prst="line">
            <a:avLst/>
          </a:prstGeom>
          <a:noFill/>
          <a:ln w="19050">
            <a:solidFill>
              <a:srgbClr val="3B6D1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95744" y="1051560"/>
            <a:ext cx="475488" cy="475488"/>
          </a:xfrm>
          <a:prstGeom prst="ellipse">
            <a:avLst/>
          </a:prstGeom>
          <a:solidFill>
            <a:srgbClr val="27500A"/>
          </a:solidFill>
          <a:ln w="12700">
            <a:solidFill>
              <a:srgbClr val="2750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95744" y="1051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638544" y="1572768"/>
            <a:ext cx="13898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Go live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638544" y="1975104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6D11"/>
                </a:solidFill>
              </a:rPr>
              <a:t>&lt; 1 min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20040" y="2395728"/>
            <a:ext cx="4251960" cy="749808"/>
          </a:xfrm>
          <a:prstGeom prst="rect">
            <a:avLst/>
          </a:prstGeom>
          <a:solidFill>
            <a:srgbClr val="EAF3DE"/>
          </a:solidFill>
          <a:ln w="9525">
            <a:solidFill>
              <a:srgbClr val="3B6D1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2395728"/>
            <a:ext cx="73152" cy="749808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" y="2468880"/>
            <a:ext cx="4005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500A"/>
                </a:solidFill>
              </a:rPr>
              <a:t>Self-service key management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66344" y="2706624"/>
            <a:ext cx="4005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Primary and secondary subscription keys generated instantly. Revoke and rotate without engineering.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754880" y="2395728"/>
            <a:ext cx="4251960" cy="749808"/>
          </a:xfrm>
          <a:prstGeom prst="rect">
            <a:avLst/>
          </a:prstGeom>
          <a:solidFill>
            <a:srgbClr val="EAF3DE"/>
          </a:solidFill>
          <a:ln w="9525">
            <a:solidFill>
              <a:srgbClr val="3B6D1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2395728"/>
            <a:ext cx="73152" cy="749808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01184" y="2468880"/>
            <a:ext cx="4005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500A"/>
                </a:solidFill>
              </a:rPr>
              <a:t>Channel configuration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901184" y="2706624"/>
            <a:ext cx="4005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Contractors choose HTTP webhook, File/SFTP, Email, Service Bus, or REST polling. Config saved to profile.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20040" y="3236976"/>
            <a:ext cx="4251960" cy="749808"/>
          </a:xfrm>
          <a:prstGeom prst="rect">
            <a:avLst/>
          </a:prstGeom>
          <a:solidFill>
            <a:srgbClr val="EAF3DE"/>
          </a:solidFill>
          <a:ln w="9525">
            <a:solidFill>
              <a:srgbClr val="3B6D1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0040" y="3236976"/>
            <a:ext cx="73152" cy="749808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" y="3310128"/>
            <a:ext cx="4005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500A"/>
                </a:solidFill>
              </a:rPr>
              <a:t>API documentation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66344" y="3547872"/>
            <a:ext cx="4005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Full OpenAPI spec browsable in portal. Try-it console for live testing against sandbox environment.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754880" y="3236976"/>
            <a:ext cx="4251960" cy="749808"/>
          </a:xfrm>
          <a:prstGeom prst="rect">
            <a:avLst/>
          </a:prstGeom>
          <a:solidFill>
            <a:srgbClr val="EAF3DE"/>
          </a:solidFill>
          <a:ln w="9525">
            <a:solidFill>
              <a:srgbClr val="3B6D1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54880" y="3236976"/>
            <a:ext cx="73152" cy="749808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01184" y="3310128"/>
            <a:ext cx="4005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500A"/>
                </a:solidFill>
              </a:rPr>
              <a:t>Work order history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901184" y="3547872"/>
            <a:ext cx="4005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Real-time delivery status per work order. Retry tracking. 90-day audit trail per contractor.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20040" y="4078224"/>
            <a:ext cx="4251960" cy="749808"/>
          </a:xfrm>
          <a:prstGeom prst="rect">
            <a:avLst/>
          </a:prstGeom>
          <a:solidFill>
            <a:srgbClr val="EAF3DE"/>
          </a:solidFill>
          <a:ln w="9525">
            <a:solidFill>
              <a:srgbClr val="3B6D1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20040" y="4078224"/>
            <a:ext cx="73152" cy="749808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6344" y="4151376"/>
            <a:ext cx="4005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500A"/>
                </a:solidFill>
              </a:rPr>
              <a:t>Usage dashboard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66344" y="4389120"/>
            <a:ext cx="4005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Calls per day, rate limit headroom, error rate, avg latency — visible to the contractor, not just the platform team.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754880" y="4078224"/>
            <a:ext cx="4251960" cy="749808"/>
          </a:xfrm>
          <a:prstGeom prst="rect">
            <a:avLst/>
          </a:prstGeom>
          <a:solidFill>
            <a:srgbClr val="EAF3DE"/>
          </a:solidFill>
          <a:ln w="9525">
            <a:solidFill>
              <a:srgbClr val="3B6D1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754880" y="4078224"/>
            <a:ext cx="73152" cy="749808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01184" y="4151376"/>
            <a:ext cx="4005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500A"/>
                </a:solidFill>
              </a:rPr>
              <a:t>Tier management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901184" y="4389120"/>
            <a:ext cx="4005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Standard, Premium, High-volume tiers configurable per contractor. Upgrade path self-service via portal request.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Observability &amp; resilience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</a:rPr>
              <a:t>Observability stack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114800" cy="768096"/>
          </a:xfrm>
          <a:prstGeom prst="rect">
            <a:avLst/>
          </a:prstGeom>
          <a:solidFill>
            <a:srgbClr val="1A2E3F"/>
          </a:solidFill>
          <a:ln w="9525">
            <a:solidFill>
              <a:srgbClr val="F4A2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78992"/>
            <a:ext cx="73152" cy="76809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15214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A261"/>
                </a:solidFill>
              </a:rPr>
              <a:t>Azure Application Insights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5488" y="140817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CE"/>
                </a:solidFill>
              </a:rPr>
              <a:t>Structured trace per message hop. correlationId links every step of a WO lifecycle.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" y="1975104"/>
            <a:ext cx="4114800" cy="768096"/>
          </a:xfrm>
          <a:prstGeom prst="rect">
            <a:avLst/>
          </a:prstGeom>
          <a:solidFill>
            <a:srgbClr val="1A2E3F"/>
          </a:solidFill>
          <a:ln w="9525">
            <a:solidFill>
              <a:srgbClr val="F4A2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975104"/>
            <a:ext cx="73152" cy="76809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04825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A261"/>
                </a:solidFill>
              </a:rPr>
              <a:t>Log Analytics workspace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" y="230428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CE"/>
                </a:solidFill>
              </a:rPr>
              <a:t>KQL queries across all components. Single pane across LA, FA, APIM, Service Bus.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0040" y="2871216"/>
            <a:ext cx="4114800" cy="768096"/>
          </a:xfrm>
          <a:prstGeom prst="rect">
            <a:avLst/>
          </a:prstGeom>
          <a:solidFill>
            <a:srgbClr val="1A2E3F"/>
          </a:solidFill>
          <a:ln w="9525">
            <a:solidFill>
              <a:srgbClr val="F4A2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871216"/>
            <a:ext cx="73152" cy="76809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94436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A261"/>
                </a:solidFill>
              </a:rPr>
              <a:t>APIM analytics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5488" y="3200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CE"/>
                </a:solidFill>
              </a:rPr>
              <a:t>Per-contractor call volume, error rate, latency p50/p95/p99 — visible in portal.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20040" y="3767328"/>
            <a:ext cx="4114800" cy="768096"/>
          </a:xfrm>
          <a:prstGeom prst="rect">
            <a:avLst/>
          </a:prstGeom>
          <a:solidFill>
            <a:srgbClr val="1A2E3F"/>
          </a:solidFill>
          <a:ln w="9525">
            <a:solidFill>
              <a:srgbClr val="F4A2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767328"/>
            <a:ext cx="73152" cy="76809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384048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A261"/>
                </a:solidFill>
              </a:rPr>
              <a:t>Azure Monitor alerts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5488" y="409651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CE"/>
                </a:solidFill>
              </a:rPr>
              <a:t>DLQ threshold, FA error rate, LA timeout — fires to ops team before contractors notice.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09160" y="74980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Resilience patterns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1078992"/>
            <a:ext cx="4114800" cy="768096"/>
          </a:xfrm>
          <a:prstGeom prst="rect">
            <a:avLst/>
          </a:prstGeom>
          <a:solidFill>
            <a:srgbClr val="1A2E3F"/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1078992"/>
            <a:ext cx="73152" cy="76809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4608" y="115214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</a:rPr>
              <a:t>Service Bus Premium DLQ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64608" y="140817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CE"/>
                </a:solidFill>
              </a:rPr>
              <a:t>After 10 delivery attempts, message moves to dead-letter queue. Ops team alerted immediately.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709160" y="1975104"/>
            <a:ext cx="4114800" cy="768096"/>
          </a:xfrm>
          <a:prstGeom prst="rect">
            <a:avLst/>
          </a:prstGeom>
          <a:solidFill>
            <a:srgbClr val="1A2E3F"/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9160" y="1975104"/>
            <a:ext cx="73152" cy="76809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4608" y="204825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</a:rPr>
              <a:t>APIM retry policy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64608" y="230428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CE"/>
                </a:solidFill>
              </a:rPr>
              <a:t>Backend 5xx retried 3× with exponential backoff before surfacing error to caller.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709160" y="2871216"/>
            <a:ext cx="4114800" cy="768096"/>
          </a:xfrm>
          <a:prstGeom prst="rect">
            <a:avLst/>
          </a:prstGeom>
          <a:solidFill>
            <a:srgbClr val="1A2E3F"/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09160" y="2871216"/>
            <a:ext cx="73152" cy="76809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64608" y="294436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</a:rPr>
              <a:t>Logic App retry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64608" y="3200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CE"/>
                </a:solidFill>
              </a:rPr>
              <a:t>Declarative retry on every action. Up to 4 attempts with configurable interval.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709160" y="3767328"/>
            <a:ext cx="4114800" cy="768096"/>
          </a:xfrm>
          <a:prstGeom prst="rect">
            <a:avLst/>
          </a:prstGeom>
          <a:solidFill>
            <a:srgbClr val="1A2E3F"/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09160" y="3767328"/>
            <a:ext cx="73152" cy="76809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64608" y="384048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</a:rPr>
              <a:t>FA stateless design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864608" y="409651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CE"/>
                </a:solidFill>
              </a:rPr>
              <a:t>Each Function invocation is independent. Failure never corrupts shared state.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20040" y="4663440"/>
            <a:ext cx="8503920" cy="292608"/>
          </a:xfrm>
          <a:prstGeom prst="rect">
            <a:avLst/>
          </a:prstGeom>
          <a:solidFill>
            <a:srgbClr val="162637"/>
          </a:solidFill>
          <a:ln w="6350">
            <a:solidFill>
              <a:srgbClr val="F4A2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66344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A261"/>
                </a:solidFill>
              </a:rPr>
              <a:t>Current state: failures are silent and messages are lost. Option 1: every failure is visible, logged, alerted, and replayable.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Migration approach — phased delivery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269748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74980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1  ·  Months 1–2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133856"/>
            <a:ext cx="2697480" cy="274320"/>
          </a:xfrm>
          <a:prstGeom prst="rect">
            <a:avLst/>
          </a:prstGeom>
          <a:solidFill>
            <a:srgbClr val="E0F4F6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3385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8090"/>
                </a:solidFill>
              </a:rPr>
              <a:t>Foundation &amp; gateway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" y="1408176"/>
            <a:ext cx="269748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9768" y="1481328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090"/>
                </a:solidFill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Deploy APIM with product catalogue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29768" y="1920240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090"/>
                </a:solidFill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Migrate first 5 contractors to APIM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29768" y="2359152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090"/>
                </a:solidFill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Add Redis cache in front of Dataverse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29768" y="2798064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090"/>
                </a:solidFill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Establish Log Analytics workspace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29768" y="3236976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090"/>
                </a:solidFill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Add DLQ handling to existing Logic Apps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017520" y="1920240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3200400" y="749808"/>
            <a:ext cx="2697480" cy="384048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00400" y="74980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2  ·  Months 2–3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0" y="1133856"/>
            <a:ext cx="2697480" cy="274320"/>
          </a:xfrm>
          <a:prstGeom prst="rect">
            <a:avLst/>
          </a:prstGeom>
          <a:solidFill>
            <a:srgbClr val="FAECE7"/>
          </a:solidFill>
          <a:ln w="9525">
            <a:solidFill>
              <a:srgbClr val="D85A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113385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Canonical layer &amp; FA build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0" y="1408176"/>
            <a:ext cx="269748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85A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310128" y="1481328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85A30"/>
                </a:solidFill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Build Normaliser FA and deploy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310128" y="1920240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85A30"/>
                </a:solidFill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Schema registry in APIM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310128" y="2359152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85A30"/>
                </a:solidFill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Migrate remaining contractors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310128" y="2798064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85A30"/>
                </a:solidFill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WO Issuer FA + Vendor resolver FA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310128" y="3236976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85A30"/>
                </a:solidFill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Contractor portal MVP — keys + channel config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897880" y="1920240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6080760" y="749808"/>
            <a:ext cx="2697480" cy="38404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080760" y="74980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3  ·  Months 3–5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80760" y="1133856"/>
            <a:ext cx="2697480" cy="274320"/>
          </a:xfrm>
          <a:prstGeom prst="rect">
            <a:avLst/>
          </a:prstGeom>
          <a:solidFill>
            <a:srgbClr val="EEEDFE"/>
          </a:solidFill>
          <a:ln w="9525">
            <a:solidFill>
              <a:srgbClr val="534AB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80760" y="113385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34AB7"/>
                </a:solidFill>
              </a:rPr>
              <a:t>WO lifecycle &amp; portal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80760" y="1408176"/>
            <a:ext cx="269748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534A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190488" y="1481328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34AB7"/>
                </a:solidFill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Dataverse post-op plugin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190488" y="1920240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34AB7"/>
                </a:solidFill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Fan-out LA with adapter pattern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190488" y="2359152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34AB7"/>
                </a:solidFill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Status update Logic App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190488" y="2798064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34AB7"/>
                </a:solidFill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Full portal — history, status, dashboard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190488" y="3236976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34AB7"/>
                </a:solidFill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End-to-end integration testing + go-live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0040" y="3931920"/>
            <a:ext cx="8503920" cy="914400"/>
          </a:xfrm>
          <a:prstGeom prst="rect">
            <a:avLst/>
          </a:prstGeom>
          <a:solidFill>
            <a:srgbClr val="E0F4F6"/>
          </a:solidFill>
          <a:ln w="9525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57200" y="398678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Migration principles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427939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·  Additive not a rebuild — existing Logic Apps stay live throughout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57200" y="4535424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·  APIM wraps existing endpoints — no contractor disruption on cutover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754880" y="427939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·  Each phase delivers standalone value — can pause between phases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754880" y="4535424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·  5 pilot contractors in Phase 1 validate architecture before full rollout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Investment &amp; timeline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1965960" cy="877824"/>
          </a:xfrm>
          <a:prstGeom prst="rect">
            <a:avLst/>
          </a:prstGeom>
          <a:solidFill>
            <a:srgbClr val="0D1B2A"/>
          </a:solidFill>
          <a:ln w="9525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82296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C39A"/>
                </a:solidFill>
              </a:rPr>
              <a:t>3–5 months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20040" y="12618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C4CE"/>
                </a:solidFill>
              </a:rPr>
              <a:t>Delivery timeline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468880" y="749808"/>
            <a:ext cx="1965960" cy="877824"/>
          </a:xfrm>
          <a:prstGeom prst="rect">
            <a:avLst/>
          </a:prstGeom>
          <a:solidFill>
            <a:srgbClr val="0D1B2A"/>
          </a:solidFill>
          <a:ln w="9525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82296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C39A"/>
                </a:solidFill>
              </a:rPr>
              <a:t>££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468880" y="12618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C4CE"/>
                </a:solidFill>
              </a:rPr>
              <a:t>Relative cost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617720" y="749808"/>
            <a:ext cx="1965960" cy="877824"/>
          </a:xfrm>
          <a:prstGeom prst="rect">
            <a:avLst/>
          </a:prstGeom>
          <a:solidFill>
            <a:srgbClr val="0D1B2A"/>
          </a:solidFill>
          <a:ln w="9525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82296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C39A"/>
                </a:solidFill>
              </a:rPr>
              <a:t>Low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617720" y="12618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C4CE"/>
                </a:solidFill>
              </a:rPr>
              <a:t>Migration risk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766560" y="749808"/>
            <a:ext cx="1965960" cy="877824"/>
          </a:xfrm>
          <a:prstGeom prst="rect">
            <a:avLst/>
          </a:prstGeom>
          <a:solidFill>
            <a:srgbClr val="0D1B2A"/>
          </a:solidFill>
          <a:ln w="9525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82296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C39A"/>
                </a:solidFill>
              </a:rPr>
              <a:t>50+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766560" y="12618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C4CE"/>
                </a:solidFill>
              </a:rPr>
              <a:t>Contractors supported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20040" y="17556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Azure services in scope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084832"/>
            <a:ext cx="41605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9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084832"/>
            <a:ext cx="64008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130552"/>
            <a:ext cx="39136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Azure API Management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2313432"/>
            <a:ext cx="391363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Standard v2 tier · per-unit pricing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663440" y="2084832"/>
            <a:ext cx="41605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9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2084832"/>
            <a:ext cx="64008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2130552"/>
            <a:ext cx="39136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Azure Logic Apps Standard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00600" y="2313432"/>
            <a:ext cx="391363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Single-tenant · VNET integrated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20040" y="2578608"/>
            <a:ext cx="41605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9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2578608"/>
            <a:ext cx="64008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2624328"/>
            <a:ext cx="39136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Azure Functions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2807208"/>
            <a:ext cx="391363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Consumption or Premium plan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663440" y="2578608"/>
            <a:ext cx="41605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9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2578608"/>
            <a:ext cx="64008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2624328"/>
            <a:ext cx="39136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Service Bus Premium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00600" y="2807208"/>
            <a:ext cx="391363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 messaging unit · geo-DR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20040" y="3072384"/>
            <a:ext cx="41605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9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" y="3072384"/>
            <a:ext cx="64008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118104"/>
            <a:ext cx="39136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Azure Cache for Redis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3300984"/>
            <a:ext cx="391363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C1 Basic → upgrade to C2 for HA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663440" y="3072384"/>
            <a:ext cx="41605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9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63440" y="3072384"/>
            <a:ext cx="64008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3118104"/>
            <a:ext cx="39136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Azure Static Web Apps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00600" y="3300984"/>
            <a:ext cx="391363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Free tier for contractor portal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320040" y="3566160"/>
            <a:ext cx="41605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9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0040" y="3566160"/>
            <a:ext cx="64008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3611880"/>
            <a:ext cx="39136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App Insights + Log Analytics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57200" y="3794760"/>
            <a:ext cx="391363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Pay-per-GB ingestion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320040" y="4187952"/>
            <a:ext cx="8503920" cy="731520"/>
          </a:xfrm>
          <a:prstGeom prst="rect">
            <a:avLst/>
          </a:prstGeom>
          <a:solidFill>
            <a:srgbClr val="E0F4F6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22452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</a:rPr>
              <a:t>Vs Options 2 &amp; 3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57200" y="4480560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Option 1: 3–5 months · ££ · Low risk — recommended start point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57200" y="4626864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Option 2: 5–9 months · £££ · Medium risk — evolution target at 12–18 months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57200" y="477316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Option 3: 8–14 months · ££££ · High risk — north star for 24–36 months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Recommendations &amp; next steps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CE"/>
                </a:solidFill>
              </a:rPr>
              <a:t>Option 1 delivers immediate value within 3–5 months with the lowest migration risk of the three options.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0C4CE"/>
                </a:solidFill>
              </a:rPr>
              <a:t>It unblocks the 50-contractor onboarding wave while establishing the foundation for Options 2 and 3.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Decision points required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847088"/>
            <a:ext cx="8503920" cy="475488"/>
          </a:xfrm>
          <a:prstGeom prst="rect">
            <a:avLst/>
          </a:prstGeom>
          <a:solidFill>
            <a:srgbClr val="162637"/>
          </a:solidFill>
          <a:ln w="63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956816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956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58368" y="1901952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Confirm Option 1 as the target architecture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58368" y="2139696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CE"/>
                </a:solidFill>
              </a:rPr>
              <a:t>Owner: Client + Architecture team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132320" y="1956816"/>
            <a:ext cx="1554480" cy="256032"/>
          </a:xfrm>
          <a:prstGeom prst="roundRect">
            <a:avLst>
              <a:gd name="adj" fmla="val 21429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0" y="195681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Week 1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" y="2414016"/>
            <a:ext cx="8503920" cy="475488"/>
          </a:xfrm>
          <a:prstGeom prst="rect">
            <a:avLst/>
          </a:prstGeom>
          <a:solidFill>
            <a:srgbClr val="162637"/>
          </a:solidFill>
          <a:ln w="63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523744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5237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58368" y="2468880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Identify 5 pilot contractors for Phase 1 migration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58368" y="2706624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CE"/>
                </a:solidFill>
              </a:rPr>
              <a:t>Owner: Client operations team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132320" y="2523744"/>
            <a:ext cx="1554480" cy="256032"/>
          </a:xfrm>
          <a:prstGeom prst="roundRect">
            <a:avLst>
              <a:gd name="adj" fmla="val 21429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0" y="252374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Week 2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2980944"/>
            <a:ext cx="8503920" cy="475488"/>
          </a:xfrm>
          <a:prstGeom prst="rect">
            <a:avLst/>
          </a:prstGeom>
          <a:solidFill>
            <a:srgbClr val="162637"/>
          </a:solidFill>
          <a:ln w="63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090672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0906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58368" y="3035808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Azure subscription sizing and cost approval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58368" y="3273552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CE"/>
                </a:solidFill>
              </a:rPr>
              <a:t>Owner: Client IT / Finance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132320" y="3090672"/>
            <a:ext cx="1554480" cy="256032"/>
          </a:xfrm>
          <a:prstGeom prst="roundRect">
            <a:avLst>
              <a:gd name="adj" fmla="val 21429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0" y="30906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Week 2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0040" y="3547872"/>
            <a:ext cx="8503920" cy="475488"/>
          </a:xfrm>
          <a:prstGeom prst="rect">
            <a:avLst/>
          </a:prstGeom>
          <a:solidFill>
            <a:srgbClr val="162637"/>
          </a:solidFill>
          <a:ln w="63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3657600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6576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58368" y="3602736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Agree contractor portal scope for MVP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58368" y="3840480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CE"/>
                </a:solidFill>
              </a:rPr>
              <a:t>Owner: Product owner + Dev team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132320" y="3657600"/>
            <a:ext cx="1554480" cy="256032"/>
          </a:xfrm>
          <a:prstGeom prst="roundRect">
            <a:avLst>
              <a:gd name="adj" fmla="val 21429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0" y="36576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Week 3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20040" y="4114800"/>
            <a:ext cx="8503920" cy="475488"/>
          </a:xfrm>
          <a:prstGeom prst="rect">
            <a:avLst/>
          </a:prstGeom>
          <a:solidFill>
            <a:srgbClr val="162637"/>
          </a:solidFill>
          <a:ln w="63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" y="4224528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42245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5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58368" y="416966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Kick off sprint 1 — APIM foundation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58368" y="4407408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CE"/>
                </a:solidFill>
              </a:rPr>
              <a:t>Owner: Architecture team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132320" y="4224528"/>
            <a:ext cx="1554480" cy="256032"/>
          </a:xfrm>
          <a:prstGeom prst="roundRect">
            <a:avLst>
              <a:gd name="adj" fmla="val 21429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32320" y="42245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Week 4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0040" y="4681728"/>
            <a:ext cx="850392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68172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Option 1 is the recommended path — incremental, low-risk, and delivers contractor onboarding value in the first sprint.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Option 1 — API-First Integration Hub</dc:title>
  <dc:subject>PptxGenJS Presentation</dc:subject>
  <dc:creator>Integration Architecture Team</dc:creator>
  <cp:lastModifiedBy>Integration Architecture Team</cp:lastModifiedBy>
  <cp:revision>1</cp:revision>
  <dcterms:created xsi:type="dcterms:W3CDTF">2026-05-30T16:50:47Z</dcterms:created>
  <dcterms:modified xsi:type="dcterms:W3CDTF">2026-05-30T16:50:47Z</dcterms:modified>
</cp:coreProperties>
</file>