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810747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5"/>
            <a:ext cx="12191695" cy="256025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  <a:latin typeface="Calibri"/>
              </a:rPr>
              <a:t>Enterprise Integration Profile Selector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7942"/>
            <a:ext cx="12191695" cy="158492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spAutoFit/>
          </a:bodyPr>
          <a:lstStyle/>
          <a:p>
            <a:pPr algn="ctr"/>
            <a:r>
              <a:rPr sz="1050" b="0" i="1">
                <a:solidFill>
                  <a:srgbClr val="8A93A3"/>
                </a:solidFill>
                <a:latin typeface="Calibri"/>
              </a:rPr>
              <a:t>Step 1 sets the boundary. Step 2 asks one discriminating question to land on a single profile. Each outcome carries its governance classification.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75" y="597393"/>
            <a:ext cx="11825944" cy="304792"/>
          </a:xfrm>
          <a:prstGeom prst="roundRect">
            <a:avLst>
              <a:gd name="adj" fmla="val 8000"/>
            </a:avLst>
          </a:prstGeom>
          <a:solidFill>
            <a:srgbClr val="EEF2FA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20000" bIns="20000"/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STEP 1  ·  Which boundary does this integration cross?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75" y="1072869"/>
            <a:ext cx="2865048" cy="329175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INTERNAL</a:t>
            </a:r>
          </a:p>
          <a:p>
            <a:pPr algn="ctr"/>
            <a:r>
              <a:rPr sz="900" b="0" i="0">
                <a:solidFill>
                  <a:srgbClr val="D7E1F0"/>
                </a:solidFill>
                <a:latin typeface="Calibri"/>
              </a:rPr>
              <a:t>Chaucer → Chaucer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69840" y="1072869"/>
            <a:ext cx="2865048" cy="329175"/>
          </a:xfrm>
          <a:prstGeom prst="roundRect">
            <a:avLst>
              <a:gd name="adj" fmla="val 8000"/>
            </a:avLst>
          </a:prstGeom>
          <a:solidFill>
            <a:srgbClr val="8A6A1F"/>
          </a:solidFill>
          <a:ln w="15240">
            <a:solidFill>
              <a:srgbClr val="8A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INBOUND</a:t>
            </a:r>
          </a:p>
          <a:p>
            <a:pPr algn="ctr"/>
            <a:r>
              <a:rPr sz="900" b="0" i="0">
                <a:solidFill>
                  <a:srgbClr val="D7E1F0"/>
                </a:solidFill>
                <a:latin typeface="Calibri"/>
              </a:rPr>
              <a:t>Third party → Chaucer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6806" y="1072869"/>
            <a:ext cx="2865048" cy="329175"/>
          </a:xfrm>
          <a:prstGeom prst="roundRect">
            <a:avLst>
              <a:gd name="adj" fmla="val 8000"/>
            </a:avLst>
          </a:prstGeom>
          <a:solidFill>
            <a:srgbClr val="8A6A1F"/>
          </a:solidFill>
          <a:ln w="15240">
            <a:solidFill>
              <a:srgbClr val="8A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OUTBOUND</a:t>
            </a:r>
          </a:p>
          <a:p>
            <a:pPr algn="ctr"/>
            <a:r>
              <a:rPr sz="900" b="0" i="0">
                <a:solidFill>
                  <a:srgbClr val="D7E1F0"/>
                </a:solidFill>
                <a:latin typeface="Calibri"/>
              </a:rPr>
              <a:t>Chaucer → third party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3771" y="1072869"/>
            <a:ext cx="2865048" cy="329175"/>
          </a:xfrm>
          <a:prstGeom prst="roundRect">
            <a:avLst>
              <a:gd name="adj" fmla="val 8000"/>
            </a:avLst>
          </a:prstGeom>
          <a:solidFill>
            <a:srgbClr val="1E6B54"/>
          </a:solidFill>
          <a:ln w="15240">
            <a:solidFill>
              <a:srgbClr val="1E6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20000" bIns="2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 PLATFORM</a:t>
            </a:r>
          </a:p>
          <a:p>
            <a:pPr algn="ctr"/>
            <a:r>
              <a:rPr sz="900" b="0" i="0">
                <a:solidFill>
                  <a:srgbClr val="D7E1F0"/>
                </a:solidFill>
                <a:latin typeface="Calibri"/>
              </a:rPr>
              <a:t>SIF ↔ data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475195"/>
            <a:ext cx="12191695" cy="158492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spAutoFit/>
          </a:bodyPr>
          <a:lstStyle/>
          <a:p>
            <a:pPr algn="ctr"/>
            <a:r>
              <a:rPr sz="1150" b="1" i="1">
                <a:solidFill>
                  <a:srgbClr val="8A93A3"/>
                </a:solidFill>
                <a:latin typeface="Calibri"/>
              </a:rPr>
              <a:t>STEP 2  ·  Answer the question in your column to land on the 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75" y="1682453"/>
            <a:ext cx="2865048" cy="377942"/>
          </a:xfrm>
          <a:prstGeom prst="roundRect">
            <a:avLst>
              <a:gd name="adj" fmla="val 8000"/>
            </a:avLst>
          </a:prstGeom>
          <a:solidFill>
            <a:srgbClr val="EEF2FA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20000" bIns="20000"/>
          <a:lstStyle/>
          <a:p>
            <a:pPr algn="ctr"/>
            <a:r>
              <a:rPr sz="1050" b="1" i="0">
                <a:solidFill>
                  <a:srgbClr val="1F3864"/>
                </a:solidFill>
                <a:latin typeface="Calibri"/>
              </a:rPr>
              <a:t>Is it request/response, message,</a:t>
            </a:r>
          </a:p>
          <a:p>
            <a:pPr algn="ctr"/>
            <a:r>
              <a:rPr sz="1050" b="1" i="0">
                <a:solidFill>
                  <a:srgbClr val="1F3864"/>
                </a:solidFill>
                <a:latin typeface="Calibri"/>
              </a:rPr>
              <a:t>or a multi-step process?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75" y="2157930"/>
            <a:ext cx="2865048" cy="4754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3C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tIns="60000"/>
          <a:lstStyle/>
          <a:p>
            <a:pPr algn="l"/>
            <a:r>
              <a:rPr sz="900" b="1">
                <a:solidFill>
                  <a:srgbClr val="1F3864"/>
                </a:solidFill>
                <a:latin typeface="Calibri"/>
              </a:rPr>
              <a:t>Request/response →</a:t>
            </a:r>
          </a:p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SIF-P01  ·  Internal REST API</a:t>
            </a:r>
          </a:p>
          <a:p>
            <a:pPr algn="l"/>
            <a:r>
              <a:rPr sz="850">
                <a:solidFill>
                  <a:srgbClr val="8A93A3"/>
                </a:solidFill>
                <a:latin typeface="Calibri"/>
              </a:rPr>
              <a:t>Governance: Standard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75" y="2694364"/>
            <a:ext cx="2865048" cy="4754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3C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tIns="60000"/>
          <a:lstStyle/>
          <a:p>
            <a:pPr algn="l"/>
            <a:r>
              <a:rPr sz="900" b="1">
                <a:solidFill>
                  <a:srgbClr val="1F3864"/>
                </a:solidFill>
                <a:latin typeface="Calibri"/>
              </a:rPr>
              <a:t>One consumer, guaranteed delivery →</a:t>
            </a:r>
          </a:p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SIF-P05  ·  Reliable Queue Messaging</a:t>
            </a:r>
          </a:p>
          <a:p>
            <a:pPr algn="l"/>
            <a:r>
              <a:rPr sz="850">
                <a:solidFill>
                  <a:srgbClr val="8A93A3"/>
                </a:solidFill>
                <a:latin typeface="Calibri"/>
              </a:rPr>
              <a:t>Governance: Standard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75" y="3230799"/>
            <a:ext cx="2865048" cy="4754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3C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tIns="60000"/>
          <a:lstStyle/>
          <a:p>
            <a:pPr algn="l"/>
            <a:r>
              <a:rPr sz="900" b="1">
                <a:solidFill>
                  <a:srgbClr val="1F3864"/>
                </a:solidFill>
                <a:latin typeface="Calibri"/>
              </a:rPr>
              <a:t>Many independent consumers →</a:t>
            </a:r>
          </a:p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SIF-P06  ·  Publish and Subscribe Messaging</a:t>
            </a:r>
          </a:p>
          <a:p>
            <a:pPr algn="l"/>
            <a:r>
              <a:rPr sz="850">
                <a:solidFill>
                  <a:srgbClr val="8A93A3"/>
                </a:solidFill>
                <a:latin typeface="Calibri"/>
              </a:rPr>
              <a:t>Governance: Standard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75" y="3767233"/>
            <a:ext cx="2865048" cy="4754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3C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tIns="60000"/>
          <a:lstStyle/>
          <a:p>
            <a:pPr algn="l"/>
            <a:r>
              <a:rPr sz="900" b="1">
                <a:solidFill>
                  <a:srgbClr val="1F3864"/>
                </a:solidFill>
                <a:latin typeface="Calibri"/>
              </a:rPr>
              <a:t>Multi-step process →</a:t>
            </a:r>
          </a:p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SIF-P09  ·  Workflow Orchestration</a:t>
            </a:r>
          </a:p>
          <a:p>
            <a:pPr algn="l"/>
            <a:r>
              <a:rPr sz="850">
                <a:solidFill>
                  <a:srgbClr val="8A93A3"/>
                </a:solidFill>
                <a:latin typeface="Calibri"/>
              </a:rPr>
              <a:t>Governance: Standard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75" y="4303668"/>
            <a:ext cx="2865048" cy="4754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3C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tIns="60000"/>
          <a:lstStyle/>
          <a:p>
            <a:pPr algn="l"/>
            <a:r>
              <a:rPr sz="900" b="1">
                <a:solidFill>
                  <a:srgbClr val="1F3864"/>
                </a:solidFill>
                <a:latin typeface="Calibri"/>
              </a:rPr>
              <a:t>Polling, callback, delay, escalation →</a:t>
            </a:r>
          </a:p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SIF-P10  ·  Long-Running Stateful Workflow</a:t>
            </a:r>
          </a:p>
          <a:p>
            <a:pPr algn="l"/>
            <a:r>
              <a:rPr sz="850">
                <a:solidFill>
                  <a:srgbClr val="8A93A3"/>
                </a:solidFill>
                <a:latin typeface="Calibri"/>
              </a:rPr>
              <a:t>Governance: Standard; Durable Fn by exception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69840" y="1682453"/>
            <a:ext cx="2865048" cy="377942"/>
          </a:xfrm>
          <a:prstGeom prst="roundRect">
            <a:avLst>
              <a:gd name="adj" fmla="val 8000"/>
            </a:avLst>
          </a:prstGeom>
          <a:solidFill>
            <a:srgbClr val="FBF3E2"/>
          </a:solidFill>
          <a:ln w="15240">
            <a:solidFill>
              <a:srgbClr val="E0CD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20000" bIns="20000"/>
          <a:lstStyle/>
          <a:p>
            <a:pPr algn="ctr"/>
            <a:r>
              <a:rPr sz="1050" b="1" i="0">
                <a:solidFill>
                  <a:srgbClr val="8A6A1F"/>
                </a:solidFill>
                <a:latin typeface="Calibri"/>
              </a:rPr>
              <a:t>Does the third party expect a reply</a:t>
            </a:r>
          </a:p>
          <a:p>
            <a:pPr algn="ctr"/>
            <a:r>
              <a:rPr sz="1050" b="1" i="0">
                <a:solidFill>
                  <a:srgbClr val="8A6A1F"/>
                </a:solidFill>
                <a:latin typeface="Calibri"/>
              </a:rPr>
              <a:t>(calls our API), or just push an event?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69840" y="2157930"/>
            <a:ext cx="2865048" cy="4754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0CD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tIns="60000"/>
          <a:lstStyle/>
          <a:p>
            <a:pPr algn="l"/>
            <a:r>
              <a:rPr sz="900" b="1">
                <a:solidFill>
                  <a:srgbClr val="8A6A1F"/>
                </a:solidFill>
                <a:latin typeface="Calibri"/>
              </a:rPr>
              <a:t>They CALL our API and wait for a response →</a:t>
            </a:r>
          </a:p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SIF-P02  ·  External API Ingress</a:t>
            </a:r>
          </a:p>
          <a:p>
            <a:pPr algn="l"/>
            <a:r>
              <a:rPr sz="850">
                <a:solidFill>
                  <a:srgbClr val="8A93A3"/>
                </a:solidFill>
                <a:latin typeface="Calibri"/>
              </a:rPr>
              <a:t>Governance: Standard + boundary controls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69840" y="2694364"/>
            <a:ext cx="2865048" cy="4754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0CD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tIns="60000"/>
          <a:lstStyle/>
          <a:p>
            <a:pPr algn="l"/>
            <a:r>
              <a:rPr sz="900" b="1">
                <a:solidFill>
                  <a:srgbClr val="8A6A1F"/>
                </a:solidFill>
                <a:latin typeface="Calibri"/>
              </a:rPr>
              <a:t>They PUSH a callback / event, no reply →</a:t>
            </a:r>
          </a:p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SIF-P11  ·  Third-Party Webhook Ingress</a:t>
            </a:r>
          </a:p>
          <a:p>
            <a:pPr algn="l"/>
            <a:r>
              <a:rPr sz="850">
                <a:solidFill>
                  <a:srgbClr val="8A93A3"/>
                </a:solidFill>
                <a:latin typeface="Calibri"/>
              </a:rPr>
              <a:t>Governance: Standard + boundary controls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69840" y="3230799"/>
            <a:ext cx="2865048" cy="463284"/>
          </a:xfrm>
          <a:prstGeom prst="roundRect">
            <a:avLst>
              <a:gd name="adj" fmla="val 8000"/>
            </a:avLst>
          </a:prstGeom>
          <a:solidFill>
            <a:srgbClr val="FBF3E2"/>
          </a:solidFill>
          <a:ln w="15240">
            <a:solidFill>
              <a:srgbClr val="E0CD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20000" bIns="20000"/>
          <a:lstStyle/>
          <a:p>
            <a:pPr algn="l"/>
            <a:r>
              <a:rPr sz="900" b="0" i="0">
                <a:solidFill>
                  <a:srgbClr val="8A6A1F"/>
                </a:solidFill>
                <a:latin typeface="Calibri"/>
              </a:rPr>
              <a:t>Both terminate at the approved network edge before API Management. P11 adds signature validation, replay protection and dedupe.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6806" y="1682453"/>
            <a:ext cx="2865048" cy="377942"/>
          </a:xfrm>
          <a:prstGeom prst="roundRect">
            <a:avLst>
              <a:gd name="adj" fmla="val 8000"/>
            </a:avLst>
          </a:prstGeom>
          <a:solidFill>
            <a:srgbClr val="FBF3E2"/>
          </a:solidFill>
          <a:ln w="15240">
            <a:solidFill>
              <a:srgbClr val="E0CD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20000" bIns="20000"/>
          <a:lstStyle/>
          <a:p>
            <a:pPr algn="ctr"/>
            <a:r>
              <a:rPr sz="1050" b="1" i="0">
                <a:solidFill>
                  <a:srgbClr val="8A6A1F"/>
                </a:solidFill>
                <a:latin typeface="Calibri"/>
              </a:rPr>
              <a:t>Is it a direct API call out, or a process</a:t>
            </a:r>
          </a:p>
          <a:p>
            <a:pPr algn="ctr"/>
            <a:r>
              <a:rPr sz="1050" b="1" i="0">
                <a:solidFill>
                  <a:srgbClr val="8A6A1F"/>
                </a:solidFill>
                <a:latin typeface="Calibri"/>
              </a:rPr>
              <a:t>that coordinates the third party?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6806" y="2157930"/>
            <a:ext cx="2865048" cy="4754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0CD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tIns="60000"/>
          <a:lstStyle/>
          <a:p>
            <a:pPr algn="l"/>
            <a:r>
              <a:rPr sz="900" b="1">
                <a:solidFill>
                  <a:srgbClr val="8A6A1F"/>
                </a:solidFill>
                <a:latin typeface="Calibri"/>
              </a:rPr>
              <a:t>Direct call to a partner API →</a:t>
            </a:r>
          </a:p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SIF-P03  ·  External API Egress</a:t>
            </a:r>
          </a:p>
          <a:p>
            <a:pPr algn="l"/>
            <a:r>
              <a:rPr sz="850">
                <a:solidFill>
                  <a:srgbClr val="8A93A3"/>
                </a:solidFill>
                <a:latin typeface="Calibri"/>
              </a:rPr>
              <a:t>Governance: Standard + boundary controls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6806" y="2694364"/>
            <a:ext cx="2865048" cy="4754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0CD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tIns="60000"/>
          <a:lstStyle/>
          <a:p>
            <a:pPr algn="l"/>
            <a:r>
              <a:rPr sz="900" b="1">
                <a:solidFill>
                  <a:srgbClr val="8A6A1F"/>
                </a:solidFill>
                <a:latin typeface="Calibri"/>
              </a:rPr>
              <a:t>We coordinate a multi-step process →</a:t>
            </a:r>
          </a:p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SIF-P09  ·  Workflow Orchestration</a:t>
            </a:r>
          </a:p>
          <a:p>
            <a:pPr algn="l"/>
            <a:r>
              <a:rPr sz="850">
                <a:solidFill>
                  <a:srgbClr val="8A93A3"/>
                </a:solidFill>
                <a:latin typeface="Calibri"/>
              </a:rPr>
              <a:t>Governance: Standard + boundary controls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6806" y="3230799"/>
            <a:ext cx="2865048" cy="4754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0CD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tIns="60000"/>
          <a:lstStyle/>
          <a:p>
            <a:pPr algn="l"/>
            <a:r>
              <a:rPr sz="900" b="1">
                <a:solidFill>
                  <a:srgbClr val="8A6A1F"/>
                </a:solidFill>
                <a:latin typeface="Calibri"/>
              </a:rPr>
              <a:t>Needs polling, callback or compensation →</a:t>
            </a:r>
          </a:p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SIF-P10  ·  Long-Running Stateful Workflow</a:t>
            </a:r>
          </a:p>
          <a:p>
            <a:pPr algn="l"/>
            <a:r>
              <a:rPr sz="850">
                <a:solidFill>
                  <a:srgbClr val="8A93A3"/>
                </a:solidFill>
                <a:latin typeface="Calibri"/>
              </a:rPr>
              <a:t>Governance: Standard; Durable Fn by exception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6806" y="3767233"/>
            <a:ext cx="2865048" cy="353559"/>
          </a:xfrm>
          <a:prstGeom prst="roundRect">
            <a:avLst>
              <a:gd name="adj" fmla="val 8000"/>
            </a:avLst>
          </a:prstGeom>
          <a:solidFill>
            <a:srgbClr val="FBF3E2"/>
          </a:solidFill>
          <a:ln w="15240">
            <a:solidFill>
              <a:srgbClr val="E0CD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20000" bIns="20000"/>
          <a:lstStyle/>
          <a:p>
            <a:pPr algn="l"/>
            <a:r>
              <a:rPr sz="900" b="0" i="0">
                <a:solidFill>
                  <a:srgbClr val="8A6A1F"/>
                </a:solidFill>
                <a:latin typeface="Calibri"/>
              </a:rPr>
              <a:t>All egress leaves via the approved egress path and firewall inspection.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3771" y="1682453"/>
            <a:ext cx="2865048" cy="377942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 w="15240">
            <a:solidFill>
              <a:srgbClr val="A9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20000" bIns="20000"/>
          <a:lstStyle/>
          <a:p>
            <a:pPr algn="ctr"/>
            <a:r>
              <a:rPr sz="1050" b="1" i="0">
                <a:solidFill>
                  <a:srgbClr val="1E6B54"/>
                </a:solidFill>
                <a:latin typeface="Calibri"/>
              </a:rPr>
              <a:t>Is it analytics / bulk movement,</a:t>
            </a:r>
          </a:p>
          <a:p>
            <a:pPr algn="ctr"/>
            <a:r>
              <a:rPr sz="1050" b="1" i="0">
                <a:solidFill>
                  <a:srgbClr val="1E6B54"/>
                </a:solidFill>
                <a:latin typeface="Calibri"/>
              </a:rPr>
              <a:t>or a continuous event feed?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3771" y="2157930"/>
            <a:ext cx="2865048" cy="4754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A9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tIns="60000"/>
          <a:lstStyle/>
          <a:p>
            <a:pPr algn="l"/>
            <a:r>
              <a:rPr sz="900" b="1">
                <a:solidFill>
                  <a:srgbClr val="1E6B54"/>
                </a:solidFill>
                <a:latin typeface="Calibri"/>
              </a:rPr>
              <a:t>Batch or bulk analytics movement →</a:t>
            </a:r>
          </a:p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SIF-P13  ·  Data Platform Exchange</a:t>
            </a:r>
          </a:p>
          <a:p>
            <a:pPr algn="l"/>
            <a:r>
              <a:rPr sz="850">
                <a:solidFill>
                  <a:srgbClr val="8A93A3"/>
                </a:solidFill>
                <a:latin typeface="Calibri"/>
              </a:rPr>
              <a:t>Governance: Conditional • not an operational default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3771" y="2694364"/>
            <a:ext cx="2865048" cy="4754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A9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tIns="60000"/>
          <a:lstStyle/>
          <a:p>
            <a:pPr algn="l"/>
            <a:r>
              <a:rPr sz="900" b="1">
                <a:solidFill>
                  <a:srgbClr val="1E6B54"/>
                </a:solidFill>
                <a:latin typeface="Calibri"/>
              </a:rPr>
              <a:t>Continuous high-volume event feed →</a:t>
            </a:r>
          </a:p>
          <a:p>
            <a:pPr algn="l"/>
            <a:r>
              <a:rPr sz="1050" b="1">
                <a:solidFill>
                  <a:srgbClr val="1F3864"/>
                </a:solidFill>
                <a:latin typeface="Calibri"/>
              </a:rPr>
              <a:t>SIF-P08  ·  High-Volume Event Streaming</a:t>
            </a:r>
          </a:p>
          <a:p>
            <a:pPr algn="l"/>
            <a:r>
              <a:rPr sz="850">
                <a:solidFill>
                  <a:srgbClr val="8A93A3"/>
                </a:solidFill>
                <a:latin typeface="Calibri"/>
              </a:rPr>
              <a:t>Governance: Conditional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3771" y="3230799"/>
            <a:ext cx="2865048" cy="463284"/>
          </a:xfrm>
          <a:prstGeom prst="roundRect">
            <a:avLst>
              <a:gd name="adj" fmla="val 8000"/>
            </a:avLst>
          </a:prstGeom>
          <a:solidFill>
            <a:srgbClr val="E6F4EF"/>
          </a:solidFill>
          <a:ln w="15240">
            <a:solidFill>
              <a:srgbClr val="A9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20000" bIns="20000"/>
          <a:lstStyle/>
          <a:p>
            <a:pPr algn="l"/>
            <a:r>
              <a:rPr sz="900" b="0" i="0">
                <a:solidFill>
                  <a:srgbClr val="1E6B54"/>
                </a:solidFill>
                <a:latin typeface="Calibri"/>
              </a:rPr>
              <a:t>Not a substitute for an operational integration. Requires data governance sign-off; P13 is not the default for operational data exchange.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75" y="4949828"/>
            <a:ext cx="11825944" cy="780268"/>
          </a:xfrm>
          <a:prstGeom prst="roundRect">
            <a:avLst>
              <a:gd name="adj" fmla="val 8000"/>
            </a:avLst>
          </a:prstGeom>
          <a:solidFill>
            <a:srgbClr val="EEF2FA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0000"/>
          <a:lstStyle/>
          <a:p>
            <a:pPr algn="ctr"/>
            <a:r>
              <a:rPr sz="1150" b="1">
                <a:solidFill>
                  <a:srgbClr val="1F3864"/>
                </a:solidFill>
                <a:latin typeface="Calibri"/>
              </a:rPr>
              <a:t>STEP 3  ·  Add a cross-cutting profile if it applies — these sit alongside the profile you chose above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4792" y="5266812"/>
            <a:ext cx="2822377" cy="3779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3C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20000" bIns="20000"/>
          <a:lstStyle/>
          <a:p>
            <a:pPr algn="ctr"/>
            <a:r>
              <a:rPr sz="1000" b="1" i="0">
                <a:solidFill>
                  <a:srgbClr val="1F3864"/>
                </a:solidFill>
                <a:latin typeface="Calibri"/>
              </a:rPr>
              <a:t>SIF-P04</a:t>
            </a:r>
          </a:p>
          <a:p>
            <a:pPr algn="ctr"/>
            <a:r>
              <a:rPr sz="850" b="0" i="0">
                <a:solidFill>
                  <a:srgbClr val="1F3864"/>
                </a:solidFill>
                <a:latin typeface="Calibri"/>
              </a:rPr>
              <a:t>API Facade &amp; Mediation</a:t>
            </a:r>
          </a:p>
          <a:p>
            <a:pPr algn="ctr"/>
            <a:r>
              <a:rPr sz="750" b="0" i="1">
                <a:solidFill>
                  <a:srgbClr val="8A93A3"/>
                </a:solidFill>
                <a:latin typeface="Calibri"/>
              </a:rPr>
              <a:t>you are fronting or mediating an 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24703" y="5266812"/>
            <a:ext cx="2822377" cy="3779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3C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20000" bIns="20000"/>
          <a:lstStyle/>
          <a:p>
            <a:pPr algn="ctr"/>
            <a:r>
              <a:rPr sz="1000" b="1" i="0">
                <a:solidFill>
                  <a:srgbClr val="1F3864"/>
                </a:solidFill>
                <a:latin typeface="Calibri"/>
              </a:rPr>
              <a:t>SIF-P07</a:t>
            </a:r>
          </a:p>
          <a:p>
            <a:pPr algn="ctr"/>
            <a:r>
              <a:rPr sz="850" b="0" i="0">
                <a:solidFill>
                  <a:srgbClr val="1F3864"/>
                </a:solidFill>
                <a:latin typeface="Calibri"/>
              </a:rPr>
              <a:t>Event Notification</a:t>
            </a:r>
          </a:p>
          <a:p>
            <a:pPr algn="ctr"/>
            <a:r>
              <a:rPr sz="750" b="0" i="1">
                <a:solidFill>
                  <a:srgbClr val="8A93A3"/>
                </a:solidFill>
                <a:latin typeface="Calibri"/>
              </a:rPr>
              <a:t>you are notifying that something happened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614" y="5266812"/>
            <a:ext cx="2822377" cy="3779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3C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20000" bIns="20000"/>
          <a:lstStyle/>
          <a:p>
            <a:pPr algn="ctr"/>
            <a:r>
              <a:rPr sz="1000" b="1" i="0">
                <a:solidFill>
                  <a:srgbClr val="1F3864"/>
                </a:solidFill>
                <a:latin typeface="Calibri"/>
              </a:rPr>
              <a:t>SIF-P12</a:t>
            </a:r>
          </a:p>
          <a:p>
            <a:pPr algn="ctr"/>
            <a:r>
              <a:rPr sz="850" b="0" i="0">
                <a:solidFill>
                  <a:srgbClr val="1F3864"/>
                </a:solidFill>
                <a:latin typeface="Calibri"/>
              </a:rPr>
              <a:t>Managed File Exchange</a:t>
            </a:r>
          </a:p>
          <a:p>
            <a:pPr algn="ctr"/>
            <a:r>
              <a:rPr sz="750" b="0" i="1">
                <a:solidFill>
                  <a:srgbClr val="8A93A3"/>
                </a:solidFill>
                <a:latin typeface="Calibri"/>
              </a:rPr>
              <a:t>the payload is a file or batch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64525" y="5266812"/>
            <a:ext cx="2822377" cy="3779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3C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20000" bIns="20000"/>
          <a:lstStyle/>
          <a:p>
            <a:pPr algn="ctr"/>
            <a:r>
              <a:rPr sz="1000" b="1" i="0">
                <a:solidFill>
                  <a:srgbClr val="1F3864"/>
                </a:solidFill>
                <a:latin typeface="Calibri"/>
              </a:rPr>
              <a:t>SIF-P14</a:t>
            </a:r>
          </a:p>
          <a:p>
            <a:pPr algn="ctr"/>
            <a:r>
              <a:rPr sz="850" b="0" i="0">
                <a:solidFill>
                  <a:srgbClr val="1F3864"/>
                </a:solidFill>
                <a:latin typeface="Calibri"/>
              </a:rPr>
              <a:t>Specialist Mediation &amp; Transformation</a:t>
            </a:r>
          </a:p>
          <a:p>
            <a:pPr algn="ctr"/>
            <a:r>
              <a:rPr sz="750" b="0" i="1">
                <a:solidFill>
                  <a:srgbClr val="8A93A3"/>
                </a:solidFill>
                <a:latin typeface="Calibri"/>
              </a:rPr>
              <a:t>non-standard protocol or transformation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75" y="5815438"/>
            <a:ext cx="11825944" cy="146300"/>
          </a:xfrm>
          <a:prstGeom prst="rect">
            <a:avLst/>
          </a:prstGeom>
          <a:noFill/>
        </p:spPr>
        <p:txBody>
          <a:bodyPr wrap="square" lIns="60000" rIns="60000" tIns="20000" bIns="20000" anchor="ctr">
            <a:spAutoFit/>
          </a:bodyPr>
          <a:lstStyle/>
          <a:p>
            <a:pPr algn="l"/>
            <a:r>
              <a:rPr sz="900" b="0" i="1">
                <a:solidFill>
                  <a:srgbClr val="8A93A3"/>
                </a:solidFill>
                <a:latin typeface="Calibri"/>
              </a:rPr>
              <a:t>Relationship to 7.3: section 7.3 resolves the pattern family from interaction style; this selector starts from the boundary, which is how the profile catalogue is organised, and names the governance each choice carries.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