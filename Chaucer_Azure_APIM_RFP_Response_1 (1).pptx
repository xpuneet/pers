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2" r:id="rId7"/>
    <p:sldId id="264" r:id="rId8"/>
    <p:sldId id="265" r:id="rId9"/>
    <p:sldId id="266" r:id="rId10"/>
    <p:sldId id="268" r:id="rId11"/>
    <p:sldId id="269" r:id="rId12"/>
    <p:sldId id="271"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8" r:id="rId28"/>
    <p:sldId id="289" r:id="rId29"/>
    <p:sldId id="291" r:id="rId30"/>
    <p:sldId id="292" r:id="rId31"/>
    <p:sldId id="295" r:id="rId32"/>
    <p:sldId id="296" r:id="rId33"/>
    <p:sldId id="297" r:id="rId34"/>
    <p:sldId id="298" r:id="rId35"/>
    <p:sldId id="300" r:id="rId36"/>
    <p:sldId id="301" r:id="rId37"/>
    <p:sldId id="302" r:id="rId38"/>
    <p:sldId id="32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471BAC-2851-4C24-A300-BB111D46E5F7}" v="7" dt="2026-07-01T13:47:41.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7760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Open the deck with a one-page synthesis a CIO can absorb in 60 seconds. Key benefits to stress verbally: risk reduction, speed to market, audit readiness. RFP scoring impact: This slide anchors the 'Understanding of Requirements' and 'Executive Summary' scoring sections — reference it explicitly when the evaluation panel scores overall coherence.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demonstrate we understand this is a greenfield build, not a migration — the RFP indicates no existing API integration. Key benefit: builds trust and scoring credit for 'understanding of requirements' by not assuming a legacy-modernization narrative that doesn't apply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Present the strategic vision before diving into architecture detail. Executive message should be delivered slowly and verbatim if presenting live. Suggested visual realized as a 4-stage vertical flow: Discover -&gt; Secure -&gt; Govern -&gt; Scale.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RFP scoring impact: Quantified outcomes are frequently weighted heavily in RFP scoring rubrics under 'value proposition' — ensure figures are reconciled with the customer's own stated targets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evaluators an objective maturity framework rather than a subjective claim, and be explicit </a:t>
            </a:r>
            <a:r>
              <a:rPr lang="en-US"/>
              <a:t>that Chaucer </a:t>
            </a:r>
            <a:r>
              <a:rPr lang="en-US" dirty="0"/>
              <a:t>is starting from zero rather than modernizing an existing platform. Key benefit: shows a credible, staged path rather than an unrealistic 'big bang' promise.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the full evaluation panel a single reference architecture before drilling into access models and security in later slides.
Mermaid diagram code (portable source of truth):
graph TD
  A[Consumers: Web/Mobile/Partner/Internal] --&gt; B[Edge: Front Door + WAF]
  B --&gt; C[Azure API Management: Gateway/Policies/Dev Portal]
  C --&gt; D[Backends: AKS/Core Banking/SaaS]
  E[Entra ID] --- C
  F[Key Vault] --- C
Draw.io: recreate using the swimlane structure above — one vertical/horizontal swimlane per layer, standard Azure stencil shapes, arrows following the connections shown. 4 horizontal swimlanes top-to-bottom (Consumers, Edge Security, APIM, Backends), Entra ID and Key Vault as side-attached shapes connected to the APIM lane.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Front Door icon, WAF icon, API Management icon, AKS icon, Entra ID icon, Key Vault icon — all from the official Azure Architecture Icons 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governance is built into the process, not bolted on afterward — directly answers the RFP's lifecycle governance requirement.
Mermaid diagram code (portable source of truth):
graph LR
  A[Design] --&gt; B[Develop] --&gt; C[Test] --&gt; D[Publish] --&gt; E[Version] --&gt; F[Monitor] --&gt; G[Retire]
  F -.feedback.-&gt; A
Draw.io: recreate using the swimlane structure above — one vertical/horizontal swimlane per layer, standard Azure stencil shapes, arrows following the connections shown. Single horizontal swimlane of 7 process boxes with a dashed feedback connector from Monitor back to Design.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API Management, Azure DevOps, Azure Monitor icons placed above the relevant stage boxes.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the RFP's internal API access requirement directly and show enforced network isolation.
Mermaid diagram code (portable source of truth):
graph LR
  A[Internal Applications] --&gt; B[APIM - Internal VNet Mode]
  B --&gt; C[Internal Microservices]
  D[Entra ID] --&gt; B
Draw.io: recreate using the swimlane structure above — one vertical/horizontal swimlane per layer, standard Azure stencil shapes, arrows following the connections shown. Single horizontal lane: app -&gt; APIM -&gt; microservices, with Entra ID box above APIM connected downward.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App Service icon, API Management (internal) icon, AKS icon, Entra ID icon.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Demonstrate defense-in-depth for internet-facing APIs — directly supports the security scoring criteria.
Mermaid diagram code (portable source of truth):
graph LR
  A[Public Clients] --&gt; B[Front Door + WAF] --&gt; C[APIM External Gateway] --&gt; D[Backend via Private Link]
Draw.io: recreate using the swimlane structure above — one vertical/horizontal swimlane per layer, standard Azure stencil shapes, arrows following the connections shown. Four-box horizontal chain with annotation labels beneath the connectors describing the control enforced at each hop.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Front Door, WAF, API Management, Private Link icons.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Support the availability targets stated in the business outcomes slide with a concrete multi-region design.
Mermaid diagram code (portable source of truth):
graph TD
  A[Azure Front Door - Global] --&gt; B[Region A: APIM + Backend]
  A --&gt; C[Region B: APIM + Backend]
Draw.io: recreate using the swimlane structure above — one vertical/horizontal swimlane per layer, standard Azure stencil shapes, arrows following the connections shown. Front Door box at top, two parallel vertical swimlanes below (Region A, Region B), each containing an APIM box and backend box.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Front Door, API Management, geo-redundant storage/backend icons.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frame the security section before diving into OAuth/JWT/Entra/Key Vault mechanics. RFP scoring impact: this slide is the anchor for the Security Architecture scoring section — evaluators often look for a strategy statement before implementation detail.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security architects a precise, step-numbered OAuth flow to validate against their own standards.
Mermaid diagram code (portable source of truth):
sequenceDiagram
  Client-&gt;&gt;EntraID: Request access token
  EntraID--&gt;&gt;Client: Issue token
  Client-&gt;&gt;APIM: Call API with bearer token
  APIM-&gt;&gt;APIM: Validate token &amp; claims
  APIM-&gt;&gt;Backend: Forward request
Draw.io: recreate as a left-to-right sequence using standard Azure stencils, one shape per step matching the numbered boxes shown. Five sequential boxes left-to-right, numbered 1-5, arrows between each.
Visio: use the Azure template stencil set; one Visio shape per numbered step, connectors in the same left-to-right order.
PowerPoint editable layout: every numbered box and arrow on this slide is a native, ungrouped shape — reposition or relabel directly, no image.
Azure icon mapping: Microsoft Entra ID icon, API Management icon, generic client/app icon.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a concrete answer to the JWT validation requirement with the specific claims checked.
Mermaid diagram code (portable source of truth):
graph LR
  A[Incoming JWT] --&gt; B[APIM validate-jwt Policy]
  B --&gt; C[Backend Service]
  B --&gt; D[Check: Signature/JWKS]
  B --&gt; E[Check: Issuer/Audience]
  B --&gt; F[Check: Expiry/NBF]
  B --&gt; G[Check: Claims/Scopes]
Draw.io: recreate as a left-to-right sequence using standard Azure stencils, one shape per step matching the numbered boxes shown. Main horizontal chain plus four validation-check boxes fanning below the APIM policy box.
Visio: use the Azure template stencil set; one Visio shape per numbered step, connectors in the same left-to-right order.
PowerPoint editable layout: every numbered box and arrow on this slide is a native, ungrouped shape — reposition or relabel directly, no image.
Azure icon mapping: API Management policy icon, Entra ID (JWKS) icon, lock/shield icon.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Entra ID as the identity hub for both consumer-facing and operational access — a common evaluator question.
Mermaid diagram code (portable source of truth):
graph TD
  A[Microsoft Entra ID] --- B[App Registrations]
  A --- C[Managed Identity to Key Vault]
  A --- D[Conditional Access for Admins]
  A --- E[Token Issuance OAuth/OIDC]
Draw.io: recreate as a left-to-right sequence using standard Azure stencils, one shape per step matching the numbered boxes shown. Central Entra ID box with four spoke boxes connected by simple lines (hub-and-spoke).
Visio: use the Azure template stencil set; one Visio shape per numbered step, connectors in the same left-to-right order.
PowerPoint editable layout: every numbered box and arrow on this slide is a native, ungrouped shape — reposition or relabel directly, no image.
Azure icon mapping: Microsoft Entra ID icon at hub; App Registration, Managed Identity, Conditional Access icons at spokes.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Directly answers the RFP's secrets/certificate management requirement and reinforces the 'Why Key Vault' decision.
Mermaid diagram code (portable source of truth):
graph LR
  A[Azure Key Vault] --&gt; B[APIM Managed Identity] --&gt; C[Named Values / Certificates in APIM]
  A --&gt; D[Backend Keys]
  A --&gt; E[TLS Certs]
  A --&gt; F[Partner Secrets]
  A --&gt; G[Signing Keys]
Draw.io: recreate as a left-to-right sequence using standard Azure stencils, one shape per step matching the numbered boxes shown. Main horizontal chain, four secret-type boxes fanning beneath Key Vault.
Visio: use the Azure template stencil set; one Visio shape per numbered step, connectors in the same left-to-right order.
PowerPoint editable layout: every numbered box and arrow on this slide is a native, ungrouped shape — reposition or relabel directly, no image.
Azure icon mapping: Key Vault icon, Managed Identity icon, Certificate icon.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close the security section with the unifying principle (Zero Trust) that ties OAuth, JWT, Entra ID, and Key Vault together. RFP scoring impact: security architects on the panel typically look for this framing explicitly.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governance is a small, empowered function backed by automated enforcement rather than a bureaucratic gate.
Mermaid diagram code (portable source of truth):
graph TD
  A[API Governance Board] --- B[Naming &amp; Design Standards]
  A --- C[Security Policy Baseline]
  A --- D[Lifecycle &amp; Versioning Rules]
  A --- E[Onboarding &amp; Product Catalog]
Draw.io: recreate as a hub-and-spoke diagram — central governance board shape with spoke shapes for each function, connected by simple lines. Central board box, four spoke boxes, radial connectors.
Visio: use a basic flowchart/org-chart stencil; one shape per spoke, radial connectors to the hub.
PowerPoint editable layout: hub and spoke boxes are native ungrouped shapes — no image.
Azure icon mapping: Azure Policy icon, API Management (Products) icon, generic governance/committee icon.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evaluators a concrete gate-by-gate governance model, not an abstract statement. Key benefit: shows governance is automated in the pipeline (ties to APIOps/CI-CD sections), not a manual bottleneck.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RFP scoring impact: versioning strategy is commonly a dedicated line item on technical evaluation scorecards — this table should map directly to the RFP's stated compliance/versioning requirements.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close the governance section by showing standards are technically enforced (policy fragments), not just documented in a wiki nobody reads.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unified observability across gateway, edge, and backend — a frequent evaluator concern for hybrid platforms.
Mermaid diagram code (portable source of truth):
graph LR
  A[APIM Gateway Metrics] --&gt; D[Azure Monitor / Log Analytics]
  B[Application Insights] --&gt; D
  C[Front Door / WAF] --&gt; D
  D --&gt; E[Dashboards &amp; Workbooks]
Draw.io: recreate as a left-to-right pipeline using standard Azure stencils matching the boxes shown. Three source boxes on the left converging into a central Azure Monitor box, then out to a dashboards box on the right.
Visio: use the Azure template stencil set with matching shapes and connector order.
PowerPoint editable layout: every box and arrow is a native ungrouped shape — no image.
Azure icon mapping: Azure Monitor, Application Insights, Log Analytics, Front Door icons.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pair the technical alert triggers with an operational routing model — evaluators often check both exist, not just 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analytics serve both technical and business audiences named in the RFP's evaluation panel.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Directly support the 'Why APIOps' architecture decision with a concrete pipeline diagram.
Mermaid diagram code (portable source of truth):
graph LR
  A[Git Repo] --&gt; B[Pull Request + Review] --&gt; C[CI Build + Policy Lint] --&gt; D[Automated Tests] --&gt; E[CD Release to APIM]
Draw.io: recreate as a left-to-right pipeline using standard Azure DevOps / Git stencils matching the boxes shown. Five sequential boxes numbered 1-5 with arrows.
Visio: use the Azure DevOps template stencil set with matching shapes and connector order.
PowerPoint editable layout: every box and arrow is a native ungrouped shape — no image.
Azure icon mapping: Azure Repos, Azure Pipelines (build/release), API Management icons.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a simple, defensible environment model that maps directly to change-management expectations in regulated banking IT.
Mermaid diagram code (portable source of truth):
graph LR
  A[Dev] --&gt; B[Test/QA] --&gt; C[UAT] --&gt; D[Production]
Draw.io: recreate as a left-to-right pipeline using standard Azure DevOps / Git stencils matching the boxes shown. Four sequential environment boxes with arrows; annotate each with its promotion gate.
Visio: use the Azure DevOps template stencil set with matching shapes and connector order.
PowerPoint editable layout: every box and arrow is a native ungrouped shape — no image.
Azure icon mapping: API Management (x4 instances/workspaces), Azure Pipelines environments icon.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the specific mechanism (zone redundancy + health-probed Front Door) behind the availability target committed to earlier in the deck.
Mermaid diagram code (portable source of truth):
graph TD
  A[Azure Front Door - health probes] --&gt; B[APIM Zone 1]
  A --&gt; C[APIM Zone 2]
  A --&gt; D[APIM Zone 3]
  B --&gt; E[Zone-Redundant Backend]
  C --&gt; E
  D --&gt; E
Draw.io: recreate using the swimlane/zone structure shown, standard Azure stencils, arrows matching connections. Front Door box at top, three zone boxes below it, converging into one backend box.
Visio: use the Azure template stencil set; one shape per box, grouped by zone/region as swimlanes.
PowerPoint editable layout: every box and arrow on this slide is a native ungrouped shape — no image.
Azure icon mapping: Front Door, API Management (zone-redundant), Availability Zone icons.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the evaluation panel explicit, testable RTO/RPO targets rather than a vague 'we support DR' claim.
Mermaid diagram code (portable source of truth):
graph TD
  A[Primary Region - Active] -. replication .-&gt; B[Secondary Region - Standby]
  C[Traffic Manager Failover] --&gt; A
  C --&gt; B
Draw.io: recreate using the swimlane/zone structure shown, standard Azure stencils, arrows matching connections. Two region boxes side by side connected by a dashed replication arrow, with a failover-trigger box below connected to both.
Visio: use the Azure template stencil set; one shape per box, grouped by zone/region as swimlanes.
PowerPoint editable layout: every box and arrow on this slide is a native ungrouped shape — no image.
Azure icon mapping: Traffic Manager, API Management, geo-replication icons.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a credible, risk-managed sequence rather than a 'big bang' cutover. RFP scoring impact: implementation timeline/roadmap is almost always independently scored — reconcile these week numbers with the RFP's stated timeline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address a common evaluator worry — 'how do you introduce an API layer safely when nothing like it exists today'. Note: </a:t>
            </a:r>
            <a:r>
              <a:rPr lang="en-US"/>
              <a:t>since Chaucer </a:t>
            </a:r>
            <a:r>
              <a:rPr lang="en-US" dirty="0"/>
              <a:t>has no existing APIs, this is a phased build-and-adopt strategy, not a migration/cutover from a legacy gateway.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rot="1080000">
            <a:off x="-914400" y="-914400"/>
            <a:ext cx="5486400" cy="8686800"/>
          </a:xfrm>
          <a:prstGeom prst="roundRect">
            <a:avLst/>
          </a:prstGeom>
          <a:solidFill>
            <a:srgbClr val="141B45"/>
          </a:solidFill>
          <a:ln/>
        </p:spPr>
        <p:txBody>
          <a:bodyPr/>
          <a:lstStyle/>
          <a:p>
            <a:endParaRPr lang="en-IN" dirty="0"/>
          </a:p>
        </p:txBody>
      </p:sp>
      <p:sp>
        <p:nvSpPr>
          <p:cNvPr id="3" name="Text 1"/>
          <p:cNvSpPr/>
          <p:nvPr/>
        </p:nvSpPr>
        <p:spPr>
          <a:xfrm>
            <a:off x="502920" y="1965960"/>
            <a:ext cx="9144000" cy="365760"/>
          </a:xfrm>
          <a:prstGeom prst="rect">
            <a:avLst/>
          </a:prstGeom>
          <a:noFill/>
          <a:ln/>
        </p:spPr>
        <p:txBody>
          <a:bodyPr wrap="square" lIns="0" tIns="0" rIns="0" bIns="0" rtlCol="0" anchor="ctr"/>
          <a:lstStyle/>
          <a:p>
            <a:pPr marL="0" indent="0">
              <a:buNone/>
            </a:pPr>
            <a:r>
              <a:rPr lang="en-US" sz="1400" b="1" kern="0" spc="300" dirty="0">
                <a:solidFill>
                  <a:srgbClr val="F5A623"/>
                </a:solidFill>
                <a:latin typeface="Calibri" pitchFamily="34" charset="0"/>
                <a:ea typeface="Calibri" pitchFamily="34" charset="-122"/>
                <a:cs typeface="Calibri" pitchFamily="34" charset="-120"/>
              </a:rPr>
              <a:t>RFP RESPONSE  ·  ENTERPRISE API MANAGEMENT PLATFORM</a:t>
            </a:r>
            <a:endParaRPr lang="en-US" sz="1400" dirty="0"/>
          </a:p>
        </p:txBody>
      </p:sp>
      <p:sp>
        <p:nvSpPr>
          <p:cNvPr id="4" name="Text 2"/>
          <p:cNvSpPr/>
          <p:nvPr/>
        </p:nvSpPr>
        <p:spPr>
          <a:xfrm>
            <a:off x="502920" y="2331720"/>
            <a:ext cx="10241280" cy="17373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 Secure, Governed, Future-Ready</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API Platform on Azure APIM</a:t>
            </a:r>
            <a:endParaRPr lang="en-US" sz="4400" dirty="0"/>
          </a:p>
        </p:txBody>
      </p:sp>
      <p:sp>
        <p:nvSpPr>
          <p:cNvPr id="5" name="Text 3"/>
          <p:cNvSpPr/>
          <p:nvPr/>
        </p:nvSpPr>
        <p:spPr>
          <a:xfrm>
            <a:off x="502920" y="3794760"/>
            <a:ext cx="9601200" cy="548640"/>
          </a:xfrm>
          <a:prstGeom prst="rect">
            <a:avLst/>
          </a:prstGeom>
          <a:noFill/>
          <a:ln/>
        </p:spPr>
        <p:txBody>
          <a:bodyPr wrap="square" lIns="0" tIns="0" rIns="0" bIns="0" rtlCol="0" anchor="ctr"/>
          <a:lstStyle/>
          <a:p>
            <a:r>
              <a:rPr lang="en-US" sz="1800" dirty="0">
                <a:solidFill>
                  <a:srgbClr val="CADCFC"/>
                </a:solidFill>
                <a:latin typeface="Calibri" pitchFamily="34" charset="0"/>
                <a:ea typeface="Calibri" pitchFamily="34" charset="-122"/>
                <a:cs typeface="Calibri" pitchFamily="34" charset="-120"/>
              </a:rPr>
              <a:t>Prepared for </a:t>
            </a:r>
            <a:r>
              <a:rPr lang="en-IN" sz="1800" dirty="0">
                <a:solidFill>
                  <a:srgbClr val="CADCFC"/>
                </a:solidFill>
                <a:latin typeface="Calibri" pitchFamily="34" charset="0"/>
                <a:ea typeface="Calibri" pitchFamily="34" charset="-122"/>
                <a:cs typeface="Calibri" pitchFamily="34" charset="-120"/>
              </a:rPr>
              <a:t>C</a:t>
            </a:r>
            <a:r>
              <a:rPr lang="en-IN" dirty="0">
                <a:solidFill>
                  <a:srgbClr val="CADCFC"/>
                </a:solidFill>
                <a:latin typeface="Calibri" pitchFamily="34" charset="0"/>
                <a:ea typeface="Calibri" pitchFamily="34" charset="-122"/>
                <a:cs typeface="Calibri" pitchFamily="34" charset="-120"/>
              </a:rPr>
              <a:t>haucer Group</a:t>
            </a:r>
            <a:endParaRPr lang="en-US" dirty="0">
              <a:solidFill>
                <a:srgbClr val="CADCFC"/>
              </a:solidFill>
              <a:latin typeface="Calibri" pitchFamily="34" charset="0"/>
              <a:ea typeface="Calibri" pitchFamily="34" charset="-122"/>
              <a:cs typeface="Calibri" pitchFamily="34" charset="-120"/>
            </a:endParaRPr>
          </a:p>
        </p:txBody>
      </p:sp>
      <p:sp>
        <p:nvSpPr>
          <p:cNvPr id="6" name="Shape 4"/>
          <p:cNvSpPr/>
          <p:nvPr/>
        </p:nvSpPr>
        <p:spPr>
          <a:xfrm>
            <a:off x="502920" y="4526280"/>
            <a:ext cx="2926080" cy="0"/>
          </a:xfrm>
          <a:prstGeom prst="line">
            <a:avLst/>
          </a:prstGeom>
          <a:noFill/>
          <a:ln w="25400">
            <a:solidFill>
              <a:srgbClr val="F5A623"/>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EXECUTIVE OVERVIEW</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Executive Summary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Azure API Management, delivered through our proven implementation approach, gives Chaucer a single, secure, governed platform for every API — internal, external, and partner.</a:t>
            </a:r>
            <a:endParaRPr lang="en-US" sz="1300" dirty="0"/>
          </a:p>
        </p:txBody>
      </p:sp>
      <p:sp>
        <p:nvSpPr>
          <p:cNvPr id="6" name="Shape 4"/>
          <p:cNvSpPr/>
          <p:nvPr/>
        </p:nvSpPr>
        <p:spPr>
          <a:xfrm>
            <a:off x="502920" y="2331720"/>
            <a:ext cx="2556434" cy="3566160"/>
          </a:xfrm>
          <a:prstGeom prst="roundRect">
            <a:avLst>
              <a:gd name="adj" fmla="val 2861"/>
            </a:avLst>
          </a:prstGeom>
          <a:solidFill>
            <a:srgbClr val="F7F9FD"/>
          </a:solidFill>
          <a:ln/>
        </p:spPr>
        <p:txBody>
          <a:bodyPr/>
          <a:lstStyle/>
          <a:p>
            <a:endParaRPr lang="en-IN"/>
          </a:p>
        </p:txBody>
      </p:sp>
      <p:sp>
        <p:nvSpPr>
          <p:cNvPr id="7" name="Shape 5"/>
          <p:cNvSpPr/>
          <p:nvPr/>
        </p:nvSpPr>
        <p:spPr>
          <a:xfrm>
            <a:off x="1461097" y="2606040"/>
            <a:ext cx="640080" cy="640080"/>
          </a:xfrm>
          <a:prstGeom prst="ellipse">
            <a:avLst/>
          </a:prstGeom>
          <a:solidFill>
            <a:srgbClr val="CADCFC"/>
          </a:solidFill>
          <a:ln/>
        </p:spPr>
        <p:txBody>
          <a:bodyPr/>
          <a:lstStyle/>
          <a:p>
            <a:endParaRPr lang="en-IN"/>
          </a:p>
        </p:txBody>
      </p:sp>
      <p:pic>
        <p:nvPicPr>
          <p:cNvPr id="8" name="Image 0" descr="/home/claude/apim_rfp/icon_cache/FaBullseye_1E2761_256.png"/>
          <p:cNvPicPr>
            <a:picLocks noChangeAspect="1"/>
          </p:cNvPicPr>
          <p:nvPr/>
        </p:nvPicPr>
        <p:blipFill>
          <a:blip r:embed="rId3"/>
          <a:stretch>
            <a:fillRect/>
          </a:stretch>
        </p:blipFill>
        <p:spPr>
          <a:xfrm>
            <a:off x="1627518" y="2772461"/>
            <a:ext cx="307238" cy="307238"/>
          </a:xfrm>
          <a:prstGeom prst="rect">
            <a:avLst/>
          </a:prstGeom>
        </p:spPr>
      </p:pic>
      <p:sp>
        <p:nvSpPr>
          <p:cNvPr id="9" name="Text 6"/>
          <p:cNvSpPr/>
          <p:nvPr/>
        </p:nvSpPr>
        <p:spPr>
          <a:xfrm>
            <a:off x="685800"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The Ask</a:t>
            </a:r>
            <a:endParaRPr lang="en-US" sz="1400" dirty="0"/>
          </a:p>
        </p:txBody>
      </p:sp>
      <p:sp>
        <p:nvSpPr>
          <p:cNvPr id="10" name="Text 7"/>
          <p:cNvSpPr/>
          <p:nvPr/>
        </p:nvSpPr>
        <p:spPr>
          <a:xfrm>
            <a:off x="704088"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Chaucer has no API layer today —They need an enterprise-grade API platform built from the ground up.</a:t>
            </a:r>
            <a:endParaRPr lang="en-US" sz="1150" dirty="0"/>
          </a:p>
        </p:txBody>
      </p:sp>
      <p:sp>
        <p:nvSpPr>
          <p:cNvPr id="11" name="Shape 8"/>
          <p:cNvSpPr/>
          <p:nvPr/>
        </p:nvSpPr>
        <p:spPr>
          <a:xfrm>
            <a:off x="3379394" y="2331720"/>
            <a:ext cx="2556434" cy="3566160"/>
          </a:xfrm>
          <a:prstGeom prst="roundRect">
            <a:avLst>
              <a:gd name="adj" fmla="val 2861"/>
            </a:avLst>
          </a:prstGeom>
          <a:solidFill>
            <a:srgbClr val="F7F9FD"/>
          </a:solidFill>
          <a:ln/>
        </p:spPr>
        <p:txBody>
          <a:bodyPr/>
          <a:lstStyle/>
          <a:p>
            <a:endParaRPr lang="en-IN"/>
          </a:p>
        </p:txBody>
      </p:sp>
      <p:sp>
        <p:nvSpPr>
          <p:cNvPr id="12" name="Shape 9"/>
          <p:cNvSpPr/>
          <p:nvPr/>
        </p:nvSpPr>
        <p:spPr>
          <a:xfrm>
            <a:off x="4337571" y="2606040"/>
            <a:ext cx="640080" cy="640080"/>
          </a:xfrm>
          <a:prstGeom prst="ellipse">
            <a:avLst/>
          </a:prstGeom>
          <a:solidFill>
            <a:srgbClr val="CADCFC"/>
          </a:solidFill>
          <a:ln/>
        </p:spPr>
        <p:txBody>
          <a:bodyPr/>
          <a:lstStyle/>
          <a:p>
            <a:endParaRPr lang="en-IN"/>
          </a:p>
        </p:txBody>
      </p:sp>
      <p:pic>
        <p:nvPicPr>
          <p:cNvPr id="13" name="Image 1" descr="/home/claude/apim_rfp/icon_cache/FaShieldAlt_1E2761_256.png"/>
          <p:cNvPicPr>
            <a:picLocks noChangeAspect="1"/>
          </p:cNvPicPr>
          <p:nvPr/>
        </p:nvPicPr>
        <p:blipFill>
          <a:blip r:embed="rId4"/>
          <a:stretch>
            <a:fillRect/>
          </a:stretch>
        </p:blipFill>
        <p:spPr>
          <a:xfrm>
            <a:off x="4503992" y="2772461"/>
            <a:ext cx="307238" cy="307238"/>
          </a:xfrm>
          <a:prstGeom prst="rect">
            <a:avLst/>
          </a:prstGeom>
        </p:spPr>
      </p:pic>
      <p:sp>
        <p:nvSpPr>
          <p:cNvPr id="14" name="Text 10"/>
          <p:cNvSpPr/>
          <p:nvPr/>
        </p:nvSpPr>
        <p:spPr>
          <a:xfrm>
            <a:off x="3562274"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Our Response</a:t>
            </a:r>
            <a:endParaRPr lang="en-US" sz="1400" dirty="0"/>
          </a:p>
        </p:txBody>
      </p:sp>
      <p:sp>
        <p:nvSpPr>
          <p:cNvPr id="15" name="Text 11"/>
          <p:cNvSpPr/>
          <p:nvPr/>
        </p:nvSpPr>
        <p:spPr>
          <a:xfrm>
            <a:off x="3580562"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A hardened Azure APIM landing zone with Entra ID, Key Vault, Zero Trust security, and APIOps-driven governance — delivered in a phased rollout.</a:t>
            </a:r>
            <a:endParaRPr lang="en-US" sz="1150" dirty="0"/>
          </a:p>
        </p:txBody>
      </p:sp>
      <p:sp>
        <p:nvSpPr>
          <p:cNvPr id="16" name="Shape 12"/>
          <p:cNvSpPr/>
          <p:nvPr/>
        </p:nvSpPr>
        <p:spPr>
          <a:xfrm>
            <a:off x="6255868" y="2331720"/>
            <a:ext cx="2556434" cy="3566160"/>
          </a:xfrm>
          <a:prstGeom prst="roundRect">
            <a:avLst>
              <a:gd name="adj" fmla="val 2861"/>
            </a:avLst>
          </a:prstGeom>
          <a:solidFill>
            <a:srgbClr val="F7F9FD"/>
          </a:solidFill>
          <a:ln/>
        </p:spPr>
        <p:txBody>
          <a:bodyPr/>
          <a:lstStyle/>
          <a:p>
            <a:endParaRPr lang="en-IN"/>
          </a:p>
        </p:txBody>
      </p:sp>
      <p:sp>
        <p:nvSpPr>
          <p:cNvPr id="17" name="Shape 13"/>
          <p:cNvSpPr/>
          <p:nvPr/>
        </p:nvSpPr>
        <p:spPr>
          <a:xfrm>
            <a:off x="7214044" y="2606040"/>
            <a:ext cx="640080" cy="640080"/>
          </a:xfrm>
          <a:prstGeom prst="ellipse">
            <a:avLst/>
          </a:prstGeom>
          <a:solidFill>
            <a:srgbClr val="CADCFC"/>
          </a:solidFill>
          <a:ln/>
        </p:spPr>
        <p:txBody>
          <a:bodyPr/>
          <a:lstStyle/>
          <a:p>
            <a:endParaRPr lang="en-IN"/>
          </a:p>
        </p:txBody>
      </p:sp>
      <p:pic>
        <p:nvPicPr>
          <p:cNvPr id="18" name="Image 2" descr="/home/claude/apim_rfp/icon_cache/FaChartLine_1E2761_256.png"/>
          <p:cNvPicPr>
            <a:picLocks noChangeAspect="1"/>
          </p:cNvPicPr>
          <p:nvPr/>
        </p:nvPicPr>
        <p:blipFill>
          <a:blip r:embed="rId5"/>
          <a:stretch>
            <a:fillRect/>
          </a:stretch>
        </p:blipFill>
        <p:spPr>
          <a:xfrm>
            <a:off x="7380465" y="2772461"/>
            <a:ext cx="307238" cy="307238"/>
          </a:xfrm>
          <a:prstGeom prst="rect">
            <a:avLst/>
          </a:prstGeom>
        </p:spPr>
      </p:pic>
      <p:sp>
        <p:nvSpPr>
          <p:cNvPr id="19" name="Text 14"/>
          <p:cNvSpPr/>
          <p:nvPr/>
        </p:nvSpPr>
        <p:spPr>
          <a:xfrm>
            <a:off x="6438748"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The Outcome</a:t>
            </a:r>
            <a:endParaRPr lang="en-US" sz="1400" dirty="0"/>
          </a:p>
        </p:txBody>
      </p:sp>
      <p:sp>
        <p:nvSpPr>
          <p:cNvPr id="20" name="Text 15"/>
          <p:cNvSpPr/>
          <p:nvPr/>
        </p:nvSpPr>
        <p:spPr>
          <a:xfrm>
            <a:off x="6457036"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Faster API onboarding, measurable risk reduction, audit-ready compliance, and a reusable</a:t>
            </a:r>
            <a:endParaRPr lang="en-US" sz="1150" dirty="0"/>
          </a:p>
        </p:txBody>
      </p:sp>
      <p:sp>
        <p:nvSpPr>
          <p:cNvPr id="21" name="Shape 16"/>
          <p:cNvSpPr/>
          <p:nvPr/>
        </p:nvSpPr>
        <p:spPr>
          <a:xfrm>
            <a:off x="9132341" y="2331720"/>
            <a:ext cx="2556434" cy="3566160"/>
          </a:xfrm>
          <a:prstGeom prst="roundRect">
            <a:avLst>
              <a:gd name="adj" fmla="val 2861"/>
            </a:avLst>
          </a:prstGeom>
          <a:solidFill>
            <a:srgbClr val="F7F9FD"/>
          </a:solidFill>
          <a:ln/>
        </p:spPr>
        <p:txBody>
          <a:bodyPr/>
          <a:lstStyle/>
          <a:p>
            <a:endParaRPr lang="en-IN"/>
          </a:p>
        </p:txBody>
      </p:sp>
      <p:sp>
        <p:nvSpPr>
          <p:cNvPr id="22" name="Shape 17"/>
          <p:cNvSpPr/>
          <p:nvPr/>
        </p:nvSpPr>
        <p:spPr>
          <a:xfrm>
            <a:off x="10090518" y="2606040"/>
            <a:ext cx="640080" cy="640080"/>
          </a:xfrm>
          <a:prstGeom prst="ellipse">
            <a:avLst/>
          </a:prstGeom>
          <a:solidFill>
            <a:srgbClr val="CADCFC"/>
          </a:solidFill>
          <a:ln/>
        </p:spPr>
        <p:txBody>
          <a:bodyPr/>
          <a:lstStyle/>
          <a:p>
            <a:endParaRPr lang="en-IN"/>
          </a:p>
        </p:txBody>
      </p:sp>
      <p:pic>
        <p:nvPicPr>
          <p:cNvPr id="23" name="Image 3" descr="/home/claude/apim_rfp/icon_cache/FaTrophy_1E2761_256.png"/>
          <p:cNvPicPr>
            <a:picLocks noChangeAspect="1"/>
          </p:cNvPicPr>
          <p:nvPr/>
        </p:nvPicPr>
        <p:blipFill>
          <a:blip r:embed="rId6"/>
          <a:stretch>
            <a:fillRect/>
          </a:stretch>
        </p:blipFill>
        <p:spPr>
          <a:xfrm>
            <a:off x="10256939" y="2772461"/>
            <a:ext cx="307238" cy="307238"/>
          </a:xfrm>
          <a:prstGeom prst="rect">
            <a:avLst/>
          </a:prstGeom>
        </p:spPr>
      </p:pic>
      <p:sp>
        <p:nvSpPr>
          <p:cNvPr id="24" name="Text 18"/>
          <p:cNvSpPr/>
          <p:nvPr/>
        </p:nvSpPr>
        <p:spPr>
          <a:xfrm>
            <a:off x="9315221"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Why Us</a:t>
            </a:r>
            <a:endParaRPr lang="en-US" sz="1400" dirty="0"/>
          </a:p>
        </p:txBody>
      </p:sp>
      <p:sp>
        <p:nvSpPr>
          <p:cNvPr id="25" name="Text 19"/>
          <p:cNvSpPr/>
          <p:nvPr/>
        </p:nvSpPr>
        <p:spPr>
          <a:xfrm>
            <a:off x="9333509"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Certified Azure integration specialists with delivered APIM programs in regulated Integration services, backed by </a:t>
            </a:r>
            <a:r>
              <a:rPr lang="en-US" sz="1150" dirty="0" err="1">
                <a:solidFill>
                  <a:srgbClr val="4A5578"/>
                </a:solidFill>
                <a:latin typeface="Calibri" pitchFamily="34" charset="0"/>
                <a:ea typeface="Calibri" pitchFamily="34" charset="-122"/>
                <a:cs typeface="Calibri" pitchFamily="34" charset="-120"/>
              </a:rPr>
              <a:t>APIOps</a:t>
            </a:r>
            <a:r>
              <a:rPr lang="en-US" sz="1150" dirty="0">
                <a:solidFill>
                  <a:srgbClr val="4A5578"/>
                </a:solidFill>
                <a:latin typeface="Calibri" pitchFamily="34" charset="0"/>
                <a:ea typeface="Calibri" pitchFamily="34" charset="-122"/>
                <a:cs typeface="Calibri" pitchFamily="34" charset="-120"/>
              </a:rPr>
              <a:t> automation.</a:t>
            </a:r>
            <a:endParaRPr lang="en-US" sz="1150" dirty="0"/>
          </a:p>
        </p:txBody>
      </p:sp>
      <p:sp>
        <p:nvSpPr>
          <p:cNvPr id="27" name="Text 2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Executive Overview</a:t>
            </a:r>
            <a:endParaRPr lang="en-US" sz="900" dirty="0"/>
          </a:p>
        </p:txBody>
      </p:sp>
      <p:sp>
        <p:nvSpPr>
          <p:cNvPr id="28" name="Text 2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9" name="Text 2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EXECUTIVE OVERVIEW</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Understanding Chaucer's Challenges</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Chaucer has no API layer today</a:t>
            </a:r>
            <a:endParaRPr lang="en-US" sz="1300" dirty="0"/>
          </a:p>
        </p:txBody>
      </p:sp>
      <p:sp>
        <p:nvSpPr>
          <p:cNvPr id="6" name="Shape 4"/>
          <p:cNvSpPr/>
          <p:nvPr/>
        </p:nvSpPr>
        <p:spPr>
          <a:xfrm>
            <a:off x="502920" y="2331720"/>
            <a:ext cx="5410048" cy="3749040"/>
          </a:xfrm>
          <a:prstGeom prst="roundRect">
            <a:avLst>
              <a:gd name="adj" fmla="val 1951"/>
            </a:avLst>
          </a:prstGeom>
          <a:solidFill>
            <a:srgbClr val="F7F9FD"/>
          </a:solidFill>
          <a:ln/>
        </p:spPr>
        <p:txBody>
          <a:bodyPr/>
          <a:lstStyle/>
          <a:p>
            <a:endParaRPr lang="en-IN"/>
          </a:p>
        </p:txBody>
      </p:sp>
      <p:sp>
        <p:nvSpPr>
          <p:cNvPr id="7" name="Text 5"/>
          <p:cNvSpPr/>
          <p:nvPr/>
        </p:nvSpPr>
        <p:spPr>
          <a:xfrm>
            <a:off x="731520" y="2514600"/>
            <a:ext cx="4952848" cy="411480"/>
          </a:xfrm>
          <a:prstGeom prst="rect">
            <a:avLst/>
          </a:prstGeom>
          <a:noFill/>
          <a:ln/>
        </p:spPr>
        <p:txBody>
          <a:bodyPr wrap="square" lIns="0" tIns="0" rIns="0" bIns="0" rtlCol="0" anchor="ctr"/>
          <a:lstStyle/>
          <a:p>
            <a:pPr marL="0" indent="0">
              <a:buNone/>
            </a:pPr>
            <a:r>
              <a:rPr lang="en-US" sz="1500" b="1" dirty="0">
                <a:solidFill>
                  <a:srgbClr val="C0392B"/>
                </a:solidFill>
                <a:latin typeface="Calibri" pitchFamily="34" charset="0"/>
                <a:ea typeface="Calibri" pitchFamily="34" charset="-122"/>
                <a:cs typeface="Calibri" pitchFamily="34" charset="-120"/>
              </a:rPr>
              <a:t>Current State</a:t>
            </a:r>
            <a:endParaRPr lang="en-US" sz="1500" dirty="0"/>
          </a:p>
        </p:txBody>
      </p:sp>
      <p:sp>
        <p:nvSpPr>
          <p:cNvPr id="8" name="Text 6"/>
          <p:cNvSpPr/>
          <p:nvPr/>
        </p:nvSpPr>
        <p:spPr>
          <a:xfrm>
            <a:off x="731520"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API gateway, catalog, or standard integration pattern exists today</a:t>
            </a:r>
            <a:endParaRPr lang="en-US" sz="1250" dirty="0"/>
          </a:p>
          <a:p>
            <a:pPr marL="342900" indent="-342900">
              <a:lnSpc>
                <a:spcPct val="120000"/>
              </a:lnSpc>
              <a:spcAft>
                <a:spcPts val="800"/>
              </a:spcAft>
              <a:buSzPct val="100000"/>
              <a:buChar char="•"/>
            </a:pPr>
            <a:r>
              <a:rPr lang="en-US" sz="1250" dirty="0">
                <a:solidFill>
                  <a:srgbClr val="FF0000"/>
                </a:solidFill>
                <a:latin typeface="Calibri" pitchFamily="34" charset="0"/>
                <a:ea typeface="Calibri" pitchFamily="34" charset="-122"/>
                <a:cs typeface="Calibri" pitchFamily="34" charset="-120"/>
              </a:rPr>
              <a:t>Systems connect via batch files, direct database links, and point-to-point custom code</a:t>
            </a:r>
            <a:endParaRPr lang="en-US" sz="1250" dirty="0">
              <a:solidFill>
                <a:srgbClr val="FF0000"/>
              </a:solidFill>
            </a:endParaRPr>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Every new integration is built and secured from scratch, with no reusable pattern</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consistent authentication model — access is granted system-by-system, ad hoc</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visibility into what data flows between systems or who consumes it</a:t>
            </a:r>
            <a:endParaRPr lang="en-US" sz="1250" dirty="0"/>
          </a:p>
        </p:txBody>
      </p:sp>
      <p:sp>
        <p:nvSpPr>
          <p:cNvPr id="9" name="Shape 7"/>
          <p:cNvSpPr/>
          <p:nvPr/>
        </p:nvSpPr>
        <p:spPr>
          <a:xfrm>
            <a:off x="6278728" y="2331720"/>
            <a:ext cx="5410048" cy="3749040"/>
          </a:xfrm>
          <a:prstGeom prst="roundRect">
            <a:avLst>
              <a:gd name="adj" fmla="val 1951"/>
            </a:avLst>
          </a:prstGeom>
          <a:solidFill>
            <a:srgbClr val="F7F9FD"/>
          </a:solidFill>
          <a:ln/>
        </p:spPr>
        <p:txBody>
          <a:bodyPr/>
          <a:lstStyle/>
          <a:p>
            <a:endParaRPr lang="en-IN"/>
          </a:p>
        </p:txBody>
      </p:sp>
      <p:sp>
        <p:nvSpPr>
          <p:cNvPr id="10" name="Text 8"/>
          <p:cNvSpPr/>
          <p:nvPr/>
        </p:nvSpPr>
        <p:spPr>
          <a:xfrm>
            <a:off x="6507328" y="2514600"/>
            <a:ext cx="4952848" cy="411480"/>
          </a:xfrm>
          <a:prstGeom prst="rect">
            <a:avLst/>
          </a:prstGeom>
          <a:noFill/>
          <a:ln/>
        </p:spPr>
        <p:txBody>
          <a:bodyPr wrap="square" lIns="0" tIns="0" rIns="0" bIns="0" rtlCol="0" anchor="ctr"/>
          <a:lstStyle/>
          <a:p>
            <a:pPr marL="0" indent="0">
              <a:buNone/>
            </a:pPr>
            <a:r>
              <a:rPr lang="en-US" sz="1500" b="1" dirty="0">
                <a:solidFill>
                  <a:srgbClr val="1E8E5A"/>
                </a:solidFill>
                <a:latin typeface="Calibri" pitchFamily="34" charset="0"/>
                <a:ea typeface="Calibri" pitchFamily="34" charset="-122"/>
                <a:cs typeface="Calibri" pitchFamily="34" charset="-120"/>
              </a:rPr>
              <a:t>Business Impact</a:t>
            </a:r>
            <a:endParaRPr lang="en-US" sz="1500" dirty="0"/>
          </a:p>
        </p:txBody>
      </p:sp>
      <p:sp>
        <p:nvSpPr>
          <p:cNvPr id="11" name="Text 9"/>
          <p:cNvSpPr/>
          <p:nvPr/>
        </p:nvSpPr>
        <p:spPr>
          <a:xfrm>
            <a:off x="6507328"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Cannot support api/service-oriented integrations without a modern API layer</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Every new digital initiative starts an integration project from zero</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safe way to expose data externally without building bespoke security each time</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Elevated risk from inconsistent, undocumented access to sensitive systems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foundation to scale to the forecasted growth in digital transaction volume</a:t>
            </a:r>
            <a:endParaRPr lang="en-US" sz="1250" dirty="0"/>
          </a:p>
        </p:txBody>
      </p:sp>
      <p:sp>
        <p:nvSpPr>
          <p:cNvPr id="13" name="Text 1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Executive Overview</a:t>
            </a:r>
            <a:endParaRPr lang="en-US" sz="900" dirty="0"/>
          </a:p>
        </p:txBody>
      </p:sp>
      <p:sp>
        <p:nvSpPr>
          <p:cNvPr id="14" name="Text 1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5" name="Text 1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EXECUTIVE OVERVIEW</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Proposed APIM Vision</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One control plane. One security model. Every API — internal, external, and partner — governed consistently on Azure API Management.</a:t>
            </a:r>
            <a:endParaRPr lang="en-US" sz="1300" dirty="0"/>
          </a:p>
        </p:txBody>
      </p:sp>
      <p:sp>
        <p:nvSpPr>
          <p:cNvPr id="6" name="Text 4"/>
          <p:cNvSpPr/>
          <p:nvPr/>
        </p:nvSpPr>
        <p:spPr>
          <a:xfrm>
            <a:off x="502920" y="2331720"/>
            <a:ext cx="6035040" cy="374904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Establish Azure APIM as the single enterprise API gateway and system of record for every published API</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Standardize authentication and authorization on Microsoft Entra ID and OAuth 2.0  across all channels</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Automate the full API lifecycle — design, publish, version, retire — through Git-based </a:t>
            </a:r>
            <a:r>
              <a:rPr lang="en-US" sz="1400" dirty="0" err="1">
                <a:solidFill>
                  <a:srgbClr val="4A5578"/>
                </a:solidFill>
                <a:latin typeface="Calibri" pitchFamily="34" charset="0"/>
                <a:ea typeface="Calibri" pitchFamily="34" charset="-122"/>
                <a:cs typeface="Calibri" pitchFamily="34" charset="-120"/>
              </a:rPr>
              <a:t>APIOps</a:t>
            </a:r>
            <a:r>
              <a:rPr lang="en-US" sz="1400" dirty="0">
                <a:solidFill>
                  <a:srgbClr val="4A5578"/>
                </a:solidFill>
                <a:latin typeface="Calibri" pitchFamily="34" charset="0"/>
                <a:ea typeface="Calibri" pitchFamily="34" charset="-122"/>
                <a:cs typeface="Calibri" pitchFamily="34" charset="-120"/>
              </a:rPr>
              <a:t> framework</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Enforce Zero Trust security at the edge: mutual TLS, WAF, private endpoints, and policy-based threat protection</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Give developers a self-service Developer Portal for discovery, subscription, and sandbox testing</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Build a platform that is AI- enabled and extensible to new consumption channels without re-architecture</a:t>
            </a:r>
            <a:endParaRPr lang="en-US" sz="1400" dirty="0"/>
          </a:p>
        </p:txBody>
      </p:sp>
      <p:sp>
        <p:nvSpPr>
          <p:cNvPr id="7" name="Shape 5"/>
          <p:cNvSpPr/>
          <p:nvPr/>
        </p:nvSpPr>
        <p:spPr>
          <a:xfrm>
            <a:off x="6903720" y="2386584"/>
            <a:ext cx="4785055" cy="772668"/>
          </a:xfrm>
          <a:prstGeom prst="roundRect">
            <a:avLst>
              <a:gd name="adj" fmla="val 7101"/>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6958584" y="2386584"/>
            <a:ext cx="4675327" cy="7726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Discover</a:t>
            </a:r>
            <a:endParaRPr lang="en-US" sz="1300" dirty="0"/>
          </a:p>
        </p:txBody>
      </p:sp>
      <p:sp>
        <p:nvSpPr>
          <p:cNvPr id="9" name="Shape 7"/>
          <p:cNvSpPr/>
          <p:nvPr/>
        </p:nvSpPr>
        <p:spPr>
          <a:xfrm>
            <a:off x="9296248" y="3159252"/>
            <a:ext cx="0" cy="164592"/>
          </a:xfrm>
          <a:prstGeom prst="line">
            <a:avLst/>
          </a:prstGeom>
          <a:noFill/>
          <a:ln w="19050">
            <a:solidFill>
              <a:srgbClr val="AAB4E0"/>
            </a:solidFill>
            <a:prstDash val="solid"/>
            <a:tailEnd type="triangle"/>
          </a:ln>
        </p:spPr>
        <p:txBody>
          <a:bodyPr/>
          <a:lstStyle/>
          <a:p>
            <a:endParaRPr lang="en-IN"/>
          </a:p>
        </p:txBody>
      </p:sp>
      <p:sp>
        <p:nvSpPr>
          <p:cNvPr id="10" name="Shape 8"/>
          <p:cNvSpPr/>
          <p:nvPr/>
        </p:nvSpPr>
        <p:spPr>
          <a:xfrm>
            <a:off x="6903720" y="3323844"/>
            <a:ext cx="4785055" cy="772668"/>
          </a:xfrm>
          <a:prstGeom prst="roundRect">
            <a:avLst>
              <a:gd name="adj" fmla="val 7101"/>
            </a:avLst>
          </a:prstGeom>
          <a:solidFill>
            <a:srgbClr val="0FB5AE"/>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11" name="Text 9"/>
          <p:cNvSpPr/>
          <p:nvPr/>
        </p:nvSpPr>
        <p:spPr>
          <a:xfrm>
            <a:off x="6958584" y="3323844"/>
            <a:ext cx="4675327" cy="7726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Secure</a:t>
            </a:r>
            <a:endParaRPr lang="en-US" sz="1300" dirty="0"/>
          </a:p>
        </p:txBody>
      </p:sp>
      <p:sp>
        <p:nvSpPr>
          <p:cNvPr id="12" name="Shape 10"/>
          <p:cNvSpPr/>
          <p:nvPr/>
        </p:nvSpPr>
        <p:spPr>
          <a:xfrm>
            <a:off x="9296248" y="4096512"/>
            <a:ext cx="0" cy="164592"/>
          </a:xfrm>
          <a:prstGeom prst="line">
            <a:avLst/>
          </a:prstGeom>
          <a:noFill/>
          <a:ln w="19050">
            <a:solidFill>
              <a:srgbClr val="AAB4E0"/>
            </a:solidFill>
            <a:prstDash val="solid"/>
            <a:tailEnd type="triangle"/>
          </a:ln>
        </p:spPr>
        <p:txBody>
          <a:bodyPr/>
          <a:lstStyle/>
          <a:p>
            <a:endParaRPr lang="en-IN"/>
          </a:p>
        </p:txBody>
      </p:sp>
      <p:sp>
        <p:nvSpPr>
          <p:cNvPr id="13" name="Shape 11"/>
          <p:cNvSpPr/>
          <p:nvPr/>
        </p:nvSpPr>
        <p:spPr>
          <a:xfrm>
            <a:off x="6903720" y="4261104"/>
            <a:ext cx="4785055" cy="772668"/>
          </a:xfrm>
          <a:prstGeom prst="roundRect">
            <a:avLst>
              <a:gd name="adj" fmla="val 7101"/>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6958584" y="4261104"/>
            <a:ext cx="4675327" cy="7726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Govern</a:t>
            </a:r>
            <a:endParaRPr lang="en-US" sz="1300" dirty="0"/>
          </a:p>
        </p:txBody>
      </p:sp>
      <p:sp>
        <p:nvSpPr>
          <p:cNvPr id="15" name="Shape 13"/>
          <p:cNvSpPr/>
          <p:nvPr/>
        </p:nvSpPr>
        <p:spPr>
          <a:xfrm>
            <a:off x="9296248" y="5033772"/>
            <a:ext cx="0" cy="164592"/>
          </a:xfrm>
          <a:prstGeom prst="line">
            <a:avLst/>
          </a:prstGeom>
          <a:noFill/>
          <a:ln w="19050">
            <a:solidFill>
              <a:srgbClr val="AAB4E0"/>
            </a:solidFill>
            <a:prstDash val="solid"/>
            <a:tailEnd type="triangle"/>
          </a:ln>
        </p:spPr>
        <p:txBody>
          <a:bodyPr/>
          <a:lstStyle/>
          <a:p>
            <a:endParaRPr lang="en-IN"/>
          </a:p>
        </p:txBody>
      </p:sp>
      <p:sp>
        <p:nvSpPr>
          <p:cNvPr id="16" name="Shape 14"/>
          <p:cNvSpPr/>
          <p:nvPr/>
        </p:nvSpPr>
        <p:spPr>
          <a:xfrm>
            <a:off x="6903720" y="5198364"/>
            <a:ext cx="4785055" cy="772668"/>
          </a:xfrm>
          <a:prstGeom prst="roundRect">
            <a:avLst>
              <a:gd name="adj" fmla="val 7101"/>
            </a:avLst>
          </a:prstGeom>
          <a:solidFill>
            <a:srgbClr val="0FB5AE"/>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17" name="Text 15"/>
          <p:cNvSpPr/>
          <p:nvPr/>
        </p:nvSpPr>
        <p:spPr>
          <a:xfrm>
            <a:off x="6958584" y="5198364"/>
            <a:ext cx="4675327" cy="7726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Scale</a:t>
            </a:r>
            <a:endParaRPr lang="en-US" sz="1300" dirty="0"/>
          </a:p>
        </p:txBody>
      </p:sp>
      <p:sp>
        <p:nvSpPr>
          <p:cNvPr id="19" name="Text 16"/>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Executive Overview</a:t>
            </a:r>
            <a:endParaRPr lang="en-US" sz="900" dirty="0"/>
          </a:p>
        </p:txBody>
      </p:sp>
      <p:sp>
        <p:nvSpPr>
          <p:cNvPr id="20" name="Text 17"/>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1" name="Text 18"/>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EXECUTIVE OVERVIEW</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Expected Business Outcomes</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The platform is designed against measurable outcomes Chaucer can hold us accountable to in the statement of work.</a:t>
            </a:r>
            <a:endParaRPr lang="en-US" sz="1300" dirty="0"/>
          </a:p>
        </p:txBody>
      </p:sp>
      <p:sp>
        <p:nvSpPr>
          <p:cNvPr id="6" name="Shape 4"/>
          <p:cNvSpPr/>
          <p:nvPr/>
        </p:nvSpPr>
        <p:spPr>
          <a:xfrm>
            <a:off x="502920" y="2377440"/>
            <a:ext cx="2590724" cy="2103120"/>
          </a:xfrm>
          <a:prstGeom prst="roundRect">
            <a:avLst>
              <a:gd name="adj" fmla="val 3478"/>
            </a:avLst>
          </a:prstGeom>
          <a:solidFill>
            <a:srgbClr val="1E2761"/>
          </a:solidFill>
          <a:ln/>
        </p:spPr>
        <p:txBody>
          <a:bodyPr/>
          <a:lstStyle/>
          <a:p>
            <a:endParaRPr lang="en-IN"/>
          </a:p>
        </p:txBody>
      </p:sp>
      <p:sp>
        <p:nvSpPr>
          <p:cNvPr id="7" name="Text 5"/>
          <p:cNvSpPr/>
          <p:nvPr/>
        </p:nvSpPr>
        <p:spPr>
          <a:xfrm>
            <a:off x="594360"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70%</a:t>
            </a:r>
            <a:endParaRPr lang="en-US" sz="3400" dirty="0"/>
          </a:p>
        </p:txBody>
      </p:sp>
      <p:sp>
        <p:nvSpPr>
          <p:cNvPr id="8" name="Text 6"/>
          <p:cNvSpPr/>
          <p:nvPr/>
        </p:nvSpPr>
        <p:spPr>
          <a:xfrm>
            <a:off x="640080"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Faster API onboarding, from weeks to days via self-service catalog</a:t>
            </a:r>
            <a:endParaRPr lang="en-US" sz="1150" dirty="0"/>
          </a:p>
        </p:txBody>
      </p:sp>
      <p:sp>
        <p:nvSpPr>
          <p:cNvPr id="9" name="Shape 7"/>
          <p:cNvSpPr/>
          <p:nvPr/>
        </p:nvSpPr>
        <p:spPr>
          <a:xfrm>
            <a:off x="3367964" y="2377440"/>
            <a:ext cx="2590724" cy="2103120"/>
          </a:xfrm>
          <a:prstGeom prst="roundRect">
            <a:avLst>
              <a:gd name="adj" fmla="val 3478"/>
            </a:avLst>
          </a:prstGeom>
          <a:solidFill>
            <a:srgbClr val="1E2761"/>
          </a:solidFill>
          <a:ln/>
        </p:spPr>
        <p:txBody>
          <a:bodyPr/>
          <a:lstStyle/>
          <a:p>
            <a:endParaRPr lang="en-IN"/>
          </a:p>
        </p:txBody>
      </p:sp>
      <p:sp>
        <p:nvSpPr>
          <p:cNvPr id="10" name="Text 8"/>
          <p:cNvSpPr/>
          <p:nvPr/>
        </p:nvSpPr>
        <p:spPr>
          <a:xfrm>
            <a:off x="3459404"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99.95%</a:t>
            </a:r>
            <a:endParaRPr lang="en-US" sz="3400" dirty="0"/>
          </a:p>
        </p:txBody>
      </p:sp>
      <p:sp>
        <p:nvSpPr>
          <p:cNvPr id="11" name="Text 9"/>
          <p:cNvSpPr/>
          <p:nvPr/>
        </p:nvSpPr>
        <p:spPr>
          <a:xfrm>
            <a:off x="3505124"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Target gateway availability with multi-region active-active design</a:t>
            </a:r>
            <a:endParaRPr lang="en-US" sz="1150" dirty="0"/>
          </a:p>
        </p:txBody>
      </p:sp>
      <p:sp>
        <p:nvSpPr>
          <p:cNvPr id="12" name="Shape 10"/>
          <p:cNvSpPr/>
          <p:nvPr/>
        </p:nvSpPr>
        <p:spPr>
          <a:xfrm>
            <a:off x="6233008" y="2377440"/>
            <a:ext cx="2590724" cy="2103120"/>
          </a:xfrm>
          <a:prstGeom prst="roundRect">
            <a:avLst>
              <a:gd name="adj" fmla="val 3478"/>
            </a:avLst>
          </a:prstGeom>
          <a:solidFill>
            <a:srgbClr val="1E2761"/>
          </a:solidFill>
          <a:ln/>
        </p:spPr>
        <p:txBody>
          <a:bodyPr/>
          <a:lstStyle/>
          <a:p>
            <a:endParaRPr lang="en-IN"/>
          </a:p>
        </p:txBody>
      </p:sp>
      <p:sp>
        <p:nvSpPr>
          <p:cNvPr id="13" name="Text 11"/>
          <p:cNvSpPr/>
          <p:nvPr/>
        </p:nvSpPr>
        <p:spPr>
          <a:xfrm>
            <a:off x="6324448"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100%</a:t>
            </a:r>
            <a:endParaRPr lang="en-US" sz="3400" dirty="0"/>
          </a:p>
        </p:txBody>
      </p:sp>
      <p:sp>
        <p:nvSpPr>
          <p:cNvPr id="14" name="Text 12"/>
          <p:cNvSpPr/>
          <p:nvPr/>
        </p:nvSpPr>
        <p:spPr>
          <a:xfrm>
            <a:off x="6370168"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Of published APIs enforced with OAuth 2.0 and centralized policy</a:t>
            </a:r>
            <a:endParaRPr lang="en-US" sz="1150" dirty="0"/>
          </a:p>
        </p:txBody>
      </p:sp>
      <p:sp>
        <p:nvSpPr>
          <p:cNvPr id="15" name="Shape 13"/>
          <p:cNvSpPr/>
          <p:nvPr/>
        </p:nvSpPr>
        <p:spPr>
          <a:xfrm>
            <a:off x="9098051" y="2377440"/>
            <a:ext cx="2590724" cy="2103120"/>
          </a:xfrm>
          <a:prstGeom prst="roundRect">
            <a:avLst>
              <a:gd name="adj" fmla="val 3478"/>
            </a:avLst>
          </a:prstGeom>
          <a:solidFill>
            <a:srgbClr val="1E2761"/>
          </a:solidFill>
          <a:ln/>
        </p:spPr>
        <p:txBody>
          <a:bodyPr/>
          <a:lstStyle/>
          <a:p>
            <a:endParaRPr lang="en-IN"/>
          </a:p>
        </p:txBody>
      </p:sp>
      <p:sp>
        <p:nvSpPr>
          <p:cNvPr id="16" name="Text 14"/>
          <p:cNvSpPr/>
          <p:nvPr/>
        </p:nvSpPr>
        <p:spPr>
          <a:xfrm>
            <a:off x="9189491"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1B+</a:t>
            </a:r>
            <a:endParaRPr lang="en-US" sz="3400" dirty="0"/>
          </a:p>
        </p:txBody>
      </p:sp>
      <p:sp>
        <p:nvSpPr>
          <p:cNvPr id="17" name="Text 15"/>
          <p:cNvSpPr/>
          <p:nvPr/>
        </p:nvSpPr>
        <p:spPr>
          <a:xfrm>
            <a:off x="9235211"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Monthly API calls supported at target-state scale without re-platforming</a:t>
            </a:r>
            <a:endParaRPr lang="en-US" sz="1150" dirty="0"/>
          </a:p>
        </p:txBody>
      </p:sp>
      <p:sp>
        <p:nvSpPr>
          <p:cNvPr id="18" name="Text 16"/>
          <p:cNvSpPr/>
          <p:nvPr/>
        </p:nvSpPr>
        <p:spPr>
          <a:xfrm>
            <a:off x="502920" y="4709160"/>
            <a:ext cx="11185855" cy="1188720"/>
          </a:xfrm>
          <a:prstGeom prst="rect">
            <a:avLst/>
          </a:prstGeom>
          <a:noFill/>
          <a:ln/>
        </p:spPr>
        <p:txBody>
          <a:bodyPr wrap="square" lIns="0" tIns="0" rIns="0" bIns="0" rtlCol="0" anchor="ctr"/>
          <a:lstStyle/>
          <a:p>
            <a:pPr marL="0" indent="0">
              <a:lnSpc>
                <a:spcPct val="125000"/>
              </a:lnSpc>
              <a:buNone/>
            </a:pPr>
            <a:r>
              <a:rPr lang="en-US" sz="1250" i="1" dirty="0">
                <a:solidFill>
                  <a:srgbClr val="4A5578"/>
                </a:solidFill>
                <a:latin typeface="Calibri" pitchFamily="34" charset="0"/>
                <a:ea typeface="Calibri" pitchFamily="34" charset="-122"/>
                <a:cs typeface="Calibri" pitchFamily="34" charset="-120"/>
              </a:rPr>
              <a:t>These targets are directional and will be finalized jointly during the discovery and architecture validation phase of implementation.</a:t>
            </a:r>
            <a:endParaRPr lang="en-US" sz="125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Executive Overview</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CURRENT STATE ASSESSMENT</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Management Maturity Assessment</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Chaucer starts at 'Non-Existent' — no API layer exists today. Our roadmap takes the organization to 'Managed' within 6 months and 'Optimized' within 12-18 months.</a:t>
            </a:r>
            <a:endParaRPr lang="en-US" sz="1300" dirty="0"/>
          </a:p>
        </p:txBody>
      </p:sp>
      <p:sp>
        <p:nvSpPr>
          <p:cNvPr id="6" name="Text 4"/>
          <p:cNvSpPr/>
          <p:nvPr/>
        </p:nvSpPr>
        <p:spPr>
          <a:xfrm>
            <a:off x="502920" y="2331720"/>
            <a:ext cx="6035040" cy="374904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0 — Non-Existent: no API gateway or catalog; integration is file-based or point-to-point (Chaucer today)</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1 — Foundational: a central gateway is stood up with baseline security (early implementation milestone)</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2 — Managed: consistent security, versioning, and lifecycle governance (target at go-live)</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3 — Optimized: self-service platform, full automation, API monetization (12-18 month target)</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4 — Strategic: APIs as products, ecosystem-driven innovation, AI-assisted API discovery</a:t>
            </a:r>
            <a:endParaRPr lang="en-US" sz="1400" dirty="0"/>
          </a:p>
        </p:txBody>
      </p:sp>
      <p:sp>
        <p:nvSpPr>
          <p:cNvPr id="7" name="Shape 5"/>
          <p:cNvSpPr/>
          <p:nvPr/>
        </p:nvSpPr>
        <p:spPr>
          <a:xfrm>
            <a:off x="6903720" y="5038344"/>
            <a:ext cx="865571" cy="676656"/>
          </a:xfrm>
          <a:prstGeom prst="rect">
            <a:avLst/>
          </a:prstGeom>
          <a:solidFill>
            <a:srgbClr val="C0392B"/>
          </a:solidFill>
          <a:ln/>
        </p:spPr>
        <p:txBody>
          <a:bodyPr/>
          <a:lstStyle/>
          <a:p>
            <a:endParaRPr lang="en-IN"/>
          </a:p>
        </p:txBody>
      </p:sp>
      <p:sp>
        <p:nvSpPr>
          <p:cNvPr id="8" name="Text 6"/>
          <p:cNvSpPr/>
          <p:nvPr/>
        </p:nvSpPr>
        <p:spPr>
          <a:xfrm>
            <a:off x="6858000"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Non-Existent</a:t>
            </a:r>
            <a:endParaRPr lang="en-US" sz="800" dirty="0"/>
          </a:p>
        </p:txBody>
      </p:sp>
      <p:sp>
        <p:nvSpPr>
          <p:cNvPr id="9" name="Shape 7"/>
          <p:cNvSpPr/>
          <p:nvPr/>
        </p:nvSpPr>
        <p:spPr>
          <a:xfrm>
            <a:off x="7860731" y="4361688"/>
            <a:ext cx="865571" cy="1353312"/>
          </a:xfrm>
          <a:prstGeom prst="rect">
            <a:avLst/>
          </a:prstGeom>
          <a:solidFill>
            <a:srgbClr val="C9D3EC"/>
          </a:solidFill>
          <a:ln/>
        </p:spPr>
        <p:txBody>
          <a:bodyPr/>
          <a:lstStyle/>
          <a:p>
            <a:endParaRPr lang="en-IN"/>
          </a:p>
        </p:txBody>
      </p:sp>
      <p:sp>
        <p:nvSpPr>
          <p:cNvPr id="10" name="Text 8"/>
          <p:cNvSpPr/>
          <p:nvPr/>
        </p:nvSpPr>
        <p:spPr>
          <a:xfrm>
            <a:off x="7815011"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Foundational</a:t>
            </a:r>
            <a:endParaRPr lang="en-US" sz="800" dirty="0"/>
          </a:p>
        </p:txBody>
      </p:sp>
      <p:sp>
        <p:nvSpPr>
          <p:cNvPr id="11" name="Shape 9"/>
          <p:cNvSpPr/>
          <p:nvPr/>
        </p:nvSpPr>
        <p:spPr>
          <a:xfrm>
            <a:off x="8817742" y="3685032"/>
            <a:ext cx="865571" cy="2029968"/>
          </a:xfrm>
          <a:prstGeom prst="rect">
            <a:avLst/>
          </a:prstGeom>
          <a:solidFill>
            <a:srgbClr val="F5A623"/>
          </a:solidFill>
          <a:ln/>
        </p:spPr>
        <p:txBody>
          <a:bodyPr/>
          <a:lstStyle/>
          <a:p>
            <a:endParaRPr lang="en-IN"/>
          </a:p>
        </p:txBody>
      </p:sp>
      <p:sp>
        <p:nvSpPr>
          <p:cNvPr id="12" name="Text 10"/>
          <p:cNvSpPr/>
          <p:nvPr/>
        </p:nvSpPr>
        <p:spPr>
          <a:xfrm>
            <a:off x="8772022"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Managed</a:t>
            </a:r>
            <a:endParaRPr lang="en-US" sz="800" dirty="0"/>
          </a:p>
        </p:txBody>
      </p:sp>
      <p:sp>
        <p:nvSpPr>
          <p:cNvPr id="13" name="Shape 11"/>
          <p:cNvSpPr/>
          <p:nvPr/>
        </p:nvSpPr>
        <p:spPr>
          <a:xfrm>
            <a:off x="9774753" y="3008376"/>
            <a:ext cx="865571" cy="2706624"/>
          </a:xfrm>
          <a:prstGeom prst="rect">
            <a:avLst/>
          </a:prstGeom>
          <a:solidFill>
            <a:srgbClr val="C9D3EC"/>
          </a:solidFill>
          <a:ln/>
        </p:spPr>
        <p:txBody>
          <a:bodyPr/>
          <a:lstStyle/>
          <a:p>
            <a:endParaRPr lang="en-IN"/>
          </a:p>
        </p:txBody>
      </p:sp>
      <p:sp>
        <p:nvSpPr>
          <p:cNvPr id="14" name="Text 12"/>
          <p:cNvSpPr/>
          <p:nvPr/>
        </p:nvSpPr>
        <p:spPr>
          <a:xfrm>
            <a:off x="9729033"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Optimized</a:t>
            </a:r>
            <a:endParaRPr lang="en-US" sz="800" dirty="0"/>
          </a:p>
        </p:txBody>
      </p:sp>
      <p:sp>
        <p:nvSpPr>
          <p:cNvPr id="15" name="Shape 13"/>
          <p:cNvSpPr/>
          <p:nvPr/>
        </p:nvSpPr>
        <p:spPr>
          <a:xfrm>
            <a:off x="10731764" y="2331720"/>
            <a:ext cx="865571" cy="3383280"/>
          </a:xfrm>
          <a:prstGeom prst="rect">
            <a:avLst/>
          </a:prstGeom>
          <a:solidFill>
            <a:srgbClr val="C9D3EC"/>
          </a:solidFill>
          <a:ln/>
        </p:spPr>
        <p:txBody>
          <a:bodyPr/>
          <a:lstStyle/>
          <a:p>
            <a:endParaRPr lang="en-IN"/>
          </a:p>
        </p:txBody>
      </p:sp>
      <p:sp>
        <p:nvSpPr>
          <p:cNvPr id="16" name="Text 14"/>
          <p:cNvSpPr/>
          <p:nvPr/>
        </p:nvSpPr>
        <p:spPr>
          <a:xfrm>
            <a:off x="10686044"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Strategic</a:t>
            </a:r>
            <a:endParaRPr lang="en-US" sz="800" dirty="0"/>
          </a:p>
        </p:txBody>
      </p:sp>
      <p:sp>
        <p:nvSpPr>
          <p:cNvPr id="18" name="Text 15"/>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Current State Assessment</a:t>
            </a:r>
            <a:endParaRPr lang="en-US" sz="900" dirty="0"/>
          </a:p>
        </p:txBody>
      </p:sp>
      <p:sp>
        <p:nvSpPr>
          <p:cNvPr id="19" name="Text 16"/>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0" name="Text 17"/>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03</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3</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APIM Proposed Architecture</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A single, governed gateway architecture spanning internal, external, partner, multi-region, and hybrid connectivity scenarios.</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3</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High-Level Azure APIM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 single governed gateway sits between every consumer and every backend — internal, external, or partner.</a:t>
            </a:r>
            <a:endParaRPr lang="en-US" sz="1200" dirty="0"/>
          </a:p>
        </p:txBody>
      </p:sp>
      <p:sp>
        <p:nvSpPr>
          <p:cNvPr id="5" name="Shape 3"/>
          <p:cNvSpPr/>
          <p:nvPr/>
        </p:nvSpPr>
        <p:spPr>
          <a:xfrm>
            <a:off x="502920" y="1828800"/>
            <a:ext cx="8625535" cy="960120"/>
          </a:xfrm>
          <a:prstGeom prst="roundRect">
            <a:avLst>
              <a:gd name="adj" fmla="val 5714"/>
            </a:avLst>
          </a:prstGeom>
          <a:solidFill>
            <a:srgbClr val="1E2761"/>
          </a:solidFill>
          <a:ln/>
        </p:spPr>
        <p:txBody>
          <a:bodyPr/>
          <a:lstStyle/>
          <a:p>
            <a:endParaRPr lang="en-IN"/>
          </a:p>
        </p:txBody>
      </p:sp>
      <p:sp>
        <p:nvSpPr>
          <p:cNvPr id="6" name="Text 4"/>
          <p:cNvSpPr/>
          <p:nvPr/>
        </p:nvSpPr>
        <p:spPr>
          <a:xfrm>
            <a:off x="640080" y="1828800"/>
            <a:ext cx="2377440" cy="9601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Consumers</a:t>
            </a:r>
            <a:endParaRPr lang="en-US" sz="1100" dirty="0"/>
          </a:p>
        </p:txBody>
      </p:sp>
      <p:sp>
        <p:nvSpPr>
          <p:cNvPr id="7" name="Shape 5"/>
          <p:cNvSpPr/>
          <p:nvPr/>
        </p:nvSpPr>
        <p:spPr>
          <a:xfrm>
            <a:off x="3154680" y="1965960"/>
            <a:ext cx="12801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3209544" y="1965960"/>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Web App</a:t>
            </a:r>
            <a:endParaRPr lang="en-US" sz="950" dirty="0"/>
          </a:p>
        </p:txBody>
      </p:sp>
      <p:sp>
        <p:nvSpPr>
          <p:cNvPr id="9" name="Shape 7"/>
          <p:cNvSpPr/>
          <p:nvPr/>
        </p:nvSpPr>
        <p:spPr>
          <a:xfrm>
            <a:off x="4572000" y="1965960"/>
            <a:ext cx="12801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4626864" y="1965960"/>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Mobile App</a:t>
            </a:r>
            <a:endParaRPr lang="en-US" sz="950" dirty="0"/>
          </a:p>
        </p:txBody>
      </p:sp>
      <p:sp>
        <p:nvSpPr>
          <p:cNvPr id="11" name="Shape 9"/>
          <p:cNvSpPr/>
          <p:nvPr/>
        </p:nvSpPr>
        <p:spPr>
          <a:xfrm>
            <a:off x="5989320" y="1965960"/>
            <a:ext cx="12801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044184" y="1965960"/>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Partner System</a:t>
            </a:r>
            <a:endParaRPr lang="en-US" sz="950" dirty="0"/>
          </a:p>
        </p:txBody>
      </p:sp>
      <p:sp>
        <p:nvSpPr>
          <p:cNvPr id="13" name="Shape 11"/>
          <p:cNvSpPr/>
          <p:nvPr/>
        </p:nvSpPr>
        <p:spPr>
          <a:xfrm>
            <a:off x="7406640" y="1965960"/>
            <a:ext cx="12801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7461504" y="1965960"/>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Internal Service</a:t>
            </a:r>
            <a:endParaRPr lang="en-US" sz="950" dirty="0"/>
          </a:p>
        </p:txBody>
      </p:sp>
      <p:sp>
        <p:nvSpPr>
          <p:cNvPr id="15" name="Shape 13"/>
          <p:cNvSpPr/>
          <p:nvPr/>
        </p:nvSpPr>
        <p:spPr>
          <a:xfrm>
            <a:off x="4815688" y="2788920"/>
            <a:ext cx="0" cy="164592"/>
          </a:xfrm>
          <a:prstGeom prst="line">
            <a:avLst/>
          </a:prstGeom>
          <a:noFill/>
          <a:ln w="19050">
            <a:solidFill>
              <a:srgbClr val="1E2761"/>
            </a:solidFill>
            <a:prstDash val="solid"/>
            <a:tailEnd type="triangle"/>
          </a:ln>
        </p:spPr>
        <p:txBody>
          <a:bodyPr/>
          <a:lstStyle/>
          <a:p>
            <a:endParaRPr lang="en-IN"/>
          </a:p>
        </p:txBody>
      </p:sp>
      <p:sp>
        <p:nvSpPr>
          <p:cNvPr id="16" name="Shape 14"/>
          <p:cNvSpPr/>
          <p:nvPr/>
        </p:nvSpPr>
        <p:spPr>
          <a:xfrm>
            <a:off x="502920" y="2999232"/>
            <a:ext cx="8625535" cy="960120"/>
          </a:xfrm>
          <a:prstGeom prst="roundRect">
            <a:avLst>
              <a:gd name="adj" fmla="val 5714"/>
            </a:avLst>
          </a:prstGeom>
          <a:solidFill>
            <a:srgbClr val="0FB5AE"/>
          </a:solidFill>
          <a:ln/>
        </p:spPr>
        <p:txBody>
          <a:bodyPr/>
          <a:lstStyle/>
          <a:p>
            <a:endParaRPr lang="en-IN"/>
          </a:p>
        </p:txBody>
      </p:sp>
      <p:sp>
        <p:nvSpPr>
          <p:cNvPr id="17" name="Text 15"/>
          <p:cNvSpPr/>
          <p:nvPr/>
        </p:nvSpPr>
        <p:spPr>
          <a:xfrm>
            <a:off x="640080" y="2999232"/>
            <a:ext cx="2377440" cy="9601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Edge Security</a:t>
            </a:r>
            <a:endParaRPr lang="en-US" sz="1100" dirty="0"/>
          </a:p>
        </p:txBody>
      </p:sp>
      <p:sp>
        <p:nvSpPr>
          <p:cNvPr id="18" name="Shape 16"/>
          <p:cNvSpPr/>
          <p:nvPr/>
        </p:nvSpPr>
        <p:spPr>
          <a:xfrm>
            <a:off x="3154680" y="3136392"/>
            <a:ext cx="1737360" cy="685800"/>
          </a:xfrm>
          <a:prstGeom prst="roundRect">
            <a:avLst>
              <a:gd name="adj" fmla="val 8000"/>
            </a:avLst>
          </a:prstGeom>
          <a:solidFill>
            <a:srgbClr val="E7FBFA"/>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19" name="Text 17"/>
          <p:cNvSpPr/>
          <p:nvPr/>
        </p:nvSpPr>
        <p:spPr>
          <a:xfrm>
            <a:off x="3209544" y="3136392"/>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Azure Front Door</a:t>
            </a:r>
            <a:endParaRPr lang="en-US" sz="950" dirty="0"/>
          </a:p>
        </p:txBody>
      </p:sp>
      <p:sp>
        <p:nvSpPr>
          <p:cNvPr id="20" name="Shape 18"/>
          <p:cNvSpPr/>
          <p:nvPr/>
        </p:nvSpPr>
        <p:spPr>
          <a:xfrm>
            <a:off x="5029200" y="3136392"/>
            <a:ext cx="1737360" cy="685800"/>
          </a:xfrm>
          <a:prstGeom prst="roundRect">
            <a:avLst>
              <a:gd name="adj" fmla="val 8000"/>
            </a:avLst>
          </a:prstGeom>
          <a:solidFill>
            <a:srgbClr val="E7FBFA"/>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21" name="Text 19"/>
          <p:cNvSpPr/>
          <p:nvPr/>
        </p:nvSpPr>
        <p:spPr>
          <a:xfrm>
            <a:off x="5084064" y="3136392"/>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Web Application Firewall</a:t>
            </a:r>
            <a:endParaRPr lang="en-US" sz="950" dirty="0"/>
          </a:p>
        </p:txBody>
      </p:sp>
      <p:sp>
        <p:nvSpPr>
          <p:cNvPr id="22" name="Shape 20"/>
          <p:cNvSpPr/>
          <p:nvPr/>
        </p:nvSpPr>
        <p:spPr>
          <a:xfrm>
            <a:off x="6903720" y="3136392"/>
            <a:ext cx="1737360" cy="685800"/>
          </a:xfrm>
          <a:prstGeom prst="roundRect">
            <a:avLst>
              <a:gd name="adj" fmla="val 8000"/>
            </a:avLst>
          </a:prstGeom>
          <a:solidFill>
            <a:srgbClr val="E7FBFA"/>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21"/>
          <p:cNvSpPr/>
          <p:nvPr/>
        </p:nvSpPr>
        <p:spPr>
          <a:xfrm>
            <a:off x="6958584" y="3136392"/>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Private / Public Endpoints</a:t>
            </a:r>
            <a:endParaRPr lang="en-US" sz="950" dirty="0"/>
          </a:p>
        </p:txBody>
      </p:sp>
      <p:sp>
        <p:nvSpPr>
          <p:cNvPr id="24" name="Shape 22"/>
          <p:cNvSpPr/>
          <p:nvPr/>
        </p:nvSpPr>
        <p:spPr>
          <a:xfrm>
            <a:off x="4815688" y="3959352"/>
            <a:ext cx="0" cy="164592"/>
          </a:xfrm>
          <a:prstGeom prst="line">
            <a:avLst/>
          </a:prstGeom>
          <a:noFill/>
          <a:ln w="19050">
            <a:solidFill>
              <a:srgbClr val="1E2761"/>
            </a:solidFill>
            <a:prstDash val="solid"/>
            <a:tailEnd type="triangle"/>
          </a:ln>
        </p:spPr>
        <p:txBody>
          <a:bodyPr/>
          <a:lstStyle/>
          <a:p>
            <a:endParaRPr lang="en-IN"/>
          </a:p>
        </p:txBody>
      </p:sp>
      <p:sp>
        <p:nvSpPr>
          <p:cNvPr id="25" name="Shape 23"/>
          <p:cNvSpPr/>
          <p:nvPr/>
        </p:nvSpPr>
        <p:spPr>
          <a:xfrm>
            <a:off x="502920" y="4169664"/>
            <a:ext cx="8625535" cy="960120"/>
          </a:xfrm>
          <a:prstGeom prst="roundRect">
            <a:avLst>
              <a:gd name="adj" fmla="val 5714"/>
            </a:avLst>
          </a:prstGeom>
          <a:solidFill>
            <a:srgbClr val="1E2761"/>
          </a:solidFill>
          <a:ln/>
        </p:spPr>
        <p:txBody>
          <a:bodyPr/>
          <a:lstStyle/>
          <a:p>
            <a:endParaRPr lang="en-IN"/>
          </a:p>
        </p:txBody>
      </p:sp>
      <p:sp>
        <p:nvSpPr>
          <p:cNvPr id="26" name="Text 24"/>
          <p:cNvSpPr/>
          <p:nvPr/>
        </p:nvSpPr>
        <p:spPr>
          <a:xfrm>
            <a:off x="640080" y="4169664"/>
            <a:ext cx="2377440" cy="9601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Azure API Management</a:t>
            </a:r>
            <a:endParaRPr lang="en-US" sz="1100" dirty="0"/>
          </a:p>
        </p:txBody>
      </p:sp>
      <p:sp>
        <p:nvSpPr>
          <p:cNvPr id="27" name="Shape 25"/>
          <p:cNvSpPr/>
          <p:nvPr/>
        </p:nvSpPr>
        <p:spPr>
          <a:xfrm>
            <a:off x="3154680" y="4306824"/>
            <a:ext cx="1280160"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8" name="Text 26"/>
          <p:cNvSpPr/>
          <p:nvPr/>
        </p:nvSpPr>
        <p:spPr>
          <a:xfrm>
            <a:off x="3209544" y="4306824"/>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Gateway</a:t>
            </a:r>
            <a:endParaRPr lang="en-US" sz="950" dirty="0"/>
          </a:p>
        </p:txBody>
      </p:sp>
      <p:sp>
        <p:nvSpPr>
          <p:cNvPr id="29" name="Shape 27"/>
          <p:cNvSpPr/>
          <p:nvPr/>
        </p:nvSpPr>
        <p:spPr>
          <a:xfrm>
            <a:off x="4572000" y="4306824"/>
            <a:ext cx="1280160"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0" name="Text 28"/>
          <p:cNvSpPr/>
          <p:nvPr/>
        </p:nvSpPr>
        <p:spPr>
          <a:xfrm>
            <a:off x="4626864" y="4306824"/>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Policies</a:t>
            </a:r>
            <a:endParaRPr lang="en-US" sz="950" dirty="0"/>
          </a:p>
        </p:txBody>
      </p:sp>
      <p:sp>
        <p:nvSpPr>
          <p:cNvPr id="31" name="Shape 29"/>
          <p:cNvSpPr/>
          <p:nvPr/>
        </p:nvSpPr>
        <p:spPr>
          <a:xfrm>
            <a:off x="5989320" y="4306824"/>
            <a:ext cx="1280160"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2" name="Text 30"/>
          <p:cNvSpPr/>
          <p:nvPr/>
        </p:nvSpPr>
        <p:spPr>
          <a:xfrm>
            <a:off x="6044184" y="4306824"/>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Developer Portal</a:t>
            </a:r>
            <a:endParaRPr lang="en-US" sz="950" dirty="0"/>
          </a:p>
        </p:txBody>
      </p:sp>
      <p:sp>
        <p:nvSpPr>
          <p:cNvPr id="33" name="Shape 31"/>
          <p:cNvSpPr/>
          <p:nvPr/>
        </p:nvSpPr>
        <p:spPr>
          <a:xfrm>
            <a:off x="7406640" y="4306824"/>
            <a:ext cx="1280160"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4" name="Text 32"/>
          <p:cNvSpPr/>
          <p:nvPr/>
        </p:nvSpPr>
        <p:spPr>
          <a:xfrm>
            <a:off x="7461504" y="4306824"/>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Products / APIs</a:t>
            </a:r>
            <a:endParaRPr lang="en-US" sz="950" dirty="0"/>
          </a:p>
        </p:txBody>
      </p:sp>
      <p:sp>
        <p:nvSpPr>
          <p:cNvPr id="35" name="Shape 33"/>
          <p:cNvSpPr/>
          <p:nvPr/>
        </p:nvSpPr>
        <p:spPr>
          <a:xfrm>
            <a:off x="4815688" y="5129784"/>
            <a:ext cx="0" cy="164592"/>
          </a:xfrm>
          <a:prstGeom prst="line">
            <a:avLst/>
          </a:prstGeom>
          <a:noFill/>
          <a:ln w="19050">
            <a:solidFill>
              <a:srgbClr val="1E2761"/>
            </a:solidFill>
            <a:prstDash val="solid"/>
            <a:tailEnd type="triangle"/>
          </a:ln>
        </p:spPr>
        <p:txBody>
          <a:bodyPr/>
          <a:lstStyle/>
          <a:p>
            <a:endParaRPr lang="en-IN"/>
          </a:p>
        </p:txBody>
      </p:sp>
      <p:sp>
        <p:nvSpPr>
          <p:cNvPr id="36" name="Shape 34"/>
          <p:cNvSpPr/>
          <p:nvPr/>
        </p:nvSpPr>
        <p:spPr>
          <a:xfrm>
            <a:off x="502920" y="5340096"/>
            <a:ext cx="8625535" cy="960120"/>
          </a:xfrm>
          <a:prstGeom prst="roundRect">
            <a:avLst>
              <a:gd name="adj" fmla="val 5714"/>
            </a:avLst>
          </a:prstGeom>
          <a:solidFill>
            <a:srgbClr val="4A5578"/>
          </a:solidFill>
          <a:ln/>
        </p:spPr>
        <p:txBody>
          <a:bodyPr/>
          <a:lstStyle/>
          <a:p>
            <a:endParaRPr lang="en-IN"/>
          </a:p>
        </p:txBody>
      </p:sp>
      <p:sp>
        <p:nvSpPr>
          <p:cNvPr id="37" name="Text 35"/>
          <p:cNvSpPr/>
          <p:nvPr/>
        </p:nvSpPr>
        <p:spPr>
          <a:xfrm>
            <a:off x="640080" y="5340096"/>
            <a:ext cx="2377440" cy="9601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Backends</a:t>
            </a:r>
            <a:endParaRPr lang="en-US" sz="1100" dirty="0"/>
          </a:p>
        </p:txBody>
      </p:sp>
      <p:sp>
        <p:nvSpPr>
          <p:cNvPr id="38" name="Shape 36"/>
          <p:cNvSpPr/>
          <p:nvPr/>
        </p:nvSpPr>
        <p:spPr>
          <a:xfrm>
            <a:off x="3154680" y="5477256"/>
            <a:ext cx="17373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9" name="Text 37"/>
          <p:cNvSpPr/>
          <p:nvPr/>
        </p:nvSpPr>
        <p:spPr>
          <a:xfrm>
            <a:off x="3209544" y="5477256"/>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Microservices </a:t>
            </a:r>
            <a:endParaRPr lang="en-US" sz="950" dirty="0"/>
          </a:p>
        </p:txBody>
      </p:sp>
      <p:sp>
        <p:nvSpPr>
          <p:cNvPr id="40" name="Shape 38"/>
          <p:cNvSpPr/>
          <p:nvPr/>
        </p:nvSpPr>
        <p:spPr>
          <a:xfrm>
            <a:off x="5029200" y="5477256"/>
            <a:ext cx="17373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41" name="Text 39"/>
          <p:cNvSpPr/>
          <p:nvPr/>
        </p:nvSpPr>
        <p:spPr>
          <a:xfrm>
            <a:off x="5084064" y="5477256"/>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SaaS</a:t>
            </a:r>
            <a:endParaRPr lang="en-US" sz="950" dirty="0"/>
          </a:p>
        </p:txBody>
      </p:sp>
      <p:sp>
        <p:nvSpPr>
          <p:cNvPr id="42" name="Shape 40"/>
          <p:cNvSpPr/>
          <p:nvPr/>
        </p:nvSpPr>
        <p:spPr>
          <a:xfrm>
            <a:off x="6903720" y="5477256"/>
            <a:ext cx="17373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43" name="Text 41"/>
          <p:cNvSpPr/>
          <p:nvPr/>
        </p:nvSpPr>
        <p:spPr>
          <a:xfrm>
            <a:off x="6958584" y="5477256"/>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 Partner APIs</a:t>
            </a:r>
            <a:endParaRPr lang="en-US" sz="950" dirty="0"/>
          </a:p>
        </p:txBody>
      </p:sp>
      <p:sp>
        <p:nvSpPr>
          <p:cNvPr id="44" name="Shape 42"/>
          <p:cNvSpPr/>
          <p:nvPr/>
        </p:nvSpPr>
        <p:spPr>
          <a:xfrm>
            <a:off x="9402775" y="2999232"/>
            <a:ext cx="2286000" cy="960120"/>
          </a:xfrm>
          <a:prstGeom prst="roundRect">
            <a:avLst>
              <a:gd name="adj" fmla="val 5714"/>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45" name="Text 43"/>
          <p:cNvSpPr/>
          <p:nvPr/>
        </p:nvSpPr>
        <p:spPr>
          <a:xfrm>
            <a:off x="9457639" y="2999232"/>
            <a:ext cx="2176272" cy="96012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Microsoft Entra ID</a:t>
            </a:r>
            <a:endParaRPr lang="en-US" sz="1050" dirty="0"/>
          </a:p>
          <a:p>
            <a:pPr marL="0" indent="0" algn="ctr">
              <a:buNone/>
            </a:pPr>
            <a:r>
              <a:rPr lang="en-US" sz="850" dirty="0">
                <a:solidFill>
                  <a:srgbClr val="4A5578"/>
                </a:solidFill>
                <a:latin typeface="Calibri" pitchFamily="34" charset="0"/>
                <a:ea typeface="Calibri" pitchFamily="34" charset="-122"/>
                <a:cs typeface="Calibri" pitchFamily="34" charset="-120"/>
              </a:rPr>
              <a:t>Identity &amp; OAuth 2.0</a:t>
            </a:r>
            <a:endParaRPr lang="en-US" sz="1050" dirty="0"/>
          </a:p>
        </p:txBody>
      </p:sp>
      <p:sp>
        <p:nvSpPr>
          <p:cNvPr id="46" name="Shape 44"/>
          <p:cNvSpPr/>
          <p:nvPr/>
        </p:nvSpPr>
        <p:spPr>
          <a:xfrm>
            <a:off x="9146743" y="3479292"/>
            <a:ext cx="256032" cy="0"/>
          </a:xfrm>
          <a:prstGeom prst="line">
            <a:avLst/>
          </a:prstGeom>
          <a:noFill/>
          <a:ln w="19050">
            <a:solidFill>
              <a:srgbClr val="F5A623"/>
            </a:solidFill>
            <a:prstDash val="solid"/>
            <a:tailEnd type="triangle"/>
          </a:ln>
        </p:spPr>
        <p:txBody>
          <a:bodyPr/>
          <a:lstStyle/>
          <a:p>
            <a:endParaRPr lang="en-IN"/>
          </a:p>
        </p:txBody>
      </p:sp>
      <p:sp>
        <p:nvSpPr>
          <p:cNvPr id="47" name="Shape 45"/>
          <p:cNvSpPr/>
          <p:nvPr/>
        </p:nvSpPr>
        <p:spPr>
          <a:xfrm>
            <a:off x="9402775" y="4169664"/>
            <a:ext cx="2286000" cy="960120"/>
          </a:xfrm>
          <a:prstGeom prst="roundRect">
            <a:avLst>
              <a:gd name="adj" fmla="val 5714"/>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48" name="Text 46"/>
          <p:cNvSpPr/>
          <p:nvPr/>
        </p:nvSpPr>
        <p:spPr>
          <a:xfrm>
            <a:off x="9457639" y="4169664"/>
            <a:ext cx="2176272" cy="96012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Azure Key Vault</a:t>
            </a:r>
            <a:endParaRPr lang="en-US" sz="1050" dirty="0"/>
          </a:p>
          <a:p>
            <a:pPr marL="0" indent="0" algn="ctr">
              <a:buNone/>
            </a:pPr>
            <a:r>
              <a:rPr lang="en-US" sz="850" dirty="0">
                <a:solidFill>
                  <a:srgbClr val="4A5578"/>
                </a:solidFill>
                <a:latin typeface="Calibri" pitchFamily="34" charset="0"/>
                <a:ea typeface="Calibri" pitchFamily="34" charset="-122"/>
                <a:cs typeface="Calibri" pitchFamily="34" charset="-120"/>
              </a:rPr>
              <a:t>Secrets &amp; Certificates</a:t>
            </a:r>
            <a:endParaRPr lang="en-US" sz="1050" dirty="0"/>
          </a:p>
        </p:txBody>
      </p:sp>
      <p:sp>
        <p:nvSpPr>
          <p:cNvPr id="49" name="Shape 47"/>
          <p:cNvSpPr/>
          <p:nvPr/>
        </p:nvSpPr>
        <p:spPr>
          <a:xfrm>
            <a:off x="9146743" y="4649724"/>
            <a:ext cx="256032" cy="0"/>
          </a:xfrm>
          <a:prstGeom prst="line">
            <a:avLst/>
          </a:prstGeom>
          <a:noFill/>
          <a:ln w="19050">
            <a:solidFill>
              <a:srgbClr val="F5A623"/>
            </a:solidFill>
            <a:prstDash val="solid"/>
            <a:tailEnd type="triangle"/>
          </a:ln>
        </p:spPr>
        <p:txBody>
          <a:bodyPr/>
          <a:lstStyle/>
          <a:p>
            <a:endParaRPr lang="en-IN"/>
          </a:p>
        </p:txBody>
      </p:sp>
      <p:sp>
        <p:nvSpPr>
          <p:cNvPr id="51" name="Text 48"/>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52" name="Text 49"/>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53" name="Text 50"/>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Lifecycle Management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Every API moves through the same governed lifecycle, from design to retirement, with no manual hand-offs.</a:t>
            </a:r>
            <a:endParaRPr lang="en-US" sz="1200" dirty="0"/>
          </a:p>
        </p:txBody>
      </p:sp>
      <p:sp>
        <p:nvSpPr>
          <p:cNvPr id="5" name="Shape 3"/>
          <p:cNvSpPr/>
          <p:nvPr/>
        </p:nvSpPr>
        <p:spPr>
          <a:xfrm>
            <a:off x="1074420" y="2240280"/>
            <a:ext cx="274320" cy="274320"/>
          </a:xfrm>
          <a:prstGeom prst="ellipse">
            <a:avLst/>
          </a:prstGeom>
          <a:solidFill>
            <a:srgbClr val="F5A623"/>
          </a:solidFill>
          <a:ln/>
        </p:spPr>
        <p:txBody>
          <a:bodyPr/>
          <a:lstStyle/>
          <a:p>
            <a:endParaRPr lang="en-IN"/>
          </a:p>
        </p:txBody>
      </p:sp>
      <p:sp>
        <p:nvSpPr>
          <p:cNvPr id="6" name="Text 4"/>
          <p:cNvSpPr/>
          <p:nvPr/>
        </p:nvSpPr>
        <p:spPr>
          <a:xfrm>
            <a:off x="1074420"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Shape 5"/>
          <p:cNvSpPr/>
          <p:nvPr/>
        </p:nvSpPr>
        <p:spPr>
          <a:xfrm>
            <a:off x="502920"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Design</a:t>
            </a:r>
            <a:endParaRPr lang="en-US" sz="1100" dirty="0"/>
          </a:p>
        </p:txBody>
      </p:sp>
      <p:sp>
        <p:nvSpPr>
          <p:cNvPr id="9" name="Shape 7"/>
          <p:cNvSpPr/>
          <p:nvPr/>
        </p:nvSpPr>
        <p:spPr>
          <a:xfrm>
            <a:off x="1920240" y="3200400"/>
            <a:ext cx="210769" cy="0"/>
          </a:xfrm>
          <a:prstGeom prst="line">
            <a:avLst/>
          </a:prstGeom>
          <a:noFill/>
          <a:ln w="19050">
            <a:solidFill>
              <a:srgbClr val="1E2761"/>
            </a:solidFill>
            <a:prstDash val="solid"/>
            <a:tailEnd type="triangle"/>
          </a:ln>
        </p:spPr>
        <p:txBody>
          <a:bodyPr/>
          <a:lstStyle/>
          <a:p>
            <a:endParaRPr lang="en-IN"/>
          </a:p>
        </p:txBody>
      </p:sp>
      <p:sp>
        <p:nvSpPr>
          <p:cNvPr id="10" name="Shape 8"/>
          <p:cNvSpPr/>
          <p:nvPr/>
        </p:nvSpPr>
        <p:spPr>
          <a:xfrm>
            <a:off x="2702509" y="2240280"/>
            <a:ext cx="274320" cy="274320"/>
          </a:xfrm>
          <a:prstGeom prst="ellipse">
            <a:avLst/>
          </a:prstGeom>
          <a:solidFill>
            <a:srgbClr val="F5A623"/>
          </a:solidFill>
          <a:ln/>
        </p:spPr>
        <p:txBody>
          <a:bodyPr/>
          <a:lstStyle/>
          <a:p>
            <a:endParaRPr lang="en-IN"/>
          </a:p>
        </p:txBody>
      </p:sp>
      <p:sp>
        <p:nvSpPr>
          <p:cNvPr id="11" name="Text 9"/>
          <p:cNvSpPr/>
          <p:nvPr/>
        </p:nvSpPr>
        <p:spPr>
          <a:xfrm>
            <a:off x="2702509"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2131009"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3" name="Text 11"/>
          <p:cNvSpPr/>
          <p:nvPr/>
        </p:nvSpPr>
        <p:spPr>
          <a:xfrm>
            <a:off x="2185873"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Develop</a:t>
            </a:r>
            <a:endParaRPr lang="en-US" sz="1100" dirty="0"/>
          </a:p>
        </p:txBody>
      </p:sp>
      <p:sp>
        <p:nvSpPr>
          <p:cNvPr id="14" name="Shape 12"/>
          <p:cNvSpPr/>
          <p:nvPr/>
        </p:nvSpPr>
        <p:spPr>
          <a:xfrm>
            <a:off x="3548329" y="3200400"/>
            <a:ext cx="210769" cy="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4330598" y="2240280"/>
            <a:ext cx="274320" cy="274320"/>
          </a:xfrm>
          <a:prstGeom prst="ellipse">
            <a:avLst/>
          </a:prstGeom>
          <a:solidFill>
            <a:srgbClr val="F5A623"/>
          </a:solidFill>
          <a:ln/>
        </p:spPr>
        <p:txBody>
          <a:bodyPr/>
          <a:lstStyle/>
          <a:p>
            <a:endParaRPr lang="en-IN"/>
          </a:p>
        </p:txBody>
      </p:sp>
      <p:sp>
        <p:nvSpPr>
          <p:cNvPr id="16" name="Text 14"/>
          <p:cNvSpPr/>
          <p:nvPr/>
        </p:nvSpPr>
        <p:spPr>
          <a:xfrm>
            <a:off x="4330598"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Shape 15"/>
          <p:cNvSpPr/>
          <p:nvPr/>
        </p:nvSpPr>
        <p:spPr>
          <a:xfrm>
            <a:off x="3759098"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3813962"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Test</a:t>
            </a:r>
            <a:endParaRPr lang="en-US" sz="1100" dirty="0"/>
          </a:p>
        </p:txBody>
      </p:sp>
      <p:sp>
        <p:nvSpPr>
          <p:cNvPr id="19" name="Shape 17"/>
          <p:cNvSpPr/>
          <p:nvPr/>
        </p:nvSpPr>
        <p:spPr>
          <a:xfrm>
            <a:off x="5176418" y="3200400"/>
            <a:ext cx="210769" cy="0"/>
          </a:xfrm>
          <a:prstGeom prst="line">
            <a:avLst/>
          </a:prstGeom>
          <a:noFill/>
          <a:ln w="19050">
            <a:solidFill>
              <a:srgbClr val="1E2761"/>
            </a:solidFill>
            <a:prstDash val="solid"/>
            <a:tailEnd type="triangle"/>
          </a:ln>
        </p:spPr>
        <p:txBody>
          <a:bodyPr/>
          <a:lstStyle/>
          <a:p>
            <a:endParaRPr lang="en-IN"/>
          </a:p>
        </p:txBody>
      </p:sp>
      <p:sp>
        <p:nvSpPr>
          <p:cNvPr id="20" name="Shape 18"/>
          <p:cNvSpPr/>
          <p:nvPr/>
        </p:nvSpPr>
        <p:spPr>
          <a:xfrm>
            <a:off x="5958688" y="2240280"/>
            <a:ext cx="274320" cy="274320"/>
          </a:xfrm>
          <a:prstGeom prst="ellipse">
            <a:avLst/>
          </a:prstGeom>
          <a:solidFill>
            <a:srgbClr val="F5A623"/>
          </a:solidFill>
          <a:ln/>
        </p:spPr>
        <p:txBody>
          <a:bodyPr/>
          <a:lstStyle/>
          <a:p>
            <a:endParaRPr lang="en-IN"/>
          </a:p>
        </p:txBody>
      </p:sp>
      <p:sp>
        <p:nvSpPr>
          <p:cNvPr id="21" name="Text 19"/>
          <p:cNvSpPr/>
          <p:nvPr/>
        </p:nvSpPr>
        <p:spPr>
          <a:xfrm>
            <a:off x="5958688"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Shape 20"/>
          <p:cNvSpPr/>
          <p:nvPr/>
        </p:nvSpPr>
        <p:spPr>
          <a:xfrm>
            <a:off x="5387188"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21"/>
          <p:cNvSpPr/>
          <p:nvPr/>
        </p:nvSpPr>
        <p:spPr>
          <a:xfrm>
            <a:off x="5442052"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Publish</a:t>
            </a:r>
            <a:endParaRPr lang="en-US" sz="1100" dirty="0"/>
          </a:p>
        </p:txBody>
      </p:sp>
      <p:sp>
        <p:nvSpPr>
          <p:cNvPr id="24" name="Shape 22"/>
          <p:cNvSpPr/>
          <p:nvPr/>
        </p:nvSpPr>
        <p:spPr>
          <a:xfrm>
            <a:off x="6804508" y="3200400"/>
            <a:ext cx="210769" cy="0"/>
          </a:xfrm>
          <a:prstGeom prst="line">
            <a:avLst/>
          </a:prstGeom>
          <a:noFill/>
          <a:ln w="19050">
            <a:solidFill>
              <a:srgbClr val="1E2761"/>
            </a:solidFill>
            <a:prstDash val="solid"/>
            <a:tailEnd type="triangle"/>
          </a:ln>
        </p:spPr>
        <p:txBody>
          <a:bodyPr/>
          <a:lstStyle/>
          <a:p>
            <a:endParaRPr lang="en-IN"/>
          </a:p>
        </p:txBody>
      </p:sp>
      <p:sp>
        <p:nvSpPr>
          <p:cNvPr id="25" name="Shape 23"/>
          <p:cNvSpPr/>
          <p:nvPr/>
        </p:nvSpPr>
        <p:spPr>
          <a:xfrm>
            <a:off x="7586777" y="2240280"/>
            <a:ext cx="274320" cy="274320"/>
          </a:xfrm>
          <a:prstGeom prst="ellipse">
            <a:avLst/>
          </a:prstGeom>
          <a:solidFill>
            <a:srgbClr val="F5A623"/>
          </a:solidFill>
          <a:ln/>
        </p:spPr>
        <p:txBody>
          <a:bodyPr/>
          <a:lstStyle/>
          <a:p>
            <a:endParaRPr lang="en-IN"/>
          </a:p>
        </p:txBody>
      </p:sp>
      <p:sp>
        <p:nvSpPr>
          <p:cNvPr id="26" name="Text 24"/>
          <p:cNvSpPr/>
          <p:nvPr/>
        </p:nvSpPr>
        <p:spPr>
          <a:xfrm>
            <a:off x="7586777"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Shape 25"/>
          <p:cNvSpPr/>
          <p:nvPr/>
        </p:nvSpPr>
        <p:spPr>
          <a:xfrm>
            <a:off x="7015277"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8" name="Text 26"/>
          <p:cNvSpPr/>
          <p:nvPr/>
        </p:nvSpPr>
        <p:spPr>
          <a:xfrm>
            <a:off x="7070141"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Version</a:t>
            </a:r>
            <a:endParaRPr lang="en-US" sz="1100" dirty="0"/>
          </a:p>
        </p:txBody>
      </p:sp>
      <p:sp>
        <p:nvSpPr>
          <p:cNvPr id="29" name="Shape 27"/>
          <p:cNvSpPr/>
          <p:nvPr/>
        </p:nvSpPr>
        <p:spPr>
          <a:xfrm>
            <a:off x="8432597" y="3200400"/>
            <a:ext cx="210769" cy="0"/>
          </a:xfrm>
          <a:prstGeom prst="line">
            <a:avLst/>
          </a:prstGeom>
          <a:noFill/>
          <a:ln w="19050">
            <a:solidFill>
              <a:srgbClr val="1E2761"/>
            </a:solidFill>
            <a:prstDash val="solid"/>
            <a:tailEnd type="triangle"/>
          </a:ln>
        </p:spPr>
        <p:txBody>
          <a:bodyPr/>
          <a:lstStyle/>
          <a:p>
            <a:endParaRPr lang="en-IN"/>
          </a:p>
        </p:txBody>
      </p:sp>
      <p:sp>
        <p:nvSpPr>
          <p:cNvPr id="30" name="Shape 28"/>
          <p:cNvSpPr/>
          <p:nvPr/>
        </p:nvSpPr>
        <p:spPr>
          <a:xfrm>
            <a:off x="9214866" y="2240280"/>
            <a:ext cx="274320" cy="274320"/>
          </a:xfrm>
          <a:prstGeom prst="ellipse">
            <a:avLst/>
          </a:prstGeom>
          <a:solidFill>
            <a:srgbClr val="F5A623"/>
          </a:solidFill>
          <a:ln/>
        </p:spPr>
        <p:txBody>
          <a:bodyPr/>
          <a:lstStyle/>
          <a:p>
            <a:endParaRPr lang="en-IN"/>
          </a:p>
        </p:txBody>
      </p:sp>
      <p:sp>
        <p:nvSpPr>
          <p:cNvPr id="31" name="Text 29"/>
          <p:cNvSpPr/>
          <p:nvPr/>
        </p:nvSpPr>
        <p:spPr>
          <a:xfrm>
            <a:off x="9214866"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Shape 30"/>
          <p:cNvSpPr/>
          <p:nvPr/>
        </p:nvSpPr>
        <p:spPr>
          <a:xfrm>
            <a:off x="8643366"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3" name="Text 31"/>
          <p:cNvSpPr/>
          <p:nvPr/>
        </p:nvSpPr>
        <p:spPr>
          <a:xfrm>
            <a:off x="8698230"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Monitor</a:t>
            </a:r>
            <a:endParaRPr lang="en-US" sz="1100" dirty="0"/>
          </a:p>
        </p:txBody>
      </p:sp>
      <p:sp>
        <p:nvSpPr>
          <p:cNvPr id="34" name="Shape 32"/>
          <p:cNvSpPr/>
          <p:nvPr/>
        </p:nvSpPr>
        <p:spPr>
          <a:xfrm>
            <a:off x="10060686" y="3200400"/>
            <a:ext cx="210769" cy="0"/>
          </a:xfrm>
          <a:prstGeom prst="line">
            <a:avLst/>
          </a:prstGeom>
          <a:noFill/>
          <a:ln w="19050">
            <a:solidFill>
              <a:srgbClr val="1E2761"/>
            </a:solidFill>
            <a:prstDash val="solid"/>
            <a:tailEnd type="triangle"/>
          </a:ln>
        </p:spPr>
        <p:txBody>
          <a:bodyPr/>
          <a:lstStyle/>
          <a:p>
            <a:endParaRPr lang="en-IN"/>
          </a:p>
        </p:txBody>
      </p:sp>
      <p:sp>
        <p:nvSpPr>
          <p:cNvPr id="35" name="Shape 33"/>
          <p:cNvSpPr/>
          <p:nvPr/>
        </p:nvSpPr>
        <p:spPr>
          <a:xfrm>
            <a:off x="10842955" y="2240280"/>
            <a:ext cx="274320" cy="274320"/>
          </a:xfrm>
          <a:prstGeom prst="ellipse">
            <a:avLst/>
          </a:prstGeom>
          <a:solidFill>
            <a:srgbClr val="F5A623"/>
          </a:solidFill>
          <a:ln/>
        </p:spPr>
        <p:txBody>
          <a:bodyPr/>
          <a:lstStyle/>
          <a:p>
            <a:endParaRPr lang="en-IN"/>
          </a:p>
        </p:txBody>
      </p:sp>
      <p:sp>
        <p:nvSpPr>
          <p:cNvPr id="36" name="Text 34"/>
          <p:cNvSpPr/>
          <p:nvPr/>
        </p:nvSpPr>
        <p:spPr>
          <a:xfrm>
            <a:off x="10842955"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Shape 35"/>
          <p:cNvSpPr/>
          <p:nvPr/>
        </p:nvSpPr>
        <p:spPr>
          <a:xfrm>
            <a:off x="10271455"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8" name="Text 36"/>
          <p:cNvSpPr/>
          <p:nvPr/>
        </p:nvSpPr>
        <p:spPr>
          <a:xfrm>
            <a:off x="10326319"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Retire</a:t>
            </a:r>
            <a:endParaRPr lang="en-US" sz="1100" dirty="0"/>
          </a:p>
        </p:txBody>
      </p:sp>
      <p:sp>
        <p:nvSpPr>
          <p:cNvPr id="39" name="Shape 37"/>
          <p:cNvSpPr/>
          <p:nvPr/>
        </p:nvSpPr>
        <p:spPr>
          <a:xfrm>
            <a:off x="1211580" y="4206240"/>
            <a:ext cx="9768535" cy="0"/>
          </a:xfrm>
          <a:prstGeom prst="line">
            <a:avLst/>
          </a:prstGeom>
          <a:noFill/>
          <a:ln w="19050">
            <a:solidFill>
              <a:srgbClr val="F5A623"/>
            </a:solidFill>
            <a:prstDash val="dash"/>
            <a:tailEnd type="triangle"/>
          </a:ln>
        </p:spPr>
        <p:txBody>
          <a:bodyPr/>
          <a:lstStyle/>
          <a:p>
            <a:endParaRPr lang="en-IN"/>
          </a:p>
        </p:txBody>
      </p:sp>
      <p:sp>
        <p:nvSpPr>
          <p:cNvPr id="40" name="Text 38"/>
          <p:cNvSpPr/>
          <p:nvPr/>
        </p:nvSpPr>
        <p:spPr>
          <a:xfrm>
            <a:off x="502920" y="4389120"/>
            <a:ext cx="11185855" cy="365760"/>
          </a:xfrm>
          <a:prstGeom prst="rect">
            <a:avLst/>
          </a:prstGeom>
          <a:noFill/>
          <a:ln/>
        </p:spPr>
        <p:txBody>
          <a:bodyPr wrap="square" lIns="0" tIns="0" rIns="0" bIns="0" rtlCol="0" anchor="ctr"/>
          <a:lstStyle/>
          <a:p>
            <a:pPr marL="0" indent="0" algn="ctr">
              <a:buNone/>
            </a:pPr>
            <a:r>
              <a:rPr lang="en-US" sz="1050" i="1" dirty="0">
                <a:solidFill>
                  <a:srgbClr val="4A5578"/>
                </a:solidFill>
              </a:rPr>
              <a:t>Feedback loop: usage analytics inform the next design cycle</a:t>
            </a:r>
            <a:endParaRPr lang="en-US" sz="1050" dirty="0"/>
          </a:p>
        </p:txBody>
      </p:sp>
      <p:sp>
        <p:nvSpPr>
          <p:cNvPr id="42" name="Text 39"/>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43" name="Text 40"/>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44" name="Text 41"/>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Internal API Access Model</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Internal consumers reach services only through APIM's internal VNet mode — no direct backend access.</a:t>
            </a:r>
            <a:endParaRPr lang="en-US" sz="1200" dirty="0"/>
          </a:p>
        </p:txBody>
      </p:sp>
      <p:sp>
        <p:nvSpPr>
          <p:cNvPr id="5" name="Shape 3"/>
          <p:cNvSpPr/>
          <p:nvPr/>
        </p:nvSpPr>
        <p:spPr>
          <a:xfrm>
            <a:off x="502920" y="2194560"/>
            <a:ext cx="237744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94560"/>
            <a:ext cx="2267712" cy="82296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Internal Applications</a:t>
            </a:r>
            <a:endParaRPr lang="en-US" sz="1100" dirty="0"/>
          </a:p>
        </p:txBody>
      </p:sp>
      <p:sp>
        <p:nvSpPr>
          <p:cNvPr id="7" name="Shape 5"/>
          <p:cNvSpPr/>
          <p:nvPr/>
        </p:nvSpPr>
        <p:spPr>
          <a:xfrm>
            <a:off x="2880360" y="2606040"/>
            <a:ext cx="82296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3703320" y="2194560"/>
            <a:ext cx="2377440" cy="822960"/>
          </a:xfrm>
          <a:prstGeom prst="roundRect">
            <a:avLst>
              <a:gd name="adj" fmla="val 6667"/>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3758184" y="2194560"/>
            <a:ext cx="2267712"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APIM (Internal VNet Mode)</a:t>
            </a:r>
            <a:endParaRPr lang="en-US" sz="1100" dirty="0"/>
          </a:p>
        </p:txBody>
      </p:sp>
      <p:sp>
        <p:nvSpPr>
          <p:cNvPr id="10" name="Shape 8"/>
          <p:cNvSpPr/>
          <p:nvPr/>
        </p:nvSpPr>
        <p:spPr>
          <a:xfrm>
            <a:off x="6080760" y="2606040"/>
            <a:ext cx="82296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6903720" y="2194560"/>
            <a:ext cx="237744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958584" y="2194560"/>
            <a:ext cx="2267712" cy="82296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Internal Microservices</a:t>
            </a:r>
            <a:endParaRPr lang="en-US" sz="1100" dirty="0"/>
          </a:p>
        </p:txBody>
      </p:sp>
      <p:sp>
        <p:nvSpPr>
          <p:cNvPr id="13" name="Shape 11"/>
          <p:cNvSpPr/>
          <p:nvPr/>
        </p:nvSpPr>
        <p:spPr>
          <a:xfrm>
            <a:off x="3703320" y="3566160"/>
            <a:ext cx="237744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3758184" y="3566160"/>
            <a:ext cx="2267712" cy="73152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Entra ID (client credentials)</a:t>
            </a:r>
            <a:endParaRPr lang="en-US" sz="1000" dirty="0"/>
          </a:p>
        </p:txBody>
      </p:sp>
      <p:sp>
        <p:nvSpPr>
          <p:cNvPr id="15" name="Shape 13"/>
          <p:cNvSpPr/>
          <p:nvPr/>
        </p:nvSpPr>
        <p:spPr>
          <a:xfrm>
            <a:off x="4892040" y="3017520"/>
            <a:ext cx="0" cy="548640"/>
          </a:xfrm>
          <a:prstGeom prst="line">
            <a:avLst/>
          </a:prstGeom>
          <a:noFill/>
          <a:ln w="19050">
            <a:solidFill>
              <a:srgbClr val="F5A623"/>
            </a:solidFill>
            <a:prstDash val="solid"/>
            <a:tailEnd type="triangle"/>
          </a:ln>
        </p:spPr>
        <p:txBody>
          <a:bodyPr/>
          <a:lstStyle/>
          <a:p>
            <a:endParaRPr lang="en-IN"/>
          </a:p>
        </p:txBody>
      </p:sp>
      <p:sp>
        <p:nvSpPr>
          <p:cNvPr id="16" name="Text 14"/>
          <p:cNvSpPr/>
          <p:nvPr/>
        </p:nvSpPr>
        <p:spPr>
          <a:xfrm>
            <a:off x="502920" y="4572000"/>
            <a:ext cx="11185855" cy="5486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Access rule:  </a:t>
            </a:r>
            <a:r>
              <a:rPr lang="en-US" sz="1200" dirty="0">
                <a:solidFill>
                  <a:srgbClr val="4A5578"/>
                </a:solidFill>
                <a:latin typeface="Calibri" pitchFamily="34" charset="0"/>
                <a:ea typeface="Calibri" pitchFamily="34" charset="-122"/>
                <a:cs typeface="Calibri" pitchFamily="34" charset="-120"/>
              </a:rPr>
              <a:t>no internal service is reachable except through the APIM gateway; network security groups block all other paths.</a:t>
            </a:r>
            <a:endParaRPr lang="en-US" sz="1200" dirty="0"/>
          </a:p>
        </p:txBody>
      </p:sp>
      <p:sp>
        <p:nvSpPr>
          <p:cNvPr id="18" name="Text 15"/>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19" name="Text 16"/>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0" name="Text 17"/>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External API Access Model</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Public consumers are inspected, authenticated, and rate-limited before ever reaching a backend service.</a:t>
            </a:r>
            <a:endParaRPr lang="en-US" sz="1200" dirty="0"/>
          </a:p>
        </p:txBody>
      </p:sp>
      <p:sp>
        <p:nvSpPr>
          <p:cNvPr id="5" name="Shape 3"/>
          <p:cNvSpPr/>
          <p:nvPr/>
        </p:nvSpPr>
        <p:spPr>
          <a:xfrm>
            <a:off x="502920" y="2194560"/>
            <a:ext cx="2590724"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94560"/>
            <a:ext cx="2480996"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Public Clients</a:t>
            </a:r>
            <a:endParaRPr lang="en-US" sz="1050" dirty="0"/>
          </a:p>
        </p:txBody>
      </p:sp>
      <p:sp>
        <p:nvSpPr>
          <p:cNvPr id="7" name="Shape 5"/>
          <p:cNvSpPr/>
          <p:nvPr/>
        </p:nvSpPr>
        <p:spPr>
          <a:xfrm>
            <a:off x="3093644" y="2606040"/>
            <a:ext cx="27432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3367964" y="2194560"/>
            <a:ext cx="2590724"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3422828" y="2194560"/>
            <a:ext cx="2480996"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Front Door + WAF</a:t>
            </a:r>
            <a:endParaRPr lang="en-US" sz="1050" dirty="0"/>
          </a:p>
        </p:txBody>
      </p:sp>
      <p:sp>
        <p:nvSpPr>
          <p:cNvPr id="10" name="Shape 8"/>
          <p:cNvSpPr/>
          <p:nvPr/>
        </p:nvSpPr>
        <p:spPr>
          <a:xfrm>
            <a:off x="5958688" y="2606040"/>
            <a:ext cx="27432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6233008" y="2194560"/>
            <a:ext cx="2590724" cy="822960"/>
          </a:xfrm>
          <a:prstGeom prst="roundRect">
            <a:avLst>
              <a:gd name="adj" fmla="val 6667"/>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287872" y="2194560"/>
            <a:ext cx="2480996" cy="8229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APIM (External)</a:t>
            </a:r>
            <a:endParaRPr lang="en-US" sz="1050" dirty="0"/>
          </a:p>
        </p:txBody>
      </p:sp>
      <p:sp>
        <p:nvSpPr>
          <p:cNvPr id="13" name="Shape 11"/>
          <p:cNvSpPr/>
          <p:nvPr/>
        </p:nvSpPr>
        <p:spPr>
          <a:xfrm>
            <a:off x="8823731" y="2606040"/>
            <a:ext cx="274320" cy="0"/>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9098051" y="2194560"/>
            <a:ext cx="2590724"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5" name="Text 13"/>
          <p:cNvSpPr/>
          <p:nvPr/>
        </p:nvSpPr>
        <p:spPr>
          <a:xfrm>
            <a:off x="9152915" y="2194560"/>
            <a:ext cx="2480996"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Backend via Private Link</a:t>
            </a:r>
            <a:endParaRPr lang="en-US" sz="1050" dirty="0"/>
          </a:p>
        </p:txBody>
      </p:sp>
      <p:sp>
        <p:nvSpPr>
          <p:cNvPr id="16" name="Text 14"/>
          <p:cNvSpPr/>
          <p:nvPr/>
        </p:nvSpPr>
        <p:spPr>
          <a:xfrm>
            <a:off x="3276524" y="3154680"/>
            <a:ext cx="2956484" cy="457200"/>
          </a:xfrm>
          <a:prstGeom prst="rect">
            <a:avLst/>
          </a:prstGeom>
          <a:noFill/>
          <a:ln/>
        </p:spPr>
        <p:txBody>
          <a:bodyPr wrap="square" lIns="0" tIns="0" rIns="0" bIns="0" rtlCol="0" anchor="ctr"/>
          <a:lstStyle/>
          <a:p>
            <a:pPr marL="0" indent="0" algn="ctr">
              <a:buNone/>
            </a:pPr>
            <a:r>
              <a:rPr lang="en-US" sz="900" i="1" dirty="0">
                <a:solidFill>
                  <a:srgbClr val="4A5578"/>
                </a:solidFill>
                <a:latin typeface="Calibri" pitchFamily="34" charset="0"/>
                <a:ea typeface="Calibri" pitchFamily="34" charset="-122"/>
                <a:cs typeface="Calibri" pitchFamily="34" charset="-120"/>
              </a:rPr>
              <a:t>TLS termination + OWASP rules</a:t>
            </a:r>
            <a:endParaRPr lang="en-US" sz="900" dirty="0"/>
          </a:p>
        </p:txBody>
      </p:sp>
      <p:sp>
        <p:nvSpPr>
          <p:cNvPr id="17" name="Text 15"/>
          <p:cNvSpPr/>
          <p:nvPr/>
        </p:nvSpPr>
        <p:spPr>
          <a:xfrm>
            <a:off x="6141568" y="3154680"/>
            <a:ext cx="2956484" cy="457200"/>
          </a:xfrm>
          <a:prstGeom prst="rect">
            <a:avLst/>
          </a:prstGeom>
          <a:noFill/>
          <a:ln/>
        </p:spPr>
        <p:txBody>
          <a:bodyPr wrap="square" lIns="0" tIns="0" rIns="0" bIns="0" rtlCol="0" anchor="ctr"/>
          <a:lstStyle/>
          <a:p>
            <a:pPr marL="0" indent="0" algn="ctr">
              <a:buNone/>
            </a:pPr>
            <a:r>
              <a:rPr lang="en-US" sz="900" i="1" dirty="0">
                <a:solidFill>
                  <a:srgbClr val="4A5578"/>
                </a:solidFill>
                <a:latin typeface="Calibri" pitchFamily="34" charset="0"/>
                <a:ea typeface="Calibri" pitchFamily="34" charset="-122"/>
                <a:cs typeface="Calibri" pitchFamily="34" charset="-120"/>
              </a:rPr>
              <a:t>OAuth 2.0 + rate limiting + IP policies</a:t>
            </a:r>
            <a:endParaRPr lang="en-US" sz="900" dirty="0"/>
          </a:p>
        </p:txBody>
      </p:sp>
      <p:sp>
        <p:nvSpPr>
          <p:cNvPr id="18" name="Text 16"/>
          <p:cNvSpPr/>
          <p:nvPr/>
        </p:nvSpPr>
        <p:spPr>
          <a:xfrm>
            <a:off x="9006611" y="3154680"/>
            <a:ext cx="2956484" cy="457200"/>
          </a:xfrm>
          <a:prstGeom prst="rect">
            <a:avLst/>
          </a:prstGeom>
          <a:noFill/>
          <a:ln/>
        </p:spPr>
        <p:txBody>
          <a:bodyPr wrap="square" lIns="0" tIns="0" rIns="0" bIns="0" rtlCol="0" anchor="ctr"/>
          <a:lstStyle/>
          <a:p>
            <a:pPr marL="0" indent="0" algn="ctr">
              <a:buNone/>
            </a:pPr>
            <a:r>
              <a:rPr lang="en-US" sz="900" i="1" dirty="0">
                <a:solidFill>
                  <a:srgbClr val="4A5578"/>
                </a:solidFill>
                <a:latin typeface="Calibri" pitchFamily="34" charset="0"/>
                <a:ea typeface="Calibri" pitchFamily="34" charset="-122"/>
                <a:cs typeface="Calibri" pitchFamily="34" charset="-120"/>
              </a:rPr>
              <a:t>No public IP on backend</a:t>
            </a:r>
            <a:endParaRPr lang="en-US" sz="90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Multi-Region APIM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Active-active regions behind Azure Front Door deliver resilience and low-latency access across geographies.</a:t>
            </a:r>
            <a:endParaRPr lang="en-US" sz="1200" dirty="0"/>
          </a:p>
        </p:txBody>
      </p:sp>
      <p:sp>
        <p:nvSpPr>
          <p:cNvPr id="5" name="Shape 3"/>
          <p:cNvSpPr/>
          <p:nvPr/>
        </p:nvSpPr>
        <p:spPr>
          <a:xfrm>
            <a:off x="4632808" y="1920240"/>
            <a:ext cx="2926080" cy="685800"/>
          </a:xfrm>
          <a:prstGeom prst="roundRect">
            <a:avLst>
              <a:gd name="adj" fmla="val 8000"/>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4687672" y="1920240"/>
            <a:ext cx="2816352" cy="6858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Front Door (Global)</a:t>
            </a:r>
            <a:endParaRPr lang="en-US" sz="1100" dirty="0"/>
          </a:p>
        </p:txBody>
      </p:sp>
      <p:sp>
        <p:nvSpPr>
          <p:cNvPr id="7" name="Shape 5"/>
          <p:cNvSpPr/>
          <p:nvPr/>
        </p:nvSpPr>
        <p:spPr>
          <a:xfrm>
            <a:off x="502920" y="2971800"/>
            <a:ext cx="5410048" cy="548640"/>
          </a:xfrm>
          <a:prstGeom prst="roundRect">
            <a:avLst>
              <a:gd name="adj" fmla="val 10000"/>
            </a:avLst>
          </a:prstGeom>
          <a:solidFill>
            <a:srgbClr val="F2F5FC"/>
          </a:solidFill>
          <a:ln w="15875">
            <a:solidFill>
              <a:srgbClr val="C9D3EC"/>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2971800"/>
            <a:ext cx="5300320" cy="5486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Region A — Primary</a:t>
            </a:r>
            <a:endParaRPr lang="en-US" sz="1100" dirty="0"/>
          </a:p>
        </p:txBody>
      </p:sp>
      <p:sp>
        <p:nvSpPr>
          <p:cNvPr id="9" name="Shape 7"/>
          <p:cNvSpPr/>
          <p:nvPr/>
        </p:nvSpPr>
        <p:spPr>
          <a:xfrm>
            <a:off x="777240" y="3749040"/>
            <a:ext cx="4861408"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832104" y="3749040"/>
            <a:ext cx="4751680" cy="68580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APIM Gateway (active)</a:t>
            </a:r>
            <a:endParaRPr lang="en-US" sz="1000" dirty="0"/>
          </a:p>
        </p:txBody>
      </p:sp>
      <p:sp>
        <p:nvSpPr>
          <p:cNvPr id="11" name="Shape 9"/>
          <p:cNvSpPr/>
          <p:nvPr/>
        </p:nvSpPr>
        <p:spPr>
          <a:xfrm>
            <a:off x="777240" y="4572000"/>
            <a:ext cx="4861408"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832104" y="4572000"/>
            <a:ext cx="4751680" cy="68580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Backend Replica (geo-redundant)</a:t>
            </a:r>
            <a:endParaRPr lang="en-US" sz="1000" dirty="0"/>
          </a:p>
        </p:txBody>
      </p:sp>
      <p:sp>
        <p:nvSpPr>
          <p:cNvPr id="13" name="Shape 11"/>
          <p:cNvSpPr/>
          <p:nvPr/>
        </p:nvSpPr>
        <p:spPr>
          <a:xfrm>
            <a:off x="3207944" y="3520440"/>
            <a:ext cx="0" cy="228600"/>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3207944" y="4434840"/>
            <a:ext cx="0" cy="13716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6278728" y="2971800"/>
            <a:ext cx="5410048" cy="548640"/>
          </a:xfrm>
          <a:prstGeom prst="roundRect">
            <a:avLst>
              <a:gd name="adj" fmla="val 10000"/>
            </a:avLst>
          </a:prstGeom>
          <a:solidFill>
            <a:srgbClr val="F2F5FC"/>
          </a:solidFill>
          <a:ln w="15875">
            <a:solidFill>
              <a:srgbClr val="C9D3EC"/>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6333592" y="2971800"/>
            <a:ext cx="5300320" cy="5486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Region B — Secondary</a:t>
            </a:r>
            <a:endParaRPr lang="en-US" sz="1100" dirty="0"/>
          </a:p>
        </p:txBody>
      </p:sp>
      <p:sp>
        <p:nvSpPr>
          <p:cNvPr id="17" name="Shape 15"/>
          <p:cNvSpPr/>
          <p:nvPr/>
        </p:nvSpPr>
        <p:spPr>
          <a:xfrm>
            <a:off x="6553048" y="3749040"/>
            <a:ext cx="4861408"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6607912" y="3749040"/>
            <a:ext cx="4751680" cy="68580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APIM Gateway (active)</a:t>
            </a:r>
            <a:endParaRPr lang="en-US" sz="1000" dirty="0"/>
          </a:p>
        </p:txBody>
      </p:sp>
      <p:sp>
        <p:nvSpPr>
          <p:cNvPr id="19" name="Shape 17"/>
          <p:cNvSpPr/>
          <p:nvPr/>
        </p:nvSpPr>
        <p:spPr>
          <a:xfrm>
            <a:off x="6553048" y="4572000"/>
            <a:ext cx="4861408"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0" name="Text 18"/>
          <p:cNvSpPr/>
          <p:nvPr/>
        </p:nvSpPr>
        <p:spPr>
          <a:xfrm>
            <a:off x="6607912" y="4572000"/>
            <a:ext cx="4751680" cy="68580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Backend Replica (geo-redundant)</a:t>
            </a:r>
            <a:endParaRPr lang="en-US" sz="1000" dirty="0"/>
          </a:p>
        </p:txBody>
      </p:sp>
      <p:sp>
        <p:nvSpPr>
          <p:cNvPr id="21" name="Shape 19"/>
          <p:cNvSpPr/>
          <p:nvPr/>
        </p:nvSpPr>
        <p:spPr>
          <a:xfrm>
            <a:off x="8983751" y="3520440"/>
            <a:ext cx="0" cy="228600"/>
          </a:xfrm>
          <a:prstGeom prst="line">
            <a:avLst/>
          </a:prstGeom>
          <a:noFill/>
          <a:ln w="19050">
            <a:solidFill>
              <a:srgbClr val="1E2761"/>
            </a:solidFill>
            <a:prstDash val="solid"/>
            <a:tailEnd type="triangle"/>
          </a:ln>
        </p:spPr>
        <p:txBody>
          <a:bodyPr/>
          <a:lstStyle/>
          <a:p>
            <a:endParaRPr lang="en-IN"/>
          </a:p>
        </p:txBody>
      </p:sp>
      <p:sp>
        <p:nvSpPr>
          <p:cNvPr id="22" name="Shape 20"/>
          <p:cNvSpPr/>
          <p:nvPr/>
        </p:nvSpPr>
        <p:spPr>
          <a:xfrm>
            <a:off x="8983751" y="4434840"/>
            <a:ext cx="0" cy="137160"/>
          </a:xfrm>
          <a:prstGeom prst="line">
            <a:avLst/>
          </a:prstGeom>
          <a:noFill/>
          <a:ln w="19050">
            <a:solidFill>
              <a:srgbClr val="1E2761"/>
            </a:solidFill>
            <a:prstDash val="solid"/>
            <a:tailEnd type="triangle"/>
          </a:ln>
        </p:spPr>
        <p:txBody>
          <a:bodyPr/>
          <a:lstStyle/>
          <a:p>
            <a:endParaRPr lang="en-IN"/>
          </a:p>
        </p:txBody>
      </p:sp>
      <p:sp>
        <p:nvSpPr>
          <p:cNvPr id="23" name="Shape 21"/>
          <p:cNvSpPr/>
          <p:nvPr/>
        </p:nvSpPr>
        <p:spPr>
          <a:xfrm>
            <a:off x="6095848" y="2606040"/>
            <a:ext cx="0" cy="365760"/>
          </a:xfrm>
          <a:prstGeom prst="line">
            <a:avLst/>
          </a:prstGeom>
          <a:noFill/>
          <a:ln w="19050">
            <a:solidFill>
              <a:srgbClr val="1E2761"/>
            </a:solidFill>
            <a:prstDash val="solid"/>
            <a:tailEnd type="triangle"/>
          </a:ln>
        </p:spPr>
        <p:txBody>
          <a:bodyPr/>
          <a:lstStyle/>
          <a:p>
            <a:endParaRPr lang="en-IN"/>
          </a:p>
        </p:txBody>
      </p:sp>
      <p:sp>
        <p:nvSpPr>
          <p:cNvPr id="25" name="Text 22"/>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26" name="Text 23"/>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7" name="Text 24"/>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04</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4</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Security Architecture</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OAuth 2.0, JWT validation, Entra ID, Key Vault, and Zero Trust principles enforced consistently at the gateway.</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4</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Security Strategy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Security is enforced in layers at the API gateway — never assumed at the backend — consistent with Zero Trust principles.</a:t>
            </a:r>
            <a:endParaRPr lang="en-US" sz="1300" dirty="0"/>
          </a:p>
        </p:txBody>
      </p:sp>
      <p:sp>
        <p:nvSpPr>
          <p:cNvPr id="6" name="Shape 4"/>
          <p:cNvSpPr/>
          <p:nvPr/>
        </p:nvSpPr>
        <p:spPr>
          <a:xfrm>
            <a:off x="502920" y="2331720"/>
            <a:ext cx="2556434" cy="3566160"/>
          </a:xfrm>
          <a:prstGeom prst="roundRect">
            <a:avLst>
              <a:gd name="adj" fmla="val 2861"/>
            </a:avLst>
          </a:prstGeom>
          <a:solidFill>
            <a:srgbClr val="F7F9FD"/>
          </a:solidFill>
          <a:ln/>
        </p:spPr>
        <p:txBody>
          <a:bodyPr/>
          <a:lstStyle/>
          <a:p>
            <a:endParaRPr lang="en-IN"/>
          </a:p>
        </p:txBody>
      </p:sp>
      <p:sp>
        <p:nvSpPr>
          <p:cNvPr id="7" name="Shape 5"/>
          <p:cNvSpPr/>
          <p:nvPr/>
        </p:nvSpPr>
        <p:spPr>
          <a:xfrm>
            <a:off x="1461097" y="2606040"/>
            <a:ext cx="640080" cy="640080"/>
          </a:xfrm>
          <a:prstGeom prst="ellipse">
            <a:avLst/>
          </a:prstGeom>
          <a:solidFill>
            <a:srgbClr val="CADCFC"/>
          </a:solidFill>
          <a:ln/>
        </p:spPr>
        <p:txBody>
          <a:bodyPr/>
          <a:lstStyle/>
          <a:p>
            <a:endParaRPr lang="en-IN"/>
          </a:p>
        </p:txBody>
      </p:sp>
      <p:pic>
        <p:nvPicPr>
          <p:cNvPr id="8" name="Image 0" descr="/home/claude/apim_rfp/icon_cache/FaUserShield_1E2761_256.png"/>
          <p:cNvPicPr>
            <a:picLocks noChangeAspect="1"/>
          </p:cNvPicPr>
          <p:nvPr/>
        </p:nvPicPr>
        <p:blipFill>
          <a:blip r:embed="rId3"/>
          <a:stretch>
            <a:fillRect/>
          </a:stretch>
        </p:blipFill>
        <p:spPr>
          <a:xfrm>
            <a:off x="1627518" y="2772461"/>
            <a:ext cx="307238" cy="307238"/>
          </a:xfrm>
          <a:prstGeom prst="rect">
            <a:avLst/>
          </a:prstGeom>
        </p:spPr>
      </p:pic>
      <p:sp>
        <p:nvSpPr>
          <p:cNvPr id="9" name="Text 6"/>
          <p:cNvSpPr/>
          <p:nvPr/>
        </p:nvSpPr>
        <p:spPr>
          <a:xfrm>
            <a:off x="685800"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Identity-First</a:t>
            </a:r>
            <a:endParaRPr lang="en-US" sz="1400" dirty="0"/>
          </a:p>
        </p:txBody>
      </p:sp>
      <p:sp>
        <p:nvSpPr>
          <p:cNvPr id="10" name="Text 7"/>
          <p:cNvSpPr/>
          <p:nvPr/>
        </p:nvSpPr>
        <p:spPr>
          <a:xfrm>
            <a:off x="704088"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Every call is authenticated via Entra ID and OAuth 2.0 before it reaches a policy or backend.</a:t>
            </a:r>
            <a:endParaRPr lang="en-US" sz="1150" dirty="0"/>
          </a:p>
        </p:txBody>
      </p:sp>
      <p:sp>
        <p:nvSpPr>
          <p:cNvPr id="11" name="Shape 8"/>
          <p:cNvSpPr/>
          <p:nvPr/>
        </p:nvSpPr>
        <p:spPr>
          <a:xfrm>
            <a:off x="3379394" y="2331720"/>
            <a:ext cx="2556434" cy="3566160"/>
          </a:xfrm>
          <a:prstGeom prst="roundRect">
            <a:avLst>
              <a:gd name="adj" fmla="val 2861"/>
            </a:avLst>
          </a:prstGeom>
          <a:solidFill>
            <a:srgbClr val="F7F9FD"/>
          </a:solidFill>
          <a:ln/>
        </p:spPr>
        <p:txBody>
          <a:bodyPr/>
          <a:lstStyle/>
          <a:p>
            <a:endParaRPr lang="en-IN"/>
          </a:p>
        </p:txBody>
      </p:sp>
      <p:sp>
        <p:nvSpPr>
          <p:cNvPr id="12" name="Shape 9"/>
          <p:cNvSpPr/>
          <p:nvPr/>
        </p:nvSpPr>
        <p:spPr>
          <a:xfrm>
            <a:off x="4337571" y="2606040"/>
            <a:ext cx="640080" cy="640080"/>
          </a:xfrm>
          <a:prstGeom prst="ellipse">
            <a:avLst/>
          </a:prstGeom>
          <a:solidFill>
            <a:srgbClr val="CADCFC"/>
          </a:solidFill>
          <a:ln/>
        </p:spPr>
        <p:txBody>
          <a:bodyPr/>
          <a:lstStyle/>
          <a:p>
            <a:endParaRPr lang="en-IN"/>
          </a:p>
        </p:txBody>
      </p:sp>
      <p:pic>
        <p:nvPicPr>
          <p:cNvPr id="13" name="Image 1" descr="/home/claude/apim_rfp/icon_cache/FaShieldAlt_1E2761_256.png"/>
          <p:cNvPicPr>
            <a:picLocks noChangeAspect="1"/>
          </p:cNvPicPr>
          <p:nvPr/>
        </p:nvPicPr>
        <p:blipFill>
          <a:blip r:embed="rId4"/>
          <a:stretch>
            <a:fillRect/>
          </a:stretch>
        </p:blipFill>
        <p:spPr>
          <a:xfrm>
            <a:off x="4503992" y="2772461"/>
            <a:ext cx="307238" cy="307238"/>
          </a:xfrm>
          <a:prstGeom prst="rect">
            <a:avLst/>
          </a:prstGeom>
        </p:spPr>
      </p:pic>
      <p:sp>
        <p:nvSpPr>
          <p:cNvPr id="14" name="Text 10"/>
          <p:cNvSpPr/>
          <p:nvPr/>
        </p:nvSpPr>
        <p:spPr>
          <a:xfrm>
            <a:off x="3562274"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Defense in Depth</a:t>
            </a:r>
            <a:endParaRPr lang="en-US" sz="1400" dirty="0"/>
          </a:p>
        </p:txBody>
      </p:sp>
      <p:sp>
        <p:nvSpPr>
          <p:cNvPr id="15" name="Text 11"/>
          <p:cNvSpPr/>
          <p:nvPr/>
        </p:nvSpPr>
        <p:spPr>
          <a:xfrm>
            <a:off x="3580562"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WAF, mTLS, IP filtering, and rate limiting are layered at the edge and gateway, not relied on individually.</a:t>
            </a:r>
            <a:endParaRPr lang="en-US" sz="1150" dirty="0"/>
          </a:p>
        </p:txBody>
      </p:sp>
      <p:sp>
        <p:nvSpPr>
          <p:cNvPr id="16" name="Shape 12"/>
          <p:cNvSpPr/>
          <p:nvPr/>
        </p:nvSpPr>
        <p:spPr>
          <a:xfrm>
            <a:off x="6255868" y="2331720"/>
            <a:ext cx="2556434" cy="3566160"/>
          </a:xfrm>
          <a:prstGeom prst="roundRect">
            <a:avLst>
              <a:gd name="adj" fmla="val 2861"/>
            </a:avLst>
          </a:prstGeom>
          <a:solidFill>
            <a:srgbClr val="F7F9FD"/>
          </a:solidFill>
          <a:ln/>
        </p:spPr>
        <p:txBody>
          <a:bodyPr/>
          <a:lstStyle/>
          <a:p>
            <a:endParaRPr lang="en-IN"/>
          </a:p>
        </p:txBody>
      </p:sp>
      <p:sp>
        <p:nvSpPr>
          <p:cNvPr id="17" name="Shape 13"/>
          <p:cNvSpPr/>
          <p:nvPr/>
        </p:nvSpPr>
        <p:spPr>
          <a:xfrm>
            <a:off x="7214044" y="2606040"/>
            <a:ext cx="640080" cy="640080"/>
          </a:xfrm>
          <a:prstGeom prst="ellipse">
            <a:avLst/>
          </a:prstGeom>
          <a:solidFill>
            <a:srgbClr val="CADCFC"/>
          </a:solidFill>
          <a:ln/>
        </p:spPr>
        <p:txBody>
          <a:bodyPr/>
          <a:lstStyle/>
          <a:p>
            <a:endParaRPr lang="en-IN"/>
          </a:p>
        </p:txBody>
      </p:sp>
      <p:pic>
        <p:nvPicPr>
          <p:cNvPr id="18" name="Image 2" descr="/home/claude/apim_rfp/icon_cache/FaKey_1E2761_256.png"/>
          <p:cNvPicPr>
            <a:picLocks noChangeAspect="1"/>
          </p:cNvPicPr>
          <p:nvPr/>
        </p:nvPicPr>
        <p:blipFill>
          <a:blip r:embed="rId5"/>
          <a:stretch>
            <a:fillRect/>
          </a:stretch>
        </p:blipFill>
        <p:spPr>
          <a:xfrm>
            <a:off x="7380465" y="2772461"/>
            <a:ext cx="307238" cy="307238"/>
          </a:xfrm>
          <a:prstGeom prst="rect">
            <a:avLst/>
          </a:prstGeom>
        </p:spPr>
      </p:pic>
      <p:sp>
        <p:nvSpPr>
          <p:cNvPr id="19" name="Text 14"/>
          <p:cNvSpPr/>
          <p:nvPr/>
        </p:nvSpPr>
        <p:spPr>
          <a:xfrm>
            <a:off x="6438748"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Centralized Secrets</a:t>
            </a:r>
            <a:endParaRPr lang="en-US" sz="1400" dirty="0"/>
          </a:p>
        </p:txBody>
      </p:sp>
      <p:sp>
        <p:nvSpPr>
          <p:cNvPr id="20" name="Text 15"/>
          <p:cNvSpPr/>
          <p:nvPr/>
        </p:nvSpPr>
        <p:spPr>
          <a:xfrm>
            <a:off x="6457036"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Azure Key Vault stores certificates and secrets; APIM never holds credentials in plain policy XML.</a:t>
            </a:r>
            <a:endParaRPr lang="en-US" sz="1150" dirty="0"/>
          </a:p>
        </p:txBody>
      </p:sp>
      <p:sp>
        <p:nvSpPr>
          <p:cNvPr id="21" name="Shape 16"/>
          <p:cNvSpPr/>
          <p:nvPr/>
        </p:nvSpPr>
        <p:spPr>
          <a:xfrm>
            <a:off x="9132341" y="2331720"/>
            <a:ext cx="2556434" cy="3566160"/>
          </a:xfrm>
          <a:prstGeom prst="roundRect">
            <a:avLst>
              <a:gd name="adj" fmla="val 2861"/>
            </a:avLst>
          </a:prstGeom>
          <a:solidFill>
            <a:srgbClr val="F7F9FD"/>
          </a:solidFill>
          <a:ln/>
        </p:spPr>
        <p:txBody>
          <a:bodyPr/>
          <a:lstStyle/>
          <a:p>
            <a:endParaRPr lang="en-IN"/>
          </a:p>
        </p:txBody>
      </p:sp>
      <p:sp>
        <p:nvSpPr>
          <p:cNvPr id="22" name="Shape 17"/>
          <p:cNvSpPr/>
          <p:nvPr/>
        </p:nvSpPr>
        <p:spPr>
          <a:xfrm>
            <a:off x="10090518" y="2606040"/>
            <a:ext cx="640080" cy="640080"/>
          </a:xfrm>
          <a:prstGeom prst="ellipse">
            <a:avLst/>
          </a:prstGeom>
          <a:solidFill>
            <a:srgbClr val="CADCFC"/>
          </a:solidFill>
          <a:ln/>
        </p:spPr>
        <p:txBody>
          <a:bodyPr/>
          <a:lstStyle/>
          <a:p>
            <a:endParaRPr lang="en-IN"/>
          </a:p>
        </p:txBody>
      </p:sp>
      <p:pic>
        <p:nvPicPr>
          <p:cNvPr id="23" name="Image 3" descr="/home/claude/apim_rfp/icon_cache/FaSearch_1E2761_256.png"/>
          <p:cNvPicPr>
            <a:picLocks noChangeAspect="1"/>
          </p:cNvPicPr>
          <p:nvPr/>
        </p:nvPicPr>
        <p:blipFill>
          <a:blip r:embed="rId6"/>
          <a:stretch>
            <a:fillRect/>
          </a:stretch>
        </p:blipFill>
        <p:spPr>
          <a:xfrm>
            <a:off x="10256939" y="2772461"/>
            <a:ext cx="307238" cy="307238"/>
          </a:xfrm>
          <a:prstGeom prst="rect">
            <a:avLst/>
          </a:prstGeom>
        </p:spPr>
      </p:pic>
      <p:sp>
        <p:nvSpPr>
          <p:cNvPr id="24" name="Text 18"/>
          <p:cNvSpPr/>
          <p:nvPr/>
        </p:nvSpPr>
        <p:spPr>
          <a:xfrm>
            <a:off x="9315221"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Continuous Verification</a:t>
            </a:r>
            <a:endParaRPr lang="en-US" sz="1400" dirty="0"/>
          </a:p>
        </p:txBody>
      </p:sp>
      <p:sp>
        <p:nvSpPr>
          <p:cNvPr id="25" name="Text 19"/>
          <p:cNvSpPr/>
          <p:nvPr/>
        </p:nvSpPr>
        <p:spPr>
          <a:xfrm>
            <a:off x="9333509"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Every request is inspected and logged — trust is never implicit, even for internal traffic.</a:t>
            </a:r>
            <a:endParaRPr lang="en-US" sz="1150" dirty="0"/>
          </a:p>
        </p:txBody>
      </p:sp>
      <p:sp>
        <p:nvSpPr>
          <p:cNvPr id="27" name="Text 2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8" name="Text 2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9" name="Text 2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OAuth 2.0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Client credentials and authorization code flows are enforced at the gateway using tokens issued by Entra ID.</a:t>
            </a:r>
            <a:endParaRPr lang="en-US" sz="1200" dirty="0"/>
          </a:p>
        </p:txBody>
      </p:sp>
      <p:sp>
        <p:nvSpPr>
          <p:cNvPr id="5" name="Shape 3"/>
          <p:cNvSpPr/>
          <p:nvPr/>
        </p:nvSpPr>
        <p:spPr>
          <a:xfrm>
            <a:off x="1348740" y="1874520"/>
            <a:ext cx="274320" cy="274320"/>
          </a:xfrm>
          <a:prstGeom prst="ellipse">
            <a:avLst/>
          </a:prstGeom>
          <a:solidFill>
            <a:srgbClr val="F5A623"/>
          </a:solidFill>
          <a:ln/>
        </p:spPr>
        <p:txBody>
          <a:bodyPr/>
          <a:lstStyle/>
          <a:p>
            <a:endParaRPr lang="en-IN"/>
          </a:p>
        </p:txBody>
      </p:sp>
      <p:sp>
        <p:nvSpPr>
          <p:cNvPr id="6" name="Text 4"/>
          <p:cNvSpPr/>
          <p:nvPr/>
        </p:nvSpPr>
        <p:spPr>
          <a:xfrm>
            <a:off x="1348740"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Shape 5"/>
          <p:cNvSpPr/>
          <p:nvPr/>
        </p:nvSpPr>
        <p:spPr>
          <a:xfrm>
            <a:off x="502920"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2377440"/>
            <a:ext cx="1856232" cy="10058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Client requests</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access token</a:t>
            </a:r>
            <a:endParaRPr lang="en-US" sz="1050" dirty="0"/>
          </a:p>
        </p:txBody>
      </p:sp>
      <p:sp>
        <p:nvSpPr>
          <p:cNvPr id="9" name="Shape 7"/>
          <p:cNvSpPr/>
          <p:nvPr/>
        </p:nvSpPr>
        <p:spPr>
          <a:xfrm>
            <a:off x="2468880" y="2880360"/>
            <a:ext cx="339014" cy="0"/>
          </a:xfrm>
          <a:prstGeom prst="line">
            <a:avLst/>
          </a:prstGeom>
          <a:noFill/>
          <a:ln w="19050">
            <a:solidFill>
              <a:srgbClr val="1E2761"/>
            </a:solidFill>
            <a:prstDash val="solid"/>
            <a:tailEnd type="triangle"/>
          </a:ln>
        </p:spPr>
        <p:txBody>
          <a:bodyPr/>
          <a:lstStyle/>
          <a:p>
            <a:endParaRPr lang="en-IN"/>
          </a:p>
        </p:txBody>
      </p:sp>
      <p:sp>
        <p:nvSpPr>
          <p:cNvPr id="10" name="Shape 8"/>
          <p:cNvSpPr/>
          <p:nvPr/>
        </p:nvSpPr>
        <p:spPr>
          <a:xfrm>
            <a:off x="3653714" y="1874520"/>
            <a:ext cx="274320" cy="274320"/>
          </a:xfrm>
          <a:prstGeom prst="ellipse">
            <a:avLst/>
          </a:prstGeom>
          <a:solidFill>
            <a:srgbClr val="F5A623"/>
          </a:solidFill>
          <a:ln/>
        </p:spPr>
        <p:txBody>
          <a:bodyPr/>
          <a:lstStyle/>
          <a:p>
            <a:endParaRPr lang="en-IN"/>
          </a:p>
        </p:txBody>
      </p:sp>
      <p:sp>
        <p:nvSpPr>
          <p:cNvPr id="11" name="Text 9"/>
          <p:cNvSpPr/>
          <p:nvPr/>
        </p:nvSpPr>
        <p:spPr>
          <a:xfrm>
            <a:off x="3653714"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2807894"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3" name="Text 11"/>
          <p:cNvSpPr/>
          <p:nvPr/>
        </p:nvSpPr>
        <p:spPr>
          <a:xfrm>
            <a:off x="2862758" y="2377440"/>
            <a:ext cx="1856232" cy="10058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Entra ID</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authenticates &amp; issues token</a:t>
            </a:r>
            <a:endParaRPr lang="en-US" sz="1050" dirty="0"/>
          </a:p>
        </p:txBody>
      </p:sp>
      <p:sp>
        <p:nvSpPr>
          <p:cNvPr id="14" name="Shape 12"/>
          <p:cNvSpPr/>
          <p:nvPr/>
        </p:nvSpPr>
        <p:spPr>
          <a:xfrm>
            <a:off x="4773854" y="2880360"/>
            <a:ext cx="339014" cy="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5958688" y="1874520"/>
            <a:ext cx="274320" cy="274320"/>
          </a:xfrm>
          <a:prstGeom prst="ellipse">
            <a:avLst/>
          </a:prstGeom>
          <a:solidFill>
            <a:srgbClr val="F5A623"/>
          </a:solidFill>
          <a:ln/>
        </p:spPr>
        <p:txBody>
          <a:bodyPr/>
          <a:lstStyle/>
          <a:p>
            <a:endParaRPr lang="en-IN"/>
          </a:p>
        </p:txBody>
      </p:sp>
      <p:sp>
        <p:nvSpPr>
          <p:cNvPr id="16" name="Text 14"/>
          <p:cNvSpPr/>
          <p:nvPr/>
        </p:nvSpPr>
        <p:spPr>
          <a:xfrm>
            <a:off x="5958688"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Shape 15"/>
          <p:cNvSpPr/>
          <p:nvPr/>
        </p:nvSpPr>
        <p:spPr>
          <a:xfrm>
            <a:off x="5112868"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5167732" y="2377440"/>
            <a:ext cx="1856232" cy="10058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Client calls API</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with bearer token</a:t>
            </a:r>
            <a:endParaRPr lang="en-US" sz="1050" dirty="0"/>
          </a:p>
        </p:txBody>
      </p:sp>
      <p:sp>
        <p:nvSpPr>
          <p:cNvPr id="19" name="Shape 17"/>
          <p:cNvSpPr/>
          <p:nvPr/>
        </p:nvSpPr>
        <p:spPr>
          <a:xfrm>
            <a:off x="7078828" y="2880360"/>
            <a:ext cx="339014" cy="0"/>
          </a:xfrm>
          <a:prstGeom prst="line">
            <a:avLst/>
          </a:prstGeom>
          <a:noFill/>
          <a:ln w="19050">
            <a:solidFill>
              <a:srgbClr val="1E2761"/>
            </a:solidFill>
            <a:prstDash val="solid"/>
            <a:tailEnd type="triangle"/>
          </a:ln>
        </p:spPr>
        <p:txBody>
          <a:bodyPr/>
          <a:lstStyle/>
          <a:p>
            <a:endParaRPr lang="en-IN"/>
          </a:p>
        </p:txBody>
      </p:sp>
      <p:sp>
        <p:nvSpPr>
          <p:cNvPr id="20" name="Shape 18"/>
          <p:cNvSpPr/>
          <p:nvPr/>
        </p:nvSpPr>
        <p:spPr>
          <a:xfrm>
            <a:off x="8263661" y="1874520"/>
            <a:ext cx="274320" cy="274320"/>
          </a:xfrm>
          <a:prstGeom prst="ellipse">
            <a:avLst/>
          </a:prstGeom>
          <a:solidFill>
            <a:srgbClr val="F5A623"/>
          </a:solidFill>
          <a:ln/>
        </p:spPr>
        <p:txBody>
          <a:bodyPr/>
          <a:lstStyle/>
          <a:p>
            <a:endParaRPr lang="en-IN"/>
          </a:p>
        </p:txBody>
      </p:sp>
      <p:sp>
        <p:nvSpPr>
          <p:cNvPr id="21" name="Text 19"/>
          <p:cNvSpPr/>
          <p:nvPr/>
        </p:nvSpPr>
        <p:spPr>
          <a:xfrm>
            <a:off x="8263661"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Shape 20"/>
          <p:cNvSpPr/>
          <p:nvPr/>
        </p:nvSpPr>
        <p:spPr>
          <a:xfrm>
            <a:off x="7417841" y="2377440"/>
            <a:ext cx="1965960" cy="1005840"/>
          </a:xfrm>
          <a:prstGeom prst="roundRect">
            <a:avLst>
              <a:gd name="adj" fmla="val 5455"/>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21"/>
          <p:cNvSpPr/>
          <p:nvPr/>
        </p:nvSpPr>
        <p:spPr>
          <a:xfrm>
            <a:off x="7472705" y="2377440"/>
            <a:ext cx="1856232" cy="10058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APIM validates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token &amp; claims</a:t>
            </a:r>
            <a:endParaRPr lang="en-US" sz="1050" dirty="0"/>
          </a:p>
        </p:txBody>
      </p:sp>
      <p:sp>
        <p:nvSpPr>
          <p:cNvPr id="24" name="Shape 22"/>
          <p:cNvSpPr/>
          <p:nvPr/>
        </p:nvSpPr>
        <p:spPr>
          <a:xfrm>
            <a:off x="9383801" y="2880360"/>
            <a:ext cx="339014" cy="0"/>
          </a:xfrm>
          <a:prstGeom prst="line">
            <a:avLst/>
          </a:prstGeom>
          <a:noFill/>
          <a:ln w="19050">
            <a:solidFill>
              <a:srgbClr val="1E2761"/>
            </a:solidFill>
            <a:prstDash val="solid"/>
            <a:tailEnd type="triangle"/>
          </a:ln>
        </p:spPr>
        <p:txBody>
          <a:bodyPr/>
          <a:lstStyle/>
          <a:p>
            <a:endParaRPr lang="en-IN"/>
          </a:p>
        </p:txBody>
      </p:sp>
      <p:sp>
        <p:nvSpPr>
          <p:cNvPr id="25" name="Shape 23"/>
          <p:cNvSpPr/>
          <p:nvPr/>
        </p:nvSpPr>
        <p:spPr>
          <a:xfrm>
            <a:off x="10568635" y="1874520"/>
            <a:ext cx="274320" cy="274320"/>
          </a:xfrm>
          <a:prstGeom prst="ellipse">
            <a:avLst/>
          </a:prstGeom>
          <a:solidFill>
            <a:srgbClr val="F5A623"/>
          </a:solidFill>
          <a:ln/>
        </p:spPr>
        <p:txBody>
          <a:bodyPr/>
          <a:lstStyle/>
          <a:p>
            <a:endParaRPr lang="en-IN"/>
          </a:p>
        </p:txBody>
      </p:sp>
      <p:sp>
        <p:nvSpPr>
          <p:cNvPr id="26" name="Text 24"/>
          <p:cNvSpPr/>
          <p:nvPr/>
        </p:nvSpPr>
        <p:spPr>
          <a:xfrm>
            <a:off x="10568635"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Shape 25"/>
          <p:cNvSpPr/>
          <p:nvPr/>
        </p:nvSpPr>
        <p:spPr>
          <a:xfrm>
            <a:off x="9722815"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8" name="Text 26"/>
          <p:cNvSpPr/>
          <p:nvPr/>
        </p:nvSpPr>
        <p:spPr>
          <a:xfrm>
            <a:off x="9777679" y="2377440"/>
            <a:ext cx="1856232" cy="10058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Request forwarded</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to backend</a:t>
            </a:r>
            <a:endParaRPr lang="en-US" sz="1050" dirty="0"/>
          </a:p>
        </p:txBody>
      </p:sp>
      <p:sp>
        <p:nvSpPr>
          <p:cNvPr id="29" name="Text 27"/>
          <p:cNvSpPr/>
          <p:nvPr/>
        </p:nvSpPr>
        <p:spPr>
          <a:xfrm>
            <a:off x="502920" y="3749040"/>
            <a:ext cx="11185855" cy="457200"/>
          </a:xfrm>
          <a:prstGeom prst="rect">
            <a:avLst/>
          </a:prstGeom>
          <a:noFill/>
          <a:ln/>
        </p:spPr>
        <p:txBody>
          <a:bodyPr wrap="square" lIns="0" tIns="0" rIns="0" bIns="0" rtlCol="0" anchor="ctr"/>
          <a:lstStyle/>
          <a:p>
            <a:pPr marL="0" indent="0" algn="ctr">
              <a:buNone/>
            </a:pPr>
            <a:r>
              <a:rPr lang="en-US" sz="1200" i="1" dirty="0">
                <a:solidFill>
                  <a:srgbClr val="4A5578"/>
                </a:solidFill>
              </a:rPr>
              <a:t>Backend never sees or validates raw credentials — only a pre-verified, policy-enforced token.</a:t>
            </a:r>
            <a:endParaRPr lang="en-US" sz="1200" dirty="0"/>
          </a:p>
        </p:txBody>
      </p:sp>
      <p:sp>
        <p:nvSpPr>
          <p:cNvPr id="31" name="Text 28"/>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32" name="Text 29"/>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33" name="Text 30"/>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JWT Validation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APIM validates signature, issuer, audience, and expiry on every request using a validate-jwt policy — before any backend call.</a:t>
            </a:r>
            <a:endParaRPr lang="en-US" sz="1200" dirty="0"/>
          </a:p>
        </p:txBody>
      </p:sp>
      <p:sp>
        <p:nvSpPr>
          <p:cNvPr id="5" name="Shape 3"/>
          <p:cNvSpPr/>
          <p:nvPr/>
        </p:nvSpPr>
        <p:spPr>
          <a:xfrm>
            <a:off x="502920" y="2103120"/>
            <a:ext cx="219456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03120"/>
            <a:ext cx="2084832"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Incoming Request</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(Bearer JWT)</a:t>
            </a:r>
            <a:endParaRPr lang="en-US" sz="1050" dirty="0"/>
          </a:p>
        </p:txBody>
      </p:sp>
      <p:sp>
        <p:nvSpPr>
          <p:cNvPr id="7" name="Shape 5"/>
          <p:cNvSpPr/>
          <p:nvPr/>
        </p:nvSpPr>
        <p:spPr>
          <a:xfrm>
            <a:off x="2697480" y="2514600"/>
            <a:ext cx="73152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3429000" y="2103120"/>
            <a:ext cx="2743200" cy="822960"/>
          </a:xfrm>
          <a:prstGeom prst="roundRect">
            <a:avLst>
              <a:gd name="adj" fmla="val 6667"/>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3483864" y="2103120"/>
            <a:ext cx="2633472" cy="8229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APIM validate-jwt Policy</a:t>
            </a:r>
            <a:endParaRPr lang="en-US" sz="1050" dirty="0"/>
          </a:p>
        </p:txBody>
      </p:sp>
      <p:sp>
        <p:nvSpPr>
          <p:cNvPr id="10" name="Shape 8"/>
          <p:cNvSpPr/>
          <p:nvPr/>
        </p:nvSpPr>
        <p:spPr>
          <a:xfrm>
            <a:off x="6172200" y="2514600"/>
            <a:ext cx="73152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6903720" y="2103120"/>
            <a:ext cx="237744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958584" y="2103120"/>
            <a:ext cx="2267712"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Backend Service</a:t>
            </a:r>
            <a:endParaRPr lang="en-US" sz="1050" dirty="0"/>
          </a:p>
        </p:txBody>
      </p:sp>
      <p:sp>
        <p:nvSpPr>
          <p:cNvPr id="13" name="Shape 11"/>
          <p:cNvSpPr/>
          <p:nvPr/>
        </p:nvSpPr>
        <p:spPr>
          <a:xfrm>
            <a:off x="3429000" y="3474720"/>
            <a:ext cx="137160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3483864" y="3474720"/>
            <a:ext cx="1261872" cy="731520"/>
          </a:xfrm>
          <a:prstGeom prst="rect">
            <a:avLst/>
          </a:prstGeom>
          <a:noFill/>
          <a:ln/>
        </p:spPr>
        <p:txBody>
          <a:bodyPr wrap="square" lIns="0" tIns="0" rIns="0" bIns="0" rtlCol="0" anchor="ctr"/>
          <a:lstStyle/>
          <a:p>
            <a:pPr marL="0" indent="0" algn="ctr">
              <a:buNone/>
            </a:pPr>
            <a:r>
              <a:rPr lang="en-US" sz="850" b="1" dirty="0">
                <a:solidFill>
                  <a:srgbClr val="141B45"/>
                </a:solidFill>
                <a:latin typeface="Calibri" pitchFamily="34" charset="0"/>
                <a:ea typeface="Calibri" pitchFamily="34" charset="-122"/>
                <a:cs typeface="Calibri" pitchFamily="34" charset="-120"/>
              </a:rPr>
              <a:t>Signature (JWKS from Entra ID)</a:t>
            </a:r>
            <a:endParaRPr lang="en-US" sz="850" dirty="0"/>
          </a:p>
        </p:txBody>
      </p:sp>
      <p:sp>
        <p:nvSpPr>
          <p:cNvPr id="15" name="Shape 13"/>
          <p:cNvSpPr/>
          <p:nvPr/>
        </p:nvSpPr>
        <p:spPr>
          <a:xfrm>
            <a:off x="4892040" y="3474720"/>
            <a:ext cx="137160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4946904" y="3474720"/>
            <a:ext cx="1261872" cy="731520"/>
          </a:xfrm>
          <a:prstGeom prst="rect">
            <a:avLst/>
          </a:prstGeom>
          <a:noFill/>
          <a:ln/>
        </p:spPr>
        <p:txBody>
          <a:bodyPr wrap="square" lIns="0" tIns="0" rIns="0" bIns="0" rtlCol="0" anchor="ctr"/>
          <a:lstStyle/>
          <a:p>
            <a:pPr marL="0" indent="0" algn="ctr">
              <a:buNone/>
            </a:pPr>
            <a:r>
              <a:rPr lang="en-US" sz="850" b="1" dirty="0">
                <a:solidFill>
                  <a:srgbClr val="141B45"/>
                </a:solidFill>
                <a:latin typeface="Calibri" pitchFamily="34" charset="0"/>
                <a:ea typeface="Calibri" pitchFamily="34" charset="-122"/>
                <a:cs typeface="Calibri" pitchFamily="34" charset="-120"/>
              </a:rPr>
              <a:t>Issuer &amp; Audience match</a:t>
            </a:r>
            <a:endParaRPr lang="en-US" sz="850" dirty="0"/>
          </a:p>
        </p:txBody>
      </p:sp>
      <p:sp>
        <p:nvSpPr>
          <p:cNvPr id="17" name="Shape 15"/>
          <p:cNvSpPr/>
          <p:nvPr/>
        </p:nvSpPr>
        <p:spPr>
          <a:xfrm>
            <a:off x="3429000" y="4343400"/>
            <a:ext cx="137160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3483864" y="4343400"/>
            <a:ext cx="1261872" cy="731520"/>
          </a:xfrm>
          <a:prstGeom prst="rect">
            <a:avLst/>
          </a:prstGeom>
          <a:noFill/>
          <a:ln/>
        </p:spPr>
        <p:txBody>
          <a:bodyPr wrap="square" lIns="0" tIns="0" rIns="0" bIns="0" rtlCol="0" anchor="ctr"/>
          <a:lstStyle/>
          <a:p>
            <a:pPr marL="0" indent="0" algn="ctr">
              <a:buNone/>
            </a:pPr>
            <a:r>
              <a:rPr lang="en-US" sz="850" b="1" dirty="0">
                <a:solidFill>
                  <a:srgbClr val="141B45"/>
                </a:solidFill>
                <a:latin typeface="Calibri" pitchFamily="34" charset="0"/>
                <a:ea typeface="Calibri" pitchFamily="34" charset="-122"/>
                <a:cs typeface="Calibri" pitchFamily="34" charset="-120"/>
              </a:rPr>
              <a:t>Expiry (exp) &amp; not-before (nbf)</a:t>
            </a:r>
            <a:endParaRPr lang="en-US" sz="850" dirty="0"/>
          </a:p>
        </p:txBody>
      </p:sp>
      <p:sp>
        <p:nvSpPr>
          <p:cNvPr id="19" name="Shape 17"/>
          <p:cNvSpPr/>
          <p:nvPr/>
        </p:nvSpPr>
        <p:spPr>
          <a:xfrm>
            <a:off x="4892040" y="4343400"/>
            <a:ext cx="137160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20" name="Text 18"/>
          <p:cNvSpPr/>
          <p:nvPr/>
        </p:nvSpPr>
        <p:spPr>
          <a:xfrm>
            <a:off x="4946904" y="4343400"/>
            <a:ext cx="1261872" cy="731520"/>
          </a:xfrm>
          <a:prstGeom prst="rect">
            <a:avLst/>
          </a:prstGeom>
          <a:noFill/>
          <a:ln/>
        </p:spPr>
        <p:txBody>
          <a:bodyPr wrap="square" lIns="0" tIns="0" rIns="0" bIns="0" rtlCol="0" anchor="ctr"/>
          <a:lstStyle/>
          <a:p>
            <a:pPr marL="0" indent="0" algn="ctr">
              <a:buNone/>
            </a:pPr>
            <a:r>
              <a:rPr lang="en-US" sz="850" b="1" dirty="0">
                <a:solidFill>
                  <a:srgbClr val="141B45"/>
                </a:solidFill>
                <a:latin typeface="Calibri" pitchFamily="34" charset="0"/>
                <a:ea typeface="Calibri" pitchFamily="34" charset="-122"/>
                <a:cs typeface="Calibri" pitchFamily="34" charset="-120"/>
              </a:rPr>
              <a:t>Required claims / scopes</a:t>
            </a:r>
            <a:endParaRPr lang="en-US" sz="850" dirty="0"/>
          </a:p>
        </p:txBody>
      </p:sp>
      <p:sp>
        <p:nvSpPr>
          <p:cNvPr id="21" name="Shape 19"/>
          <p:cNvSpPr/>
          <p:nvPr/>
        </p:nvSpPr>
        <p:spPr>
          <a:xfrm>
            <a:off x="4800600" y="2926080"/>
            <a:ext cx="0" cy="457200"/>
          </a:xfrm>
          <a:prstGeom prst="line">
            <a:avLst/>
          </a:prstGeom>
          <a:noFill/>
          <a:ln w="15875">
            <a:solidFill>
              <a:srgbClr val="F5A623"/>
            </a:solidFill>
            <a:prstDash val="solid"/>
            <a:tailEnd type="triangle"/>
          </a:ln>
        </p:spPr>
        <p:txBody>
          <a:bodyPr/>
          <a:lstStyle/>
          <a:p>
            <a:endParaRPr lang="en-IN"/>
          </a:p>
        </p:txBody>
      </p:sp>
      <p:sp>
        <p:nvSpPr>
          <p:cNvPr id="22" name="Text 20"/>
          <p:cNvSpPr/>
          <p:nvPr/>
        </p:nvSpPr>
        <p:spPr>
          <a:xfrm>
            <a:off x="502920" y="5303520"/>
            <a:ext cx="11185855" cy="365760"/>
          </a:xfrm>
          <a:prstGeom prst="rect">
            <a:avLst/>
          </a:prstGeom>
          <a:noFill/>
          <a:ln/>
        </p:spPr>
        <p:txBody>
          <a:bodyPr wrap="square" lIns="0" tIns="0" rIns="0" bIns="0" rtlCol="0" anchor="ctr"/>
          <a:lstStyle/>
          <a:p>
            <a:pPr marL="0" indent="0" algn="ctr">
              <a:buNone/>
            </a:pPr>
            <a:r>
              <a:rPr lang="en-US" sz="1150" i="1" dirty="0">
                <a:solidFill>
                  <a:srgbClr val="4A5578"/>
                </a:solidFill>
              </a:rPr>
              <a:t>On failure: request is rejected with 401 at the gateway — never reaches the backend.</a:t>
            </a:r>
            <a:endParaRPr lang="en-US" sz="1150" dirty="0"/>
          </a:p>
        </p:txBody>
      </p:sp>
      <p:sp>
        <p:nvSpPr>
          <p:cNvPr id="24" name="Text 21"/>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5" name="Text 22"/>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6" name="Text 23"/>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APIM + Entra ID Integration</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Entra ID is the single identity provider for both API consumers and platform administrators.</a:t>
            </a:r>
            <a:endParaRPr lang="en-US" sz="1200" dirty="0"/>
          </a:p>
        </p:txBody>
      </p:sp>
      <p:sp>
        <p:nvSpPr>
          <p:cNvPr id="5" name="Shape 3"/>
          <p:cNvSpPr/>
          <p:nvPr/>
        </p:nvSpPr>
        <p:spPr>
          <a:xfrm>
            <a:off x="3063240" y="2331720"/>
            <a:ext cx="1752448" cy="1234440"/>
          </a:xfrm>
          <a:prstGeom prst="line">
            <a:avLst/>
          </a:prstGeom>
          <a:noFill/>
          <a:ln w="15875">
            <a:solidFill>
              <a:srgbClr val="F5A623"/>
            </a:solidFill>
            <a:prstDash val="solid"/>
          </a:ln>
        </p:spPr>
        <p:txBody>
          <a:bodyPr/>
          <a:lstStyle/>
          <a:p>
            <a:endParaRPr lang="en-IN"/>
          </a:p>
        </p:txBody>
      </p:sp>
      <p:sp>
        <p:nvSpPr>
          <p:cNvPr id="6" name="Shape 4"/>
          <p:cNvSpPr/>
          <p:nvPr/>
        </p:nvSpPr>
        <p:spPr>
          <a:xfrm flipV="1">
            <a:off x="3063240" y="3566160"/>
            <a:ext cx="1752448" cy="1417320"/>
          </a:xfrm>
          <a:prstGeom prst="line">
            <a:avLst/>
          </a:prstGeom>
          <a:noFill/>
          <a:ln w="15875">
            <a:solidFill>
              <a:srgbClr val="F5A623"/>
            </a:solidFill>
            <a:prstDash val="solid"/>
          </a:ln>
        </p:spPr>
        <p:txBody>
          <a:bodyPr/>
          <a:lstStyle/>
          <a:p>
            <a:endParaRPr lang="en-IN"/>
          </a:p>
        </p:txBody>
      </p:sp>
      <p:sp>
        <p:nvSpPr>
          <p:cNvPr id="7" name="Shape 5"/>
          <p:cNvSpPr/>
          <p:nvPr/>
        </p:nvSpPr>
        <p:spPr>
          <a:xfrm flipV="1">
            <a:off x="7376008" y="2331720"/>
            <a:ext cx="1752448" cy="1234440"/>
          </a:xfrm>
          <a:prstGeom prst="line">
            <a:avLst/>
          </a:prstGeom>
          <a:noFill/>
          <a:ln w="15875">
            <a:solidFill>
              <a:srgbClr val="F5A623"/>
            </a:solidFill>
            <a:prstDash val="solid"/>
          </a:ln>
        </p:spPr>
        <p:txBody>
          <a:bodyPr/>
          <a:lstStyle/>
          <a:p>
            <a:endParaRPr lang="en-IN"/>
          </a:p>
        </p:txBody>
      </p:sp>
      <p:sp>
        <p:nvSpPr>
          <p:cNvPr id="8" name="Shape 6"/>
          <p:cNvSpPr/>
          <p:nvPr/>
        </p:nvSpPr>
        <p:spPr>
          <a:xfrm>
            <a:off x="7376008" y="3566160"/>
            <a:ext cx="1752448" cy="1417320"/>
          </a:xfrm>
          <a:prstGeom prst="line">
            <a:avLst/>
          </a:prstGeom>
          <a:noFill/>
          <a:ln w="15875">
            <a:solidFill>
              <a:srgbClr val="F5A623"/>
            </a:solidFill>
            <a:prstDash val="solid"/>
          </a:ln>
        </p:spPr>
        <p:txBody>
          <a:bodyPr/>
          <a:lstStyle/>
          <a:p>
            <a:endParaRPr lang="en-IN"/>
          </a:p>
        </p:txBody>
      </p:sp>
      <p:sp>
        <p:nvSpPr>
          <p:cNvPr id="9" name="Shape 7"/>
          <p:cNvSpPr/>
          <p:nvPr/>
        </p:nvSpPr>
        <p:spPr>
          <a:xfrm>
            <a:off x="4815688" y="3108960"/>
            <a:ext cx="2560320" cy="914400"/>
          </a:xfrm>
          <a:prstGeom prst="roundRect">
            <a:avLst>
              <a:gd name="adj" fmla="val 6000"/>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4870552" y="3108960"/>
            <a:ext cx="2450592"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Microsoft Entra ID</a:t>
            </a:r>
            <a:endParaRPr lang="en-US" sz="1300" dirty="0"/>
          </a:p>
        </p:txBody>
      </p:sp>
      <p:sp>
        <p:nvSpPr>
          <p:cNvPr id="11" name="Shape 9"/>
          <p:cNvSpPr/>
          <p:nvPr/>
        </p:nvSpPr>
        <p:spPr>
          <a:xfrm>
            <a:off x="502920" y="1920240"/>
            <a:ext cx="256032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557784" y="1920240"/>
            <a:ext cx="2450592" cy="82296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App Registrations</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(client apps)</a:t>
            </a:r>
            <a:endParaRPr lang="en-US" sz="1000" dirty="0"/>
          </a:p>
        </p:txBody>
      </p:sp>
      <p:sp>
        <p:nvSpPr>
          <p:cNvPr id="13" name="Shape 11"/>
          <p:cNvSpPr/>
          <p:nvPr/>
        </p:nvSpPr>
        <p:spPr>
          <a:xfrm>
            <a:off x="502920" y="4572000"/>
            <a:ext cx="256032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557784" y="4572000"/>
            <a:ext cx="2450592" cy="82296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Managed Identity</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(APIM to Key Vault)</a:t>
            </a:r>
            <a:endParaRPr lang="en-US" sz="1000" dirty="0"/>
          </a:p>
        </p:txBody>
      </p:sp>
      <p:sp>
        <p:nvSpPr>
          <p:cNvPr id="15" name="Shape 13"/>
          <p:cNvSpPr/>
          <p:nvPr/>
        </p:nvSpPr>
        <p:spPr>
          <a:xfrm>
            <a:off x="9128455" y="1920240"/>
            <a:ext cx="256032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9183319" y="1920240"/>
            <a:ext cx="2450592" cy="82296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Conditional Access</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(admin / DevOps)</a:t>
            </a:r>
            <a:endParaRPr lang="en-US" sz="1000" dirty="0"/>
          </a:p>
        </p:txBody>
      </p:sp>
      <p:sp>
        <p:nvSpPr>
          <p:cNvPr id="17" name="Shape 15"/>
          <p:cNvSpPr/>
          <p:nvPr/>
        </p:nvSpPr>
        <p:spPr>
          <a:xfrm>
            <a:off x="9128455" y="4572000"/>
            <a:ext cx="256032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9183319" y="4572000"/>
            <a:ext cx="2450592" cy="82296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Token Issuance</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(OAuth 2.0 / OIDC)</a:t>
            </a:r>
            <a:endParaRPr lang="en-US" sz="100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Secrets and Certificates Management</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Azure Key Vault is the single source of truth for every secret, certificate, and key APIM depends on.</a:t>
            </a:r>
            <a:endParaRPr lang="en-US" sz="1200" dirty="0"/>
          </a:p>
        </p:txBody>
      </p:sp>
      <p:sp>
        <p:nvSpPr>
          <p:cNvPr id="5" name="Shape 3"/>
          <p:cNvSpPr/>
          <p:nvPr/>
        </p:nvSpPr>
        <p:spPr>
          <a:xfrm>
            <a:off x="502920" y="2194560"/>
            <a:ext cx="2743200" cy="914400"/>
          </a:xfrm>
          <a:prstGeom prst="roundRect">
            <a:avLst>
              <a:gd name="adj" fmla="val 6000"/>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94560"/>
            <a:ext cx="2633472"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Azure Key Vault</a:t>
            </a:r>
            <a:endParaRPr lang="en-US" sz="1200" dirty="0"/>
          </a:p>
        </p:txBody>
      </p:sp>
      <p:sp>
        <p:nvSpPr>
          <p:cNvPr id="7" name="Shape 5"/>
          <p:cNvSpPr/>
          <p:nvPr/>
        </p:nvSpPr>
        <p:spPr>
          <a:xfrm>
            <a:off x="3246120" y="2651760"/>
            <a:ext cx="91440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4160520" y="2194560"/>
            <a:ext cx="2743200"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4215384" y="2194560"/>
            <a:ext cx="263347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APIM Managed Identity</a:t>
            </a:r>
            <a:endParaRPr lang="en-US" sz="1100" dirty="0"/>
          </a:p>
        </p:txBody>
      </p:sp>
      <p:sp>
        <p:nvSpPr>
          <p:cNvPr id="10" name="Shape 8"/>
          <p:cNvSpPr/>
          <p:nvPr/>
        </p:nvSpPr>
        <p:spPr>
          <a:xfrm>
            <a:off x="6903720" y="2651760"/>
            <a:ext cx="91440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7818120" y="2194560"/>
            <a:ext cx="3870655"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7872984" y="2194560"/>
            <a:ext cx="3760927" cy="91440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Named Values &amp; TLS Certificates in APIM</a:t>
            </a:r>
            <a:endParaRPr lang="en-US" sz="1050" dirty="0"/>
          </a:p>
        </p:txBody>
      </p:sp>
      <p:sp>
        <p:nvSpPr>
          <p:cNvPr id="13" name="Shape 11"/>
          <p:cNvSpPr/>
          <p:nvPr/>
        </p:nvSpPr>
        <p:spPr>
          <a:xfrm>
            <a:off x="502920" y="3657600"/>
            <a:ext cx="2613584"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557784" y="3657600"/>
            <a:ext cx="2503856" cy="73152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Backend API keys</a:t>
            </a:r>
            <a:endParaRPr lang="en-US" sz="950" dirty="0"/>
          </a:p>
        </p:txBody>
      </p:sp>
      <p:sp>
        <p:nvSpPr>
          <p:cNvPr id="15" name="Shape 13"/>
          <p:cNvSpPr/>
          <p:nvPr/>
        </p:nvSpPr>
        <p:spPr>
          <a:xfrm>
            <a:off x="3299384" y="3657600"/>
            <a:ext cx="2613584"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3354248" y="3657600"/>
            <a:ext cx="2503856" cy="73152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TLS / mTLS certificates</a:t>
            </a:r>
            <a:endParaRPr lang="en-US" sz="950" dirty="0"/>
          </a:p>
        </p:txBody>
      </p:sp>
      <p:sp>
        <p:nvSpPr>
          <p:cNvPr id="17" name="Shape 15"/>
          <p:cNvSpPr/>
          <p:nvPr/>
        </p:nvSpPr>
        <p:spPr>
          <a:xfrm>
            <a:off x="6095848" y="3657600"/>
            <a:ext cx="2613584"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6150712" y="3657600"/>
            <a:ext cx="2503856" cy="73152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Partner client secrets</a:t>
            </a:r>
            <a:endParaRPr lang="en-US" sz="950" dirty="0"/>
          </a:p>
        </p:txBody>
      </p:sp>
      <p:sp>
        <p:nvSpPr>
          <p:cNvPr id="19" name="Shape 17"/>
          <p:cNvSpPr/>
          <p:nvPr/>
        </p:nvSpPr>
        <p:spPr>
          <a:xfrm>
            <a:off x="8892311" y="3657600"/>
            <a:ext cx="2613584"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20" name="Text 18"/>
          <p:cNvSpPr/>
          <p:nvPr/>
        </p:nvSpPr>
        <p:spPr>
          <a:xfrm>
            <a:off x="8947175" y="3657600"/>
            <a:ext cx="2503856" cy="73152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Signing keys</a:t>
            </a:r>
            <a:endParaRPr lang="en-US" sz="950" dirty="0"/>
          </a:p>
        </p:txBody>
      </p:sp>
      <p:sp>
        <p:nvSpPr>
          <p:cNvPr id="21" name="Text 19"/>
          <p:cNvSpPr/>
          <p:nvPr/>
        </p:nvSpPr>
        <p:spPr>
          <a:xfrm>
            <a:off x="502920" y="4663440"/>
            <a:ext cx="11185855" cy="365760"/>
          </a:xfrm>
          <a:prstGeom prst="rect">
            <a:avLst/>
          </a:prstGeom>
          <a:noFill/>
          <a:ln/>
        </p:spPr>
        <p:txBody>
          <a:bodyPr wrap="square" lIns="0" tIns="0" rIns="0" bIns="0" rtlCol="0" anchor="ctr"/>
          <a:lstStyle/>
          <a:p>
            <a:pPr marL="0" indent="0" algn="ctr">
              <a:buNone/>
            </a:pPr>
            <a:r>
              <a:rPr lang="en-US" sz="1150" i="1" dirty="0">
                <a:solidFill>
                  <a:srgbClr val="4A5578"/>
                </a:solidFill>
              </a:rPr>
              <a:t>Automatic certificate rotation — no manual redeploy required when secrets expire.</a:t>
            </a:r>
            <a:endParaRPr lang="en-US" sz="1150" dirty="0"/>
          </a:p>
        </p:txBody>
      </p:sp>
      <p:sp>
        <p:nvSpPr>
          <p:cNvPr id="23" name="Text 2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4" name="Text 2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5" name="Text 2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Zero Trust API Security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Never trust, always verify — applied consistently whether a call originates inside or outside Chaucer's network.</a:t>
            </a:r>
            <a:endParaRPr lang="en-US" sz="1300" dirty="0"/>
          </a:p>
        </p:txBody>
      </p:sp>
      <p:sp>
        <p:nvSpPr>
          <p:cNvPr id="6" name="Shape 4"/>
          <p:cNvSpPr/>
          <p:nvPr/>
        </p:nvSpPr>
        <p:spPr>
          <a:xfrm>
            <a:off x="502920" y="2331720"/>
            <a:ext cx="3515258" cy="3566160"/>
          </a:xfrm>
          <a:prstGeom prst="roundRect">
            <a:avLst>
              <a:gd name="adj" fmla="val 2081"/>
            </a:avLst>
          </a:prstGeom>
          <a:solidFill>
            <a:srgbClr val="F7F9FD"/>
          </a:solidFill>
          <a:ln/>
        </p:spPr>
        <p:txBody>
          <a:bodyPr/>
          <a:lstStyle/>
          <a:p>
            <a:endParaRPr lang="en-IN"/>
          </a:p>
        </p:txBody>
      </p:sp>
      <p:sp>
        <p:nvSpPr>
          <p:cNvPr id="7" name="Shape 5"/>
          <p:cNvSpPr/>
          <p:nvPr/>
        </p:nvSpPr>
        <p:spPr>
          <a:xfrm>
            <a:off x="1940509" y="2606040"/>
            <a:ext cx="640080" cy="640080"/>
          </a:xfrm>
          <a:prstGeom prst="ellipse">
            <a:avLst/>
          </a:prstGeom>
          <a:solidFill>
            <a:srgbClr val="CADCFC"/>
          </a:solidFill>
          <a:ln/>
        </p:spPr>
        <p:txBody>
          <a:bodyPr/>
          <a:lstStyle/>
          <a:p>
            <a:endParaRPr lang="en-IN"/>
          </a:p>
        </p:txBody>
      </p:sp>
      <p:pic>
        <p:nvPicPr>
          <p:cNvPr id="8" name="Image 0" descr="/home/claude/apim_rfp/icon_cache/FaNetworkWired_1E2761_256.png"/>
          <p:cNvPicPr>
            <a:picLocks noChangeAspect="1"/>
          </p:cNvPicPr>
          <p:nvPr/>
        </p:nvPicPr>
        <p:blipFill>
          <a:blip r:embed="rId3"/>
          <a:stretch>
            <a:fillRect/>
          </a:stretch>
        </p:blipFill>
        <p:spPr>
          <a:xfrm>
            <a:off x="2106930" y="2772461"/>
            <a:ext cx="307238" cy="307238"/>
          </a:xfrm>
          <a:prstGeom prst="rect">
            <a:avLst/>
          </a:prstGeom>
        </p:spPr>
      </p:pic>
      <p:sp>
        <p:nvSpPr>
          <p:cNvPr id="9" name="Text 6"/>
          <p:cNvSpPr/>
          <p:nvPr/>
        </p:nvSpPr>
        <p:spPr>
          <a:xfrm>
            <a:off x="685800" y="3383280"/>
            <a:ext cx="3149498"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Verify Explicitly</a:t>
            </a:r>
            <a:endParaRPr lang="en-US" sz="1400" dirty="0"/>
          </a:p>
        </p:txBody>
      </p:sp>
      <p:sp>
        <p:nvSpPr>
          <p:cNvPr id="10" name="Text 7"/>
          <p:cNvSpPr/>
          <p:nvPr/>
        </p:nvSpPr>
        <p:spPr>
          <a:xfrm>
            <a:off x="704088" y="3931920"/>
            <a:ext cx="3112922"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Every request is authenticated and authorized regardless of network origin — internal traffic is not implicitly trusted.</a:t>
            </a:r>
            <a:endParaRPr lang="en-US" sz="1150" dirty="0"/>
          </a:p>
        </p:txBody>
      </p:sp>
      <p:sp>
        <p:nvSpPr>
          <p:cNvPr id="11" name="Shape 8"/>
          <p:cNvSpPr/>
          <p:nvPr/>
        </p:nvSpPr>
        <p:spPr>
          <a:xfrm>
            <a:off x="4338218" y="2331720"/>
            <a:ext cx="3515258" cy="3566160"/>
          </a:xfrm>
          <a:prstGeom prst="roundRect">
            <a:avLst>
              <a:gd name="adj" fmla="val 2081"/>
            </a:avLst>
          </a:prstGeom>
          <a:solidFill>
            <a:srgbClr val="F7F9FD"/>
          </a:solidFill>
          <a:ln/>
        </p:spPr>
        <p:txBody>
          <a:bodyPr/>
          <a:lstStyle/>
          <a:p>
            <a:endParaRPr lang="en-IN"/>
          </a:p>
        </p:txBody>
      </p:sp>
      <p:sp>
        <p:nvSpPr>
          <p:cNvPr id="12" name="Shape 9"/>
          <p:cNvSpPr/>
          <p:nvPr/>
        </p:nvSpPr>
        <p:spPr>
          <a:xfrm>
            <a:off x="5775808" y="2606040"/>
            <a:ext cx="640080" cy="640080"/>
          </a:xfrm>
          <a:prstGeom prst="ellipse">
            <a:avLst/>
          </a:prstGeom>
          <a:solidFill>
            <a:srgbClr val="CADCFC"/>
          </a:solidFill>
          <a:ln/>
        </p:spPr>
        <p:txBody>
          <a:bodyPr/>
          <a:lstStyle/>
          <a:p>
            <a:endParaRPr lang="en-IN"/>
          </a:p>
        </p:txBody>
      </p:sp>
      <p:pic>
        <p:nvPicPr>
          <p:cNvPr id="13" name="Image 1" descr="/home/claude/apim_rfp/icon_cache/FaLock_1E2761_256.png"/>
          <p:cNvPicPr>
            <a:picLocks noChangeAspect="1"/>
          </p:cNvPicPr>
          <p:nvPr/>
        </p:nvPicPr>
        <p:blipFill>
          <a:blip r:embed="rId4"/>
          <a:stretch>
            <a:fillRect/>
          </a:stretch>
        </p:blipFill>
        <p:spPr>
          <a:xfrm>
            <a:off x="5942228" y="2772461"/>
            <a:ext cx="307238" cy="307238"/>
          </a:xfrm>
          <a:prstGeom prst="rect">
            <a:avLst/>
          </a:prstGeom>
        </p:spPr>
      </p:pic>
      <p:sp>
        <p:nvSpPr>
          <p:cNvPr id="14" name="Text 10"/>
          <p:cNvSpPr/>
          <p:nvPr/>
        </p:nvSpPr>
        <p:spPr>
          <a:xfrm>
            <a:off x="4521098" y="3383280"/>
            <a:ext cx="3149498"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Least Privilege Access</a:t>
            </a:r>
            <a:endParaRPr lang="en-US" sz="1400" dirty="0"/>
          </a:p>
        </p:txBody>
      </p:sp>
      <p:sp>
        <p:nvSpPr>
          <p:cNvPr id="15" name="Text 11"/>
          <p:cNvSpPr/>
          <p:nvPr/>
        </p:nvSpPr>
        <p:spPr>
          <a:xfrm>
            <a:off x="4539386" y="3931920"/>
            <a:ext cx="3112922"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Products, subscriptions, and scopes grant only the minimum access each consumer needs.</a:t>
            </a:r>
            <a:endParaRPr lang="en-US" sz="1150" dirty="0"/>
          </a:p>
        </p:txBody>
      </p:sp>
      <p:sp>
        <p:nvSpPr>
          <p:cNvPr id="16" name="Shape 12"/>
          <p:cNvSpPr/>
          <p:nvPr/>
        </p:nvSpPr>
        <p:spPr>
          <a:xfrm>
            <a:off x="8173517" y="2331720"/>
            <a:ext cx="3515258" cy="3566160"/>
          </a:xfrm>
          <a:prstGeom prst="roundRect">
            <a:avLst>
              <a:gd name="adj" fmla="val 2081"/>
            </a:avLst>
          </a:prstGeom>
          <a:solidFill>
            <a:srgbClr val="F7F9FD"/>
          </a:solidFill>
          <a:ln/>
        </p:spPr>
        <p:txBody>
          <a:bodyPr/>
          <a:lstStyle/>
          <a:p>
            <a:endParaRPr lang="en-IN"/>
          </a:p>
        </p:txBody>
      </p:sp>
      <p:sp>
        <p:nvSpPr>
          <p:cNvPr id="17" name="Shape 13"/>
          <p:cNvSpPr/>
          <p:nvPr/>
        </p:nvSpPr>
        <p:spPr>
          <a:xfrm>
            <a:off x="9611106" y="2606040"/>
            <a:ext cx="640080" cy="640080"/>
          </a:xfrm>
          <a:prstGeom prst="ellipse">
            <a:avLst/>
          </a:prstGeom>
          <a:solidFill>
            <a:srgbClr val="CADCFC"/>
          </a:solidFill>
          <a:ln/>
        </p:spPr>
        <p:txBody>
          <a:bodyPr/>
          <a:lstStyle/>
          <a:p>
            <a:endParaRPr lang="en-IN"/>
          </a:p>
        </p:txBody>
      </p:sp>
      <p:pic>
        <p:nvPicPr>
          <p:cNvPr id="18" name="Image 2" descr="/home/claude/apim_rfp/icon_cache/FaExclamationTriangle_1E2761_256.png"/>
          <p:cNvPicPr>
            <a:picLocks noChangeAspect="1"/>
          </p:cNvPicPr>
          <p:nvPr/>
        </p:nvPicPr>
        <p:blipFill>
          <a:blip r:embed="rId5"/>
          <a:stretch>
            <a:fillRect/>
          </a:stretch>
        </p:blipFill>
        <p:spPr>
          <a:xfrm>
            <a:off x="9777527" y="2772461"/>
            <a:ext cx="307238" cy="307238"/>
          </a:xfrm>
          <a:prstGeom prst="rect">
            <a:avLst/>
          </a:prstGeom>
        </p:spPr>
      </p:pic>
      <p:sp>
        <p:nvSpPr>
          <p:cNvPr id="19" name="Text 14"/>
          <p:cNvSpPr/>
          <p:nvPr/>
        </p:nvSpPr>
        <p:spPr>
          <a:xfrm>
            <a:off x="8356397" y="3383280"/>
            <a:ext cx="3149498"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Assume Breach</a:t>
            </a:r>
            <a:endParaRPr lang="en-US" sz="1400" dirty="0"/>
          </a:p>
        </p:txBody>
      </p:sp>
      <p:sp>
        <p:nvSpPr>
          <p:cNvPr id="20" name="Text 15"/>
          <p:cNvSpPr/>
          <p:nvPr/>
        </p:nvSpPr>
        <p:spPr>
          <a:xfrm>
            <a:off x="8374685" y="3931920"/>
            <a:ext cx="3112922"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Segmentation, rate limiting, and anomaly alerting limit blast radius if a credential is compromised.</a:t>
            </a:r>
            <a:endParaRPr lang="en-US" sz="1150" dirty="0"/>
          </a:p>
        </p:txBody>
      </p:sp>
      <p:sp>
        <p:nvSpPr>
          <p:cNvPr id="22" name="Text 16"/>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3" name="Text 17"/>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4" name="Text 18"/>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05</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5</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Governance</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Lightweight governance, automated lifecycle gates, and clear versioning and standards.</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5</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Governance Framework</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 lightweight governance board sets standards; automation enforces them so governance never slows delivery.</a:t>
            </a:r>
            <a:endParaRPr lang="en-US" sz="1200" dirty="0"/>
          </a:p>
        </p:txBody>
      </p:sp>
      <p:sp>
        <p:nvSpPr>
          <p:cNvPr id="5" name="Shape 3"/>
          <p:cNvSpPr/>
          <p:nvPr/>
        </p:nvSpPr>
        <p:spPr>
          <a:xfrm>
            <a:off x="3154680" y="2304288"/>
            <a:ext cx="1569568" cy="1261872"/>
          </a:xfrm>
          <a:prstGeom prst="line">
            <a:avLst/>
          </a:prstGeom>
          <a:noFill/>
          <a:ln w="15875">
            <a:solidFill>
              <a:srgbClr val="F5A623"/>
            </a:solidFill>
            <a:prstDash val="solid"/>
          </a:ln>
        </p:spPr>
        <p:txBody>
          <a:bodyPr/>
          <a:lstStyle/>
          <a:p>
            <a:endParaRPr lang="en-IN"/>
          </a:p>
        </p:txBody>
      </p:sp>
      <p:sp>
        <p:nvSpPr>
          <p:cNvPr id="6" name="Shape 4"/>
          <p:cNvSpPr/>
          <p:nvPr/>
        </p:nvSpPr>
        <p:spPr>
          <a:xfrm flipV="1">
            <a:off x="3154680" y="3566160"/>
            <a:ext cx="1569568" cy="1435608"/>
          </a:xfrm>
          <a:prstGeom prst="line">
            <a:avLst/>
          </a:prstGeom>
          <a:noFill/>
          <a:ln w="15875">
            <a:solidFill>
              <a:srgbClr val="F5A623"/>
            </a:solidFill>
            <a:prstDash val="solid"/>
          </a:ln>
        </p:spPr>
        <p:txBody>
          <a:bodyPr/>
          <a:lstStyle/>
          <a:p>
            <a:endParaRPr lang="en-IN"/>
          </a:p>
        </p:txBody>
      </p:sp>
      <p:sp>
        <p:nvSpPr>
          <p:cNvPr id="7" name="Shape 5"/>
          <p:cNvSpPr/>
          <p:nvPr/>
        </p:nvSpPr>
        <p:spPr>
          <a:xfrm flipV="1">
            <a:off x="7467448" y="2304288"/>
            <a:ext cx="1569568" cy="1261872"/>
          </a:xfrm>
          <a:prstGeom prst="line">
            <a:avLst/>
          </a:prstGeom>
          <a:noFill/>
          <a:ln w="15875">
            <a:solidFill>
              <a:srgbClr val="F5A623"/>
            </a:solidFill>
            <a:prstDash val="solid"/>
          </a:ln>
        </p:spPr>
        <p:txBody>
          <a:bodyPr/>
          <a:lstStyle/>
          <a:p>
            <a:endParaRPr lang="en-IN"/>
          </a:p>
        </p:txBody>
      </p:sp>
      <p:sp>
        <p:nvSpPr>
          <p:cNvPr id="8" name="Shape 6"/>
          <p:cNvSpPr/>
          <p:nvPr/>
        </p:nvSpPr>
        <p:spPr>
          <a:xfrm>
            <a:off x="7467448" y="3566160"/>
            <a:ext cx="1569568" cy="1435608"/>
          </a:xfrm>
          <a:prstGeom prst="line">
            <a:avLst/>
          </a:prstGeom>
          <a:noFill/>
          <a:ln w="15875">
            <a:solidFill>
              <a:srgbClr val="F5A623"/>
            </a:solidFill>
            <a:prstDash val="solid"/>
          </a:ln>
        </p:spPr>
        <p:txBody>
          <a:bodyPr/>
          <a:lstStyle/>
          <a:p>
            <a:endParaRPr lang="en-IN"/>
          </a:p>
        </p:txBody>
      </p:sp>
      <p:sp>
        <p:nvSpPr>
          <p:cNvPr id="9" name="Shape 7"/>
          <p:cNvSpPr/>
          <p:nvPr/>
        </p:nvSpPr>
        <p:spPr>
          <a:xfrm>
            <a:off x="4724248" y="3108960"/>
            <a:ext cx="2743200" cy="914400"/>
          </a:xfrm>
          <a:prstGeom prst="roundRect">
            <a:avLst>
              <a:gd name="adj" fmla="val 6000"/>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4779112" y="3108960"/>
            <a:ext cx="2633472"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API Governance Board</a:t>
            </a:r>
            <a:endParaRPr lang="en-US" sz="1200" dirty="0"/>
          </a:p>
        </p:txBody>
      </p:sp>
      <p:sp>
        <p:nvSpPr>
          <p:cNvPr id="11" name="Shape 9"/>
          <p:cNvSpPr/>
          <p:nvPr/>
        </p:nvSpPr>
        <p:spPr>
          <a:xfrm>
            <a:off x="502920" y="1920240"/>
            <a:ext cx="26517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557784" y="1920240"/>
            <a:ext cx="25420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Naming &amp; Design Standards</a:t>
            </a:r>
            <a:endParaRPr lang="en-US" sz="1050" dirty="0"/>
          </a:p>
        </p:txBody>
      </p:sp>
      <p:sp>
        <p:nvSpPr>
          <p:cNvPr id="13" name="Shape 11"/>
          <p:cNvSpPr/>
          <p:nvPr/>
        </p:nvSpPr>
        <p:spPr>
          <a:xfrm>
            <a:off x="502920" y="4617720"/>
            <a:ext cx="26517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557784" y="4617720"/>
            <a:ext cx="25420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Security Policy Baseline</a:t>
            </a:r>
            <a:endParaRPr lang="en-US" sz="1050" dirty="0"/>
          </a:p>
        </p:txBody>
      </p:sp>
      <p:sp>
        <p:nvSpPr>
          <p:cNvPr id="15" name="Shape 13"/>
          <p:cNvSpPr/>
          <p:nvPr/>
        </p:nvSpPr>
        <p:spPr>
          <a:xfrm>
            <a:off x="9037015" y="1920240"/>
            <a:ext cx="26517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9091879" y="1920240"/>
            <a:ext cx="25420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Lifecycle &amp; Versioning Rules</a:t>
            </a:r>
            <a:endParaRPr lang="en-US" sz="1050" dirty="0"/>
          </a:p>
        </p:txBody>
      </p:sp>
      <p:sp>
        <p:nvSpPr>
          <p:cNvPr id="17" name="Shape 15"/>
          <p:cNvSpPr/>
          <p:nvPr/>
        </p:nvSpPr>
        <p:spPr>
          <a:xfrm>
            <a:off x="9037015" y="4617720"/>
            <a:ext cx="26517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9091879" y="4617720"/>
            <a:ext cx="25420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Onboarding &amp; Product Catalog</a:t>
            </a:r>
            <a:endParaRPr lang="en-US" sz="105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Governance</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Lifecycle Governance</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Every API passes through defined stage gates — no API reaches production without meeting the same bar.</a:t>
            </a:r>
            <a:endParaRPr lang="en-US" sz="1300" dirty="0"/>
          </a:p>
        </p:txBody>
      </p:sp>
      <p:sp>
        <p:nvSpPr>
          <p:cNvPr id="6" name="Text 4"/>
          <p:cNvSpPr/>
          <p:nvPr/>
        </p:nvSpPr>
        <p:spPr>
          <a:xfrm>
            <a:off x="502920" y="2331720"/>
            <a:ext cx="6035040" cy="374904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Intake: business/technical owner registers the API and its intended consumers in the catalog</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Design review: schema, naming, and security standards validated before development starts</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Security gate: OAuth scopes, rate limits, and policy baseline confirmed prior to publish</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Pre-production sign-off: automated policy and contract tests must pass in the CI/CD pipeline</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Production publish: API becomes visible in the Developer Portal under an approved Product</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Retirement: deprecation notice, sunset window, and consumer migration tracked to closure</a:t>
            </a:r>
            <a:endParaRPr lang="en-US" sz="1400" dirty="0"/>
          </a:p>
        </p:txBody>
      </p:sp>
      <p:sp>
        <p:nvSpPr>
          <p:cNvPr id="7" name="Shape 5"/>
          <p:cNvSpPr/>
          <p:nvPr/>
        </p:nvSpPr>
        <p:spPr>
          <a:xfrm>
            <a:off x="6903720" y="2368296"/>
            <a:ext cx="4785055" cy="496824"/>
          </a:xfrm>
          <a:prstGeom prst="roundRect">
            <a:avLst>
              <a:gd name="adj" fmla="val 11043"/>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6958584" y="236829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Intake</a:t>
            </a:r>
            <a:endParaRPr lang="en-US" sz="1050" dirty="0"/>
          </a:p>
        </p:txBody>
      </p:sp>
      <p:sp>
        <p:nvSpPr>
          <p:cNvPr id="9" name="Shape 7"/>
          <p:cNvSpPr/>
          <p:nvPr/>
        </p:nvSpPr>
        <p:spPr>
          <a:xfrm>
            <a:off x="6903720" y="2993136"/>
            <a:ext cx="4785055" cy="496824"/>
          </a:xfrm>
          <a:prstGeom prst="roundRect">
            <a:avLst>
              <a:gd name="adj" fmla="val 11043"/>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6958584" y="299313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Design</a:t>
            </a:r>
            <a:endParaRPr lang="en-US" sz="1050" dirty="0"/>
          </a:p>
        </p:txBody>
      </p:sp>
      <p:sp>
        <p:nvSpPr>
          <p:cNvPr id="11" name="Shape 9"/>
          <p:cNvSpPr/>
          <p:nvPr/>
        </p:nvSpPr>
        <p:spPr>
          <a:xfrm>
            <a:off x="6903720" y="3617976"/>
            <a:ext cx="4785055" cy="496824"/>
          </a:xfrm>
          <a:prstGeom prst="roundRect">
            <a:avLst>
              <a:gd name="adj" fmla="val 11043"/>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958584" y="361797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Security</a:t>
            </a:r>
            <a:endParaRPr lang="en-US" sz="1050" dirty="0"/>
          </a:p>
        </p:txBody>
      </p:sp>
      <p:sp>
        <p:nvSpPr>
          <p:cNvPr id="13" name="Shape 11"/>
          <p:cNvSpPr/>
          <p:nvPr/>
        </p:nvSpPr>
        <p:spPr>
          <a:xfrm>
            <a:off x="6903720" y="4242816"/>
            <a:ext cx="4785055" cy="496824"/>
          </a:xfrm>
          <a:prstGeom prst="roundRect">
            <a:avLst>
              <a:gd name="adj" fmla="val 11043"/>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6958584" y="424281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Pre-Prod</a:t>
            </a:r>
            <a:endParaRPr lang="en-US" sz="1050" dirty="0"/>
          </a:p>
        </p:txBody>
      </p:sp>
      <p:sp>
        <p:nvSpPr>
          <p:cNvPr id="15" name="Shape 13"/>
          <p:cNvSpPr/>
          <p:nvPr/>
        </p:nvSpPr>
        <p:spPr>
          <a:xfrm>
            <a:off x="6903720" y="4867656"/>
            <a:ext cx="4785055" cy="496824"/>
          </a:xfrm>
          <a:prstGeom prst="roundRect">
            <a:avLst>
              <a:gd name="adj" fmla="val 11043"/>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6958584" y="486765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Publish</a:t>
            </a:r>
            <a:endParaRPr lang="en-US" sz="1050" dirty="0"/>
          </a:p>
        </p:txBody>
      </p:sp>
      <p:sp>
        <p:nvSpPr>
          <p:cNvPr id="17" name="Shape 15"/>
          <p:cNvSpPr/>
          <p:nvPr/>
        </p:nvSpPr>
        <p:spPr>
          <a:xfrm>
            <a:off x="6903720" y="5492496"/>
            <a:ext cx="4785055" cy="496824"/>
          </a:xfrm>
          <a:prstGeom prst="roundRect">
            <a:avLst>
              <a:gd name="adj" fmla="val 11043"/>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6958584" y="549249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Retire</a:t>
            </a:r>
            <a:endParaRPr lang="en-US" sz="105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Governance</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Versioning Strategy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URI-based major versioning with policy-driven deprecation gives consumers predictable, low-risk upgrade paths.</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183112" cy="3794760"/>
        </p:xfrm>
        <a:graphic>
          <a:graphicData uri="http://schemas.openxmlformats.org/drawingml/2006/table">
            <a:tbl>
              <a:tblPr/>
              <a:tblGrid>
                <a:gridCol w="30175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593592">
                  <a:extLst>
                    <a:ext uri="{9D8B030D-6E8A-4147-A177-3AD203B41FA5}">
                      <a16:colId xmlns:a16="http://schemas.microsoft.com/office/drawing/2014/main" val="20002"/>
                    </a:ext>
                  </a:extLst>
                </a:gridCol>
              </a:tblGrid>
              <a:tr h="632460">
                <a:tc>
                  <a:txBody>
                    <a:bodyPr/>
                    <a:lstStyle/>
                    <a:p>
                      <a:pPr marL="0" indent="0">
                        <a:buNone/>
                      </a:pPr>
                      <a:r>
                        <a:rPr lang="en-US" sz="1100" b="1" dirty="0">
                          <a:solidFill>
                            <a:srgbClr val="FFFFFF"/>
                          </a:solidFill>
                        </a:rPr>
                        <a:t>Change Type</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rPr>
                        <a:t>Versioning Approach</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rPr>
                        <a:t>Consumer Impact</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32460">
                <a:tc>
                  <a:txBody>
                    <a:bodyPr/>
                    <a:lstStyle/>
                    <a:p>
                      <a:pPr marL="0" indent="0">
                        <a:buNone/>
                      </a:pPr>
                      <a:r>
                        <a:rPr lang="en-US" sz="1100" dirty="0">
                          <a:solidFill>
                            <a:srgbClr val="4A5578"/>
                          </a:solidFill>
                        </a:rPr>
                        <a:t>Breaking change</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New major version (e.g. /v2/) published alongside /v1/</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None until consumer opts in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2460">
                <a:tc>
                  <a:txBody>
                    <a:bodyPr/>
                    <a:lstStyle/>
                    <a:p>
                      <a:pPr marL="0" indent="0">
                        <a:buNone/>
                      </a:pPr>
                      <a:r>
                        <a:rPr lang="en-US" sz="1100" dirty="0">
                          <a:solidFill>
                            <a:srgbClr val="4A5578"/>
                          </a:solidFill>
                        </a:rPr>
                        <a:t>Non-breaking addition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Same version; additive fields only</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Zero impact, backward compatible</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2460">
                <a:tc>
                  <a:txBody>
                    <a:bodyPr/>
                    <a:lstStyle/>
                    <a:p>
                      <a:pPr marL="0" indent="0">
                        <a:buNone/>
                      </a:pPr>
                      <a:r>
                        <a:rPr lang="en-US" sz="1100" dirty="0">
                          <a:solidFill>
                            <a:srgbClr val="4A5578"/>
                          </a:solidFill>
                        </a:rPr>
                        <a:t>Deprecated version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Marked deprecated in Developer Portal with sunset date</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90-day minimum notice period</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460">
                <a:tc>
                  <a:txBody>
                    <a:bodyPr/>
                    <a:lstStyle/>
                    <a:p>
                      <a:pPr marL="0" indent="0">
                        <a:buNone/>
                      </a:pPr>
                      <a:r>
                        <a:rPr lang="en-US" sz="1100" dirty="0">
                          <a:solidFill>
                            <a:srgbClr val="4A5578"/>
                          </a:solidFill>
                        </a:rPr>
                        <a:t>Retired version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Removed after sunset window and consumer migration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Enforced via APIM policy, not silent removal</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2460">
                <a:tc>
                  <a:txBody>
                    <a:bodyPr/>
                    <a:lstStyle/>
                    <a:p>
                      <a:pPr marL="0" indent="0">
                        <a:buNone/>
                      </a:pPr>
                      <a:r>
                        <a:rPr lang="en-US" sz="1100" dirty="0">
                          <a:solidFill>
                            <a:srgbClr val="4A5578"/>
                          </a:solidFill>
                        </a:rPr>
                        <a:t>Partner-specific version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Isolated via dedicated Product / revision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No cross-impact to other consumers</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Governance</a:t>
            </a:r>
            <a:endParaRPr lang="en-US" sz="900" dirty="0"/>
          </a:p>
        </p:txBody>
      </p:sp>
      <p:sp>
        <p:nvSpPr>
          <p:cNvPr id="9"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0"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Standards and Policies</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Consistent standards, enforced as reusable APIM policy fragments, so every team ships APIs that look and behave the same.</a:t>
            </a:r>
            <a:endParaRPr lang="en-US" sz="1300" dirty="0"/>
          </a:p>
        </p:txBody>
      </p:sp>
      <p:sp>
        <p:nvSpPr>
          <p:cNvPr id="6" name="Shape 4"/>
          <p:cNvSpPr/>
          <p:nvPr/>
        </p:nvSpPr>
        <p:spPr>
          <a:xfrm>
            <a:off x="502920" y="2331720"/>
            <a:ext cx="2556434" cy="3566160"/>
          </a:xfrm>
          <a:prstGeom prst="roundRect">
            <a:avLst>
              <a:gd name="adj" fmla="val 2861"/>
            </a:avLst>
          </a:prstGeom>
          <a:solidFill>
            <a:srgbClr val="F7F9FD"/>
          </a:solidFill>
          <a:ln/>
        </p:spPr>
        <p:txBody>
          <a:bodyPr/>
          <a:lstStyle/>
          <a:p>
            <a:endParaRPr lang="en-IN"/>
          </a:p>
        </p:txBody>
      </p:sp>
      <p:sp>
        <p:nvSpPr>
          <p:cNvPr id="7" name="Shape 5"/>
          <p:cNvSpPr/>
          <p:nvPr/>
        </p:nvSpPr>
        <p:spPr>
          <a:xfrm>
            <a:off x="1461097" y="2606040"/>
            <a:ext cx="640080" cy="640080"/>
          </a:xfrm>
          <a:prstGeom prst="ellipse">
            <a:avLst/>
          </a:prstGeom>
          <a:solidFill>
            <a:srgbClr val="CADCFC"/>
          </a:solidFill>
          <a:ln/>
        </p:spPr>
        <p:txBody>
          <a:bodyPr/>
          <a:lstStyle/>
          <a:p>
            <a:endParaRPr lang="en-IN"/>
          </a:p>
        </p:txBody>
      </p:sp>
      <p:pic>
        <p:nvPicPr>
          <p:cNvPr id="8" name="Image 0" descr="/home/claude/apim_rfp/icon_cache/FaFileContract_1E2761_256.png"/>
          <p:cNvPicPr>
            <a:picLocks noChangeAspect="1"/>
          </p:cNvPicPr>
          <p:nvPr/>
        </p:nvPicPr>
        <p:blipFill>
          <a:blip r:embed="rId3"/>
          <a:stretch>
            <a:fillRect/>
          </a:stretch>
        </p:blipFill>
        <p:spPr>
          <a:xfrm>
            <a:off x="1627518" y="2772461"/>
            <a:ext cx="307238" cy="307238"/>
          </a:xfrm>
          <a:prstGeom prst="rect">
            <a:avLst/>
          </a:prstGeom>
        </p:spPr>
      </p:pic>
      <p:sp>
        <p:nvSpPr>
          <p:cNvPr id="9" name="Text 6"/>
          <p:cNvSpPr/>
          <p:nvPr/>
        </p:nvSpPr>
        <p:spPr>
          <a:xfrm>
            <a:off x="685800"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Design Standards</a:t>
            </a:r>
            <a:endParaRPr lang="en-US" sz="1400" dirty="0"/>
          </a:p>
        </p:txBody>
      </p:sp>
      <p:sp>
        <p:nvSpPr>
          <p:cNvPr id="10" name="Text 7"/>
          <p:cNvSpPr/>
          <p:nvPr/>
        </p:nvSpPr>
        <p:spPr>
          <a:xfrm>
            <a:off x="704088"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REST/OpenAPI conventions, consistent naming, error formats, and pagination across every API.</a:t>
            </a:r>
            <a:endParaRPr lang="en-US" sz="1150" dirty="0"/>
          </a:p>
        </p:txBody>
      </p:sp>
      <p:sp>
        <p:nvSpPr>
          <p:cNvPr id="11" name="Shape 8"/>
          <p:cNvSpPr/>
          <p:nvPr/>
        </p:nvSpPr>
        <p:spPr>
          <a:xfrm>
            <a:off x="3379394" y="2331720"/>
            <a:ext cx="2556434" cy="3566160"/>
          </a:xfrm>
          <a:prstGeom prst="roundRect">
            <a:avLst>
              <a:gd name="adj" fmla="val 2861"/>
            </a:avLst>
          </a:prstGeom>
          <a:solidFill>
            <a:srgbClr val="F7F9FD"/>
          </a:solidFill>
          <a:ln/>
        </p:spPr>
        <p:txBody>
          <a:bodyPr/>
          <a:lstStyle/>
          <a:p>
            <a:endParaRPr lang="en-IN"/>
          </a:p>
        </p:txBody>
      </p:sp>
      <p:sp>
        <p:nvSpPr>
          <p:cNvPr id="12" name="Shape 9"/>
          <p:cNvSpPr/>
          <p:nvPr/>
        </p:nvSpPr>
        <p:spPr>
          <a:xfrm>
            <a:off x="4337571" y="2606040"/>
            <a:ext cx="640080" cy="640080"/>
          </a:xfrm>
          <a:prstGeom prst="ellipse">
            <a:avLst/>
          </a:prstGeom>
          <a:solidFill>
            <a:srgbClr val="CADCFC"/>
          </a:solidFill>
          <a:ln/>
        </p:spPr>
        <p:txBody>
          <a:bodyPr/>
          <a:lstStyle/>
          <a:p>
            <a:endParaRPr lang="en-IN"/>
          </a:p>
        </p:txBody>
      </p:sp>
      <p:pic>
        <p:nvPicPr>
          <p:cNvPr id="13" name="Image 1" descr="/home/claude/apim_rfp/icon_cache/FaShieldAlt_1E2761_256.png"/>
          <p:cNvPicPr>
            <a:picLocks noChangeAspect="1"/>
          </p:cNvPicPr>
          <p:nvPr/>
        </p:nvPicPr>
        <p:blipFill>
          <a:blip r:embed="rId4"/>
          <a:stretch>
            <a:fillRect/>
          </a:stretch>
        </p:blipFill>
        <p:spPr>
          <a:xfrm>
            <a:off x="4503992" y="2772461"/>
            <a:ext cx="307238" cy="307238"/>
          </a:xfrm>
          <a:prstGeom prst="rect">
            <a:avLst/>
          </a:prstGeom>
        </p:spPr>
      </p:pic>
      <p:sp>
        <p:nvSpPr>
          <p:cNvPr id="14" name="Text 10"/>
          <p:cNvSpPr/>
          <p:nvPr/>
        </p:nvSpPr>
        <p:spPr>
          <a:xfrm>
            <a:off x="3562274"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Security Policies</a:t>
            </a:r>
            <a:endParaRPr lang="en-US" sz="1400" dirty="0"/>
          </a:p>
        </p:txBody>
      </p:sp>
      <p:sp>
        <p:nvSpPr>
          <p:cNvPr id="15" name="Text 11"/>
          <p:cNvSpPr/>
          <p:nvPr/>
        </p:nvSpPr>
        <p:spPr>
          <a:xfrm>
            <a:off x="3580562"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Reusable policy fragments for OAuth validation, rate limiting, and IP filtering applied consistently.</a:t>
            </a:r>
            <a:endParaRPr lang="en-US" sz="1150" dirty="0"/>
          </a:p>
        </p:txBody>
      </p:sp>
      <p:sp>
        <p:nvSpPr>
          <p:cNvPr id="16" name="Shape 12"/>
          <p:cNvSpPr/>
          <p:nvPr/>
        </p:nvSpPr>
        <p:spPr>
          <a:xfrm>
            <a:off x="6255868" y="2331720"/>
            <a:ext cx="2556434" cy="3566160"/>
          </a:xfrm>
          <a:prstGeom prst="roundRect">
            <a:avLst>
              <a:gd name="adj" fmla="val 2861"/>
            </a:avLst>
          </a:prstGeom>
          <a:solidFill>
            <a:srgbClr val="F7F9FD"/>
          </a:solidFill>
          <a:ln/>
        </p:spPr>
        <p:txBody>
          <a:bodyPr/>
          <a:lstStyle/>
          <a:p>
            <a:endParaRPr lang="en-IN"/>
          </a:p>
        </p:txBody>
      </p:sp>
      <p:sp>
        <p:nvSpPr>
          <p:cNvPr id="17" name="Shape 13"/>
          <p:cNvSpPr/>
          <p:nvPr/>
        </p:nvSpPr>
        <p:spPr>
          <a:xfrm>
            <a:off x="7214044" y="2606040"/>
            <a:ext cx="640080" cy="640080"/>
          </a:xfrm>
          <a:prstGeom prst="ellipse">
            <a:avLst/>
          </a:prstGeom>
          <a:solidFill>
            <a:srgbClr val="CADCFC"/>
          </a:solidFill>
          <a:ln/>
        </p:spPr>
        <p:txBody>
          <a:bodyPr/>
          <a:lstStyle/>
          <a:p>
            <a:endParaRPr lang="en-IN"/>
          </a:p>
        </p:txBody>
      </p:sp>
      <p:pic>
        <p:nvPicPr>
          <p:cNvPr id="18" name="Image 2" descr="/home/claude/apim_rfp/icon_cache/FaBalanceScale_1E2761_256.png"/>
          <p:cNvPicPr>
            <a:picLocks noChangeAspect="1"/>
          </p:cNvPicPr>
          <p:nvPr/>
        </p:nvPicPr>
        <p:blipFill>
          <a:blip r:embed="rId5"/>
          <a:stretch>
            <a:fillRect/>
          </a:stretch>
        </p:blipFill>
        <p:spPr>
          <a:xfrm>
            <a:off x="7380465" y="2772461"/>
            <a:ext cx="307238" cy="307238"/>
          </a:xfrm>
          <a:prstGeom prst="rect">
            <a:avLst/>
          </a:prstGeom>
        </p:spPr>
      </p:pic>
      <p:sp>
        <p:nvSpPr>
          <p:cNvPr id="19" name="Text 14"/>
          <p:cNvSpPr/>
          <p:nvPr/>
        </p:nvSpPr>
        <p:spPr>
          <a:xfrm>
            <a:off x="6438748"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Compliance Policies</a:t>
            </a:r>
            <a:endParaRPr lang="en-US" sz="1400" dirty="0"/>
          </a:p>
        </p:txBody>
      </p:sp>
      <p:sp>
        <p:nvSpPr>
          <p:cNvPr id="20" name="Text 15"/>
          <p:cNvSpPr/>
          <p:nvPr/>
        </p:nvSpPr>
        <p:spPr>
          <a:xfrm>
            <a:off x="6457036"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Data masking, logging redaction, and regional routing enforced to meet PCI-DSS and data residency rules.</a:t>
            </a:r>
            <a:endParaRPr lang="en-US" sz="1150" dirty="0"/>
          </a:p>
        </p:txBody>
      </p:sp>
      <p:sp>
        <p:nvSpPr>
          <p:cNvPr id="21" name="Shape 16"/>
          <p:cNvSpPr/>
          <p:nvPr/>
        </p:nvSpPr>
        <p:spPr>
          <a:xfrm>
            <a:off x="9132341" y="2331720"/>
            <a:ext cx="2556434" cy="3566160"/>
          </a:xfrm>
          <a:prstGeom prst="roundRect">
            <a:avLst>
              <a:gd name="adj" fmla="val 2861"/>
            </a:avLst>
          </a:prstGeom>
          <a:solidFill>
            <a:srgbClr val="F7F9FD"/>
          </a:solidFill>
          <a:ln/>
        </p:spPr>
        <p:txBody>
          <a:bodyPr/>
          <a:lstStyle/>
          <a:p>
            <a:endParaRPr lang="en-IN"/>
          </a:p>
        </p:txBody>
      </p:sp>
      <p:sp>
        <p:nvSpPr>
          <p:cNvPr id="22" name="Shape 17"/>
          <p:cNvSpPr/>
          <p:nvPr/>
        </p:nvSpPr>
        <p:spPr>
          <a:xfrm>
            <a:off x="10090518" y="2606040"/>
            <a:ext cx="640080" cy="640080"/>
          </a:xfrm>
          <a:prstGeom prst="ellipse">
            <a:avLst/>
          </a:prstGeom>
          <a:solidFill>
            <a:srgbClr val="CADCFC"/>
          </a:solidFill>
          <a:ln/>
        </p:spPr>
        <p:txBody>
          <a:bodyPr/>
          <a:lstStyle/>
          <a:p>
            <a:endParaRPr lang="en-IN"/>
          </a:p>
        </p:txBody>
      </p:sp>
      <p:pic>
        <p:nvPicPr>
          <p:cNvPr id="23" name="Image 3" descr="/home/claude/apim_rfp/icon_cache/FaSyncAlt_1E2761_256.png"/>
          <p:cNvPicPr>
            <a:picLocks noChangeAspect="1"/>
          </p:cNvPicPr>
          <p:nvPr/>
        </p:nvPicPr>
        <p:blipFill>
          <a:blip r:embed="rId6"/>
          <a:stretch>
            <a:fillRect/>
          </a:stretch>
        </p:blipFill>
        <p:spPr>
          <a:xfrm>
            <a:off x="10256939" y="2772461"/>
            <a:ext cx="307238" cy="307238"/>
          </a:xfrm>
          <a:prstGeom prst="rect">
            <a:avLst/>
          </a:prstGeom>
        </p:spPr>
      </p:pic>
      <p:sp>
        <p:nvSpPr>
          <p:cNvPr id="24" name="Text 18"/>
          <p:cNvSpPr/>
          <p:nvPr/>
        </p:nvSpPr>
        <p:spPr>
          <a:xfrm>
            <a:off x="9315221"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Reusability</a:t>
            </a:r>
            <a:endParaRPr lang="en-US" sz="1400" dirty="0"/>
          </a:p>
        </p:txBody>
      </p:sp>
      <p:sp>
        <p:nvSpPr>
          <p:cNvPr id="25" name="Text 19"/>
          <p:cNvSpPr/>
          <p:nvPr/>
        </p:nvSpPr>
        <p:spPr>
          <a:xfrm>
            <a:off x="9333509"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Shared policy fragments and named values eliminate copy-pasted, drifting configuration across teams.</a:t>
            </a:r>
            <a:endParaRPr lang="en-US" sz="1150" dirty="0"/>
          </a:p>
        </p:txBody>
      </p:sp>
      <p:sp>
        <p:nvSpPr>
          <p:cNvPr id="27" name="Text 2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Governance</a:t>
            </a:r>
            <a:endParaRPr lang="en-US" sz="900" dirty="0"/>
          </a:p>
        </p:txBody>
      </p:sp>
      <p:sp>
        <p:nvSpPr>
          <p:cNvPr id="28" name="Text 2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9" name="Text 2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06</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6</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Operations</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Unified monitoring, logging, alerting, analytics, and a tiered support model.</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6</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OPERATIONS</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Monitoring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Every gateway, policy, and backend call feeds a single Azure Monitor pane — no blind spots across environments.</a:t>
            </a:r>
            <a:endParaRPr lang="en-US" sz="1200" dirty="0"/>
          </a:p>
        </p:txBody>
      </p:sp>
      <p:sp>
        <p:nvSpPr>
          <p:cNvPr id="5" name="Shape 3"/>
          <p:cNvSpPr/>
          <p:nvPr/>
        </p:nvSpPr>
        <p:spPr>
          <a:xfrm>
            <a:off x="502920" y="2194560"/>
            <a:ext cx="31089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94560"/>
            <a:ext cx="2999232" cy="7772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APIM Gateway Metrics</a:t>
            </a:r>
            <a:endParaRPr lang="en-US" sz="1000" dirty="0"/>
          </a:p>
        </p:txBody>
      </p:sp>
      <p:sp>
        <p:nvSpPr>
          <p:cNvPr id="7" name="Shape 5"/>
          <p:cNvSpPr/>
          <p:nvPr/>
        </p:nvSpPr>
        <p:spPr>
          <a:xfrm>
            <a:off x="502920" y="3154680"/>
            <a:ext cx="31089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3154680"/>
            <a:ext cx="2999232" cy="7772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Application Insights </a:t>
            </a:r>
            <a:endParaRPr lang="en-US" sz="1000" dirty="0"/>
          </a:p>
        </p:txBody>
      </p:sp>
      <p:sp>
        <p:nvSpPr>
          <p:cNvPr id="9" name="Shape 7"/>
          <p:cNvSpPr/>
          <p:nvPr/>
        </p:nvSpPr>
        <p:spPr>
          <a:xfrm>
            <a:off x="502920" y="4114800"/>
            <a:ext cx="31089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557784" y="4114800"/>
            <a:ext cx="2999232" cy="7772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Azure Front Door / WAF</a:t>
            </a:r>
            <a:endParaRPr lang="en-US" sz="1000" dirty="0"/>
          </a:p>
        </p:txBody>
      </p:sp>
      <p:sp>
        <p:nvSpPr>
          <p:cNvPr id="11" name="Shape 9"/>
          <p:cNvSpPr/>
          <p:nvPr/>
        </p:nvSpPr>
        <p:spPr>
          <a:xfrm>
            <a:off x="3611880" y="2578607"/>
            <a:ext cx="768096" cy="914399"/>
          </a:xfrm>
          <a:prstGeom prst="line">
            <a:avLst/>
          </a:prstGeom>
          <a:noFill/>
          <a:ln w="19050">
            <a:solidFill>
              <a:srgbClr val="1E2761"/>
            </a:solidFill>
            <a:prstDash val="solid"/>
            <a:tailEnd type="triangle"/>
          </a:ln>
        </p:spPr>
        <p:txBody>
          <a:bodyPr/>
          <a:lstStyle/>
          <a:p>
            <a:endParaRPr lang="en-IN"/>
          </a:p>
        </p:txBody>
      </p:sp>
      <p:sp>
        <p:nvSpPr>
          <p:cNvPr id="12" name="Shape 10"/>
          <p:cNvSpPr/>
          <p:nvPr/>
        </p:nvSpPr>
        <p:spPr>
          <a:xfrm>
            <a:off x="3611880" y="3538728"/>
            <a:ext cx="822960" cy="0"/>
          </a:xfrm>
          <a:prstGeom prst="line">
            <a:avLst/>
          </a:prstGeom>
          <a:noFill/>
          <a:ln w="19050">
            <a:solidFill>
              <a:srgbClr val="1E2761"/>
            </a:solidFill>
            <a:prstDash val="solid"/>
            <a:tailEnd type="triangle"/>
          </a:ln>
        </p:spPr>
        <p:txBody>
          <a:bodyPr/>
          <a:lstStyle/>
          <a:p>
            <a:endParaRPr lang="en-IN"/>
          </a:p>
        </p:txBody>
      </p:sp>
      <p:sp>
        <p:nvSpPr>
          <p:cNvPr id="13" name="Shape 11"/>
          <p:cNvSpPr/>
          <p:nvPr/>
        </p:nvSpPr>
        <p:spPr>
          <a:xfrm flipV="1">
            <a:off x="3611880" y="3675886"/>
            <a:ext cx="768096" cy="822962"/>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4434840" y="3017520"/>
            <a:ext cx="2926080" cy="1005840"/>
          </a:xfrm>
          <a:prstGeom prst="roundRect">
            <a:avLst>
              <a:gd name="adj" fmla="val 5455"/>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5" name="Text 13"/>
          <p:cNvSpPr/>
          <p:nvPr/>
        </p:nvSpPr>
        <p:spPr>
          <a:xfrm>
            <a:off x="4489704" y="3017520"/>
            <a:ext cx="2816352"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Monitor / Log Analytics</a:t>
            </a:r>
            <a:endParaRPr lang="en-US" sz="1100" dirty="0"/>
          </a:p>
        </p:txBody>
      </p:sp>
      <p:sp>
        <p:nvSpPr>
          <p:cNvPr id="16" name="Shape 14"/>
          <p:cNvSpPr/>
          <p:nvPr/>
        </p:nvSpPr>
        <p:spPr>
          <a:xfrm>
            <a:off x="7360920" y="3520440"/>
            <a:ext cx="822960" cy="0"/>
          </a:xfrm>
          <a:prstGeom prst="line">
            <a:avLst/>
          </a:prstGeom>
          <a:noFill/>
          <a:ln w="19050">
            <a:solidFill>
              <a:srgbClr val="1E2761"/>
            </a:solidFill>
            <a:prstDash val="solid"/>
            <a:tailEnd type="triangle"/>
          </a:ln>
        </p:spPr>
        <p:txBody>
          <a:bodyPr/>
          <a:lstStyle/>
          <a:p>
            <a:endParaRPr lang="en-IN"/>
          </a:p>
        </p:txBody>
      </p:sp>
      <p:sp>
        <p:nvSpPr>
          <p:cNvPr id="17" name="Shape 15"/>
          <p:cNvSpPr/>
          <p:nvPr/>
        </p:nvSpPr>
        <p:spPr>
          <a:xfrm>
            <a:off x="8183880" y="3017520"/>
            <a:ext cx="3504895" cy="1005840"/>
          </a:xfrm>
          <a:prstGeom prst="roundRect">
            <a:avLst>
              <a:gd name="adj" fmla="val 5455"/>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8238744" y="3017520"/>
            <a:ext cx="3395167" cy="10058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Dashboards &amp; Workbooks</a:t>
            </a:r>
            <a:endParaRPr lang="en-US" sz="110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Operations</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30</a:t>
            </a:r>
            <a:endParaRPr lang="en-US" sz="900" dirty="0"/>
          </a:p>
        </p:txBody>
      </p:sp>
      <p:sp>
        <p:nvSpPr>
          <p:cNvPr id="19" name="Shape 7">
            <a:extLst>
              <a:ext uri="{FF2B5EF4-FFF2-40B4-BE49-F238E27FC236}">
                <a16:creationId xmlns:a16="http://schemas.microsoft.com/office/drawing/2014/main" id="{B65C7863-E3E7-86F5-41B5-060D7A927875}"/>
              </a:ext>
            </a:extLst>
          </p:cNvPr>
          <p:cNvSpPr/>
          <p:nvPr/>
        </p:nvSpPr>
        <p:spPr>
          <a:xfrm>
            <a:off x="543560" y="5293360"/>
            <a:ext cx="31089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8">
            <a:extLst>
              <a:ext uri="{FF2B5EF4-FFF2-40B4-BE49-F238E27FC236}">
                <a16:creationId xmlns:a16="http://schemas.microsoft.com/office/drawing/2014/main" id="{2A8E302B-9BC1-568E-1D3A-131010DD5FBB}"/>
              </a:ext>
            </a:extLst>
          </p:cNvPr>
          <p:cNvSpPr/>
          <p:nvPr/>
        </p:nvSpPr>
        <p:spPr>
          <a:xfrm>
            <a:off x="598424" y="5293360"/>
            <a:ext cx="2999232" cy="7772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Diagnostics</a:t>
            </a:r>
            <a:endParaRPr lang="en-US" sz="1000" dirty="0"/>
          </a:p>
        </p:txBody>
      </p:sp>
      <p:sp>
        <p:nvSpPr>
          <p:cNvPr id="24" name="Shape 11">
            <a:extLst>
              <a:ext uri="{FF2B5EF4-FFF2-40B4-BE49-F238E27FC236}">
                <a16:creationId xmlns:a16="http://schemas.microsoft.com/office/drawing/2014/main" id="{6EF8BCDB-C7F2-4053-F246-E350C74659F7}"/>
              </a:ext>
            </a:extLst>
          </p:cNvPr>
          <p:cNvSpPr/>
          <p:nvPr/>
        </p:nvSpPr>
        <p:spPr>
          <a:xfrm flipV="1">
            <a:off x="3652520" y="3877053"/>
            <a:ext cx="782320" cy="1866397"/>
          </a:xfrm>
          <a:prstGeom prst="line">
            <a:avLst/>
          </a:prstGeom>
          <a:noFill/>
          <a:ln w="19050">
            <a:solidFill>
              <a:srgbClr val="1E2761"/>
            </a:solidFill>
            <a:prstDash val="solid"/>
            <a:tailEnd type="triangle"/>
          </a:ln>
        </p:spPr>
        <p:txBody>
          <a:bodyPr/>
          <a:lstStyle/>
          <a:p>
            <a:endParaRPr lang="en-I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OPERATIONS</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Alerting Architecture</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Threshold and anomaly-based alerts route to the right team automatically, with escalation paths defined up front.</a:t>
            </a:r>
            <a:endParaRPr lang="en-US" sz="1300" dirty="0"/>
          </a:p>
        </p:txBody>
      </p:sp>
      <p:sp>
        <p:nvSpPr>
          <p:cNvPr id="6" name="Shape 4"/>
          <p:cNvSpPr/>
          <p:nvPr/>
        </p:nvSpPr>
        <p:spPr>
          <a:xfrm>
            <a:off x="502920" y="2331720"/>
            <a:ext cx="5410048" cy="3749040"/>
          </a:xfrm>
          <a:prstGeom prst="roundRect">
            <a:avLst>
              <a:gd name="adj" fmla="val 1951"/>
            </a:avLst>
          </a:prstGeom>
          <a:solidFill>
            <a:srgbClr val="F7F9FD"/>
          </a:solidFill>
          <a:ln/>
        </p:spPr>
        <p:txBody>
          <a:bodyPr/>
          <a:lstStyle/>
          <a:p>
            <a:endParaRPr lang="en-IN"/>
          </a:p>
        </p:txBody>
      </p:sp>
      <p:sp>
        <p:nvSpPr>
          <p:cNvPr id="7" name="Text 5"/>
          <p:cNvSpPr/>
          <p:nvPr/>
        </p:nvSpPr>
        <p:spPr>
          <a:xfrm>
            <a:off x="731520" y="2514600"/>
            <a:ext cx="4952848"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What We Alert On</a:t>
            </a:r>
            <a:endParaRPr lang="en-US" sz="1500" dirty="0"/>
          </a:p>
        </p:txBody>
      </p:sp>
      <p:sp>
        <p:nvSpPr>
          <p:cNvPr id="8" name="Text 6"/>
          <p:cNvSpPr/>
          <p:nvPr/>
        </p:nvSpPr>
        <p:spPr>
          <a:xfrm>
            <a:off x="731520"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Gateway error rate (4xx/5xx) exceeding baseline</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Latency breaches against agreed SLAs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Authentication failure spikes (possible credential attack)</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Certificate or secret expiry within 30 days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Capacity utilization approaching scale limits</a:t>
            </a:r>
            <a:endParaRPr lang="en-US" sz="1250" dirty="0"/>
          </a:p>
        </p:txBody>
      </p:sp>
      <p:sp>
        <p:nvSpPr>
          <p:cNvPr id="9" name="Shape 7"/>
          <p:cNvSpPr/>
          <p:nvPr/>
        </p:nvSpPr>
        <p:spPr>
          <a:xfrm>
            <a:off x="6278728" y="2331720"/>
            <a:ext cx="5410048" cy="3749040"/>
          </a:xfrm>
          <a:prstGeom prst="roundRect">
            <a:avLst>
              <a:gd name="adj" fmla="val 1951"/>
            </a:avLst>
          </a:prstGeom>
          <a:solidFill>
            <a:srgbClr val="F7F9FD"/>
          </a:solidFill>
          <a:ln/>
        </p:spPr>
        <p:txBody>
          <a:bodyPr/>
          <a:lstStyle/>
          <a:p>
            <a:endParaRPr lang="en-IN"/>
          </a:p>
        </p:txBody>
      </p:sp>
      <p:sp>
        <p:nvSpPr>
          <p:cNvPr id="10" name="Text 8"/>
          <p:cNvSpPr/>
          <p:nvPr/>
        </p:nvSpPr>
        <p:spPr>
          <a:xfrm>
            <a:off x="6507328" y="2514600"/>
            <a:ext cx="4952848" cy="411480"/>
          </a:xfrm>
          <a:prstGeom prst="rect">
            <a:avLst/>
          </a:prstGeom>
          <a:noFill/>
          <a:ln/>
        </p:spPr>
        <p:txBody>
          <a:bodyPr wrap="square" lIns="0" tIns="0" rIns="0" bIns="0" rtlCol="0" anchor="ctr"/>
          <a:lstStyle/>
          <a:p>
            <a:pPr marL="0" indent="0">
              <a:buNone/>
            </a:pPr>
            <a:r>
              <a:rPr lang="en-US" sz="1500" b="1" dirty="0">
                <a:solidFill>
                  <a:srgbClr val="1E8E5A"/>
                </a:solidFill>
                <a:latin typeface="Calibri" pitchFamily="34" charset="0"/>
                <a:ea typeface="Calibri" pitchFamily="34" charset="-122"/>
                <a:cs typeface="Calibri" pitchFamily="34" charset="-120"/>
              </a:rPr>
              <a:t>How It Routes</a:t>
            </a:r>
            <a:endParaRPr lang="en-US" sz="1500" dirty="0"/>
          </a:p>
        </p:txBody>
      </p:sp>
      <p:sp>
        <p:nvSpPr>
          <p:cNvPr id="11" name="Text 9"/>
          <p:cNvSpPr/>
          <p:nvPr/>
        </p:nvSpPr>
        <p:spPr>
          <a:xfrm>
            <a:off x="6507328"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Azure Monitor Action Groups trigger notification and automation</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Severity 1 pages the on-call integration engineer via ITSM tooling</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Security-relevant alerts additionally route to the SOC/SIEM</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Weekly digest summarizes lower-severity trends for the platform team</a:t>
            </a:r>
            <a:endParaRPr lang="en-US" sz="1250" dirty="0"/>
          </a:p>
        </p:txBody>
      </p:sp>
      <p:sp>
        <p:nvSpPr>
          <p:cNvPr id="13" name="Text 1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Operations</a:t>
            </a:r>
            <a:endParaRPr lang="en-US" sz="900" dirty="0"/>
          </a:p>
        </p:txBody>
      </p:sp>
      <p:sp>
        <p:nvSpPr>
          <p:cNvPr id="14" name="Text 1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5" name="Text 1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OPERATIONS</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Analytics Model</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Built-in APIM analytics plus Power BI give both technical and business stakeholders the view they need.</a:t>
            </a:r>
            <a:endParaRPr lang="en-US" sz="1300" dirty="0"/>
          </a:p>
        </p:txBody>
      </p:sp>
      <p:sp>
        <p:nvSpPr>
          <p:cNvPr id="6" name="Shape 4"/>
          <p:cNvSpPr/>
          <p:nvPr/>
        </p:nvSpPr>
        <p:spPr>
          <a:xfrm>
            <a:off x="502920" y="2377440"/>
            <a:ext cx="2590724" cy="2103120"/>
          </a:xfrm>
          <a:prstGeom prst="roundRect">
            <a:avLst>
              <a:gd name="adj" fmla="val 3478"/>
            </a:avLst>
          </a:prstGeom>
          <a:solidFill>
            <a:srgbClr val="1E2761"/>
          </a:solidFill>
          <a:ln/>
        </p:spPr>
        <p:txBody>
          <a:bodyPr/>
          <a:lstStyle/>
          <a:p>
            <a:endParaRPr lang="en-IN"/>
          </a:p>
        </p:txBody>
      </p:sp>
      <p:sp>
        <p:nvSpPr>
          <p:cNvPr id="7" name="Text 5"/>
          <p:cNvSpPr/>
          <p:nvPr/>
        </p:nvSpPr>
        <p:spPr>
          <a:xfrm>
            <a:off x="594360"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Usage</a:t>
            </a:r>
            <a:endParaRPr lang="en-US" sz="3400" dirty="0"/>
          </a:p>
        </p:txBody>
      </p:sp>
      <p:sp>
        <p:nvSpPr>
          <p:cNvPr id="8" name="Text 6"/>
          <p:cNvSpPr/>
          <p:nvPr/>
        </p:nvSpPr>
        <p:spPr>
          <a:xfrm>
            <a:off x="640080"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Calls per API, per product, per consumer, tracked in near real time</a:t>
            </a:r>
            <a:endParaRPr lang="en-US" sz="1150" dirty="0"/>
          </a:p>
        </p:txBody>
      </p:sp>
      <p:sp>
        <p:nvSpPr>
          <p:cNvPr id="9" name="Shape 7"/>
          <p:cNvSpPr/>
          <p:nvPr/>
        </p:nvSpPr>
        <p:spPr>
          <a:xfrm>
            <a:off x="3367964" y="2377440"/>
            <a:ext cx="2590724" cy="2103120"/>
          </a:xfrm>
          <a:prstGeom prst="roundRect">
            <a:avLst>
              <a:gd name="adj" fmla="val 3478"/>
            </a:avLst>
          </a:prstGeom>
          <a:solidFill>
            <a:srgbClr val="1E2761"/>
          </a:solidFill>
          <a:ln/>
        </p:spPr>
        <p:txBody>
          <a:bodyPr/>
          <a:lstStyle/>
          <a:p>
            <a:endParaRPr lang="en-IN"/>
          </a:p>
        </p:txBody>
      </p:sp>
      <p:sp>
        <p:nvSpPr>
          <p:cNvPr id="10" name="Text 8"/>
          <p:cNvSpPr/>
          <p:nvPr/>
        </p:nvSpPr>
        <p:spPr>
          <a:xfrm>
            <a:off x="3459404"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Performance</a:t>
            </a:r>
            <a:endParaRPr lang="en-US" sz="3400" dirty="0"/>
          </a:p>
        </p:txBody>
      </p:sp>
      <p:sp>
        <p:nvSpPr>
          <p:cNvPr id="11" name="Text 9"/>
          <p:cNvSpPr/>
          <p:nvPr/>
        </p:nvSpPr>
        <p:spPr>
          <a:xfrm>
            <a:off x="3505124"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Latency percentiles (p50/p95/p99) and backend response time</a:t>
            </a:r>
            <a:endParaRPr lang="en-US" sz="1150" dirty="0"/>
          </a:p>
        </p:txBody>
      </p:sp>
      <p:sp>
        <p:nvSpPr>
          <p:cNvPr id="12" name="Shape 10"/>
          <p:cNvSpPr/>
          <p:nvPr/>
        </p:nvSpPr>
        <p:spPr>
          <a:xfrm>
            <a:off x="6233008" y="2377440"/>
            <a:ext cx="2590724" cy="2103120"/>
          </a:xfrm>
          <a:prstGeom prst="roundRect">
            <a:avLst>
              <a:gd name="adj" fmla="val 3478"/>
            </a:avLst>
          </a:prstGeom>
          <a:solidFill>
            <a:srgbClr val="1E2761"/>
          </a:solidFill>
          <a:ln/>
        </p:spPr>
        <p:txBody>
          <a:bodyPr/>
          <a:lstStyle/>
          <a:p>
            <a:endParaRPr lang="en-IN"/>
          </a:p>
        </p:txBody>
      </p:sp>
      <p:sp>
        <p:nvSpPr>
          <p:cNvPr id="13" name="Text 11"/>
          <p:cNvSpPr/>
          <p:nvPr/>
        </p:nvSpPr>
        <p:spPr>
          <a:xfrm>
            <a:off x="6324448"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Errors</a:t>
            </a:r>
            <a:endParaRPr lang="en-US" sz="3400" dirty="0"/>
          </a:p>
        </p:txBody>
      </p:sp>
      <p:sp>
        <p:nvSpPr>
          <p:cNvPr id="14" name="Text 12"/>
          <p:cNvSpPr/>
          <p:nvPr/>
        </p:nvSpPr>
        <p:spPr>
          <a:xfrm>
            <a:off x="6370168"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Error rate by API and status code, correlated to root cause</a:t>
            </a:r>
            <a:endParaRPr lang="en-US" sz="1150" dirty="0"/>
          </a:p>
        </p:txBody>
      </p:sp>
      <p:sp>
        <p:nvSpPr>
          <p:cNvPr id="15" name="Shape 13"/>
          <p:cNvSpPr/>
          <p:nvPr/>
        </p:nvSpPr>
        <p:spPr>
          <a:xfrm>
            <a:off x="9098051" y="2377440"/>
            <a:ext cx="2590724" cy="2103120"/>
          </a:xfrm>
          <a:prstGeom prst="roundRect">
            <a:avLst>
              <a:gd name="adj" fmla="val 3478"/>
            </a:avLst>
          </a:prstGeom>
          <a:solidFill>
            <a:srgbClr val="1E2761"/>
          </a:solidFill>
          <a:ln/>
        </p:spPr>
        <p:txBody>
          <a:bodyPr/>
          <a:lstStyle/>
          <a:p>
            <a:endParaRPr lang="en-IN"/>
          </a:p>
        </p:txBody>
      </p:sp>
      <p:sp>
        <p:nvSpPr>
          <p:cNvPr id="16" name="Text 14"/>
          <p:cNvSpPr/>
          <p:nvPr/>
        </p:nvSpPr>
        <p:spPr>
          <a:xfrm>
            <a:off x="9189491"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Adoption</a:t>
            </a:r>
            <a:endParaRPr lang="en-US" sz="3400" dirty="0"/>
          </a:p>
        </p:txBody>
      </p:sp>
      <p:sp>
        <p:nvSpPr>
          <p:cNvPr id="17" name="Text 15"/>
          <p:cNvSpPr/>
          <p:nvPr/>
        </p:nvSpPr>
        <p:spPr>
          <a:xfrm>
            <a:off x="9235211"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Developer Portal sign-ups, subscription growth, top consumers</a:t>
            </a:r>
            <a:endParaRPr lang="en-US" sz="1150" dirty="0"/>
          </a:p>
        </p:txBody>
      </p:sp>
      <p:sp>
        <p:nvSpPr>
          <p:cNvPr id="18" name="Text 16"/>
          <p:cNvSpPr/>
          <p:nvPr/>
        </p:nvSpPr>
        <p:spPr>
          <a:xfrm>
            <a:off x="502920" y="4709160"/>
            <a:ext cx="11185855" cy="1188720"/>
          </a:xfrm>
          <a:prstGeom prst="rect">
            <a:avLst/>
          </a:prstGeom>
          <a:noFill/>
          <a:ln/>
        </p:spPr>
        <p:txBody>
          <a:bodyPr wrap="square" lIns="0" tIns="0" rIns="0" bIns="0" rtlCol="0" anchor="ctr"/>
          <a:lstStyle/>
          <a:p>
            <a:pPr marL="0" indent="0">
              <a:lnSpc>
                <a:spcPct val="125000"/>
              </a:lnSpc>
              <a:buNone/>
            </a:pPr>
            <a:r>
              <a:rPr lang="en-US" sz="1250" i="1" dirty="0">
                <a:solidFill>
                  <a:srgbClr val="4A5578"/>
                </a:solidFill>
                <a:latin typeface="Calibri" pitchFamily="34" charset="0"/>
                <a:ea typeface="Calibri" pitchFamily="34" charset="-122"/>
                <a:cs typeface="Calibri" pitchFamily="34" charset="-120"/>
              </a:rPr>
              <a:t>Business Product Owners get a curated Power BI view; platform engineers get full Log Analytics query access.</a:t>
            </a:r>
            <a:endParaRPr lang="en-US" sz="125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Operations</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07</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7</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DevOps</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APIOps, infrastructure as code, and a governed deployment pipeline across environments.</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7</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DEVOPS</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APIM CI/CD Model (APIOps)</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Every APIM configuration change is version-controlled, reviewed, and deployed automatically — never edited by hand in production.</a:t>
            </a:r>
            <a:endParaRPr lang="en-US" sz="1200" dirty="0"/>
          </a:p>
        </p:txBody>
      </p:sp>
      <p:sp>
        <p:nvSpPr>
          <p:cNvPr id="5" name="Shape 3"/>
          <p:cNvSpPr/>
          <p:nvPr/>
        </p:nvSpPr>
        <p:spPr>
          <a:xfrm>
            <a:off x="1348740" y="1874520"/>
            <a:ext cx="274320" cy="274320"/>
          </a:xfrm>
          <a:prstGeom prst="ellipse">
            <a:avLst/>
          </a:prstGeom>
          <a:solidFill>
            <a:srgbClr val="F5A623"/>
          </a:solidFill>
          <a:ln/>
        </p:spPr>
        <p:txBody>
          <a:bodyPr/>
          <a:lstStyle/>
          <a:p>
            <a:endParaRPr lang="en-IN"/>
          </a:p>
        </p:txBody>
      </p:sp>
      <p:sp>
        <p:nvSpPr>
          <p:cNvPr id="6" name="Text 4"/>
          <p:cNvSpPr/>
          <p:nvPr/>
        </p:nvSpPr>
        <p:spPr>
          <a:xfrm>
            <a:off x="1348740"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Shape 5"/>
          <p:cNvSpPr/>
          <p:nvPr/>
        </p:nvSpPr>
        <p:spPr>
          <a:xfrm>
            <a:off x="502920"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2377440"/>
            <a:ext cx="1856232" cy="10058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Git Repo</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(APIM config as code)</a:t>
            </a:r>
            <a:endParaRPr lang="en-US" sz="1000" dirty="0"/>
          </a:p>
        </p:txBody>
      </p:sp>
      <p:sp>
        <p:nvSpPr>
          <p:cNvPr id="9" name="Shape 7"/>
          <p:cNvSpPr/>
          <p:nvPr/>
        </p:nvSpPr>
        <p:spPr>
          <a:xfrm>
            <a:off x="2468880" y="2880360"/>
            <a:ext cx="339014" cy="0"/>
          </a:xfrm>
          <a:prstGeom prst="line">
            <a:avLst/>
          </a:prstGeom>
          <a:noFill/>
          <a:ln w="19050">
            <a:solidFill>
              <a:srgbClr val="1E2761"/>
            </a:solidFill>
            <a:prstDash val="solid"/>
            <a:tailEnd type="triangle"/>
          </a:ln>
        </p:spPr>
        <p:txBody>
          <a:bodyPr/>
          <a:lstStyle/>
          <a:p>
            <a:endParaRPr lang="en-IN"/>
          </a:p>
        </p:txBody>
      </p:sp>
      <p:sp>
        <p:nvSpPr>
          <p:cNvPr id="10" name="Shape 8"/>
          <p:cNvSpPr/>
          <p:nvPr/>
        </p:nvSpPr>
        <p:spPr>
          <a:xfrm>
            <a:off x="3653714" y="1874520"/>
            <a:ext cx="274320" cy="274320"/>
          </a:xfrm>
          <a:prstGeom prst="ellipse">
            <a:avLst/>
          </a:prstGeom>
          <a:solidFill>
            <a:srgbClr val="F5A623"/>
          </a:solidFill>
          <a:ln/>
        </p:spPr>
        <p:txBody>
          <a:bodyPr/>
          <a:lstStyle/>
          <a:p>
            <a:endParaRPr lang="en-IN"/>
          </a:p>
        </p:txBody>
      </p:sp>
      <p:sp>
        <p:nvSpPr>
          <p:cNvPr id="11" name="Text 9"/>
          <p:cNvSpPr/>
          <p:nvPr/>
        </p:nvSpPr>
        <p:spPr>
          <a:xfrm>
            <a:off x="3653714"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2807894"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3" name="Text 11"/>
          <p:cNvSpPr/>
          <p:nvPr/>
        </p:nvSpPr>
        <p:spPr>
          <a:xfrm>
            <a:off x="2862758" y="2377440"/>
            <a:ext cx="1856232" cy="10058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Pull Request</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 Review</a:t>
            </a:r>
            <a:endParaRPr lang="en-US" sz="1000" dirty="0"/>
          </a:p>
        </p:txBody>
      </p:sp>
      <p:sp>
        <p:nvSpPr>
          <p:cNvPr id="14" name="Shape 12"/>
          <p:cNvSpPr/>
          <p:nvPr/>
        </p:nvSpPr>
        <p:spPr>
          <a:xfrm>
            <a:off x="4773854" y="2880360"/>
            <a:ext cx="339014" cy="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5958688" y="1874520"/>
            <a:ext cx="274320" cy="274320"/>
          </a:xfrm>
          <a:prstGeom prst="ellipse">
            <a:avLst/>
          </a:prstGeom>
          <a:solidFill>
            <a:srgbClr val="F5A623"/>
          </a:solidFill>
          <a:ln/>
        </p:spPr>
        <p:txBody>
          <a:bodyPr/>
          <a:lstStyle/>
          <a:p>
            <a:endParaRPr lang="en-IN"/>
          </a:p>
        </p:txBody>
      </p:sp>
      <p:sp>
        <p:nvSpPr>
          <p:cNvPr id="16" name="Text 14"/>
          <p:cNvSpPr/>
          <p:nvPr/>
        </p:nvSpPr>
        <p:spPr>
          <a:xfrm>
            <a:off x="5958688"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Shape 15"/>
          <p:cNvSpPr/>
          <p:nvPr/>
        </p:nvSpPr>
        <p:spPr>
          <a:xfrm>
            <a:off x="5112868"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5167732" y="2377440"/>
            <a:ext cx="1856232" cy="10058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CI Build</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 Policy Lint</a:t>
            </a:r>
            <a:endParaRPr lang="en-US" sz="1000" dirty="0"/>
          </a:p>
        </p:txBody>
      </p:sp>
      <p:sp>
        <p:nvSpPr>
          <p:cNvPr id="19" name="Shape 17"/>
          <p:cNvSpPr/>
          <p:nvPr/>
        </p:nvSpPr>
        <p:spPr>
          <a:xfrm>
            <a:off x="7078828" y="2880360"/>
            <a:ext cx="339014" cy="0"/>
          </a:xfrm>
          <a:prstGeom prst="line">
            <a:avLst/>
          </a:prstGeom>
          <a:noFill/>
          <a:ln w="19050">
            <a:solidFill>
              <a:srgbClr val="1E2761"/>
            </a:solidFill>
            <a:prstDash val="solid"/>
            <a:tailEnd type="triangle"/>
          </a:ln>
        </p:spPr>
        <p:txBody>
          <a:bodyPr/>
          <a:lstStyle/>
          <a:p>
            <a:endParaRPr lang="en-IN"/>
          </a:p>
        </p:txBody>
      </p:sp>
      <p:sp>
        <p:nvSpPr>
          <p:cNvPr id="20" name="Shape 18"/>
          <p:cNvSpPr/>
          <p:nvPr/>
        </p:nvSpPr>
        <p:spPr>
          <a:xfrm>
            <a:off x="8263661" y="1874520"/>
            <a:ext cx="274320" cy="274320"/>
          </a:xfrm>
          <a:prstGeom prst="ellipse">
            <a:avLst/>
          </a:prstGeom>
          <a:solidFill>
            <a:srgbClr val="F5A623"/>
          </a:solidFill>
          <a:ln/>
        </p:spPr>
        <p:txBody>
          <a:bodyPr/>
          <a:lstStyle/>
          <a:p>
            <a:endParaRPr lang="en-IN"/>
          </a:p>
        </p:txBody>
      </p:sp>
      <p:sp>
        <p:nvSpPr>
          <p:cNvPr id="21" name="Text 19"/>
          <p:cNvSpPr/>
          <p:nvPr/>
        </p:nvSpPr>
        <p:spPr>
          <a:xfrm>
            <a:off x="8263661"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Shape 20"/>
          <p:cNvSpPr/>
          <p:nvPr/>
        </p:nvSpPr>
        <p:spPr>
          <a:xfrm>
            <a:off x="7417841"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21"/>
          <p:cNvSpPr/>
          <p:nvPr/>
        </p:nvSpPr>
        <p:spPr>
          <a:xfrm>
            <a:off x="7472705" y="2377440"/>
            <a:ext cx="1856232" cy="10058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Automated Tests</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(contract/security)</a:t>
            </a:r>
            <a:endParaRPr lang="en-US" sz="1000" dirty="0"/>
          </a:p>
        </p:txBody>
      </p:sp>
      <p:sp>
        <p:nvSpPr>
          <p:cNvPr id="24" name="Shape 22"/>
          <p:cNvSpPr/>
          <p:nvPr/>
        </p:nvSpPr>
        <p:spPr>
          <a:xfrm>
            <a:off x="9383801" y="2880360"/>
            <a:ext cx="339014" cy="0"/>
          </a:xfrm>
          <a:prstGeom prst="line">
            <a:avLst/>
          </a:prstGeom>
          <a:noFill/>
          <a:ln w="19050">
            <a:solidFill>
              <a:srgbClr val="1E2761"/>
            </a:solidFill>
            <a:prstDash val="solid"/>
            <a:tailEnd type="triangle"/>
          </a:ln>
        </p:spPr>
        <p:txBody>
          <a:bodyPr/>
          <a:lstStyle/>
          <a:p>
            <a:endParaRPr lang="en-IN"/>
          </a:p>
        </p:txBody>
      </p:sp>
      <p:sp>
        <p:nvSpPr>
          <p:cNvPr id="25" name="Shape 23"/>
          <p:cNvSpPr/>
          <p:nvPr/>
        </p:nvSpPr>
        <p:spPr>
          <a:xfrm>
            <a:off x="10568635" y="1874520"/>
            <a:ext cx="274320" cy="274320"/>
          </a:xfrm>
          <a:prstGeom prst="ellipse">
            <a:avLst/>
          </a:prstGeom>
          <a:solidFill>
            <a:srgbClr val="F5A623"/>
          </a:solidFill>
          <a:ln/>
        </p:spPr>
        <p:txBody>
          <a:bodyPr/>
          <a:lstStyle/>
          <a:p>
            <a:endParaRPr lang="en-IN"/>
          </a:p>
        </p:txBody>
      </p:sp>
      <p:sp>
        <p:nvSpPr>
          <p:cNvPr id="26" name="Text 24"/>
          <p:cNvSpPr/>
          <p:nvPr/>
        </p:nvSpPr>
        <p:spPr>
          <a:xfrm>
            <a:off x="10568635"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Shape 25"/>
          <p:cNvSpPr/>
          <p:nvPr/>
        </p:nvSpPr>
        <p:spPr>
          <a:xfrm>
            <a:off x="9722815" y="2377440"/>
            <a:ext cx="1965960" cy="1005840"/>
          </a:xfrm>
          <a:prstGeom prst="roundRect">
            <a:avLst>
              <a:gd name="adj" fmla="val 5455"/>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8" name="Text 26"/>
          <p:cNvSpPr/>
          <p:nvPr/>
        </p:nvSpPr>
        <p:spPr>
          <a:xfrm>
            <a:off x="9777679" y="2377440"/>
            <a:ext cx="1856232" cy="10058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CD Release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to APIM</a:t>
            </a:r>
            <a:endParaRPr lang="en-US" sz="1000" dirty="0"/>
          </a:p>
        </p:txBody>
      </p:sp>
      <p:sp>
        <p:nvSpPr>
          <p:cNvPr id="29" name="Text 27"/>
          <p:cNvSpPr/>
          <p:nvPr/>
        </p:nvSpPr>
        <p:spPr>
          <a:xfrm>
            <a:off x="502920" y="3749040"/>
            <a:ext cx="11185855" cy="457200"/>
          </a:xfrm>
          <a:prstGeom prst="rect">
            <a:avLst/>
          </a:prstGeom>
          <a:noFill/>
          <a:ln/>
        </p:spPr>
        <p:txBody>
          <a:bodyPr wrap="square" lIns="0" tIns="0" rIns="0" bIns="0" rtlCol="0" anchor="ctr"/>
          <a:lstStyle/>
          <a:p>
            <a:pPr marL="0" indent="0" algn="ctr">
              <a:buNone/>
            </a:pPr>
            <a:r>
              <a:rPr lang="en-US" sz="1200" i="1" dirty="0">
                <a:solidFill>
                  <a:srgbClr val="4A5578"/>
                </a:solidFill>
              </a:rPr>
              <a:t>APIOps treats API definitions, policies, and products as code — the same rigor as application software.</a:t>
            </a:r>
            <a:endParaRPr lang="en-US" sz="1200" dirty="0"/>
          </a:p>
        </p:txBody>
      </p:sp>
      <p:sp>
        <p:nvSpPr>
          <p:cNvPr id="31" name="Text 28"/>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DevOps</a:t>
            </a:r>
            <a:endParaRPr lang="en-US" sz="900" dirty="0"/>
          </a:p>
        </p:txBody>
      </p:sp>
      <p:sp>
        <p:nvSpPr>
          <p:cNvPr id="32" name="Text 29"/>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33" name="Text 30"/>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DEVOPS</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Environment Promotion Strategy</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Configuration is promoted the same way through every environment — no environment is a special case.</a:t>
            </a:r>
            <a:endParaRPr lang="en-US" sz="1200" dirty="0"/>
          </a:p>
        </p:txBody>
      </p:sp>
      <p:sp>
        <p:nvSpPr>
          <p:cNvPr id="5" name="Shape 3"/>
          <p:cNvSpPr/>
          <p:nvPr/>
        </p:nvSpPr>
        <p:spPr>
          <a:xfrm>
            <a:off x="502920" y="2377440"/>
            <a:ext cx="2590724" cy="1005840"/>
          </a:xfrm>
          <a:prstGeom prst="roundRect">
            <a:avLst>
              <a:gd name="adj" fmla="val 5455"/>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377440"/>
            <a:ext cx="2480996" cy="1005840"/>
          </a:xfrm>
          <a:prstGeom prst="rect">
            <a:avLst/>
          </a:prstGeom>
          <a:noFill/>
          <a:ln/>
        </p:spPr>
        <p:txBody>
          <a:bodyPr wrap="square" lIns="0" tIns="0" rIns="0" bIns="0" rtlCol="0" anchor="ctr"/>
          <a:lstStyle/>
          <a:p>
            <a:pPr marL="0" indent="0" algn="ctr">
              <a:buNone/>
            </a:pPr>
            <a:r>
              <a:rPr lang="en-US" sz="1200" b="1" dirty="0">
                <a:solidFill>
                  <a:srgbClr val="141B45"/>
                </a:solidFill>
                <a:latin typeface="Calibri" pitchFamily="34" charset="0"/>
                <a:ea typeface="Calibri" pitchFamily="34" charset="-122"/>
                <a:cs typeface="Calibri" pitchFamily="34" charset="-120"/>
              </a:rPr>
              <a:t>Dev</a:t>
            </a:r>
            <a:endParaRPr lang="en-US" sz="1200" dirty="0"/>
          </a:p>
          <a:p>
            <a:pPr marL="0" indent="0" algn="ctr">
              <a:buNone/>
            </a:pPr>
            <a:r>
              <a:rPr lang="en-US" sz="1000" dirty="0">
                <a:solidFill>
                  <a:srgbClr val="4A5578"/>
                </a:solidFill>
                <a:latin typeface="Calibri" pitchFamily="34" charset="0"/>
                <a:ea typeface="Calibri" pitchFamily="34" charset="-122"/>
                <a:cs typeface="Calibri" pitchFamily="34" charset="-120"/>
              </a:rPr>
              <a:t>Continuous deploy</a:t>
            </a:r>
            <a:endParaRPr lang="en-US" sz="1200" dirty="0"/>
          </a:p>
        </p:txBody>
      </p:sp>
      <p:sp>
        <p:nvSpPr>
          <p:cNvPr id="7" name="Shape 5"/>
          <p:cNvSpPr/>
          <p:nvPr/>
        </p:nvSpPr>
        <p:spPr>
          <a:xfrm>
            <a:off x="3093644" y="2880360"/>
            <a:ext cx="27432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3367964" y="2377440"/>
            <a:ext cx="2590724" cy="1005840"/>
          </a:xfrm>
          <a:prstGeom prst="roundRect">
            <a:avLst>
              <a:gd name="adj" fmla="val 5455"/>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3422828" y="2377440"/>
            <a:ext cx="2480996" cy="1005840"/>
          </a:xfrm>
          <a:prstGeom prst="rect">
            <a:avLst/>
          </a:prstGeom>
          <a:noFill/>
          <a:ln/>
        </p:spPr>
        <p:txBody>
          <a:bodyPr wrap="square" lIns="0" tIns="0" rIns="0" bIns="0" rtlCol="0" anchor="ctr"/>
          <a:lstStyle/>
          <a:p>
            <a:pPr marL="0" indent="0" algn="ctr">
              <a:buNone/>
            </a:pPr>
            <a:r>
              <a:rPr lang="en-US" sz="1200" b="1" dirty="0">
                <a:solidFill>
                  <a:srgbClr val="141B45"/>
                </a:solidFill>
                <a:latin typeface="Calibri" pitchFamily="34" charset="0"/>
                <a:ea typeface="Calibri" pitchFamily="34" charset="-122"/>
                <a:cs typeface="Calibri" pitchFamily="34" charset="-120"/>
              </a:rPr>
              <a:t>Test / QA</a:t>
            </a:r>
            <a:endParaRPr lang="en-US" sz="1200" dirty="0"/>
          </a:p>
          <a:p>
            <a:pPr marL="0" indent="0" algn="ctr">
              <a:buNone/>
            </a:pPr>
            <a:r>
              <a:rPr lang="en-US" sz="1000" dirty="0">
                <a:solidFill>
                  <a:srgbClr val="4A5578"/>
                </a:solidFill>
                <a:latin typeface="Calibri" pitchFamily="34" charset="0"/>
                <a:ea typeface="Calibri" pitchFamily="34" charset="-122"/>
                <a:cs typeface="Calibri" pitchFamily="34" charset="-120"/>
              </a:rPr>
              <a:t>Automated test gate</a:t>
            </a:r>
            <a:endParaRPr lang="en-US" sz="1200" dirty="0"/>
          </a:p>
        </p:txBody>
      </p:sp>
      <p:sp>
        <p:nvSpPr>
          <p:cNvPr id="10" name="Shape 8"/>
          <p:cNvSpPr/>
          <p:nvPr/>
        </p:nvSpPr>
        <p:spPr>
          <a:xfrm>
            <a:off x="5958688" y="2880360"/>
            <a:ext cx="27432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6233008" y="2377440"/>
            <a:ext cx="2590724" cy="1005840"/>
          </a:xfrm>
          <a:prstGeom prst="roundRect">
            <a:avLst>
              <a:gd name="adj" fmla="val 5455"/>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287872" y="2377440"/>
            <a:ext cx="2480996" cy="1005840"/>
          </a:xfrm>
          <a:prstGeom prst="rect">
            <a:avLst/>
          </a:prstGeom>
          <a:noFill/>
          <a:ln/>
        </p:spPr>
        <p:txBody>
          <a:bodyPr wrap="square" lIns="0" tIns="0" rIns="0" bIns="0" rtlCol="0" anchor="ctr"/>
          <a:lstStyle/>
          <a:p>
            <a:pPr marL="0" indent="0" algn="ctr">
              <a:buNone/>
            </a:pPr>
            <a:r>
              <a:rPr lang="en-US" sz="1200" b="1" dirty="0">
                <a:solidFill>
                  <a:srgbClr val="141B45"/>
                </a:solidFill>
                <a:latin typeface="Calibri" pitchFamily="34" charset="0"/>
                <a:ea typeface="Calibri" pitchFamily="34" charset="-122"/>
                <a:cs typeface="Calibri" pitchFamily="34" charset="-120"/>
              </a:rPr>
              <a:t>UAT</a:t>
            </a:r>
            <a:endParaRPr lang="en-US" sz="1200" dirty="0"/>
          </a:p>
          <a:p>
            <a:pPr marL="0" indent="0" algn="ctr">
              <a:buNone/>
            </a:pPr>
            <a:r>
              <a:rPr lang="en-US" sz="1000" dirty="0">
                <a:solidFill>
                  <a:srgbClr val="4A5578"/>
                </a:solidFill>
                <a:latin typeface="Calibri" pitchFamily="34" charset="0"/>
                <a:ea typeface="Calibri" pitchFamily="34" charset="-122"/>
                <a:cs typeface="Calibri" pitchFamily="34" charset="-120"/>
              </a:rPr>
              <a:t>Business sign-off</a:t>
            </a:r>
            <a:endParaRPr lang="en-US" sz="1200" dirty="0"/>
          </a:p>
        </p:txBody>
      </p:sp>
      <p:sp>
        <p:nvSpPr>
          <p:cNvPr id="13" name="Shape 11"/>
          <p:cNvSpPr/>
          <p:nvPr/>
        </p:nvSpPr>
        <p:spPr>
          <a:xfrm>
            <a:off x="8823731" y="2880360"/>
            <a:ext cx="274320" cy="0"/>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9098051" y="2377440"/>
            <a:ext cx="2590724" cy="1005840"/>
          </a:xfrm>
          <a:prstGeom prst="roundRect">
            <a:avLst>
              <a:gd name="adj" fmla="val 5455"/>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5" name="Text 13"/>
          <p:cNvSpPr/>
          <p:nvPr/>
        </p:nvSpPr>
        <p:spPr>
          <a:xfrm>
            <a:off x="9152915" y="2377440"/>
            <a:ext cx="2480996" cy="10058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Production</a:t>
            </a:r>
            <a:endParaRPr lang="en-US" sz="1200" dirty="0"/>
          </a:p>
          <a:p>
            <a:pPr marL="0" indent="0" algn="ctr">
              <a:buNone/>
            </a:pPr>
            <a:r>
              <a:rPr lang="en-US" sz="1000" dirty="0">
                <a:solidFill>
                  <a:srgbClr val="CADCFC"/>
                </a:solidFill>
                <a:latin typeface="Calibri" pitchFamily="34" charset="0"/>
                <a:ea typeface="Calibri" pitchFamily="34" charset="-122"/>
                <a:cs typeface="Calibri" pitchFamily="34" charset="-120"/>
              </a:rPr>
              <a:t>Approval + change window</a:t>
            </a:r>
            <a:endParaRPr lang="en-US" sz="1200" dirty="0"/>
          </a:p>
        </p:txBody>
      </p:sp>
      <p:sp>
        <p:nvSpPr>
          <p:cNvPr id="17" name="Text 1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DevOps</a:t>
            </a:r>
            <a:endParaRPr lang="en-US" sz="900" dirty="0"/>
          </a:p>
        </p:txBody>
      </p:sp>
      <p:sp>
        <p:nvSpPr>
          <p:cNvPr id="18" name="Text 1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9" name="Text 1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08</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8</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High Availability &amp; Disaster Recovery</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Zone-redundant availability and active-passive multi-region disaster recovery with defined RTO/RPO targets.</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8</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HIGH AVAILABILITY &amp; DR</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High Availability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Availability zone redundancy within a region, and multi-region failover across regions, target 99.95% gateway uptime.</a:t>
            </a:r>
            <a:endParaRPr lang="en-US" sz="1200" dirty="0"/>
          </a:p>
        </p:txBody>
      </p:sp>
      <p:sp>
        <p:nvSpPr>
          <p:cNvPr id="5" name="Shape 3"/>
          <p:cNvSpPr/>
          <p:nvPr/>
        </p:nvSpPr>
        <p:spPr>
          <a:xfrm>
            <a:off x="4632808" y="2011680"/>
            <a:ext cx="2926080" cy="640080"/>
          </a:xfrm>
          <a:prstGeom prst="roundRect">
            <a:avLst>
              <a:gd name="adj" fmla="val 8571"/>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4687672" y="2011680"/>
            <a:ext cx="2816352"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Azure Front Door (health probes)</a:t>
            </a:r>
            <a:endParaRPr lang="en-US" sz="1050" dirty="0"/>
          </a:p>
        </p:txBody>
      </p:sp>
      <p:sp>
        <p:nvSpPr>
          <p:cNvPr id="7" name="Shape 5"/>
          <p:cNvSpPr/>
          <p:nvPr/>
        </p:nvSpPr>
        <p:spPr>
          <a:xfrm>
            <a:off x="502920" y="3017520"/>
            <a:ext cx="3545738"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3017520"/>
            <a:ext cx="3436010" cy="91440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APIM Gateway Unit</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(Zone 1)</a:t>
            </a:r>
            <a:endParaRPr lang="en-US" sz="1050" dirty="0"/>
          </a:p>
        </p:txBody>
      </p:sp>
      <p:sp>
        <p:nvSpPr>
          <p:cNvPr id="9" name="Shape 7"/>
          <p:cNvSpPr/>
          <p:nvPr/>
        </p:nvSpPr>
        <p:spPr>
          <a:xfrm>
            <a:off x="2275789" y="2651760"/>
            <a:ext cx="0" cy="365760"/>
          </a:xfrm>
          <a:prstGeom prst="line">
            <a:avLst/>
          </a:prstGeom>
          <a:noFill/>
          <a:ln w="19050">
            <a:solidFill>
              <a:srgbClr val="1E2761"/>
            </a:solidFill>
            <a:prstDash val="solid"/>
            <a:tailEnd type="triangle"/>
          </a:ln>
        </p:spPr>
        <p:txBody>
          <a:bodyPr/>
          <a:lstStyle/>
          <a:p>
            <a:endParaRPr lang="en-IN"/>
          </a:p>
        </p:txBody>
      </p:sp>
      <p:sp>
        <p:nvSpPr>
          <p:cNvPr id="10" name="Shape 8"/>
          <p:cNvSpPr/>
          <p:nvPr/>
        </p:nvSpPr>
        <p:spPr>
          <a:xfrm>
            <a:off x="4322978" y="3017520"/>
            <a:ext cx="3545738"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1" name="Text 9"/>
          <p:cNvSpPr/>
          <p:nvPr/>
        </p:nvSpPr>
        <p:spPr>
          <a:xfrm>
            <a:off x="4377842" y="3017520"/>
            <a:ext cx="3436010" cy="91440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APIM Gateway Unit</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(Zone 2)</a:t>
            </a:r>
            <a:endParaRPr lang="en-US" sz="1050" dirty="0"/>
          </a:p>
        </p:txBody>
      </p:sp>
      <p:sp>
        <p:nvSpPr>
          <p:cNvPr id="12" name="Shape 10"/>
          <p:cNvSpPr/>
          <p:nvPr/>
        </p:nvSpPr>
        <p:spPr>
          <a:xfrm>
            <a:off x="6095848" y="2651760"/>
            <a:ext cx="0" cy="365760"/>
          </a:xfrm>
          <a:prstGeom prst="line">
            <a:avLst/>
          </a:prstGeom>
          <a:noFill/>
          <a:ln w="19050">
            <a:solidFill>
              <a:srgbClr val="1E2761"/>
            </a:solidFill>
            <a:prstDash val="solid"/>
            <a:tailEnd type="triangle"/>
          </a:ln>
        </p:spPr>
        <p:txBody>
          <a:bodyPr/>
          <a:lstStyle/>
          <a:p>
            <a:endParaRPr lang="en-IN"/>
          </a:p>
        </p:txBody>
      </p:sp>
      <p:sp>
        <p:nvSpPr>
          <p:cNvPr id="13" name="Shape 11"/>
          <p:cNvSpPr/>
          <p:nvPr/>
        </p:nvSpPr>
        <p:spPr>
          <a:xfrm>
            <a:off x="8143037" y="3017520"/>
            <a:ext cx="3545738"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8197901" y="3017520"/>
            <a:ext cx="3436010" cy="91440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APIM Gateway Unit</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(Zone 3)</a:t>
            </a:r>
            <a:endParaRPr lang="en-US" sz="1050" dirty="0"/>
          </a:p>
        </p:txBody>
      </p:sp>
      <p:sp>
        <p:nvSpPr>
          <p:cNvPr id="15" name="Shape 13"/>
          <p:cNvSpPr/>
          <p:nvPr/>
        </p:nvSpPr>
        <p:spPr>
          <a:xfrm>
            <a:off x="9915906" y="2651760"/>
            <a:ext cx="0" cy="365760"/>
          </a:xfrm>
          <a:prstGeom prst="line">
            <a:avLst/>
          </a:prstGeom>
          <a:noFill/>
          <a:ln w="19050">
            <a:solidFill>
              <a:srgbClr val="1E2761"/>
            </a:solidFill>
            <a:prstDash val="solid"/>
            <a:tailEnd type="triangle"/>
          </a:ln>
        </p:spPr>
        <p:txBody>
          <a:bodyPr/>
          <a:lstStyle/>
          <a:p>
            <a:endParaRPr lang="en-IN"/>
          </a:p>
        </p:txBody>
      </p:sp>
      <p:sp>
        <p:nvSpPr>
          <p:cNvPr id="16" name="Shape 14"/>
          <p:cNvSpPr/>
          <p:nvPr/>
        </p:nvSpPr>
        <p:spPr>
          <a:xfrm>
            <a:off x="4084168" y="4389120"/>
            <a:ext cx="40233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7" name="Text 15"/>
          <p:cNvSpPr/>
          <p:nvPr/>
        </p:nvSpPr>
        <p:spPr>
          <a:xfrm>
            <a:off x="4139032" y="4389120"/>
            <a:ext cx="39136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Zone-Redundant Backend Services</a:t>
            </a:r>
            <a:endParaRPr lang="en-US" sz="1050" dirty="0"/>
          </a:p>
        </p:txBody>
      </p:sp>
      <p:sp>
        <p:nvSpPr>
          <p:cNvPr id="18" name="Shape 16"/>
          <p:cNvSpPr/>
          <p:nvPr/>
        </p:nvSpPr>
        <p:spPr>
          <a:xfrm>
            <a:off x="6095848" y="3931920"/>
            <a:ext cx="0" cy="457200"/>
          </a:xfrm>
          <a:prstGeom prst="line">
            <a:avLst/>
          </a:prstGeom>
          <a:noFill/>
          <a:ln w="19050">
            <a:solidFill>
              <a:srgbClr val="1E2761"/>
            </a:solidFill>
            <a:prstDash val="solid"/>
            <a:tailEnd type="triangle"/>
          </a:ln>
        </p:spPr>
        <p:txBody>
          <a:bodyPr/>
          <a:lstStyle/>
          <a:p>
            <a:endParaRPr lang="en-IN"/>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High Availability &amp; DR</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HIGH AVAILABILITY &amp; DR</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Disaster Recovery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Active-passive DR with automated failover meets a target RTO of under 30 minutes and RPO near zero for configuration.</a:t>
            </a:r>
            <a:endParaRPr lang="en-US" sz="1200" dirty="0"/>
          </a:p>
        </p:txBody>
      </p:sp>
      <p:sp>
        <p:nvSpPr>
          <p:cNvPr id="5" name="Shape 3"/>
          <p:cNvSpPr/>
          <p:nvPr/>
        </p:nvSpPr>
        <p:spPr>
          <a:xfrm>
            <a:off x="502920" y="2103120"/>
            <a:ext cx="5145493"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03120"/>
            <a:ext cx="5035765"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Primary Region</a:t>
            </a:r>
            <a:endParaRPr lang="en-US" sz="1100" dirty="0"/>
          </a:p>
          <a:p>
            <a:pPr marL="0" indent="0" algn="ctr">
              <a:buNone/>
            </a:pPr>
            <a:r>
              <a:rPr lang="en-US" sz="1100" b="1" dirty="0">
                <a:solidFill>
                  <a:srgbClr val="141B45"/>
                </a:solidFill>
                <a:latin typeface="Calibri" pitchFamily="34" charset="0"/>
                <a:ea typeface="Calibri" pitchFamily="34" charset="-122"/>
                <a:cs typeface="Calibri" pitchFamily="34" charset="-120"/>
              </a:rPr>
              <a:t>APIM (active) + Backend</a:t>
            </a:r>
            <a:endParaRPr lang="en-US" sz="1100" dirty="0"/>
          </a:p>
        </p:txBody>
      </p:sp>
      <p:sp>
        <p:nvSpPr>
          <p:cNvPr id="7" name="Shape 5"/>
          <p:cNvSpPr/>
          <p:nvPr/>
        </p:nvSpPr>
        <p:spPr>
          <a:xfrm>
            <a:off x="6543282" y="2103120"/>
            <a:ext cx="5145493" cy="914400"/>
          </a:xfrm>
          <a:prstGeom prst="roundRect">
            <a:avLst>
              <a:gd name="adj" fmla="val 6000"/>
            </a:avLst>
          </a:prstGeom>
          <a:solidFill>
            <a:srgbClr val="F2F5FC"/>
          </a:solidFill>
          <a:ln w="15875">
            <a:solidFill>
              <a:srgbClr val="C9D3EC"/>
            </a:solidFill>
            <a:prstDash val="dash"/>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6598146" y="2103120"/>
            <a:ext cx="5035765"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Secondary Region</a:t>
            </a:r>
            <a:endParaRPr lang="en-US" sz="1100" dirty="0"/>
          </a:p>
          <a:p>
            <a:pPr marL="0" indent="0" algn="ctr">
              <a:buNone/>
            </a:pPr>
            <a:r>
              <a:rPr lang="en-US" sz="1100" b="1" dirty="0">
                <a:solidFill>
                  <a:srgbClr val="141B45"/>
                </a:solidFill>
                <a:latin typeface="Calibri" pitchFamily="34" charset="0"/>
                <a:ea typeface="Calibri" pitchFamily="34" charset="-122"/>
                <a:cs typeface="Calibri" pitchFamily="34" charset="-120"/>
              </a:rPr>
              <a:t>APIM (standby) + Backend Replica</a:t>
            </a:r>
            <a:endParaRPr lang="en-US" sz="1100" dirty="0"/>
          </a:p>
        </p:txBody>
      </p:sp>
      <p:sp>
        <p:nvSpPr>
          <p:cNvPr id="9" name="Shape 7"/>
          <p:cNvSpPr/>
          <p:nvPr/>
        </p:nvSpPr>
        <p:spPr>
          <a:xfrm>
            <a:off x="5648413" y="2560320"/>
            <a:ext cx="894868" cy="0"/>
          </a:xfrm>
          <a:prstGeom prst="line">
            <a:avLst/>
          </a:prstGeom>
          <a:noFill/>
          <a:ln w="19050">
            <a:solidFill>
              <a:srgbClr val="F5A623"/>
            </a:solidFill>
            <a:prstDash val="dash"/>
            <a:tailEnd type="triangle"/>
          </a:ln>
        </p:spPr>
        <p:txBody>
          <a:bodyPr/>
          <a:lstStyle/>
          <a:p>
            <a:endParaRPr lang="en-IN"/>
          </a:p>
        </p:txBody>
      </p:sp>
      <p:sp>
        <p:nvSpPr>
          <p:cNvPr id="10" name="Text 8"/>
          <p:cNvSpPr/>
          <p:nvPr/>
        </p:nvSpPr>
        <p:spPr>
          <a:xfrm>
            <a:off x="4753545" y="1810512"/>
            <a:ext cx="1371600" cy="274320"/>
          </a:xfrm>
          <a:prstGeom prst="rect">
            <a:avLst/>
          </a:prstGeom>
          <a:noFill/>
          <a:ln/>
        </p:spPr>
        <p:txBody>
          <a:bodyPr wrap="square" lIns="0" tIns="0" rIns="0" bIns="0" rtlCol="0" anchor="ctr"/>
          <a:lstStyle/>
          <a:p>
            <a:pPr marL="0" indent="0" algn="ctr">
              <a:buNone/>
            </a:pPr>
            <a:r>
              <a:rPr lang="en-US" sz="850" dirty="0">
                <a:solidFill>
                  <a:srgbClr val="4A5578"/>
                </a:solidFill>
                <a:latin typeface="Calibri" pitchFamily="34" charset="0"/>
                <a:ea typeface="Calibri" pitchFamily="34" charset="-122"/>
                <a:cs typeface="Calibri" pitchFamily="34" charset="-120"/>
              </a:rPr>
              <a:t>Continuous config + data replication</a:t>
            </a:r>
            <a:endParaRPr lang="en-US" sz="850" dirty="0"/>
          </a:p>
        </p:txBody>
      </p:sp>
      <p:sp>
        <p:nvSpPr>
          <p:cNvPr id="11" name="Shape 9"/>
          <p:cNvSpPr/>
          <p:nvPr/>
        </p:nvSpPr>
        <p:spPr>
          <a:xfrm>
            <a:off x="4632808" y="3566160"/>
            <a:ext cx="2926080" cy="777240"/>
          </a:xfrm>
          <a:prstGeom prst="roundRect">
            <a:avLst>
              <a:gd name="adj" fmla="val 7059"/>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4687672" y="3566160"/>
            <a:ext cx="2816352" cy="7772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Traffic Manager Failover Trigger</a:t>
            </a:r>
            <a:endParaRPr lang="en-US" sz="1050" dirty="0"/>
          </a:p>
        </p:txBody>
      </p:sp>
      <p:sp>
        <p:nvSpPr>
          <p:cNvPr id="13" name="Shape 11"/>
          <p:cNvSpPr/>
          <p:nvPr/>
        </p:nvSpPr>
        <p:spPr>
          <a:xfrm>
            <a:off x="3075667" y="3017520"/>
            <a:ext cx="0" cy="548640"/>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9116029" y="3017520"/>
            <a:ext cx="0" cy="54864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502920" y="4572000"/>
            <a:ext cx="5455768" cy="777240"/>
          </a:xfrm>
          <a:prstGeom prst="roundRect">
            <a:avLst>
              <a:gd name="adj" fmla="val 7059"/>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557784" y="4572000"/>
            <a:ext cx="5346040" cy="7772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RTO Target</a:t>
            </a:r>
            <a:endParaRPr lang="en-US" sz="1100" dirty="0"/>
          </a:p>
          <a:p>
            <a:pPr marL="0" indent="0" algn="ctr">
              <a:buNone/>
            </a:pPr>
            <a:r>
              <a:rPr lang="en-US" sz="900" dirty="0">
                <a:solidFill>
                  <a:srgbClr val="4A5578"/>
                </a:solidFill>
                <a:latin typeface="Calibri" pitchFamily="34" charset="0"/>
                <a:ea typeface="Calibri" pitchFamily="34" charset="-122"/>
                <a:cs typeface="Calibri" pitchFamily="34" charset="-120"/>
              </a:rPr>
              <a:t>&lt; 30 minutes</a:t>
            </a:r>
            <a:endParaRPr lang="en-US" sz="1100" dirty="0"/>
          </a:p>
        </p:txBody>
      </p:sp>
      <p:sp>
        <p:nvSpPr>
          <p:cNvPr id="17" name="Shape 15"/>
          <p:cNvSpPr/>
          <p:nvPr/>
        </p:nvSpPr>
        <p:spPr>
          <a:xfrm>
            <a:off x="6187288" y="4572000"/>
            <a:ext cx="5455768" cy="777240"/>
          </a:xfrm>
          <a:prstGeom prst="roundRect">
            <a:avLst>
              <a:gd name="adj" fmla="val 7059"/>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6242152" y="4572000"/>
            <a:ext cx="5346040" cy="7772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RPO Target</a:t>
            </a:r>
            <a:endParaRPr lang="en-US" sz="1100" dirty="0"/>
          </a:p>
          <a:p>
            <a:pPr marL="0" indent="0" algn="ctr">
              <a:buNone/>
            </a:pPr>
            <a:r>
              <a:rPr lang="en-US" sz="900" dirty="0">
                <a:solidFill>
                  <a:srgbClr val="4A5578"/>
                </a:solidFill>
                <a:latin typeface="Calibri" pitchFamily="34" charset="0"/>
                <a:ea typeface="Calibri" pitchFamily="34" charset="-122"/>
                <a:cs typeface="Calibri" pitchFamily="34" charset="-120"/>
              </a:rPr>
              <a:t>Near-zero (config); per-transaction (data, per backend SLA)</a:t>
            </a:r>
            <a:endParaRPr lang="en-US" sz="110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High Availability &amp; DR</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09</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9</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Delivery</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A phased roadmap, adoption strategy, risk register, and delivery governance structure.</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9</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DELIVERY</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Implementation Roadmap</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A 6-month phased rollout de-risks delivery by proving the platform on a small API set before scaling to the full estate.</a:t>
            </a:r>
            <a:endParaRPr lang="en-US" sz="1300" dirty="0"/>
          </a:p>
        </p:txBody>
      </p:sp>
      <p:sp>
        <p:nvSpPr>
          <p:cNvPr id="6" name="Shape 4"/>
          <p:cNvSpPr/>
          <p:nvPr/>
        </p:nvSpPr>
        <p:spPr>
          <a:xfrm>
            <a:off x="1805140" y="2670048"/>
            <a:ext cx="8581415" cy="0"/>
          </a:xfrm>
          <a:prstGeom prst="line">
            <a:avLst/>
          </a:prstGeom>
          <a:noFill/>
          <a:ln w="25400">
            <a:solidFill>
              <a:srgbClr val="C9D3EC"/>
            </a:solidFill>
            <a:prstDash val="solid"/>
          </a:ln>
        </p:spPr>
        <p:txBody>
          <a:bodyPr/>
          <a:lstStyle/>
          <a:p>
            <a:endParaRPr lang="en-IN"/>
          </a:p>
        </p:txBody>
      </p:sp>
      <p:sp>
        <p:nvSpPr>
          <p:cNvPr id="7" name="Shape 5"/>
          <p:cNvSpPr/>
          <p:nvPr/>
        </p:nvSpPr>
        <p:spPr>
          <a:xfrm>
            <a:off x="1603972" y="2468880"/>
            <a:ext cx="402336" cy="402336"/>
          </a:xfrm>
          <a:prstGeom prst="ellipse">
            <a:avLst/>
          </a:prstGeom>
          <a:solidFill>
            <a:srgbClr val="1E2761"/>
          </a:solidFill>
          <a:ln/>
        </p:spPr>
        <p:txBody>
          <a:bodyPr/>
          <a:lstStyle/>
          <a:p>
            <a:endParaRPr lang="en-IN"/>
          </a:p>
        </p:txBody>
      </p:sp>
      <p:sp>
        <p:nvSpPr>
          <p:cNvPr id="8" name="Text 6"/>
          <p:cNvSpPr/>
          <p:nvPr/>
        </p:nvSpPr>
        <p:spPr>
          <a:xfrm>
            <a:off x="1603972" y="24688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Shape 7"/>
          <p:cNvSpPr/>
          <p:nvPr/>
        </p:nvSpPr>
        <p:spPr>
          <a:xfrm>
            <a:off x="502920" y="3063240"/>
            <a:ext cx="2604440" cy="2834640"/>
          </a:xfrm>
          <a:prstGeom prst="roundRect">
            <a:avLst>
              <a:gd name="adj" fmla="val 2809"/>
            </a:avLst>
          </a:prstGeom>
          <a:solidFill>
            <a:srgbClr val="F7F9FD"/>
          </a:solidFill>
          <a:ln/>
        </p:spPr>
        <p:txBody>
          <a:bodyPr/>
          <a:lstStyle/>
          <a:p>
            <a:endParaRPr lang="en-IN"/>
          </a:p>
        </p:txBody>
      </p:sp>
      <p:sp>
        <p:nvSpPr>
          <p:cNvPr id="10" name="Text 8"/>
          <p:cNvSpPr/>
          <p:nvPr/>
        </p:nvSpPr>
        <p:spPr>
          <a:xfrm>
            <a:off x="667512" y="3182112"/>
            <a:ext cx="2275256" cy="685800"/>
          </a:xfrm>
          <a:prstGeom prst="rect">
            <a:avLst/>
          </a:prstGeom>
          <a:noFill/>
          <a:ln/>
        </p:spPr>
        <p:txBody>
          <a:bodyPr wrap="square" lIns="0" tIns="0" rIns="0" bIns="0" rtlCol="0" anchor="ctr"/>
          <a:lstStyle/>
          <a:p>
            <a:pPr marL="0" indent="0">
              <a:buNone/>
            </a:pPr>
            <a:r>
              <a:rPr lang="en-US" sz="1300" b="1" dirty="0">
                <a:solidFill>
                  <a:srgbClr val="141B45"/>
                </a:solidFill>
                <a:latin typeface="Calibri" pitchFamily="34" charset="0"/>
                <a:ea typeface="Calibri" pitchFamily="34" charset="-122"/>
                <a:cs typeface="Calibri" pitchFamily="34" charset="-120"/>
              </a:rPr>
              <a:t>Foundation</a:t>
            </a:r>
            <a:endParaRPr lang="en-US" sz="1300" dirty="0"/>
          </a:p>
          <a:p>
            <a:pPr marL="0" indent="0">
              <a:buNone/>
            </a:pPr>
            <a:r>
              <a:rPr lang="en-US" sz="1050" b="1" dirty="0">
                <a:solidFill>
                  <a:srgbClr val="F5A623"/>
                </a:solidFill>
                <a:latin typeface="Calibri" pitchFamily="34" charset="0"/>
                <a:ea typeface="Calibri" pitchFamily="34" charset="-122"/>
                <a:cs typeface="Calibri" pitchFamily="34" charset="-120"/>
              </a:rPr>
              <a:t>Weeks 1-4</a:t>
            </a:r>
            <a:endParaRPr lang="en-US" sz="1300" dirty="0"/>
          </a:p>
        </p:txBody>
      </p:sp>
      <p:sp>
        <p:nvSpPr>
          <p:cNvPr id="11" name="Text 9"/>
          <p:cNvSpPr/>
          <p:nvPr/>
        </p:nvSpPr>
        <p:spPr>
          <a:xfrm>
            <a:off x="667512" y="3886200"/>
            <a:ext cx="2275256" cy="192024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Landing zone &amp; network design</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APIM Premium v2 provisioning</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Entra ID + Key Vault integration</a:t>
            </a:r>
            <a:endParaRPr lang="en-US" sz="1000" dirty="0"/>
          </a:p>
        </p:txBody>
      </p:sp>
      <p:sp>
        <p:nvSpPr>
          <p:cNvPr id="12" name="Shape 10"/>
          <p:cNvSpPr/>
          <p:nvPr/>
        </p:nvSpPr>
        <p:spPr>
          <a:xfrm>
            <a:off x="4464444" y="2468880"/>
            <a:ext cx="402336" cy="402336"/>
          </a:xfrm>
          <a:prstGeom prst="ellipse">
            <a:avLst/>
          </a:prstGeom>
          <a:solidFill>
            <a:srgbClr val="1E2761"/>
          </a:solidFill>
          <a:ln/>
        </p:spPr>
        <p:txBody>
          <a:bodyPr/>
          <a:lstStyle/>
          <a:p>
            <a:endParaRPr lang="en-IN"/>
          </a:p>
        </p:txBody>
      </p:sp>
      <p:sp>
        <p:nvSpPr>
          <p:cNvPr id="13" name="Text 11"/>
          <p:cNvSpPr/>
          <p:nvPr/>
        </p:nvSpPr>
        <p:spPr>
          <a:xfrm>
            <a:off x="4464444" y="24688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Shape 12"/>
          <p:cNvSpPr/>
          <p:nvPr/>
        </p:nvSpPr>
        <p:spPr>
          <a:xfrm>
            <a:off x="3363392" y="3063240"/>
            <a:ext cx="2604440" cy="2834640"/>
          </a:xfrm>
          <a:prstGeom prst="roundRect">
            <a:avLst>
              <a:gd name="adj" fmla="val 2809"/>
            </a:avLst>
          </a:prstGeom>
          <a:solidFill>
            <a:srgbClr val="F7F9FD"/>
          </a:solidFill>
          <a:ln/>
        </p:spPr>
        <p:txBody>
          <a:bodyPr/>
          <a:lstStyle/>
          <a:p>
            <a:endParaRPr lang="en-IN"/>
          </a:p>
        </p:txBody>
      </p:sp>
      <p:sp>
        <p:nvSpPr>
          <p:cNvPr id="15" name="Text 13"/>
          <p:cNvSpPr/>
          <p:nvPr/>
        </p:nvSpPr>
        <p:spPr>
          <a:xfrm>
            <a:off x="3527984" y="3182112"/>
            <a:ext cx="2275256" cy="685800"/>
          </a:xfrm>
          <a:prstGeom prst="rect">
            <a:avLst/>
          </a:prstGeom>
          <a:noFill/>
          <a:ln/>
        </p:spPr>
        <p:txBody>
          <a:bodyPr wrap="square" lIns="0" tIns="0" rIns="0" bIns="0" rtlCol="0" anchor="ctr"/>
          <a:lstStyle/>
          <a:p>
            <a:pPr marL="0" indent="0">
              <a:buNone/>
            </a:pPr>
            <a:r>
              <a:rPr lang="en-US" sz="1300" b="1" dirty="0">
                <a:solidFill>
                  <a:srgbClr val="141B45"/>
                </a:solidFill>
                <a:latin typeface="Calibri" pitchFamily="34" charset="0"/>
                <a:ea typeface="Calibri" pitchFamily="34" charset="-122"/>
                <a:cs typeface="Calibri" pitchFamily="34" charset="-120"/>
              </a:rPr>
              <a:t>Pilot</a:t>
            </a:r>
            <a:endParaRPr lang="en-US" sz="1300" dirty="0"/>
          </a:p>
          <a:p>
            <a:pPr marL="0" indent="0">
              <a:buNone/>
            </a:pPr>
            <a:r>
              <a:rPr lang="en-US" sz="1050" b="1" dirty="0">
                <a:solidFill>
                  <a:srgbClr val="F5A623"/>
                </a:solidFill>
                <a:latin typeface="Calibri" pitchFamily="34" charset="0"/>
                <a:ea typeface="Calibri" pitchFamily="34" charset="-122"/>
                <a:cs typeface="Calibri" pitchFamily="34" charset="-120"/>
              </a:rPr>
              <a:t>Weeks 5-10</a:t>
            </a:r>
            <a:endParaRPr lang="en-US" sz="1300" dirty="0"/>
          </a:p>
        </p:txBody>
      </p:sp>
      <p:sp>
        <p:nvSpPr>
          <p:cNvPr id="16" name="Text 14"/>
          <p:cNvSpPr/>
          <p:nvPr/>
        </p:nvSpPr>
        <p:spPr>
          <a:xfrm>
            <a:off x="3527984" y="3886200"/>
            <a:ext cx="2275256" cy="192024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Onboard 3-5 pilot APIs</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APIOps pipeline stood up</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Security &amp; policy baseline validated</a:t>
            </a:r>
            <a:endParaRPr lang="en-US" sz="1000" dirty="0"/>
          </a:p>
        </p:txBody>
      </p:sp>
      <p:sp>
        <p:nvSpPr>
          <p:cNvPr id="17" name="Shape 15"/>
          <p:cNvSpPr/>
          <p:nvPr/>
        </p:nvSpPr>
        <p:spPr>
          <a:xfrm>
            <a:off x="7324915" y="2468880"/>
            <a:ext cx="402336" cy="402336"/>
          </a:xfrm>
          <a:prstGeom prst="ellipse">
            <a:avLst/>
          </a:prstGeom>
          <a:solidFill>
            <a:srgbClr val="1E2761"/>
          </a:solidFill>
          <a:ln/>
        </p:spPr>
        <p:txBody>
          <a:bodyPr/>
          <a:lstStyle/>
          <a:p>
            <a:endParaRPr lang="en-IN"/>
          </a:p>
        </p:txBody>
      </p:sp>
      <p:sp>
        <p:nvSpPr>
          <p:cNvPr id="18" name="Text 16"/>
          <p:cNvSpPr/>
          <p:nvPr/>
        </p:nvSpPr>
        <p:spPr>
          <a:xfrm>
            <a:off x="7324915" y="24688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Shape 17"/>
          <p:cNvSpPr/>
          <p:nvPr/>
        </p:nvSpPr>
        <p:spPr>
          <a:xfrm>
            <a:off x="6223864" y="3063240"/>
            <a:ext cx="2604440" cy="2834640"/>
          </a:xfrm>
          <a:prstGeom prst="roundRect">
            <a:avLst>
              <a:gd name="adj" fmla="val 2809"/>
            </a:avLst>
          </a:prstGeom>
          <a:solidFill>
            <a:srgbClr val="F7F9FD"/>
          </a:solidFill>
          <a:ln/>
        </p:spPr>
        <p:txBody>
          <a:bodyPr/>
          <a:lstStyle/>
          <a:p>
            <a:endParaRPr lang="en-IN"/>
          </a:p>
        </p:txBody>
      </p:sp>
      <p:sp>
        <p:nvSpPr>
          <p:cNvPr id="20" name="Text 18"/>
          <p:cNvSpPr/>
          <p:nvPr/>
        </p:nvSpPr>
        <p:spPr>
          <a:xfrm>
            <a:off x="6388456" y="3182112"/>
            <a:ext cx="2275256" cy="685800"/>
          </a:xfrm>
          <a:prstGeom prst="rect">
            <a:avLst/>
          </a:prstGeom>
          <a:noFill/>
          <a:ln/>
        </p:spPr>
        <p:txBody>
          <a:bodyPr wrap="square" lIns="0" tIns="0" rIns="0" bIns="0" rtlCol="0" anchor="ctr"/>
          <a:lstStyle/>
          <a:p>
            <a:pPr marL="0" indent="0">
              <a:buNone/>
            </a:pPr>
            <a:r>
              <a:rPr lang="en-US" sz="1300" b="1" dirty="0">
                <a:solidFill>
                  <a:srgbClr val="141B45"/>
                </a:solidFill>
                <a:latin typeface="Calibri" pitchFamily="34" charset="0"/>
                <a:ea typeface="Calibri" pitchFamily="34" charset="-122"/>
                <a:cs typeface="Calibri" pitchFamily="34" charset="-120"/>
              </a:rPr>
              <a:t>Scale</a:t>
            </a:r>
            <a:endParaRPr lang="en-US" sz="1300" dirty="0"/>
          </a:p>
          <a:p>
            <a:pPr marL="0" indent="0">
              <a:buNone/>
            </a:pPr>
            <a:r>
              <a:rPr lang="en-US" sz="1050" b="1" dirty="0">
                <a:solidFill>
                  <a:srgbClr val="F5A623"/>
                </a:solidFill>
                <a:latin typeface="Calibri" pitchFamily="34" charset="0"/>
                <a:ea typeface="Calibri" pitchFamily="34" charset="-122"/>
                <a:cs typeface="Calibri" pitchFamily="34" charset="-120"/>
              </a:rPr>
              <a:t>Weeks 11-18</a:t>
            </a:r>
            <a:endParaRPr lang="en-US" sz="1300" dirty="0"/>
          </a:p>
        </p:txBody>
      </p:sp>
      <p:sp>
        <p:nvSpPr>
          <p:cNvPr id="21" name="Text 19"/>
          <p:cNvSpPr/>
          <p:nvPr/>
        </p:nvSpPr>
        <p:spPr>
          <a:xfrm>
            <a:off x="6388456" y="3886200"/>
            <a:ext cx="2275256" cy="192024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Onboard remaining priority internal APIs</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External &amp; partner access models live</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Multi-region DR configured</a:t>
            </a:r>
            <a:endParaRPr lang="en-US" sz="1000" dirty="0"/>
          </a:p>
        </p:txBody>
      </p:sp>
      <p:sp>
        <p:nvSpPr>
          <p:cNvPr id="22" name="Shape 20"/>
          <p:cNvSpPr/>
          <p:nvPr/>
        </p:nvSpPr>
        <p:spPr>
          <a:xfrm>
            <a:off x="10185387" y="2468880"/>
            <a:ext cx="402336" cy="402336"/>
          </a:xfrm>
          <a:prstGeom prst="ellipse">
            <a:avLst/>
          </a:prstGeom>
          <a:solidFill>
            <a:srgbClr val="1E2761"/>
          </a:solidFill>
          <a:ln/>
        </p:spPr>
        <p:txBody>
          <a:bodyPr/>
          <a:lstStyle/>
          <a:p>
            <a:endParaRPr lang="en-IN"/>
          </a:p>
        </p:txBody>
      </p:sp>
      <p:sp>
        <p:nvSpPr>
          <p:cNvPr id="23" name="Text 21"/>
          <p:cNvSpPr/>
          <p:nvPr/>
        </p:nvSpPr>
        <p:spPr>
          <a:xfrm>
            <a:off x="10185387" y="24688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Shape 22"/>
          <p:cNvSpPr/>
          <p:nvPr/>
        </p:nvSpPr>
        <p:spPr>
          <a:xfrm>
            <a:off x="9084335" y="3063240"/>
            <a:ext cx="2604440" cy="2834640"/>
          </a:xfrm>
          <a:prstGeom prst="roundRect">
            <a:avLst>
              <a:gd name="adj" fmla="val 2809"/>
            </a:avLst>
          </a:prstGeom>
          <a:solidFill>
            <a:srgbClr val="F7F9FD"/>
          </a:solidFill>
          <a:ln/>
        </p:spPr>
        <p:txBody>
          <a:bodyPr/>
          <a:lstStyle/>
          <a:p>
            <a:endParaRPr lang="en-IN"/>
          </a:p>
        </p:txBody>
      </p:sp>
      <p:sp>
        <p:nvSpPr>
          <p:cNvPr id="25" name="Text 23"/>
          <p:cNvSpPr/>
          <p:nvPr/>
        </p:nvSpPr>
        <p:spPr>
          <a:xfrm>
            <a:off x="9248927" y="3182112"/>
            <a:ext cx="2275256" cy="685800"/>
          </a:xfrm>
          <a:prstGeom prst="rect">
            <a:avLst/>
          </a:prstGeom>
          <a:noFill/>
          <a:ln/>
        </p:spPr>
        <p:txBody>
          <a:bodyPr wrap="square" lIns="0" tIns="0" rIns="0" bIns="0" rtlCol="0" anchor="ctr"/>
          <a:lstStyle/>
          <a:p>
            <a:pPr marL="0" indent="0">
              <a:buNone/>
            </a:pPr>
            <a:r>
              <a:rPr lang="en-US" sz="1300" b="1" dirty="0">
                <a:solidFill>
                  <a:srgbClr val="141B45"/>
                </a:solidFill>
                <a:latin typeface="Calibri" pitchFamily="34" charset="0"/>
                <a:ea typeface="Calibri" pitchFamily="34" charset="-122"/>
                <a:cs typeface="Calibri" pitchFamily="34" charset="-120"/>
              </a:rPr>
              <a:t>Optimize</a:t>
            </a:r>
            <a:endParaRPr lang="en-US" sz="1300" dirty="0"/>
          </a:p>
          <a:p>
            <a:pPr marL="0" indent="0">
              <a:buNone/>
            </a:pPr>
            <a:r>
              <a:rPr lang="en-US" sz="1050" b="1" dirty="0">
                <a:solidFill>
                  <a:srgbClr val="F5A623"/>
                </a:solidFill>
                <a:latin typeface="Calibri" pitchFamily="34" charset="0"/>
                <a:ea typeface="Calibri" pitchFamily="34" charset="-122"/>
                <a:cs typeface="Calibri" pitchFamily="34" charset="-120"/>
              </a:rPr>
              <a:t>Weeks 19-24</a:t>
            </a:r>
            <a:endParaRPr lang="en-US" sz="1300" dirty="0"/>
          </a:p>
        </p:txBody>
      </p:sp>
      <p:sp>
        <p:nvSpPr>
          <p:cNvPr id="26" name="Text 24"/>
          <p:cNvSpPr/>
          <p:nvPr/>
        </p:nvSpPr>
        <p:spPr>
          <a:xfrm>
            <a:off x="9248927" y="3886200"/>
            <a:ext cx="2275256" cy="192024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Load testing at target volume</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Governance handover to Chaucer</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Hypercare &amp; knowledge transfer</a:t>
            </a:r>
            <a:endParaRPr lang="en-US" sz="1000" dirty="0"/>
          </a:p>
        </p:txBody>
      </p:sp>
      <p:sp>
        <p:nvSpPr>
          <p:cNvPr id="28" name="Text 25"/>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Delivery</a:t>
            </a:r>
            <a:endParaRPr lang="en-US" sz="900" dirty="0"/>
          </a:p>
        </p:txBody>
      </p:sp>
      <p:sp>
        <p:nvSpPr>
          <p:cNvPr id="29" name="Text 26"/>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30" name="Text 27"/>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DELIVERY</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Adoption &amp; Rollout Strategy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Since no APIs exist today, we introduce the platform through prioritized waves of net-new APIs rather than a legacy cutover.</a:t>
            </a:r>
            <a:endParaRPr lang="en-US" sz="1300" dirty="0"/>
          </a:p>
        </p:txBody>
      </p:sp>
      <p:sp>
        <p:nvSpPr>
          <p:cNvPr id="6" name="Shape 4"/>
          <p:cNvSpPr/>
          <p:nvPr/>
        </p:nvSpPr>
        <p:spPr>
          <a:xfrm>
            <a:off x="502920" y="2331720"/>
            <a:ext cx="5410048" cy="3749040"/>
          </a:xfrm>
          <a:prstGeom prst="roundRect">
            <a:avLst>
              <a:gd name="adj" fmla="val 1951"/>
            </a:avLst>
          </a:prstGeom>
          <a:solidFill>
            <a:srgbClr val="F7F9FD"/>
          </a:solidFill>
          <a:ln/>
        </p:spPr>
        <p:txBody>
          <a:bodyPr/>
          <a:lstStyle/>
          <a:p>
            <a:endParaRPr lang="en-IN"/>
          </a:p>
        </p:txBody>
      </p:sp>
      <p:sp>
        <p:nvSpPr>
          <p:cNvPr id="7" name="Text 5"/>
          <p:cNvSpPr/>
          <p:nvPr/>
        </p:nvSpPr>
        <p:spPr>
          <a:xfrm>
            <a:off x="731520" y="2514600"/>
            <a:ext cx="4952848"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Approach</a:t>
            </a:r>
            <a:endParaRPr lang="en-US" sz="1500" dirty="0"/>
          </a:p>
        </p:txBody>
      </p:sp>
      <p:sp>
        <p:nvSpPr>
          <p:cNvPr id="8" name="Text 6"/>
          <p:cNvSpPr/>
          <p:nvPr/>
        </p:nvSpPr>
        <p:spPr>
          <a:xfrm>
            <a:off x="731520"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Wave 1: build 3-5 net-new internal APIs on top of existing systems to prove the pattern</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Wave 2: expand to customer-facing and higher-value internal integrations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Wave 3: partner and external APIs, including open-banking endpoints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Existing batch/point-to-point integrations are left untouched unless a business case justifies replacing them</a:t>
            </a:r>
            <a:endParaRPr lang="en-US" sz="1250" dirty="0"/>
          </a:p>
        </p:txBody>
      </p:sp>
      <p:sp>
        <p:nvSpPr>
          <p:cNvPr id="9" name="Shape 7"/>
          <p:cNvSpPr/>
          <p:nvPr/>
        </p:nvSpPr>
        <p:spPr>
          <a:xfrm>
            <a:off x="6278728" y="2331720"/>
            <a:ext cx="5410048" cy="3749040"/>
          </a:xfrm>
          <a:prstGeom prst="roundRect">
            <a:avLst>
              <a:gd name="adj" fmla="val 1951"/>
            </a:avLst>
          </a:prstGeom>
          <a:solidFill>
            <a:srgbClr val="F7F9FD"/>
          </a:solidFill>
          <a:ln/>
        </p:spPr>
        <p:txBody>
          <a:bodyPr/>
          <a:lstStyle/>
          <a:p>
            <a:endParaRPr lang="en-IN"/>
          </a:p>
        </p:txBody>
      </p:sp>
      <p:sp>
        <p:nvSpPr>
          <p:cNvPr id="10" name="Text 8"/>
          <p:cNvSpPr/>
          <p:nvPr/>
        </p:nvSpPr>
        <p:spPr>
          <a:xfrm>
            <a:off x="6507328" y="2514600"/>
            <a:ext cx="4952848" cy="411480"/>
          </a:xfrm>
          <a:prstGeom prst="rect">
            <a:avLst/>
          </a:prstGeom>
          <a:noFill/>
          <a:ln/>
        </p:spPr>
        <p:txBody>
          <a:bodyPr wrap="square" lIns="0" tIns="0" rIns="0" bIns="0" rtlCol="0" anchor="ctr"/>
          <a:lstStyle/>
          <a:p>
            <a:pPr marL="0" indent="0">
              <a:buNone/>
            </a:pPr>
            <a:r>
              <a:rPr lang="en-US" sz="1500" b="1" dirty="0">
                <a:solidFill>
                  <a:srgbClr val="1E8E5A"/>
                </a:solidFill>
                <a:latin typeface="Calibri" pitchFamily="34" charset="0"/>
                <a:ea typeface="Calibri" pitchFamily="34" charset="-122"/>
                <a:cs typeface="Calibri" pitchFamily="34" charset="-120"/>
              </a:rPr>
              <a:t>Safeguards</a:t>
            </a:r>
            <a:endParaRPr lang="en-US" sz="1500" dirty="0"/>
          </a:p>
        </p:txBody>
      </p:sp>
      <p:sp>
        <p:nvSpPr>
          <p:cNvPr id="11" name="Text 9"/>
          <p:cNvSpPr/>
          <p:nvPr/>
        </p:nvSpPr>
        <p:spPr>
          <a:xfrm>
            <a:off x="6507328"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Each wave includes a design review before any API is built, not just before go-live</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New APIs are built and tested in non-production before touching any source system</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Business and technical owners sign off before an API is exposed beyond the pilot group</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Go/no-go checklist confirms monitoring, security, and support readiness before each wave's launch</a:t>
            </a:r>
            <a:endParaRPr lang="en-US" sz="1250" dirty="0"/>
          </a:p>
        </p:txBody>
      </p:sp>
      <p:sp>
        <p:nvSpPr>
          <p:cNvPr id="13" name="Text 1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Delivery</a:t>
            </a:r>
            <a:endParaRPr lang="en-US" sz="900" dirty="0"/>
          </a:p>
        </p:txBody>
      </p:sp>
      <p:sp>
        <p:nvSpPr>
          <p:cNvPr id="14" name="Text 1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5" name="Text 1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6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651760"/>
            <a:ext cx="10058400" cy="109728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Questions &amp; Discussion</a:t>
            </a:r>
            <a:endParaRPr lang="en-US" sz="4600" dirty="0"/>
          </a:p>
        </p:txBody>
      </p:sp>
      <p:sp>
        <p:nvSpPr>
          <p:cNvPr id="3" name="Text 1"/>
          <p:cNvSpPr/>
          <p:nvPr/>
        </p:nvSpPr>
        <p:spPr>
          <a:xfrm>
            <a:off x="502920" y="3703320"/>
            <a:ext cx="11185855" cy="548640"/>
          </a:xfrm>
          <a:prstGeom prst="rect">
            <a:avLst/>
          </a:prstGeom>
          <a:noFill/>
          <a:ln/>
        </p:spPr>
        <p:txBody>
          <a:bodyPr wrap="square" lIns="0" tIns="0" rIns="0" bIns="0"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Chaucer  Group  ·  Azure API Management RFP Response</a:t>
            </a:r>
            <a:endParaRPr lang="en-US" sz="1600" dirty="0"/>
          </a:p>
        </p:txBody>
      </p:sp>
      <p:sp>
        <p:nvSpPr>
          <p:cNvPr id="4" name="Shape 2"/>
          <p:cNvSpPr/>
          <p:nvPr/>
        </p:nvSpPr>
        <p:spPr>
          <a:xfrm>
            <a:off x="4998568" y="4297680"/>
            <a:ext cx="2194560" cy="0"/>
          </a:xfrm>
          <a:prstGeom prst="line">
            <a:avLst/>
          </a:prstGeom>
          <a:noFill/>
          <a:ln w="25400">
            <a:solidFill>
              <a:srgbClr val="F5A623"/>
            </a:solidFill>
            <a:prstDash val="solid"/>
          </a:ln>
        </p:spPr>
        <p:txBody>
          <a:bodyPr/>
          <a:lstStyle/>
          <a:p>
            <a:endParaRPr lang="en-IN"/>
          </a:p>
        </p:txBody>
      </p:sp>
      <p:sp>
        <p:nvSpPr>
          <p:cNvPr id="5" name="Text 3"/>
          <p:cNvSpPr/>
          <p:nvPr/>
        </p:nvSpPr>
        <p:spPr>
          <a:xfrm>
            <a:off x="502920" y="4526280"/>
            <a:ext cx="11185855" cy="731520"/>
          </a:xfrm>
          <a:prstGeom prst="rect">
            <a:avLst/>
          </a:prstGeom>
          <a:noFill/>
          <a:ln/>
        </p:spPr>
        <p:txBody>
          <a:bodyPr wrap="square" lIns="0" tIns="0" rIns="0" bIns="0" rtlCol="0" anchor="ctr"/>
          <a:lstStyle/>
          <a:p>
            <a:pPr marL="0" indent="0" algn="ctr">
              <a:buNone/>
            </a:pPr>
            <a:r>
              <a:rPr lang="en-US" sz="1200" dirty="0">
                <a:solidFill>
                  <a:srgbClr val="AAB4E0"/>
                </a:solidFill>
                <a:latin typeface="Calibri" pitchFamily="34" charset="0"/>
                <a:ea typeface="Calibri" pitchFamily="34" charset="-122"/>
                <a:cs typeface="Calibri" pitchFamily="34" charset="-120"/>
              </a:rPr>
              <a:t>[Your Company Name]   |   [Primary Contact Name, Title]   |   [email]   |   [phone]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6668</Words>
  <Application>Microsoft Office PowerPoint</Application>
  <PresentationFormat>Widescreen</PresentationFormat>
  <Paragraphs>603</Paragraphs>
  <Slides>38</Slides>
  <Notes>38</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API Management RFP Response — Meridian Financial Group</dc:title>
  <dc:subject>PptxGenJS Presentation</dc:subject>
  <dc:creator>[Your Company Name]</dc:creator>
  <cp:lastModifiedBy>Neelapu, Balasubrahmanyam (Cognizant)</cp:lastModifiedBy>
  <cp:revision>2</cp:revision>
  <dcterms:created xsi:type="dcterms:W3CDTF">2026-07-01T12:58:19Z</dcterms:created>
  <dcterms:modified xsi:type="dcterms:W3CDTF">2026-09-11T16:00:20Z</dcterms:modified>
</cp:coreProperties>
</file>