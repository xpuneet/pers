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80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006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675120" y="777240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004304" y="777240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33488" y="777240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662672" y="777240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675120" y="1106424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004304" y="1106424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333488" y="1106424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662672" y="1106424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675120" y="1435608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004304" y="1435608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333488" y="1435608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662672" y="1435608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675120" y="1764792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004304" y="1764792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333488" y="1764792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662672" y="1764792"/>
            <a:ext cx="64008" cy="6400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92608" y="457200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378ADD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" y="768096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Event-Driven Platform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292608" y="1700784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Option 2 — commands flow in on Service Bus, events fan out on Event Grid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2608" y="2249424"/>
            <a:ext cx="2231136" cy="676656"/>
          </a:xfrm>
          <a:prstGeom prst="rect">
            <a:avLst/>
          </a:prstGeom>
          <a:solidFill>
            <a:srgbClr val="0D1F35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02336" y="2322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</a:rPr>
              <a:t>Commands 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Service Bus, ordered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88336" y="2249424"/>
            <a:ext cx="2231136" cy="676656"/>
          </a:xfrm>
          <a:prstGeom prst="rect">
            <a:avLst/>
          </a:prstGeom>
          <a:solidFill>
            <a:srgbClr val="0D1F35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798064" y="2322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</a:rPr>
              <a:t>Events out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98064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Event Grid, fan-out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84064" y="2233422"/>
            <a:ext cx="2231136" cy="676656"/>
          </a:xfrm>
          <a:prstGeom prst="rect">
            <a:avLst/>
          </a:prstGeom>
          <a:solidFill>
            <a:srgbClr val="0D1F35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193792" y="2322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</a:rPr>
              <a:t>50+ vendors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93792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independent subscribers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92608" y="4828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Architecture team   Discovery project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core idea — commands vs events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Event-driven only means something if you separate the two. This is the whole design.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8288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41605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20624" y="932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Command  —  Service Bus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13716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7B"/>
                </a:solidFill>
              </a:rPr>
              <a:t>"Do this"  ·  a write request to process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" y="1645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RepairCreate, WorkOrderUpdate, Cancel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18562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Point-to-point: exactly one consumer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0624" y="20665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Ordered, sessioned, guaranteed delivery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0624" y="22768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Dead-letter on repeated failure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0624" y="24871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Carries data INTO the platform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932688"/>
            <a:ext cx="4160520" cy="18288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709160" y="932688"/>
            <a:ext cx="41605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55464" y="932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  —  Event Grid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3716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8A"/>
                </a:solidFill>
              </a:rPr>
              <a:t>"This happened"  ·  a fact to broadcast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55464" y="1645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RepairCreated, WorkOrderIssued, StatusChanged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55464" y="18562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Pub/sub: many independent subscribers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55464" y="20665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Each subscriber filters what it cares about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55464" y="22768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Add a subscriber without touching publishers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55464" y="24871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Carries facts OUT to whoever is interested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944368"/>
            <a:ext cx="8595360" cy="1920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20624" y="303580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How they chain together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" y="3328416"/>
            <a:ext cx="2039112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20624" y="3328416"/>
            <a:ext cx="203911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20624" y="3328416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57200" y="3511296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Vendor command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74904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Service Bus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459736" y="3721608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514600" y="3328416"/>
            <a:ext cx="2039112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514600" y="3328416"/>
            <a:ext cx="2039112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514600" y="3328416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551176" y="3511296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Handler writes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51176" y="374904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Dataverse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553712" y="3721608"/>
            <a:ext cx="54864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608576" y="3328416"/>
            <a:ext cx="2039112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608576" y="3328416"/>
            <a:ext cx="2039112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608576" y="3328416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645152" y="3511296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Publishes event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45152" y="374904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Event Grid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647688" y="3721608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6702552" y="3328416"/>
            <a:ext cx="2039112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6702552" y="3328416"/>
            <a:ext cx="2039112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702552" y="3328416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739128" y="3511296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Subscribers react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39128" y="374904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Fan-out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20624" y="426110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 command comes in on Service Bus and is handled exactly once. The handler writes to Dataverse, then publishes an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20624" y="444398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event to Event Grid announcing what happened. Any number of subscribers — audit, analytics, the work order issuer —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20624" y="46268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react independently. Adding the 51st vendor or a new analytics consumer means adding a subscriber, nothing else.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Event-driven layered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Orchestration in sequence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631936" y="512064"/>
            <a:ext cx="512064" cy="4572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31936" y="71323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2563EB"/>
                </a:solidFill>
              </a:rPr>
              <a:t>Azure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2563EB"/>
                </a:solidFill>
              </a:rPr>
              <a:t>Monitor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8631936" y="171907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</a:rPr>
              <a:t>App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</a:rPr>
              <a:t>Insights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8631936" y="272491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</a:rPr>
              <a:t>Event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</a:rPr>
              <a:t>metrics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8631936" y="373075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</a:rPr>
              <a:t>DLQ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</a:rPr>
              <a:t>alerts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256033" y="547115"/>
            <a:ext cx="8348472" cy="786384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6032" y="530352"/>
            <a:ext cx="8339328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47472" y="530352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L1   API experience layer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0896" y="749808"/>
            <a:ext cx="124485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56616" y="786384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API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65760" y="786384"/>
            <a:ext cx="108839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Repair/Work Order  API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1097280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Create, Update, Get, List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 flipV="1">
            <a:off x="1555750" y="1002790"/>
            <a:ext cx="193240" cy="305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748990" y="746758"/>
            <a:ext cx="12230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130296" y="786384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API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721558" y="766571"/>
            <a:ext cx="89281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Contractor API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11778" y="1022664"/>
            <a:ext cx="1297518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Create, Update, Get, Cancel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886618" y="1010920"/>
            <a:ext cx="377021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259614" y="746758"/>
            <a:ext cx="103166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7" name="Text 25"/>
          <p:cNvSpPr/>
          <p:nvPr/>
        </p:nvSpPr>
        <p:spPr>
          <a:xfrm>
            <a:off x="5903976" y="786384"/>
            <a:ext cx="550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Gateway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6209874" y="941832"/>
            <a:ext cx="1130980" cy="299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Get Certificate, Sync Asset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56032" y="1408176"/>
            <a:ext cx="8339328" cy="969264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56032" y="1408176"/>
            <a:ext cx="833932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47472" y="1408176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L2   Orchestration layer   (left to right sequence)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10896" y="1627632"/>
            <a:ext cx="1572768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56616" y="1664208"/>
            <a:ext cx="1883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65760" y="18105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Receiver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19751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00" dirty="0">
                <a:solidFill>
                  <a:srgbClr val="475569"/>
                </a:solidFill>
              </a:rPr>
              <a:t>Validate / Ack Request, 202 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883664" y="1975104"/>
            <a:ext cx="9144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1975104" y="1627632"/>
            <a:ext cx="1572768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2020824" y="1664208"/>
            <a:ext cx="1883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2029968" y="18105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Service Bus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029968" y="19751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Command queue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547872" y="1975104"/>
            <a:ext cx="9144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3639312" y="1627632"/>
            <a:ext cx="1572768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3685032" y="1664208"/>
            <a:ext cx="1883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3694176" y="18105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Command handler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94176" y="19751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Write Dataverse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212080" y="1975104"/>
            <a:ext cx="9144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5303520" y="1627632"/>
            <a:ext cx="1572768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5349240" y="1664208"/>
            <a:ext cx="1883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358384" y="18105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Event Grid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358384" y="19751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Publish event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876288" y="1975104"/>
            <a:ext cx="9144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6967728" y="1627632"/>
            <a:ext cx="1572768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7013448" y="1664208"/>
            <a:ext cx="1883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7022592" y="18105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Subscribers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022592" y="19751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Fan-out, react, Invoke Contractor API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56032" y="2468880"/>
            <a:ext cx="8339328" cy="786384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256032" y="2468880"/>
            <a:ext cx="833932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347472" y="2468880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L3   Persistence layer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10896" y="2688336"/>
            <a:ext cx="2682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356616" y="2724912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SOR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365760" y="2871216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Dataverse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65760" y="3035808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Repairs, WOs, profiles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993136" y="2944368"/>
            <a:ext cx="9144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3084576" y="2688336"/>
            <a:ext cx="2682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3130296" y="2724912"/>
            <a:ext cx="429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Cache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3139440" y="2871216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Cache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139440" y="3035808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Contractor lookups, config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5766816" y="2944368"/>
            <a:ext cx="9144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5858256" y="2688336"/>
            <a:ext cx="2682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5913120" y="2871216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D365 CRM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913120" y="3035808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Cloud flows, cases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713232" y="3255264"/>
            <a:ext cx="0" cy="10972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256032" y="3364992"/>
            <a:ext cx="8339328" cy="768096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dash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256032" y="3364992"/>
            <a:ext cx="833932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347472" y="3364992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WO issuer sub-flow   subscribes to RepairAssigned event   (Durable Functions fan-out)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310896" y="3584448"/>
            <a:ext cx="19888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356616" y="3621024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sub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365760" y="3785616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EG subscription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299716" y="3831336"/>
            <a:ext cx="9144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9"/>
          <p:cNvSpPr/>
          <p:nvPr/>
        </p:nvSpPr>
        <p:spPr>
          <a:xfrm>
            <a:off x="2391156" y="3584448"/>
            <a:ext cx="19888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3" name="Text 91"/>
          <p:cNvSpPr/>
          <p:nvPr/>
        </p:nvSpPr>
        <p:spPr>
          <a:xfrm>
            <a:off x="2436876" y="3621024"/>
            <a:ext cx="2487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FA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2446020" y="3785616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WO Issuer FA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379976" y="3831336"/>
            <a:ext cx="9144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94"/>
          <p:cNvSpPr/>
          <p:nvPr/>
        </p:nvSpPr>
        <p:spPr>
          <a:xfrm>
            <a:off x="4471416" y="3584448"/>
            <a:ext cx="19888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8" name="Text 96"/>
          <p:cNvSpPr/>
          <p:nvPr/>
        </p:nvSpPr>
        <p:spPr>
          <a:xfrm>
            <a:off x="4517136" y="3621024"/>
            <a:ext cx="2487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FA</a:t>
            </a:r>
            <a:endParaRPr lang="en-US" sz="600" dirty="0"/>
          </a:p>
        </p:txBody>
      </p:sp>
      <p:sp>
        <p:nvSpPr>
          <p:cNvPr id="99" name="Text 97"/>
          <p:cNvSpPr/>
          <p:nvPr/>
        </p:nvSpPr>
        <p:spPr>
          <a:xfrm>
            <a:off x="4526280" y="3785616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Contractor resolver FA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460236" y="3831336"/>
            <a:ext cx="9144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9"/>
          <p:cNvSpPr/>
          <p:nvPr/>
        </p:nvSpPr>
        <p:spPr>
          <a:xfrm>
            <a:off x="6551676" y="3584448"/>
            <a:ext cx="19888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3" name="Text 101"/>
          <p:cNvSpPr/>
          <p:nvPr/>
        </p:nvSpPr>
        <p:spPr>
          <a:xfrm>
            <a:off x="6597396" y="3621024"/>
            <a:ext cx="2487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DF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6606540" y="3785616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Durable fan-out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56032" y="4242816"/>
            <a:ext cx="8339328" cy="713232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Shape 104"/>
          <p:cNvSpPr/>
          <p:nvPr/>
        </p:nvSpPr>
        <p:spPr>
          <a:xfrm>
            <a:off x="256032" y="4242816"/>
            <a:ext cx="8339328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Text 105"/>
          <p:cNvSpPr/>
          <p:nvPr/>
        </p:nvSpPr>
        <p:spPr>
          <a:xfrm>
            <a:off x="347472" y="4242816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L4   Contractor delivery layer   (each adapter is an Event Grid subscriber, formats per vendor)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10896" y="4462272"/>
            <a:ext cx="157276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9" name="Text 107"/>
          <p:cNvSpPr/>
          <p:nvPr/>
        </p:nvSpPr>
        <p:spPr>
          <a:xfrm>
            <a:off x="365760" y="44622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HTTP 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975104" y="4462272"/>
            <a:ext cx="157276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1" name="Text 109"/>
          <p:cNvSpPr/>
          <p:nvPr/>
        </p:nvSpPr>
        <p:spPr>
          <a:xfrm>
            <a:off x="2029968" y="44622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File / SFTP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3639312" y="4462272"/>
            <a:ext cx="157276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3" name="Text 111"/>
          <p:cNvSpPr/>
          <p:nvPr/>
        </p:nvSpPr>
        <p:spPr>
          <a:xfrm>
            <a:off x="3694176" y="44622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Email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5303520" y="4462272"/>
            <a:ext cx="157276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5" name="Text 113"/>
          <p:cNvSpPr/>
          <p:nvPr/>
        </p:nvSpPr>
        <p:spPr>
          <a:xfrm>
            <a:off x="5358384" y="44622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Service Bus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6967728" y="4462272"/>
            <a:ext cx="1572768" cy="402336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7" name="Text 115"/>
          <p:cNvSpPr/>
          <p:nvPr/>
        </p:nvSpPr>
        <p:spPr>
          <a:xfrm>
            <a:off x="7022592" y="44622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4E3B"/>
                </a:solidFill>
              </a:rPr>
              <a:t>New channel</a:t>
            </a:r>
            <a:endParaRPr lang="en-US" sz="850" dirty="0"/>
          </a:p>
        </p:txBody>
      </p:sp>
      <p:sp>
        <p:nvSpPr>
          <p:cNvPr id="118" name="Shape 17">
            <a:extLst>
              <a:ext uri="{FF2B5EF4-FFF2-40B4-BE49-F238E27FC236}">
                <a16:creationId xmlns:a16="http://schemas.microsoft.com/office/drawing/2014/main" id="{1E8532EF-E4D7-EC90-02E8-D7F66D1BCE57}"/>
              </a:ext>
            </a:extLst>
          </p:cNvPr>
          <p:cNvSpPr/>
          <p:nvPr/>
        </p:nvSpPr>
        <p:spPr>
          <a:xfrm>
            <a:off x="3156712" y="749808"/>
            <a:ext cx="12230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9" name="Shape 16">
            <a:extLst>
              <a:ext uri="{FF2B5EF4-FFF2-40B4-BE49-F238E27FC236}">
                <a16:creationId xmlns:a16="http://schemas.microsoft.com/office/drawing/2014/main" id="{5600104A-D6A8-334B-AEFC-4C4DEED8EF9A}"/>
              </a:ext>
            </a:extLst>
          </p:cNvPr>
          <p:cNvSpPr/>
          <p:nvPr/>
        </p:nvSpPr>
        <p:spPr>
          <a:xfrm flipV="1">
            <a:off x="2972085" y="1005416"/>
            <a:ext cx="180701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Text 20">
            <a:extLst>
              <a:ext uri="{FF2B5EF4-FFF2-40B4-BE49-F238E27FC236}">
                <a16:creationId xmlns:a16="http://schemas.microsoft.com/office/drawing/2014/main" id="{2E432293-FF0E-A928-1B8E-E7B36739C58A}"/>
              </a:ext>
            </a:extLst>
          </p:cNvPr>
          <p:cNvSpPr/>
          <p:nvPr/>
        </p:nvSpPr>
        <p:spPr>
          <a:xfrm>
            <a:off x="3178378" y="806027"/>
            <a:ext cx="89281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PropSys360 API</a:t>
            </a:r>
            <a:endParaRPr lang="en-US" sz="850" dirty="0"/>
          </a:p>
        </p:txBody>
      </p:sp>
      <p:sp>
        <p:nvSpPr>
          <p:cNvPr id="121" name="Text 21">
            <a:extLst>
              <a:ext uri="{FF2B5EF4-FFF2-40B4-BE49-F238E27FC236}">
                <a16:creationId xmlns:a16="http://schemas.microsoft.com/office/drawing/2014/main" id="{F71EBA8C-C350-ECA8-C771-DFC8A2E8C9C4}"/>
              </a:ext>
            </a:extLst>
          </p:cNvPr>
          <p:cNvSpPr/>
          <p:nvPr/>
        </p:nvSpPr>
        <p:spPr>
          <a:xfrm>
            <a:off x="3114751" y="1002790"/>
            <a:ext cx="1223095" cy="199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Create, Update, Get, Cancel</a:t>
            </a:r>
            <a:endParaRPr lang="en-US" sz="700" dirty="0"/>
          </a:p>
        </p:txBody>
      </p:sp>
      <p:sp>
        <p:nvSpPr>
          <p:cNvPr id="122" name="Shape 17">
            <a:extLst>
              <a:ext uri="{FF2B5EF4-FFF2-40B4-BE49-F238E27FC236}">
                <a16:creationId xmlns:a16="http://schemas.microsoft.com/office/drawing/2014/main" id="{1AFA2D79-2408-F0FD-A83E-F19FBAAAC399}"/>
              </a:ext>
            </a:extLst>
          </p:cNvPr>
          <p:cNvSpPr/>
          <p:nvPr/>
        </p:nvSpPr>
        <p:spPr>
          <a:xfrm>
            <a:off x="4652432" y="746758"/>
            <a:ext cx="12230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3" name="Shape 16">
            <a:extLst>
              <a:ext uri="{FF2B5EF4-FFF2-40B4-BE49-F238E27FC236}">
                <a16:creationId xmlns:a16="http://schemas.microsoft.com/office/drawing/2014/main" id="{0FC5FB19-7340-2FC4-FA87-29D36402686A}"/>
              </a:ext>
            </a:extLst>
          </p:cNvPr>
          <p:cNvSpPr/>
          <p:nvPr/>
        </p:nvSpPr>
        <p:spPr>
          <a:xfrm flipV="1">
            <a:off x="4379977" y="1010918"/>
            <a:ext cx="272456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Text 20">
            <a:extLst>
              <a:ext uri="{FF2B5EF4-FFF2-40B4-BE49-F238E27FC236}">
                <a16:creationId xmlns:a16="http://schemas.microsoft.com/office/drawing/2014/main" id="{4F7E5CBE-60D1-123A-11B9-067DE73B8AE6}"/>
              </a:ext>
            </a:extLst>
          </p:cNvPr>
          <p:cNvSpPr/>
          <p:nvPr/>
        </p:nvSpPr>
        <p:spPr>
          <a:xfrm>
            <a:off x="4638165" y="758952"/>
            <a:ext cx="89281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Coupa API</a:t>
            </a:r>
            <a:endParaRPr lang="en-US" sz="850" dirty="0"/>
          </a:p>
        </p:txBody>
      </p:sp>
      <p:sp>
        <p:nvSpPr>
          <p:cNvPr id="125" name="Text 21">
            <a:extLst>
              <a:ext uri="{FF2B5EF4-FFF2-40B4-BE49-F238E27FC236}">
                <a16:creationId xmlns:a16="http://schemas.microsoft.com/office/drawing/2014/main" id="{6CF26B0F-7F71-1FB6-8361-D0D651CD835C}"/>
              </a:ext>
            </a:extLst>
          </p:cNvPr>
          <p:cNvSpPr/>
          <p:nvPr/>
        </p:nvSpPr>
        <p:spPr>
          <a:xfrm>
            <a:off x="4643288" y="967147"/>
            <a:ext cx="1223095" cy="199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</a:rPr>
              <a:t>Create , Update </a:t>
            </a:r>
            <a:endParaRPr lang="en-US" sz="700" dirty="0"/>
          </a:p>
        </p:txBody>
      </p:sp>
      <p:sp>
        <p:nvSpPr>
          <p:cNvPr id="127" name="Text 26">
            <a:extLst>
              <a:ext uri="{FF2B5EF4-FFF2-40B4-BE49-F238E27FC236}">
                <a16:creationId xmlns:a16="http://schemas.microsoft.com/office/drawing/2014/main" id="{5499D5B6-A2D5-2AAF-EF93-71A5567C0F63}"/>
              </a:ext>
            </a:extLst>
          </p:cNvPr>
          <p:cNvSpPr/>
          <p:nvPr/>
        </p:nvSpPr>
        <p:spPr>
          <a:xfrm>
            <a:off x="6231446" y="784267"/>
            <a:ext cx="97053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True Compliance API</a:t>
            </a:r>
            <a:endParaRPr lang="en-US" sz="850" dirty="0"/>
          </a:p>
        </p:txBody>
      </p:sp>
      <p:sp>
        <p:nvSpPr>
          <p:cNvPr id="126" name="Shape 23">
            <a:extLst>
              <a:ext uri="{FF2B5EF4-FFF2-40B4-BE49-F238E27FC236}">
                <a16:creationId xmlns:a16="http://schemas.microsoft.com/office/drawing/2014/main" id="{5456FCEA-51DF-1E9F-53FC-3CEF10D660C9}"/>
              </a:ext>
            </a:extLst>
          </p:cNvPr>
          <p:cNvSpPr/>
          <p:nvPr/>
        </p:nvSpPr>
        <p:spPr>
          <a:xfrm>
            <a:off x="7522464" y="746758"/>
            <a:ext cx="96316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550065" y="758952"/>
            <a:ext cx="84751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APIM + portal</a:t>
            </a:r>
            <a:endParaRPr lang="en-US" sz="850" dirty="0"/>
          </a:p>
        </p:txBody>
      </p:sp>
      <p:sp>
        <p:nvSpPr>
          <p:cNvPr id="128" name="Shape 22">
            <a:extLst>
              <a:ext uri="{FF2B5EF4-FFF2-40B4-BE49-F238E27FC236}">
                <a16:creationId xmlns:a16="http://schemas.microsoft.com/office/drawing/2014/main" id="{51FC1329-B656-8DDF-0747-4E25067BD724}"/>
              </a:ext>
            </a:extLst>
          </p:cNvPr>
          <p:cNvSpPr/>
          <p:nvPr/>
        </p:nvSpPr>
        <p:spPr>
          <a:xfrm>
            <a:off x="7303008" y="995255"/>
            <a:ext cx="219456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flow in — Contractor writes a repair or work order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Command on Service Bus, handled once, then an event is published for anyone interested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7B"/>
                </a:solidFill>
              </a:rPr>
              <a:t>Command path  (write)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38684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10896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Vendor call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0896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Repair/WO API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661160" y="1563624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716024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716024" y="1170432"/>
            <a:ext cx="138684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716024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752600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APIM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52600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Auth + schema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102864" y="1563624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157728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157728" y="1170432"/>
            <a:ext cx="13868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157728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194304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Receiver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94304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Command to SB, 202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44568" y="1563624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599432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599432" y="1170432"/>
            <a:ext cx="13868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99432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636008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Service Bus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36008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Ordered, guaranteed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986272" y="1563624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041136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041136" y="1170432"/>
            <a:ext cx="13868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041136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6077712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Command handler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77712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Write Dataverse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427976" y="1563624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482840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482840" y="1170432"/>
            <a:ext cx="1386840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7482840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7519416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Dataverse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19416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Record written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74320" y="221284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</a:rPr>
              <a:t>Event path  (broadcast what happened)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2468880"/>
            <a:ext cx="1675181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274320" y="2468880"/>
            <a:ext cx="1675181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274320" y="2468880"/>
            <a:ext cx="16751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7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10896" y="2651760"/>
            <a:ext cx="16020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Handler publishes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10896" y="2889504"/>
            <a:ext cx="160202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RepairCreated event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949501" y="2862072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2004365" y="2468880"/>
            <a:ext cx="1675181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2004365" y="2468880"/>
            <a:ext cx="1675181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2004365" y="2468880"/>
            <a:ext cx="16751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8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2040941" y="2651760"/>
            <a:ext cx="16020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Event Grid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040941" y="2889504"/>
            <a:ext cx="160202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Routes by filter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679546" y="2862072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3734410" y="2468880"/>
            <a:ext cx="1675181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734410" y="2468880"/>
            <a:ext cx="1675181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3734410" y="2468880"/>
            <a:ext cx="16751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9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3770986" y="2651760"/>
            <a:ext cx="16020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CRM subscriber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770986" y="2889504"/>
            <a:ext cx="160202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Case opened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409590" y="2862072"/>
            <a:ext cx="54864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5464454" y="2468880"/>
            <a:ext cx="1675181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5464454" y="2468880"/>
            <a:ext cx="1675181" cy="1463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5464454" y="2468880"/>
            <a:ext cx="16751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501030" y="2651760"/>
            <a:ext cx="16020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Audit subscriber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501030" y="2889504"/>
            <a:ext cx="160202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Logged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139635" y="2862072"/>
            <a:ext cx="54864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7194499" y="2468880"/>
            <a:ext cx="1675181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7194499" y="2468880"/>
            <a:ext cx="1675181" cy="1463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7194499" y="2468880"/>
            <a:ext cx="16751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231075" y="2651760"/>
            <a:ext cx="16020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Analytics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231075" y="2889504"/>
            <a:ext cx="160202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Metrics updated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74320" y="3529584"/>
            <a:ext cx="8595360" cy="13716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420624" y="362102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7B"/>
                </a:solidFill>
              </a:rPr>
              <a:t>What the inbound flow guarantees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20624" y="389534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The vendor gets a 202 in milliseconds — the command is durably queued before any processing happens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20624" y="412394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The command handler runs exactly once with ordering and retry — no lost or duplicated writes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20624" y="435254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Once the write succeeds, one event announces it — subscribers react without the handler knowing they exist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20624" y="458114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  Reads (Get, List) skip this entirely: APIM to read handler to Redis or Dataverse, returned synchronously as 200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flow out — work order issued to vendor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An event triggers the issuer; Durable Functions fans out to vendor adapters in parallel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Outbound path  (event-triggered fan-out)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38684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10896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RepairAssigned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0896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event on Event Grid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661160" y="1563624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716024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EA580C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716024" y="1170432"/>
            <a:ext cx="1386840" cy="1463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716024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752600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WO Issuer FA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52600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Build work order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102864" y="1563624"/>
            <a:ext cx="54864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157728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EA580C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157728" y="1170432"/>
            <a:ext cx="1386840" cy="1463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157728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194304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Vendor resolver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94304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Channel + format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44568" y="1563624"/>
            <a:ext cx="54864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599432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599432" y="1170432"/>
            <a:ext cx="1386840" cy="1463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99432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636008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Durable fan-out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36008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Parallel delivery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986272" y="1563624"/>
            <a:ext cx="54864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041136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041136" y="1170432"/>
            <a:ext cx="1386840" cy="1463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041136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6077712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Adapter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77712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Format per vendor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427976" y="1563624"/>
            <a:ext cx="54864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482840" y="1170432"/>
            <a:ext cx="1386840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482840" y="1170432"/>
            <a:ext cx="1386840" cy="1463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7482840" y="1170432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7519416" y="1353312"/>
            <a:ext cx="1313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Vendor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19416" y="1591056"/>
            <a:ext cx="1313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Receives WO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2157984"/>
            <a:ext cx="8595360" cy="493776"/>
          </a:xfrm>
          <a:prstGeom prst="rect">
            <a:avLst/>
          </a:prstGeom>
          <a:solidFill>
            <a:srgbClr val="FFF3EE"/>
          </a:solidFill>
          <a:ln w="63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20624" y="2157984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A3412"/>
                </a:solidFill>
              </a:rPr>
              <a:t>Durable Functions fans out all of a vendor's channels in parallel — webhook, file, and email fire at once, each with its own retry. One failing does not block the others.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74320" y="2779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4E3B"/>
                </a:solidFill>
              </a:rPr>
              <a:t>Return path  (vendor reports status — same API)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035808"/>
            <a:ext cx="1675181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274320" y="3035808"/>
            <a:ext cx="1675181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274320" y="3035808"/>
            <a:ext cx="16751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7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10896" y="3218688"/>
            <a:ext cx="16020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Vendor POST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10896" y="3456432"/>
            <a:ext cx="160202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WO API / Update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949501" y="3429000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2004365" y="3035808"/>
            <a:ext cx="1675181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2004365" y="3035808"/>
            <a:ext cx="1675181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2004365" y="3035808"/>
            <a:ext cx="16751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8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040941" y="3218688"/>
            <a:ext cx="16020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APIM + receiver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040941" y="3456432"/>
            <a:ext cx="160202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Command to SB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679546" y="3429000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3734410" y="3035808"/>
            <a:ext cx="1675181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3734410" y="3035808"/>
            <a:ext cx="1675181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3734410" y="3035808"/>
            <a:ext cx="16751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9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770986" y="3218688"/>
            <a:ext cx="16020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Handler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770986" y="3456432"/>
            <a:ext cx="160202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Write status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409590" y="3429000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5464454" y="3035808"/>
            <a:ext cx="1675181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5464454" y="3035808"/>
            <a:ext cx="1675181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5464454" y="3035808"/>
            <a:ext cx="16751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501030" y="3218688"/>
            <a:ext cx="16020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Event Grid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501030" y="3456432"/>
            <a:ext cx="160202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StatusChanged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139635" y="3429000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7194499" y="3035808"/>
            <a:ext cx="1675181" cy="786384"/>
          </a:xfrm>
          <a:prstGeom prst="rect">
            <a:avLst/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7194499" y="3035808"/>
            <a:ext cx="1675181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7194499" y="3035808"/>
            <a:ext cx="16751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231075" y="3218688"/>
            <a:ext cx="16020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CRM subscriber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231075" y="3456432"/>
            <a:ext cx="160202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Case closed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74320" y="4114800"/>
            <a:ext cx="8595360" cy="786384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420624" y="4187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4E3B"/>
                </a:solidFill>
              </a:rPr>
              <a:t>The loop closes symmetrically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20624" y="442569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Outbound is event-driven (RepairAssigned triggers the issuer). The vendor's status update comes back as a normal command on the same Work Order API,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20624" y="460857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is handled once, and publishes a StatusChanged event that closes the case. Commands carry data in; events broadcast what happened out.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event-driven scales to 50+ vendors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Every new vendor, channel, or consumer is a subscription — never a change to existing 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15768" cy="1371600"/>
          </a:xfrm>
          <a:prstGeom prst="rect">
            <a:avLst/>
          </a:prstGeom>
          <a:solidFill>
            <a:srgbClr val="0D1F35"/>
          </a:solidFill>
          <a:ln w="762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15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02336" y="10607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</a:rPr>
              <a:t>Add a vendor = add a subscriber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" y="148132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 new vendor's delivery adapter subscribes to the work order event. No publisher changes, no fan-out edits.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715768" cy="1371600"/>
          </a:xfrm>
          <a:prstGeom prst="rect">
            <a:avLst/>
          </a:prstGeom>
          <a:solidFill>
            <a:srgbClr val="0D1F35"/>
          </a:solidFill>
          <a:ln w="762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172968" y="914400"/>
            <a:ext cx="2715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300984" y="10607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</a:rPr>
              <a:t>Parallel, isolated delivery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00984" y="148132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Durable Functions delivers to every channel at once with per-branch retry. One vendor's outage never blocks another.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71616" y="914400"/>
            <a:ext cx="2715768" cy="1371600"/>
          </a:xfrm>
          <a:prstGeom prst="rect">
            <a:avLst/>
          </a:prstGeom>
          <a:solidFill>
            <a:srgbClr val="0D1F35"/>
          </a:solidFill>
          <a:ln w="762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71616" y="914400"/>
            <a:ext cx="2715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199632" y="10607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</a:rPr>
              <a:t>Full event replay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99632" y="148132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Event Grid retains events. Replay missed work orders for a vendor who was offline — from any point in time.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2715768" cy="1371600"/>
          </a:xfrm>
          <a:prstGeom prst="rect">
            <a:avLst/>
          </a:prstGeom>
          <a:solidFill>
            <a:srgbClr val="0D1F35"/>
          </a:solidFill>
          <a:ln w="762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" y="2468880"/>
            <a:ext cx="2715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02336" y="261518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</a:rPr>
              <a:t>New consumers are free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" y="303580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Analytics, BI, fraud checks — any new consumer subscribes to existing events without touching the write path.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72968" y="2468880"/>
            <a:ext cx="2715768" cy="1371600"/>
          </a:xfrm>
          <a:prstGeom prst="rect">
            <a:avLst/>
          </a:prstGeom>
          <a:solidFill>
            <a:srgbClr val="0D1F35"/>
          </a:solidFill>
          <a:ln w="762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172968" y="2468880"/>
            <a:ext cx="2715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300984" y="261518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</a:rPr>
              <a:t>Commands stay ordered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00984" y="303580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Per-vendor sessions on Service Bus keep each vendor's writes in order even at high concurrency across 50+.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71616" y="2468880"/>
            <a:ext cx="2715768" cy="1371600"/>
          </a:xfrm>
          <a:prstGeom prst="rect">
            <a:avLst/>
          </a:prstGeom>
          <a:solidFill>
            <a:srgbClr val="0D1F35"/>
          </a:solidFill>
          <a:ln w="7620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071616" y="2468880"/>
            <a:ext cx="2715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199632" y="261518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</a:rPr>
              <a:t>Independent scaling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03580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The command path and the fan-out path scale separately — a write spike never starves outbound delivery.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 1 vs Option 2 — when to choose which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Same API-first front door. The difference is what happens behind it.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371600" cy="31089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Aspect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91640" y="914400"/>
            <a:ext cx="352044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783080" y="91440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Option 1 — API hub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57800" y="914400"/>
            <a:ext cx="361188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349240" y="9144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Option 2 — event-driven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1371600" cy="512064"/>
          </a:xfrm>
          <a:prstGeom prst="rect">
            <a:avLst/>
          </a:prstGeom>
          <a:solidFill>
            <a:srgbClr val="F1F5F9"/>
          </a:solidFill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9184" y="129844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Behind the API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91640" y="1298448"/>
            <a:ext cx="3520440" cy="512064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783080" y="1298448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7B"/>
                </a:solidFill>
              </a:rPr>
              <a:t>Handler writes to Dataverse directly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57800" y="1298448"/>
            <a:ext cx="361188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349240" y="129844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Command queue, then event fan-out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865376"/>
            <a:ext cx="1371600" cy="512064"/>
          </a:xfrm>
          <a:prstGeom prst="rect">
            <a:avLst/>
          </a:prstGeom>
          <a:solidFill>
            <a:srgbClr val="F1F5F9"/>
          </a:solidFill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29184" y="1865376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Fan-out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91640" y="1865376"/>
            <a:ext cx="3520440" cy="512064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783080" y="1865376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7B"/>
                </a:solidFill>
              </a:rPr>
              <a:t>Sequential adapter calls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57800" y="1865376"/>
            <a:ext cx="361188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349240" y="1865376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8A"/>
                </a:solidFill>
              </a:rPr>
              <a:t>Durable Functions, parallel + isolated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432304"/>
            <a:ext cx="1371600" cy="512064"/>
          </a:xfrm>
          <a:prstGeom prst="rect">
            <a:avLst/>
          </a:prstGeom>
          <a:solidFill>
            <a:srgbClr val="F1F5F9"/>
          </a:solidFill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29184" y="243230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New consumer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91640" y="2432304"/>
            <a:ext cx="3520440" cy="512064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783080" y="2432304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7B"/>
                </a:solidFill>
              </a:rPr>
              <a:t>Wire it into the handler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57800" y="2432304"/>
            <a:ext cx="361188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349240" y="2432304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8A"/>
                </a:solidFill>
              </a:rPr>
              <a:t>Subscribe to an existing event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999232"/>
            <a:ext cx="1371600" cy="512064"/>
          </a:xfrm>
          <a:prstGeom prst="rect">
            <a:avLst/>
          </a:prstGeom>
          <a:solidFill>
            <a:srgbClr val="F1F5F9"/>
          </a:solidFill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29184" y="299923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Replay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91640" y="2999232"/>
            <a:ext cx="3520440" cy="512064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783080" y="2999232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7B"/>
                </a:solidFill>
              </a:rPr>
              <a:t>Manual from Dataverse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57800" y="2999232"/>
            <a:ext cx="361188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349240" y="2999232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8A"/>
                </a:solidFill>
              </a:rPr>
              <a:t>Built-in from Event Grid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566160"/>
            <a:ext cx="1371600" cy="512064"/>
          </a:xfrm>
          <a:prstGeom prst="rect">
            <a:avLst/>
          </a:prstGeom>
          <a:solidFill>
            <a:srgbClr val="F1F5F9"/>
          </a:solidFill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29184" y="356616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Best when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91640" y="3566160"/>
            <a:ext cx="3520440" cy="512064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1783080" y="3566160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7B"/>
                </a:solidFill>
              </a:rPr>
              <a:t>Modest volume, simple delivery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257800" y="3566160"/>
            <a:ext cx="361188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5349240" y="3566160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8A"/>
                </a:solidFill>
              </a:rPr>
              <a:t>High volume, many vendors and consumers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133088"/>
            <a:ext cx="1371600" cy="512064"/>
          </a:xfrm>
          <a:prstGeom prst="rect">
            <a:avLst/>
          </a:prstGeom>
          <a:solidFill>
            <a:srgbClr val="F1F5F9"/>
          </a:solidFill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329184" y="413308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Effort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691640" y="4133088"/>
            <a:ext cx="3520440" cy="512064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783080" y="4133088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7B"/>
                </a:solidFill>
              </a:rPr>
              <a:t>3-5 months, low risk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257800" y="4133088"/>
            <a:ext cx="361188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5349240" y="413308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8A"/>
                </a:solidFill>
              </a:rPr>
              <a:t>5-9 months, medium risk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1073</Words>
  <Application>Microsoft Office PowerPoint</Application>
  <PresentationFormat>On-screen Show (16:9)</PresentationFormat>
  <Paragraphs>234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2 — Event-Driven Platform</dc:title>
  <dc:subject>PptxGenJS Presentation</dc:subject>
  <dc:creator>PptxGenJS</dc:creator>
  <cp:lastModifiedBy>Kumar, Puneet (Cognizant)</cp:lastModifiedBy>
  <cp:revision>2</cp:revision>
  <dcterms:created xsi:type="dcterms:W3CDTF">2026-06-01T17:17:22Z</dcterms:created>
  <dcterms:modified xsi:type="dcterms:W3CDTF">2026-06-02T08:36:55Z</dcterms:modified>
</cp:coreProperties>
</file>