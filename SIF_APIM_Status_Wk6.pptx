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42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— SIF &amp; APIM HLD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update     ·     Week 6 of 8     ·     29 Sep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92640" y="301752"/>
            <a:ext cx="2039112" cy="512064"/>
          </a:xfrm>
          <a:prstGeom prst="roundRect">
            <a:avLst>
              <a:gd name="adj" fmla="val 50000"/>
            </a:avLst>
          </a:prstGeom>
          <a:solidFill>
            <a:srgbClr val="1E8A5A"/>
          </a:solidFill>
          <a:ln/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30384" y="507492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04120" y="3017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575304" cy="786384"/>
          </a:xfrm>
          <a:prstGeom prst="roundRect">
            <a:avLst>
              <a:gd name="adj" fmla="val 10465"/>
            </a:avLst>
          </a:prstGeom>
          <a:solidFill>
            <a:srgbClr val="F5F7FC"/>
          </a:solidFill>
          <a:ln w="9525">
            <a:solidFill>
              <a:srgbClr val="DCE1EF"/>
            </a:solidFill>
            <a:prstDash val="solid"/>
          </a:ln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97864"/>
            <a:ext cx="402336" cy="402336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9" name="Image 0" descr="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930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70432" y="1078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ahead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1435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completed in Week 3 vs. a Week 4 plan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06824" y="1005840"/>
            <a:ext cx="3575304" cy="786384"/>
          </a:xfrm>
          <a:prstGeom prst="roundRect">
            <a:avLst>
              <a:gd name="adj" fmla="val 10465"/>
            </a:avLst>
          </a:prstGeom>
          <a:solidFill>
            <a:srgbClr val="F5F7FC"/>
          </a:solidFill>
          <a:ln w="9525">
            <a:solidFill>
              <a:srgbClr val="DCE1EF"/>
            </a:solidFill>
            <a:prstDash val="solid"/>
          </a:ln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9704" y="1197864"/>
            <a:ext cx="402336" cy="402336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14" name="Image 1" descr="assets/ic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28930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0056" y="1078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done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020056" y="1435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Document ratified with Chaucer stakeholders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56448" y="1005840"/>
            <a:ext cx="3575304" cy="786384"/>
          </a:xfrm>
          <a:prstGeom prst="roundRect">
            <a:avLst>
              <a:gd name="adj" fmla="val 10465"/>
            </a:avLst>
          </a:prstGeom>
          <a:solidFill>
            <a:srgbClr val="F5F7FC"/>
          </a:solidFill>
          <a:ln w="9525">
            <a:solidFill>
              <a:srgbClr val="DCE1EF"/>
            </a:solidFill>
            <a:prstDash val="solid"/>
          </a:ln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1197864"/>
            <a:ext cx="402336" cy="402336"/>
          </a:xfrm>
          <a:prstGeom prst="ellipse">
            <a:avLst/>
          </a:prstGeom>
          <a:solidFill>
            <a:srgbClr val="05819B"/>
          </a:solidFill>
          <a:ln/>
        </p:spPr>
      </p:sp>
      <p:pic>
        <p:nvPicPr>
          <p:cNvPr id="19" name="Image 2" descr="assets/ic_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28930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69680" y="107899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8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in review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869680" y="143560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started early (Wk 4) - internal review now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 ·  8 WEEKS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275320" y="1911096"/>
            <a:ext cx="137160" cy="137160"/>
          </a:xfrm>
          <a:prstGeom prst="rect">
            <a:avLst/>
          </a:prstGeom>
          <a:solidFill>
            <a:srgbClr val="1E8A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458200" y="18470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418320" y="1911096"/>
            <a:ext cx="137160" cy="137160"/>
          </a:xfrm>
          <a:prstGeom prst="rect">
            <a:avLst/>
          </a:prstGeom>
          <a:solidFill>
            <a:srgbClr val="05819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0" y="18470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0607040" y="1911096"/>
            <a:ext cx="137160" cy="137160"/>
          </a:xfrm>
          <a:prstGeom prst="rect">
            <a:avLst/>
          </a:prstGeom>
          <a:solidFill>
            <a:srgbClr val="000048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789920" y="18470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704659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2113979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3523298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4932617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341936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7751255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9160574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0569893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57200" y="2258568"/>
            <a:ext cx="11274552" cy="329184"/>
          </a:xfrm>
          <a:prstGeom prst="roundRect">
            <a:avLst>
              <a:gd name="adj" fmla="val 13889"/>
            </a:avLst>
          </a:prstGeom>
          <a:solidFill>
            <a:srgbClr val="E7E9F1"/>
          </a:solidFill>
          <a:ln/>
        </p:spPr>
      </p:sp>
      <p:sp>
        <p:nvSpPr>
          <p:cNvPr id="38" name="Shape 33"/>
          <p:cNvSpPr/>
          <p:nvPr/>
        </p:nvSpPr>
        <p:spPr>
          <a:xfrm>
            <a:off x="484632" y="2286000"/>
            <a:ext cx="4173093" cy="274320"/>
          </a:xfrm>
          <a:prstGeom prst="roundRect">
            <a:avLst>
              <a:gd name="adj" fmla="val 16667"/>
            </a:avLst>
          </a:prstGeom>
          <a:solidFill>
            <a:srgbClr val="1E8A5A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539496" y="2286000"/>
            <a:ext cx="4063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— complete (Wk 3)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712589" y="2286000"/>
            <a:ext cx="4173093" cy="274320"/>
          </a:xfrm>
          <a:prstGeom prst="roundRect">
            <a:avLst>
              <a:gd name="adj" fmla="val 16667"/>
            </a:avLst>
          </a:prstGeom>
          <a:solidFill>
            <a:srgbClr val="05819B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4767453" y="2286000"/>
            <a:ext cx="4063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HLD - internal review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940546" y="2286000"/>
            <a:ext cx="2763774" cy="274320"/>
          </a:xfrm>
          <a:prstGeom prst="roundRect">
            <a:avLst>
              <a:gd name="adj" fmla="val 16667"/>
            </a:avLst>
          </a:prstGeom>
          <a:solidFill>
            <a:srgbClr val="000048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995410" y="2286000"/>
            <a:ext cx="2654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review · TDA · Wrap-up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8913114" y="2231136"/>
            <a:ext cx="0" cy="393192"/>
          </a:xfrm>
          <a:prstGeom prst="line">
            <a:avLst/>
          </a:prstGeom>
          <a:noFill/>
          <a:ln w="19050">
            <a:solidFill>
              <a:srgbClr val="000048"/>
            </a:solidFill>
            <a:prstDash val="dash"/>
          </a:ln>
        </p:spPr>
      </p:sp>
      <p:sp>
        <p:nvSpPr>
          <p:cNvPr id="45" name="Shape 40"/>
          <p:cNvSpPr/>
          <p:nvPr/>
        </p:nvSpPr>
        <p:spPr>
          <a:xfrm flipV="1">
            <a:off x="8844534" y="2651760"/>
            <a:ext cx="137160" cy="109728"/>
          </a:xfrm>
          <a:prstGeom prst="triangle">
            <a:avLst/>
          </a:prstGeom>
          <a:solidFill>
            <a:srgbClr val="000048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952994" y="271944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Wk 6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57200" y="2889504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F"/>
            </a:solidFill>
            <a:prstDash val="solid"/>
          </a:ln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713232" y="3108960"/>
            <a:ext cx="457200" cy="457200"/>
          </a:xfrm>
          <a:prstGeom prst="ellipse">
            <a:avLst/>
          </a:prstGeom>
          <a:solidFill>
            <a:srgbClr val="1E8A5A"/>
          </a:solidFill>
          <a:ln/>
        </p:spPr>
      </p:sp>
      <p:pic>
        <p:nvPicPr>
          <p:cNvPr id="49" name="Image 3" descr="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27832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128016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— Systems Integration Framework</a:t>
            </a:r>
            <a:endParaRPr lang="en-US" sz="1350" dirty="0"/>
          </a:p>
        </p:txBody>
      </p:sp>
      <p:sp>
        <p:nvSpPr>
          <p:cNvPr id="51" name="Text 45"/>
          <p:cNvSpPr txBox="1"/>
          <p:nvPr/>
        </p:nvSpPr>
        <p:spPr>
          <a:xfrm>
            <a:off x="1280160" y="3401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4462272" y="3145536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1E8A5A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4462272" y="31455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713232" y="3858768"/>
            <a:ext cx="4974336" cy="0"/>
          </a:xfrm>
          <a:prstGeom prst="line">
            <a:avLst/>
          </a:prstGeom>
          <a:noFill/>
          <a:ln w="12700">
            <a:solidFill>
              <a:srgbClr val="EEF1F8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749808" y="3931920"/>
            <a:ext cx="491947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reference architecture &amp; pattern catalogue finalised</a:t>
            </a:r>
            <a:endParaRPr lang="en-US" sz="1100" dirty="0"/>
          </a:p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Decision-guidance model &amp; Data Platform interface boundary documented</a:t>
            </a:r>
            <a:endParaRPr lang="en-US" sz="1100" dirty="0"/>
          </a:p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with Chaucer Architects content review-ready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621792" y="4700016"/>
            <a:ext cx="5157216" cy="329184"/>
          </a:xfrm>
          <a:prstGeom prst="roundRect">
            <a:avLst>
              <a:gd name="adj" fmla="val 13889"/>
            </a:avLst>
          </a:prstGeom>
          <a:solidFill>
            <a:srgbClr val="F2F5FB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749808" y="470001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</a:t>
            </a:r>
            <a:r>
              <a:rPr lang="en-US" sz="10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submission pushed as planned due to availability of Steve Coldwell.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6245352" y="2889504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F"/>
            </a:solidFill>
            <a:prstDash val="solid"/>
          </a:ln>
          <a:effectLst>
            <a:outerShdw blurRad="76200" dist="25400" dir="5400000" algn="bl" rotWithShape="0">
              <a:srgbClr val="8893B0">
                <a:alpha val="28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6501384" y="3108960"/>
            <a:ext cx="457200" cy="457200"/>
          </a:xfrm>
          <a:prstGeom prst="ellipse">
            <a:avLst/>
          </a:prstGeom>
          <a:solidFill>
            <a:srgbClr val="05819B"/>
          </a:solidFill>
          <a:ln/>
        </p:spPr>
      </p:sp>
      <p:pic>
        <p:nvPicPr>
          <p:cNvPr id="60" name="Image 4" descr="assets/ic_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227832"/>
            <a:ext cx="219456" cy="219456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7068312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— High-Level Design</a:t>
            </a:r>
            <a:endParaRPr lang="en-US" sz="1350" dirty="0"/>
          </a:p>
        </p:txBody>
      </p:sp>
      <p:sp>
        <p:nvSpPr>
          <p:cNvPr id="62" name="Text 55"/>
          <p:cNvSpPr txBox="1"/>
          <p:nvPr/>
        </p:nvSpPr>
        <p:spPr>
          <a:xfrm>
            <a:off x="7068312" y="3401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10250424" y="3145536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05819B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10250424" y="3145536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6501384" y="3858768"/>
            <a:ext cx="4974336" cy="0"/>
          </a:xfrm>
          <a:prstGeom prst="line">
            <a:avLst/>
          </a:prstGeom>
          <a:noFill/>
          <a:ln w="12700">
            <a:solidFill>
              <a:srgbClr val="EEF1F8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6537960" y="3849623"/>
            <a:ext cx="4919472" cy="8869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 and APIM SKU- Tier Desing Decision Confirmed with Chaucer Security and Cloud Architect. </a:t>
            </a:r>
          </a:p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throttling/caching &amp; Dev/UAT/Prod strategy drafted</a:t>
            </a:r>
            <a:endParaRPr lang="en-US" sz="1100" dirty="0"/>
          </a:p>
          <a:p>
            <a:pPr marL="152400" indent="-152400" algn="l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in Week 4 ahead of the planned Wk 4–6 window</a:t>
            </a:r>
            <a:endParaRPr lang="en-US" sz="1100" dirty="0"/>
          </a:p>
        </p:txBody>
      </p:sp>
      <p:sp>
        <p:nvSpPr>
          <p:cNvPr id="67" name="Shape 60"/>
          <p:cNvSpPr/>
          <p:nvPr/>
        </p:nvSpPr>
        <p:spPr>
          <a:xfrm>
            <a:off x="6409944" y="4700016"/>
            <a:ext cx="5157216" cy="329184"/>
          </a:xfrm>
          <a:prstGeom prst="roundRect">
            <a:avLst>
              <a:gd name="adj" fmla="val 13889"/>
            </a:avLst>
          </a:prstGeom>
          <a:solidFill>
            <a:srgbClr val="F2F5FB"/>
          </a:solidFill>
          <a:ln/>
        </p:spPr>
      </p:sp>
      <p:sp>
        <p:nvSpPr>
          <p:cNvPr id="68" name="Text 61"/>
          <p:cNvSpPr txBox="1"/>
          <p:nvPr/>
        </p:nvSpPr>
        <p:spPr>
          <a:xfrm>
            <a:off x="6537960" y="4715646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</a:t>
            </a:r>
            <a:r>
              <a:rPr lang="en-US" sz="10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internal review → joint review with Chaucer → consolidate for TDA.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457200" y="5193792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FEF6E9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658368" y="5303520"/>
            <a:ext cx="420624" cy="420624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71" name="Image 5" descr="assets/ic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413248"/>
            <a:ext cx="219456" cy="219456"/>
          </a:xfrm>
          <a:prstGeom prst="rect">
            <a:avLst/>
          </a:prstGeom>
        </p:spPr>
      </p:pic>
      <p:sp>
        <p:nvSpPr>
          <p:cNvPr id="72" name="Text 64"/>
          <p:cNvSpPr txBox="1"/>
          <p:nvPr/>
        </p:nvSpPr>
        <p:spPr>
          <a:xfrm>
            <a:off x="1188720" y="52669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·  SIF TDA sign-off</a:t>
            </a:r>
            <a:endParaRPr lang="en-US" sz="1150" dirty="0"/>
          </a:p>
        </p:txBody>
      </p:sp>
      <p:sp>
        <p:nvSpPr>
          <p:cNvPr id="73" name="Text 65"/>
          <p:cNvSpPr txBox="1"/>
          <p:nvPr/>
        </p:nvSpPr>
        <p:spPr>
          <a:xfrm>
            <a:off x="1216152" y="5504688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2A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Chaucer - awaiting had a meeting with stakeholder yesterday. SIF content is complete and ready to be shared with TDA, so no rework is expected.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6245352" y="5193792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000048"/>
          </a:solidFill>
          <a:ln/>
        </p:spPr>
      </p:sp>
      <p:sp>
        <p:nvSpPr>
          <p:cNvPr id="75" name="Shape 67"/>
          <p:cNvSpPr/>
          <p:nvPr/>
        </p:nvSpPr>
        <p:spPr>
          <a:xfrm>
            <a:off x="6446520" y="5303520"/>
            <a:ext cx="420624" cy="420624"/>
          </a:xfrm>
          <a:prstGeom prst="ellipse">
            <a:avLst/>
          </a:prstGeom>
          <a:solidFill>
            <a:srgbClr val="05819B"/>
          </a:solidFill>
          <a:ln/>
        </p:spPr>
      </p:sp>
      <p:pic>
        <p:nvPicPr>
          <p:cNvPr id="76" name="Image 6" descr="assets/ic_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5413248"/>
            <a:ext cx="219456" cy="219456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6976872" y="52669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 ·  NEXT MILESTONES</a:t>
            </a:r>
            <a:endParaRPr lang="en-US" sz="1150" dirty="0"/>
          </a:p>
        </p:txBody>
      </p:sp>
      <p:sp>
        <p:nvSpPr>
          <p:cNvPr id="78" name="Text 69"/>
          <p:cNvSpPr txBox="1"/>
          <p:nvPr/>
        </p:nvSpPr>
        <p:spPr>
          <a:xfrm>
            <a:off x="6976872" y="5504688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r>
              <a:rPr lang="en-US" sz="900" dirty="0">
                <a:solidFill>
                  <a:srgbClr val="E7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APIM HLD internal review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r>
              <a:rPr lang="en-US" sz="900" dirty="0">
                <a:solidFill>
                  <a:srgbClr val="E7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APIM HLD familiarization with Chaucer Wider Audience 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</a:t>
            </a:r>
            <a:r>
              <a:rPr lang="en-US" sz="900" dirty="0">
                <a:solidFill>
                  <a:srgbClr val="E7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APIM HLD TDA submission &amp; wrap-up</a:t>
            </a:r>
            <a:endParaRPr lang="en-US" sz="900" dirty="0"/>
          </a:p>
        </p:txBody>
      </p:sp>
      <p:sp>
        <p:nvSpPr>
          <p:cNvPr id="79" name="Shape 70"/>
          <p:cNvSpPr/>
          <p:nvPr/>
        </p:nvSpPr>
        <p:spPr>
          <a:xfrm>
            <a:off x="457200" y="6144768"/>
            <a:ext cx="1127455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80" name="Text 71"/>
          <p:cNvSpPr txBox="1"/>
          <p:nvPr/>
        </p:nvSpPr>
        <p:spPr>
          <a:xfrm>
            <a:off x="457200" y="6236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2026–2027 Cognizant  |  Private</a:t>
            </a:r>
            <a:endParaRPr lang="en-US" sz="900" dirty="0"/>
          </a:p>
        </p:txBody>
      </p:sp>
      <p:sp>
        <p:nvSpPr>
          <p:cNvPr id="81" name="Text 72"/>
          <p:cNvSpPr txBox="1"/>
          <p:nvPr/>
        </p:nvSpPr>
        <p:spPr>
          <a:xfrm>
            <a:off x="5852160" y="6236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82" name="Image 7" descr="assets/cogniza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4115" y="6217920"/>
            <a:ext cx="1457637" cy="256032"/>
          </a:xfrm>
          <a:prstGeom prst="rect">
            <a:avLst/>
          </a:prstGeom>
        </p:spPr>
      </p:pic>
      <p:pic>
        <p:nvPicPr>
          <p:cNvPr id="83" name="Image 8" descr="assets/chauc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4303" y="6199632"/>
            <a:ext cx="486932" cy="268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Puneet Kumar</cp:lastModifiedBy>
  <cp:revision>3</cp:revision>
  <dcterms:created xsi:type="dcterms:W3CDTF">2026-09-29T09:24:39Z</dcterms:created>
  <dcterms:modified xsi:type="dcterms:W3CDTF">2026-09-29T09:42:25Z</dcterms:modified>
</cp:coreProperties>
</file>