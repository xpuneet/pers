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3"/>
  </p:notesMasterIdLst>
  <p:sldIdLst>
    <p:sldId id="256" r:id="rId5"/>
    <p:sldId id="257" r:id="rId6"/>
    <p:sldId id="258" r:id="rId7"/>
    <p:sldId id="259" r:id="rId8"/>
    <p:sldId id="260" r:id="rId9"/>
    <p:sldId id="261" r:id="rId10"/>
    <p:sldId id="265" r:id="rId11"/>
    <p:sldId id="266" r:id="rId12"/>
    <p:sldId id="268" r:id="rId13"/>
    <p:sldId id="269" r:id="rId14"/>
    <p:sldId id="274" r:id="rId15"/>
    <p:sldId id="275" r:id="rId16"/>
    <p:sldId id="276" r:id="rId17"/>
    <p:sldId id="277" r:id="rId18"/>
    <p:sldId id="278" r:id="rId19"/>
    <p:sldId id="279" r:id="rId20"/>
    <p:sldId id="281" r:id="rId21"/>
    <p:sldId id="286" r:id="rId22"/>
    <p:sldId id="292" r:id="rId23"/>
    <p:sldId id="295" r:id="rId24"/>
    <p:sldId id="296" r:id="rId25"/>
    <p:sldId id="297" r:id="rId26"/>
    <p:sldId id="298" r:id="rId27"/>
    <p:sldId id="299" r:id="rId28"/>
    <p:sldId id="300" r:id="rId29"/>
    <p:sldId id="301" r:id="rId30"/>
    <p:sldId id="302" r:id="rId31"/>
    <p:sldId id="303" r:id="rId32"/>
    <p:sldId id="304" r:id="rId40"/>
    <p:sldId id="305" r:id="rId4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4" dt="2026-10-03T21:01:44.8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microsoft.com/office/2016/11/relationships/changesInfo" Target="changesInfos/changesInfo1.xml"/><Relationship Id="rId39" Type="http://schemas.microsoft.com/office/2015/10/relationships/revisionInfo" Target="revisionInfo.xml"/><Relationship Id="rId40" Type="http://schemas.openxmlformats.org/officeDocument/2006/relationships/slide" Target="slides/slide29.xml"/><Relationship Id="rId41" Type="http://schemas.openxmlformats.org/officeDocument/2006/relationships/slide" Target="slides/slide3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uneet Kumar - Chaucer" userId="S::puneet.kumar@chaucergroup.com::090bd223-6cda-4aec-ba5f-32ca554a1dde" providerId="AD" clId="Web-{00000000-0000-0000-0000-000000000000}"/>
    <pc:docChg chg="modSld">
      <pc:chgData name="Puneet Kumar - Chaucer" userId="S::puneet.kumar@chaucergroup.com::090bd223-6cda-4aec-ba5f-32ca554a1dde" providerId="AD" clId="Web-{00000000-0000-0000-0000-000000000000}" dt="2026-10-03T21:01:43.271" v="2" actId="20577"/>
      <pc:docMkLst>
        <pc:docMk/>
      </pc:docMkLst>
      <pc:sldChg chg="modSp">
        <pc:chgData name="Puneet Kumar - Chaucer" userId="S::puneet.kumar@chaucergroup.com::090bd223-6cda-4aec-ba5f-32ca554a1dde" providerId="AD" clId="Web-{00000000-0000-0000-0000-000000000000}" dt="2026-10-03T21:01:43.271" v="2" actId="20577"/>
        <pc:sldMkLst>
          <pc:docMk/>
          <pc:sldMk cId="0" sldId="295"/>
        </pc:sldMkLst>
        <pc:spChg chg="mod">
          <ac:chgData name="Puneet Kumar - Chaucer" userId="S::puneet.kumar@chaucergroup.com::090bd223-6cda-4aec-ba5f-32ca554a1dde" providerId="AD" clId="Web-{00000000-0000-0000-0000-000000000000}" dt="2026-10-03T21:01:43.271" v="2" actId="20577"/>
          <ac:spMkLst>
            <pc:docMk/>
            <pc:sldMk cId="0" sldId="295"/>
            <ac:spMk id="9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monthly cost (£)</c:v>
                </c:pt>
              </c:strCache>
            </c:strRef>
          </c:tx>
          <c:invertIfNegative val="0"/>
          <c:dPt>
            <c:idx val="0"/>
            <c:spPr>
              <a:solidFill>
                <a:srgbClr val="3F6B8F"/>
              </a:solidFill>
            </c:spPr>
          </c:dPt>
          <c:dPt>
            <c:idx val="1"/>
            <c:spPr>
              <a:solidFill>
                <a:srgbClr val="3F6B8F"/>
              </a:solidFill>
            </c:spPr>
          </c:dPt>
          <c:dPt>
            <c:idx val="2"/>
            <c:spPr>
              <a:solidFill>
                <a:srgbClr val="132040"/>
              </a:solidFill>
            </c:spPr>
          </c:dPt>
          <c:dPt>
            <c:idx val="3"/>
            <c:spPr>
              <a:solidFill>
                <a:srgbClr val="132040"/>
              </a:solidFill>
            </c:spPr>
          </c:dPt>
          <c:cat>
            <c:strRef>
              <c:f>Sheet1!$A$2:$A$5</c:f>
              <c:strCache>
                <c:ptCount val="4"/>
                <c:pt idx="0">
                  <c:v>Dev
Developer tier</c:v>
                </c:pt>
                <c:pt idx="1">
                  <c:v>SIT
Developer tier</c:v>
                </c:pt>
                <c:pt idx="2">
                  <c:v>UAT
Premium v2, 1 unit</c:v>
                </c:pt>
                <c:pt idx="3">
                  <c:v>Prod
Premium v2, zone-redundant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40</c:v>
                </c:pt>
                <c:pt idx="2">
                  <c:v>2400</c:v>
                </c:pt>
                <c:pt idx="3">
                  <c:v>2600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sz="1500" b="1">
                  <a:solidFill>
                    <a:srgbClr val="13204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2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22225">
            <a:solidFill>
              <a:srgbClr val="132040"/>
            </a:solidFill>
          </a:ln>
        </c:spPr>
        <c:txPr>
          <a:bodyPr/>
          <a:lstStyle/>
          <a:p>
            <a:pPr>
              <a:defRPr sz="1300">
                <a:solidFill>
                  <a:srgbClr val="13204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0.0"/>
          <c:min val="0.0"/>
        </c:scaling>
        <c:delete val="0"/>
        <c:axPos val="l"/>
        <c:majorGridlines>
          <c:spPr>
            <a:ln w="9525">
              <a:solidFill>
                <a:srgbClr val="E3E8EF"/>
              </a:solidFill>
            </a:ln>
          </c:spPr>
        </c:majorGridlines>
        <c:numFmt formatCode="£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A6B7D"/>
                </a:solidFill>
              </a:defRPr>
            </a:pPr>
          </a:p>
        </c:txPr>
        <c:crossAx val="-2068027336"/>
        <c:crosses val="autoZero"/>
        <c:majorUnit val="1000.0"/>
      </c:valAx>
    </c:plotArea>
    <c:dispBlanksAs val="gap"/>
  </c:chart>
  <c:txPr>
    <a:bodyPr/>
    <a:lstStyle/>
    <a:p>
      <a:pPr>
        <a:defRPr sz="1200">
          <a:solidFill>
            <a:srgbClr val="5A6B7D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90088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Give the full evaluation panel a single reference architecture before drilling into access models and security in later slides.
Mermaid diagram code (portable source of truth):
graph TD
  A[Consumers: Web/Mobile/Partner/Internal] --&gt; B[Edge: Front Door + WAF]
  B --&gt; C[Azure API Management: Gateway/Policies/Dev Portal]
  C --&gt; D[Backends: AKS/Core Banking/SaaS]
  E[Entra ID] --- C
  F[Key Vault] --- C
Draw.io: recreate using the swimlane structure above — one vertical/horizontal swimlane per layer, standard Azure stencil shapes, arrows following the connections shown. 4 horizontal swimlanes top-to-bottom (Consumers, Edge Security, APIM, Backends), Entra ID and Key Vault as side-attached shapes connected to the APIM lane.
Visio: use the Azure / Cloud template stencil set; map one Visio shape per box on this slide, grouped by layer as swimlanes, with directional connectors matching the arrows shown.
PowerPoint editable layout: this slide IS the shape-by-shape layout — every box and arrow is a native, ungrouped PowerPoint shape (no image) and can be repositioned, relabeled, or restyled directly.
Azure icon mapping: Front Door icon, WAF icon, API Management icon, AKS icon, Entra ID icon, Key Vault icon — all from the official Azure Architecture Icons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Show governance is built into the process, not bolted on afterward — directly answers the RFP's lifecycle governance requirement.
Mermaid diagram code (portable source of truth):
graph LR
  A[Design] --&gt; B[Develop] --&gt; C[Test] --&gt; D[Publish] --&gt; E[Version] --&gt; F[Monitor] --&gt; G[Retire]
  F -.feedback.-&gt; A
Draw.io: recreate using the swimlane structure above — one vertical/horizontal swimlane per layer, standard Azure stencil shapes, arrows following the connections shown. Single horizontal swimlane of 7 process boxes with a dashed feedback connector from Monitor back to Design.
Visio: use the Azure / Cloud template stencil set; map one Visio shape per box on this slide, grouped by layer as swimlanes, with directional connectors matching the arrows shown.
PowerPoint editable layout: this slide IS the shape-by-shape layout — every box and arrow is a native, ungrouped PowerPoint shape (no image) and can be repositioned, relabeled, or restyled directly.
Azure icon mapping: API Management, Azure DevOps, Azure Monitor icons placed above the relevant stage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Answer the RFP's internal API access requirement directly and show enforced network isolation.
Mermaid diagram code (portable source of truth):
graph LR
  A[Internal Applications] --&gt; B[APIM - Internal VNet Mode]
  B --&gt; C[Internal Microservices]
  D[Entra ID] --&gt; B
Draw.io: recreate using the swimlane structure above — one vertical/horizontal swimlane per layer, standard Azure stencil shapes, arrows following the connections shown. Single horizontal lane: app -&gt; APIM -&gt; microservices, with Entra ID box above APIM connected downward.
Visio: use the Azure / Cloud template stencil set; map one Visio shape per box on this slide, grouped by layer as swimlanes, with directional connectors matching the arrows shown.
PowerPoint editable layout: this slide IS the shape-by-shape layout — every box and arrow is a native, ungrouped PowerPoint shape (no image) and can be repositioned, relabeled, or restyled directly.
Azure icon mapping: App Service icon, API Management (internal) icon, AKS icon, Entra ID icon.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Demonstrate defense-in-depth for internet-facing APIs — directly supports the security scoring criteria.
Mermaid diagram code (portable source of truth):
graph LR
  A[Public Clients] --&gt; B[Front Door + WAF] --&gt; C[APIM External Gateway] --&gt; D[Backend via Private Link]
Draw.io: recreate using the swimlane structure above — one vertical/horizontal swimlane per layer, standard Azure stencil shapes, arrows following the connections shown. Four-box horizontal chain with annotation labels beneath the connectors describing the control enforced at each hop.
Visio: use the Azure / Cloud template stencil set; map one Visio shape per box on this slide, grouped by layer as swimlanes, with directional connectors matching the arrows shown.
PowerPoint editable layout: this slide IS the shape-by-shape layout — every box and arrow is a native, ungrouped PowerPoint shape (no image) and can be repositioned, relabeled, or restyled directly.
Azure icon mapping: Front Door, WAF, API Management, Private Link icons.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frame the security section before diving into OAuth/JWT/Entra/Key Vault mechanics. RFP scoring impact: this slide is the anchor for the Security Architecture scoring section — evaluators often look for a strategy statement before implementation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Give security architects a precise, step-numbered OAuth flow to validate against their own standards.
Mermaid diagram code (portable source of truth):
sequenceDiagram
  Client-&gt;&gt;EntraID: Request access token
  EntraID--&gt;&gt;Client: Issue token
  Client-&gt;&gt;APIM: Call API with bearer token
  APIM-&gt;&gt;APIM: Validate token &amp; claims
  APIM-&gt;&gt;Backend: Forward request
Draw.io: recreate as a left-to-right sequence using standard Azure stencils, one shape per step matching the numbered boxes shown. Five sequential boxes left-to-right, numbered 1-5, arrows between each.
Visio: use the Azure template stencil set; one Visio shape per numbered step, connectors in the same left-to-right order.
PowerPoint editable layout: every numbered box and arrow on this slide is a native, ungrouped shape — reposition or relabel directly, no image.
Azure icon mapping: Microsoft Entra ID icon, API Management icon, generic client/app icon.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Give a concrete answer to the JWT validation requirement with the specific claims checked.
Mermaid diagram code (portable source of truth):
graph LR
  A[Incoming JWT] --&gt; B[APIM validate-jwt Policy]
  B --&gt; C[Backend Service]
  B --&gt; D[Check: Signature/JWKS]
  B --&gt; E[Check: Issuer/Audience]
  B --&gt; F[Check: Expiry/NBF]
  B --&gt; G[Check: Claims/Scopes]
Draw.io: recreate as a left-to-right sequence using standard Azure stencils, one shape per step matching the numbered boxes shown. Main horizontal chain plus four validation-check boxes fanning below the APIM policy box.
Visio: use the Azure template stencil set; one Visio shape per numbered step, connectors in the same left-to-right order.
PowerPoint editable layout: every numbered box and arrow on this slide is a native, ungrouped shape — reposition or relabel directly, no image.
Azure icon mapping: API Management policy icon, Entra ID (JWKS) icon, lock/shield icon.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Show Entra ID as the identity hub for both consumer-facing and operational access — a common evaluator question.
Mermaid diagram code (portable source of truth):
graph TD
  A[Microsoft Entra ID] --- B[App Registrations]
  A --- C[Managed Identity to Key Vault]
  A --- D[Conditional Access for Admins]
  A --- E[Token Issuance OAuth/OIDC]
Draw.io: recreate as a left-to-right sequence using standard Azure stencils, one shape per step matching the numbered boxes shown. Central Entra ID box with four spoke boxes connected by simple lines (hub-and-spoke).
Visio: use the Azure template stencil set; one Visio shape per numbered step, connectors in the same left-to-right order.
PowerPoint editable layout: every numbered box and arrow on this slide is a native, ungrouped shape — reposition or relabel directly, no image.
Azure icon mapping: Microsoft Entra ID icon at hub; App Registration, Managed Identity, Conditional Access icons at spokes.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Directly answers the RFP's secrets/certificate management requirement and reinforces the 'Why Key Vault' decision.
Mermaid diagram code (portable source of truth):
graph LR
  A[Azure Key Vault] --&gt; B[APIM Managed Identity] --&gt; C[Named Values / Certificates in APIM]
  A --&gt; D[Backend Keys]
  A --&gt; E[TLS Certs]
  A --&gt; F[Partner Secrets]
  A --&gt; G[Signing Keys]
Draw.io: recreate as a left-to-right sequence using standard Azure stencils, one shape per step matching the numbered boxes shown. Main horizontal chain, four secret-type boxes fanning beneath Key Vault.
Visio: use the Azure template stencil set; one Visio shape per numbered step, connectors in the same left-to-right order.
PowerPoint editable layout: every numbered box and arrow on this slide is a native, ungrouped shape — reposition or relabel directly, no image.
Azure icon mapping: Key Vault icon, Managed Identity icon, Certificate icon.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close the security section with the unifying principle (Zero Trust) that ties OAuth, JWT, Entra ID, and Key Vault together. RFP scoring impact: security architects on the panel typically look for this framing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Show governance is a small, empowered function backed by automated enforcement rather than a bureaucratic gate.
Mermaid diagram code (portable source of truth):
graph TD
  A[API Governance Board] --- B[Naming &amp; Design Standards]
  A --- C[Security Policy Baseline]
  A --- D[Lifecycle &amp; Versioning Rules]
  A --- E[Onboarding &amp; Product Catalog]
Draw.io: recreate as a hub-and-spoke diagram — central governance board shape with spoke shapes for each function, connected by simple lines. Central board box, four spoke boxes, radial connectors.
Visio: use a basic flowchart/org-chart stencil; one shape per spoke, radial connectors to the hub.
PowerPoint editable layout: hub and spoke boxes are native ungrouped shapes — no image.
Azure icon mapping: Azure Policy icon, API Management (Products) icon, generic governance/committee icon.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Show unified observability across gateway, edge, and backend — a frequent evaluator concern for hybrid platforms.
Mermaid diagram code (portable source of truth):
graph LR
  A[APIM Gateway Metrics] --&gt; D[Azure Monitor / Log Analytics]
  B[Application Insights] --&gt; D
  C[Front Door / WAF] --&gt; D
  D --&gt; E[Dashboards &amp; Workbooks]
Draw.io: recreate as a left-to-right pipeline using standard Azure stencils matching the boxes shown. Three source boxes on the left converging into a central Azure Monitor box, then out to a dashboards box on the right.
Visio: use the Azure template stencil set with matching shapes and connector order.
PowerPoint editable layout: every box and arrow is a native ungrouped shape — no image.
Azure icon mapping: Azure Monitor, Application Insights, Log Analytics, Front Door icons.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Directly support the 'Why APIOps' architecture decision with a concrete pipeline diagram.
Mermaid diagram code (portable source of truth):
graph LR
  A[Git Repo] --&gt; B[Pull Request + Review] --&gt; C[CI Build + Policy Lint] --&gt; D[Automated Tests] --&gt; E[CD Release to APIM]
Draw.io: recreate as a left-to-right pipeline using standard Azure DevOps / Git stencils matching the boxes shown. Five sequential boxes numbered 1-5 with arrows.
Visio: use the Azure DevOps template stencil set with matching shapes and connector order.
PowerPoint editable layout: every box and arrow is a native ungrouped shape — no image.
Azure icon mapping: Azure Repos, Azure Pipelines (build/release), API Management icons.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Give a simple, defensible environment model that maps directly to change-management expectations in regulated banking IT.
Mermaid diagram code (portable source of truth):
graph LR
  A[Dev] --&gt; B[Test/QA] --&gt; C[UAT] --&gt; D[Production]
Draw.io: recreate as a left-to-right pipeline using standard Azure DevOps / Git stencils matching the boxes shown. Four sequential environment boxes with arrows; annotate each with its promotion gate.
Visio: use the Azure DevOps template stencil set with matching shapes and connector order.
PowerPoint editable layout: every box and arrow is a native ungrouped shape — no image.
Azure icon mapping: API Management (x4 instances/workspaces), Azure Pipelines environments icon.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07780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520464" y="404937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Access Model: Internal and External, Security Boundary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1603912" y="738021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boundary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01192" y="1017932"/>
            <a:ext cx="0" cy="3029486"/>
          </a:xfrm>
          <a:prstGeom prst="line">
            <a:avLst/>
          </a:prstGeom>
          <a:noFill/>
          <a:ln w="22225">
            <a:solidFill>
              <a:srgbClr val="C0392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 txBox="1"/>
          <p:nvPr/>
        </p:nvSpPr>
        <p:spPr>
          <a:xfrm>
            <a:off x="1238152" y="404507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crossed only at the edge, by external traffic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0839" y="1438253"/>
            <a:ext cx="1812707" cy="563072"/>
          </a:xfrm>
          <a:prstGeom prst="roundRect">
            <a:avLst>
              <a:gd name="adj" fmla="val 12992"/>
            </a:avLst>
          </a:prstGeom>
          <a:solidFill>
            <a:srgbClr val="F1EEE7"/>
          </a:solidFill>
          <a:ln w="15875">
            <a:solidFill>
              <a:srgbClr val="A8A196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3A3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consumer</a:t>
            </a:r>
            <a:endParaRPr lang="en-US" sz="13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000" dirty="0">
                <a:solidFill>
                  <a:srgbClr val="6B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client / partner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852251" y="1327225"/>
            <a:ext cx="2114824" cy="785129"/>
          </a:xfrm>
          <a:prstGeom prst="roundRect">
            <a:avLst>
              <a:gd name="adj" fmla="val 9317"/>
            </a:avLst>
          </a:prstGeom>
          <a:solidFill>
            <a:srgbClr val="E6F0FA"/>
          </a:solidFill>
          <a:ln w="15875">
            <a:solidFill>
              <a:srgbClr val="3D6FA8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F3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Door + WAF</a:t>
            </a:r>
            <a:endParaRPr lang="en-US" sz="14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000" dirty="0">
                <a:solidFill>
                  <a:srgbClr val="2F5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TLS termination, OWASP rules,</a:t>
            </a:r>
            <a:endParaRPr lang="en-US" sz="14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000" dirty="0">
                <a:solidFill>
                  <a:srgbClr val="2F5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limiting, IP policy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323545" y="1723755"/>
            <a:ext cx="528706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5873429" y="1866505"/>
            <a:ext cx="2719060" cy="1665424"/>
          </a:xfrm>
          <a:prstGeom prst="roundRect">
            <a:avLst>
              <a:gd name="adj" fmla="val 4392"/>
            </a:avLst>
          </a:prstGeom>
          <a:solidFill>
            <a:srgbClr val="EEEBFB"/>
          </a:solidFill>
          <a:ln w="15875">
            <a:solidFill>
              <a:srgbClr val="6A5AAE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3F31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API Management</a:t>
            </a:r>
            <a:endParaRPr lang="en-US" sz="15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900" dirty="0">
                <a:solidFill>
                  <a:srgbClr val="5A4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VNet mode — one instance, no public endpoint</a:t>
            </a:r>
            <a:endParaRPr lang="en-US" sz="1500" dirty="0"/>
          </a:p>
          <a:p>
            <a:pPr marL="0" indent="0" algn="ctr">
              <a:spcAft>
                <a:spcPts val="300"/>
              </a:spcAft>
              <a:buNone/>
            </a:pPr>
            <a:endParaRPr lang="en-US" sz="15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900" dirty="0">
                <a:solidFill>
                  <a:srgbClr val="5A4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calls: OAuth 2.0 token validated at the gateway</a:t>
            </a:r>
            <a:endParaRPr lang="en-US" sz="15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900" dirty="0">
                <a:solidFill>
                  <a:srgbClr val="5A4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calls: Entra ID client credentials flow validated first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967076" y="1779269"/>
            <a:ext cx="521153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5488229" y="1779269"/>
            <a:ext cx="0" cy="602725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5488229" y="2381994"/>
            <a:ext cx="38520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 txBox="1"/>
          <p:nvPr/>
        </p:nvSpPr>
        <p:spPr>
          <a:xfrm>
            <a:off x="4909377" y="14200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Link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52251" y="3024372"/>
            <a:ext cx="1812707" cy="563072"/>
          </a:xfrm>
          <a:prstGeom prst="roundRect">
            <a:avLst>
              <a:gd name="adj" fmla="val 12992"/>
            </a:avLst>
          </a:prstGeom>
          <a:solidFill>
            <a:srgbClr val="F1EEE7"/>
          </a:solidFill>
          <a:ln w="15875">
            <a:solidFill>
              <a:srgbClr val="A8A196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3A3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application</a:t>
            </a:r>
            <a:endParaRPr lang="en-US" sz="13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000" dirty="0">
                <a:solidFill>
                  <a:srgbClr val="6B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inside the VNet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4958" y="3309873"/>
            <a:ext cx="64200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5306958" y="3024372"/>
            <a:ext cx="0" cy="285501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5306958" y="3024372"/>
            <a:ext cx="566471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 txBox="1"/>
          <p:nvPr/>
        </p:nvSpPr>
        <p:spPr>
          <a:xfrm>
            <a:off x="4486412" y="32916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direct, no edge hop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196724" y="2270965"/>
            <a:ext cx="2114824" cy="864434"/>
          </a:xfrm>
          <a:prstGeom prst="roundRect">
            <a:avLst>
              <a:gd name="adj" fmla="val 8462"/>
            </a:avLst>
          </a:prstGeom>
          <a:solidFill>
            <a:srgbClr val="E3F3EC"/>
          </a:solidFill>
          <a:ln w="15875">
            <a:solidFill>
              <a:srgbClr val="2E7D5B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E5E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services</a:t>
            </a:r>
            <a:endParaRPr lang="en-US" sz="14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000" dirty="0">
                <a:solidFill>
                  <a:srgbClr val="2E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Functions, integration</a:t>
            </a:r>
            <a:endParaRPr lang="en-US" sz="14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000" dirty="0">
                <a:solidFill>
                  <a:srgbClr val="2E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services, Private Endpoint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592489" y="2699217"/>
            <a:ext cx="604236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510839" y="4769102"/>
            <a:ext cx="10800710" cy="1260964"/>
          </a:xfrm>
          <a:prstGeom prst="roundRect">
            <a:avLst>
              <a:gd name="adj" fmla="val 8702"/>
            </a:avLst>
          </a:prstGeom>
          <a:solidFill>
            <a:srgbClr val="FFFFFF">
              <a:alpha val="0"/>
            </a:srgbClr>
          </a:solidFill>
          <a:ln w="15875">
            <a:solidFill>
              <a:srgbClr val="9AA3BA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 txBox="1"/>
          <p:nvPr/>
        </p:nvSpPr>
        <p:spPr>
          <a:xfrm>
            <a:off x="737427" y="4861929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across every layer, inside the boundary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 flipH="1">
            <a:off x="6024488" y="3500207"/>
            <a:ext cx="1208471" cy="1713008"/>
          </a:xfrm>
          <a:prstGeom prst="line">
            <a:avLst/>
          </a:prstGeom>
          <a:noFill/>
          <a:ln w="15875">
            <a:solidFill>
              <a:srgbClr val="C8A06A"/>
            </a:solidFill>
            <a:prstDash val="sysDash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232959" y="3500207"/>
            <a:ext cx="2265883" cy="1713008"/>
          </a:xfrm>
          <a:prstGeom prst="line">
            <a:avLst/>
          </a:prstGeom>
          <a:noFill/>
          <a:ln w="15875">
            <a:solidFill>
              <a:srgbClr val="C8A06A"/>
            </a:solidFill>
            <a:prstDash val="sysDash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 flipH="1">
            <a:off x="6024488" y="3135400"/>
            <a:ext cx="4229649" cy="2077815"/>
          </a:xfrm>
          <a:prstGeom prst="line">
            <a:avLst/>
          </a:prstGeom>
          <a:noFill/>
          <a:ln w="15875">
            <a:solidFill>
              <a:srgbClr val="C8A06A"/>
            </a:solidFill>
            <a:prstDash val="sysDash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 flipH="1">
            <a:off x="9498842" y="3135400"/>
            <a:ext cx="755294" cy="2077815"/>
          </a:xfrm>
          <a:prstGeom prst="line">
            <a:avLst/>
          </a:prstGeom>
          <a:noFill/>
          <a:ln w="15875">
            <a:solidFill>
              <a:srgbClr val="C8A06A"/>
            </a:solidFill>
            <a:prstDash val="sysDash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4740487" y="5213215"/>
            <a:ext cx="2568001" cy="705823"/>
          </a:xfrm>
          <a:prstGeom prst="roundRect">
            <a:avLst>
              <a:gd name="adj" fmla="val 10364"/>
            </a:avLst>
          </a:prstGeom>
          <a:solidFill>
            <a:srgbClr val="F8ECDA"/>
          </a:solidFill>
          <a:ln w="15875">
            <a:solidFill>
              <a:srgbClr val="B07A35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6B4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Entra ID</a:t>
            </a:r>
            <a:endParaRPr lang="en-US" sz="14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000" dirty="0">
                <a:solidFill>
                  <a:srgbClr val="7A5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for every layer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214842" y="5213215"/>
            <a:ext cx="2568001" cy="705823"/>
          </a:xfrm>
          <a:prstGeom prst="roundRect">
            <a:avLst>
              <a:gd name="adj" fmla="val 10364"/>
            </a:avLst>
          </a:prstGeom>
          <a:solidFill>
            <a:srgbClr val="F8ECDA"/>
          </a:solidFill>
          <a:ln w="15875">
            <a:solidFill>
              <a:srgbClr val="B07A35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6B4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Key Vault</a:t>
            </a:r>
            <a:endParaRPr lang="en-US" sz="14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000" dirty="0">
                <a:solidFill>
                  <a:srgbClr val="7A5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for every layer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5158" y="582473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Non-OAuth consumers: approval process, then runtime flow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384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8A5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Approval process (one-time)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75158" y="1484071"/>
            <a:ext cx="2016252" cy="903427"/>
          </a:xfrm>
          <a:prstGeom prst="roundRect">
            <a:avLst>
              <a:gd name="adj" fmla="val 8097"/>
            </a:avLst>
          </a:prstGeom>
          <a:solidFill>
            <a:srgbClr val="F1EEE7"/>
          </a:solidFill>
          <a:ln w="15875">
            <a:solidFill>
              <a:srgbClr val="A8A196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3A3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cannot</a:t>
            </a:r>
            <a:endParaRPr lang="en-US" sz="12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3A3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OAuth 2.0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91410" y="1935785"/>
            <a:ext cx="238658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830068" y="1484071"/>
            <a:ext cx="2008022" cy="903427"/>
          </a:xfrm>
          <a:prstGeom prst="roundRect">
            <a:avLst>
              <a:gd name="adj" fmla="val 8097"/>
            </a:avLst>
          </a:prstGeom>
          <a:solidFill>
            <a:srgbClr val="E6F0FA"/>
          </a:solidFill>
          <a:ln w="15875">
            <a:solidFill>
              <a:srgbClr val="3D6FA8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3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</a:t>
            </a:r>
            <a:endParaRPr lang="en-US" sz="12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3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raised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38090" y="1935785"/>
            <a:ext cx="246888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5084978" y="1484071"/>
            <a:ext cx="2008022" cy="903427"/>
          </a:xfrm>
          <a:prstGeom prst="roundRect">
            <a:avLst>
              <a:gd name="adj" fmla="val 8097"/>
            </a:avLst>
          </a:prstGeom>
          <a:solidFill>
            <a:srgbClr val="EEEBFB"/>
          </a:solidFill>
          <a:ln w="15875">
            <a:solidFill>
              <a:srgbClr val="6A5AAE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3F31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review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093001" y="1935785"/>
            <a:ext cx="238658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7331659" y="1484071"/>
            <a:ext cx="2016252" cy="903427"/>
          </a:xfrm>
          <a:prstGeom prst="roundRect">
            <a:avLst>
              <a:gd name="adj" fmla="val 8097"/>
            </a:avLst>
          </a:prstGeom>
          <a:solidFill>
            <a:srgbClr val="F8ECDA"/>
          </a:solidFill>
          <a:ln w="15875">
            <a:solidFill>
              <a:srgbClr val="B07A35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6B4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347911" y="1935785"/>
            <a:ext cx="238658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9586570" y="1484071"/>
            <a:ext cx="2016252" cy="903427"/>
          </a:xfrm>
          <a:prstGeom prst="roundRect">
            <a:avLst>
              <a:gd name="adj" fmla="val 8097"/>
            </a:avLst>
          </a:prstGeom>
          <a:solidFill>
            <a:srgbClr val="E3F3EC"/>
          </a:solidFill>
          <a:ln w="15875">
            <a:solidFill>
              <a:srgbClr val="2E7D5B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E5E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/ API key,</a:t>
            </a:r>
            <a:endParaRPr lang="en-US" sz="12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E5E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time-boxed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8990" y="2422246"/>
            <a:ext cx="0" cy="747065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 txBox="1"/>
          <p:nvPr/>
        </p:nvSpPr>
        <p:spPr>
          <a:xfrm>
            <a:off x="6311189" y="2667305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approved, at runtime: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3796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Runtime ingress flow (every call)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5158" y="3777386"/>
            <a:ext cx="2057400" cy="972922"/>
          </a:xfrm>
          <a:prstGeom prst="roundRect">
            <a:avLst>
              <a:gd name="adj" fmla="val 7519"/>
            </a:avLst>
          </a:prstGeom>
          <a:solidFill>
            <a:srgbClr val="F1EEE7"/>
          </a:solidFill>
          <a:ln w="15875">
            <a:solidFill>
              <a:srgbClr val="A8A196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3A3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Non-OAuth</a:t>
            </a:r>
            <a:endParaRPr lang="en-US" sz="13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3A3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632558" y="4263847"/>
            <a:ext cx="938174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3570732" y="3777386"/>
            <a:ext cx="2049170" cy="972922"/>
          </a:xfrm>
          <a:prstGeom prst="roundRect">
            <a:avLst>
              <a:gd name="adj" fmla="val 7519"/>
            </a:avLst>
          </a:prstGeom>
          <a:solidFill>
            <a:srgbClr val="0F2A5C"/>
          </a:solidFill>
          <a:ln w="15875">
            <a:solidFill>
              <a:srgbClr val="0F2A5C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Door + WAF</a:t>
            </a:r>
            <a:endParaRPr lang="en-US" sz="13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000" dirty="0">
                <a:solidFill>
                  <a:srgbClr val="D6D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TLS, WAF, DDoS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19902" y="4263847"/>
            <a:ext cx="938174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558077" y="3777386"/>
            <a:ext cx="2049170" cy="972922"/>
          </a:xfrm>
          <a:prstGeom prst="roundRect">
            <a:avLst>
              <a:gd name="adj" fmla="val 7519"/>
            </a:avLst>
          </a:prstGeom>
          <a:solidFill>
            <a:srgbClr val="E6F0FA"/>
          </a:solidFill>
          <a:ln w="15875">
            <a:solidFill>
              <a:srgbClr val="3D6FA8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3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APIM internal gateway</a:t>
            </a:r>
            <a:endParaRPr lang="en-US" sz="13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000" dirty="0">
                <a:solidFill>
                  <a:srgbClr val="2F5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validates cert / key (not JWT)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07247" y="4263847"/>
            <a:ext cx="938174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9545422" y="3777386"/>
            <a:ext cx="2057400" cy="972922"/>
          </a:xfrm>
          <a:prstGeom prst="roundRect">
            <a:avLst>
              <a:gd name="adj" fmla="val 7519"/>
            </a:avLst>
          </a:prstGeom>
          <a:solidFill>
            <a:srgbClr val="E3F3EC"/>
          </a:solidFill>
          <a:ln w="15875">
            <a:solidFill>
              <a:srgbClr val="2E7D5B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E5E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3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000" dirty="0">
                <a:solidFill>
                  <a:srgbClr val="2E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Private Link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06486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path as an OAuth consumer, but APIM validates a client certificate (mTLS) or API key instead of a JWT.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1825142" y="1011875"/>
            <a:ext cx="3433389" cy="2139696"/>
          </a:xfrm>
          <a:prstGeom prst="line">
            <a:avLst/>
          </a:prstGeom>
          <a:noFill/>
          <a:ln w="15875">
            <a:solidFill>
              <a:srgbClr val="5B6B8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 flipH="1">
            <a:off x="5634899" y="1011875"/>
            <a:ext cx="476220" cy="520659"/>
          </a:xfrm>
          <a:prstGeom prst="line">
            <a:avLst/>
          </a:prstGeom>
          <a:noFill/>
          <a:ln w="15875">
            <a:solidFill>
              <a:srgbClr val="5B6B8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433718" y="1011875"/>
            <a:ext cx="291876" cy="2139696"/>
          </a:xfrm>
          <a:prstGeom prst="line">
            <a:avLst/>
          </a:prstGeom>
          <a:noFill/>
          <a:ln w="15875">
            <a:solidFill>
              <a:srgbClr val="5B6B8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6779362" y="1011875"/>
            <a:ext cx="2649931" cy="2139696"/>
          </a:xfrm>
          <a:prstGeom prst="line">
            <a:avLst/>
          </a:prstGeom>
          <a:noFill/>
          <a:ln w="15875">
            <a:solidFill>
              <a:srgbClr val="5B6B8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 flipH="1">
            <a:off x="4321454" y="2338487"/>
            <a:ext cx="576072" cy="656173"/>
          </a:xfrm>
          <a:prstGeom prst="line">
            <a:avLst/>
          </a:prstGeom>
          <a:noFill/>
          <a:ln w="15875">
            <a:solidFill>
              <a:srgbClr val="5B6B8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>
            <a:off x="2170786" y="2338487"/>
            <a:ext cx="2073859" cy="813084"/>
          </a:xfrm>
          <a:prstGeom prst="line">
            <a:avLst/>
          </a:prstGeom>
          <a:noFill/>
          <a:ln w="15875">
            <a:solidFill>
              <a:srgbClr val="5B6B8C"/>
            </a:solidFill>
            <a:prstDash val="dash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5611856" y="2338487"/>
            <a:ext cx="860268" cy="813084"/>
          </a:xfrm>
          <a:prstGeom prst="line">
            <a:avLst/>
          </a:prstGeom>
          <a:noFill/>
          <a:ln w="15875">
            <a:solidFill>
              <a:srgbClr val="5B6B8C"/>
            </a:solidFill>
            <a:prstDash val="dash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372271" y="2317090"/>
            <a:ext cx="2557760" cy="834481"/>
          </a:xfrm>
          <a:prstGeom prst="line">
            <a:avLst/>
          </a:prstGeom>
          <a:noFill/>
          <a:ln w="15875">
            <a:solidFill>
              <a:srgbClr val="5B6B8C"/>
            </a:solidFill>
            <a:prstDash val="dash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 txBox="1"/>
          <p:nvPr/>
        </p:nvSpPr>
        <p:spPr>
          <a:xfrm>
            <a:off x="3449848" y="2515149"/>
            <a:ext cx="10058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RBAC scope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540947" y="3650833"/>
            <a:ext cx="0" cy="670438"/>
          </a:xfrm>
          <a:prstGeom prst="line">
            <a:avLst/>
          </a:prstGeom>
          <a:noFill/>
          <a:ln w="15875">
            <a:solidFill>
              <a:srgbClr val="5B6B8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540947" y="5127224"/>
            <a:ext cx="0" cy="520659"/>
          </a:xfrm>
          <a:prstGeom prst="line">
            <a:avLst/>
          </a:prstGeom>
          <a:noFill/>
          <a:ln w="15875">
            <a:solidFill>
              <a:srgbClr val="5B6B8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787043" y="3650833"/>
            <a:ext cx="0" cy="670438"/>
          </a:xfrm>
          <a:prstGeom prst="line">
            <a:avLst/>
          </a:prstGeom>
          <a:noFill/>
          <a:ln w="15875">
            <a:solidFill>
              <a:srgbClr val="5B6B8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787043" y="5127224"/>
            <a:ext cx="0" cy="670438"/>
          </a:xfrm>
          <a:prstGeom prst="line">
            <a:avLst/>
          </a:prstGeom>
          <a:noFill/>
          <a:ln w="15875">
            <a:solidFill>
              <a:srgbClr val="5B6B8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9713488" y="3650833"/>
            <a:ext cx="0" cy="756026"/>
          </a:xfrm>
          <a:prstGeom prst="line">
            <a:avLst/>
          </a:prstGeom>
          <a:noFill/>
          <a:ln w="15875">
            <a:solidFill>
              <a:srgbClr val="5B6B8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9713488" y="5041636"/>
            <a:ext cx="0" cy="756026"/>
          </a:xfrm>
          <a:prstGeom prst="line">
            <a:avLst/>
          </a:prstGeom>
          <a:noFill/>
          <a:ln w="15875">
            <a:solidFill>
              <a:srgbClr val="5B6B8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5028103" y="377099"/>
            <a:ext cx="2734422" cy="634776"/>
          </a:xfrm>
          <a:prstGeom prst="roundRect">
            <a:avLst>
              <a:gd name="adj" fmla="val 21608"/>
            </a:avLst>
          </a:prstGeom>
          <a:solidFill>
            <a:srgbClr val="1F2761"/>
          </a:solidFill>
          <a:ln>
            <a:solidFill>
              <a:srgbClr val="1F276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APIM Instance (Premium)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Owned by the Platform team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37111" y="1532534"/>
            <a:ext cx="2235159" cy="805952"/>
          </a:xfrm>
          <a:prstGeom prst="roundRect">
            <a:avLst>
              <a:gd name="adj" fmla="val 13615"/>
            </a:avLst>
          </a:prstGeom>
          <a:solidFill>
            <a:srgbClr val="F0F2F8"/>
          </a:solidFill>
          <a:ln w="12700">
            <a:solidFill>
              <a:srgbClr val="1F276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ID Groups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(Admins, Claims-Team,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Partner-XYZ-ReadOnly)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77581" y="2994660"/>
            <a:ext cx="2281245" cy="805952"/>
          </a:xfrm>
          <a:prstGeom prst="roundRect">
            <a:avLst>
              <a:gd name="adj" fmla="val 13615"/>
            </a:avLst>
          </a:prstGeom>
          <a:solidFill>
            <a:srgbClr val="F0F2F8"/>
          </a:solidFill>
          <a:ln w="12700">
            <a:solidFill>
              <a:srgbClr val="1F276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(mapped from Entra ID,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local accounts)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6189" y="3151571"/>
            <a:ext cx="1897197" cy="499262"/>
          </a:xfrm>
          <a:prstGeom prst="roundRect">
            <a:avLst>
              <a:gd name="adj" fmla="val 21978"/>
            </a:avLst>
          </a:prstGeom>
          <a:solidFill>
            <a:srgbClr val="F0F2F8"/>
          </a:solidFill>
          <a:ln w="12700">
            <a:solidFill>
              <a:srgbClr val="1F276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Workspace: Claims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335341" y="3151571"/>
            <a:ext cx="2903403" cy="499262"/>
          </a:xfrm>
          <a:prstGeom prst="roundRect">
            <a:avLst>
              <a:gd name="adj" fmla="val 21978"/>
            </a:avLst>
          </a:prstGeom>
          <a:solidFill>
            <a:srgbClr val="F0F2F8"/>
          </a:solidFill>
          <a:ln w="12700">
            <a:solidFill>
              <a:srgbClr val="1F276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Workspace: Partner and Broker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515259" y="3151571"/>
            <a:ext cx="2181393" cy="499262"/>
          </a:xfrm>
          <a:prstGeom prst="roundRect">
            <a:avLst>
              <a:gd name="adj" fmla="val 21978"/>
            </a:avLst>
          </a:prstGeom>
          <a:solidFill>
            <a:srgbClr val="F0F2F8"/>
          </a:solidFill>
          <a:ln w="12700">
            <a:solidFill>
              <a:srgbClr val="1F276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Workspace: Policy Admin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27208" y="4321272"/>
            <a:ext cx="2235159" cy="805952"/>
          </a:xfrm>
          <a:prstGeom prst="roundRect">
            <a:avLst>
              <a:gd name="adj" fmla="val 13615"/>
            </a:avLst>
          </a:prstGeom>
          <a:solidFill>
            <a:srgbClr val="F0F2F8"/>
          </a:solidFill>
          <a:ln w="12700">
            <a:solidFill>
              <a:srgbClr val="1F276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(e.g. External Broker,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Core Systems)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19389" y="4321272"/>
            <a:ext cx="2135307" cy="805952"/>
          </a:xfrm>
          <a:prstGeom prst="roundRect">
            <a:avLst>
              <a:gd name="adj" fmla="val 13615"/>
            </a:avLst>
          </a:prstGeom>
          <a:solidFill>
            <a:srgbClr val="F0F2F8"/>
          </a:solidFill>
          <a:ln w="12700">
            <a:solidFill>
              <a:srgbClr val="1F276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(e.g. External Market,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Partner)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753368" y="4406859"/>
            <a:ext cx="1920240" cy="634776"/>
          </a:xfrm>
          <a:prstGeom prst="roundRect">
            <a:avLst>
              <a:gd name="adj" fmla="val 17286"/>
            </a:avLst>
          </a:prstGeom>
          <a:solidFill>
            <a:srgbClr val="F0F2F8"/>
          </a:solidFill>
          <a:ln w="12700">
            <a:solidFill>
              <a:srgbClr val="1F276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(e.g. Internal Only)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3293" y="5647883"/>
            <a:ext cx="2142988" cy="805952"/>
          </a:xfrm>
          <a:prstGeom prst="roundRect">
            <a:avLst>
              <a:gd name="adj" fmla="val 13615"/>
            </a:avLst>
          </a:prstGeom>
          <a:solidFill>
            <a:srgbClr val="F0F2F8"/>
          </a:solidFill>
          <a:ln w="12700">
            <a:solidFill>
              <a:srgbClr val="1F276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Subscriptions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issued per consuming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or partner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065032" y="5797662"/>
            <a:ext cx="1436340" cy="499262"/>
          </a:xfrm>
          <a:prstGeom prst="roundRect">
            <a:avLst>
              <a:gd name="adj" fmla="val 21978"/>
            </a:avLst>
          </a:prstGeom>
          <a:solidFill>
            <a:srgbClr val="F0F2F8"/>
          </a:solidFill>
          <a:ln w="12700">
            <a:solidFill>
              <a:srgbClr val="1F276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Subscriptions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99159" y="5797662"/>
            <a:ext cx="1436340" cy="499262"/>
          </a:xfrm>
          <a:prstGeom prst="roundRect">
            <a:avLst>
              <a:gd name="adj" fmla="val 21978"/>
            </a:avLst>
          </a:prstGeom>
          <a:solidFill>
            <a:srgbClr val="F0F2F8"/>
          </a:solidFill>
          <a:ln w="12700">
            <a:solidFill>
              <a:srgbClr val="1F276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Subscriptions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7792" y="1071220"/>
            <a:ext cx="11087649" cy="4195724"/>
          </a:xfrm>
          <a:prstGeom prst="roundRect">
            <a:avLst>
              <a:gd name="adj" fmla="val 2615"/>
            </a:avLst>
          </a:prstGeom>
          <a:solidFill>
            <a:srgbClr val="FFFFFF">
              <a:alpha val="0"/>
            </a:srgbClr>
          </a:solidFill>
          <a:ln w="15875">
            <a:solidFill>
              <a:srgbClr val="A0A0A0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864291" y="2122780"/>
            <a:ext cx="2523744" cy="1251356"/>
          </a:xfrm>
          <a:prstGeom prst="roundRect">
            <a:avLst>
              <a:gd name="adj" fmla="val 5846"/>
            </a:avLst>
          </a:prstGeom>
          <a:solidFill>
            <a:srgbClr val="F8ECDA"/>
          </a:solidFill>
          <a:ln w="15875">
            <a:solidFill>
              <a:srgbClr val="B07A35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6B4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values</a:t>
            </a:r>
            <a:endParaRPr lang="en-US" sz="18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400" dirty="0">
                <a:solidFill>
                  <a:srgbClr val="7A5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and secrets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892784" y="2122780"/>
            <a:ext cx="2515332" cy="1251356"/>
          </a:xfrm>
          <a:prstGeom prst="roundRect">
            <a:avLst>
              <a:gd name="adj" fmla="val 5846"/>
            </a:avLst>
          </a:prstGeom>
          <a:solidFill>
            <a:srgbClr val="EEEBFB"/>
          </a:solidFill>
          <a:ln w="15875">
            <a:solidFill>
              <a:srgbClr val="6A5AAE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F31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</a:t>
            </a:r>
            <a:endParaRPr lang="en-US" sz="18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400" dirty="0">
                <a:solidFill>
                  <a:srgbClr val="5A4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 APIs + policy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912864" y="2122780"/>
            <a:ext cx="2523744" cy="1251356"/>
          </a:xfrm>
          <a:prstGeom prst="roundRect">
            <a:avLst>
              <a:gd name="adj" fmla="val 5846"/>
            </a:avLst>
          </a:prstGeom>
          <a:solidFill>
            <a:srgbClr val="E6F0FA"/>
          </a:solidFill>
          <a:ln w="15875">
            <a:solidFill>
              <a:srgbClr val="3D6FA8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F3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Groups</a:t>
            </a:r>
            <a:endParaRPr lang="en-US" sz="18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400" dirty="0">
                <a:solidFill>
                  <a:srgbClr val="2F5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ID membership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941357" y="2122780"/>
            <a:ext cx="1337584" cy="1251356"/>
          </a:xfrm>
          <a:prstGeom prst="roundRect">
            <a:avLst>
              <a:gd name="adj" fmla="val 5846"/>
            </a:avLst>
          </a:prstGeom>
          <a:solidFill>
            <a:srgbClr val="F1EEE7"/>
          </a:solidFill>
          <a:ln w="15875">
            <a:solidFill>
              <a:srgbClr val="A8A196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3A3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400" dirty="0">
                <a:solidFill>
                  <a:srgbClr val="6B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388035" y="2743200"/>
            <a:ext cx="504749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 txBox="1"/>
          <p:nvPr/>
        </p:nvSpPr>
        <p:spPr>
          <a:xfrm>
            <a:off x="3297509" y="2322119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8115" y="2743200"/>
            <a:ext cx="504749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 txBox="1"/>
          <p:nvPr/>
        </p:nvSpPr>
        <p:spPr>
          <a:xfrm>
            <a:off x="6317590" y="2322119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seen by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436608" y="2743200"/>
            <a:ext cx="504749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 txBox="1"/>
          <p:nvPr/>
        </p:nvSpPr>
        <p:spPr>
          <a:xfrm>
            <a:off x="9346082" y="2322119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46243" y="3374136"/>
            <a:ext cx="0" cy="588874"/>
          </a:xfrm>
          <a:prstGeom prst="line">
            <a:avLst/>
          </a:prstGeom>
          <a:noFill/>
          <a:ln w="12700">
            <a:solidFill>
              <a:srgbClr val="A33B62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724534" y="3963010"/>
            <a:ext cx="2851831" cy="883310"/>
          </a:xfrm>
          <a:prstGeom prst="roundRect">
            <a:avLst>
              <a:gd name="adj" fmla="val 8282"/>
            </a:avLst>
          </a:prstGeom>
          <a:solidFill>
            <a:srgbClr val="FBE9EF"/>
          </a:solidFill>
          <a:ln w="15875">
            <a:solidFill>
              <a:srgbClr val="A33B62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5A1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Tags</a:t>
            </a:r>
            <a:endParaRPr lang="en-US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300" dirty="0">
                <a:solidFill>
                  <a:srgbClr val="7A25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only, enforces nothing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93776" y="545576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Products, Groups  enforce anything. Tags help people find things; they are not a security control.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7931" y="8503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APIOps: configuration as code, promoted through environments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817931" y="1847088"/>
            <a:ext cx="1737360" cy="1463040"/>
          </a:xfrm>
          <a:prstGeom prst="roundRect">
            <a:avLst>
              <a:gd name="adj" fmla="val 5000"/>
            </a:avLst>
          </a:prstGeom>
          <a:solidFill>
            <a:srgbClr val="E6F0FA"/>
          </a:solidFill>
          <a:ln w="15875">
            <a:solidFill>
              <a:srgbClr val="3D6FA8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F3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15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100" dirty="0">
                <a:solidFill>
                  <a:srgbClr val="2F5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change APIs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423971" y="1847088"/>
            <a:ext cx="2084832" cy="1463040"/>
          </a:xfrm>
          <a:prstGeom prst="roundRect">
            <a:avLst>
              <a:gd name="adj" fmla="val 5000"/>
            </a:avLst>
          </a:prstGeom>
          <a:solidFill>
            <a:srgbClr val="0F2A5C"/>
          </a:solidFill>
          <a:ln w="15875">
            <a:solidFill>
              <a:srgbClr val="0F2A5C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repository</a:t>
            </a:r>
            <a:endParaRPr lang="en-US" sz="15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100" dirty="0">
                <a:solidFill>
                  <a:srgbClr val="D6D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source of truth</a:t>
            </a:r>
            <a:endParaRPr lang="en-US" sz="15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100" dirty="0">
                <a:solidFill>
                  <a:srgbClr val="D6D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(APIs, policies, products)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377483" y="1847088"/>
            <a:ext cx="2084832" cy="1463040"/>
          </a:xfrm>
          <a:prstGeom prst="roundRect">
            <a:avLst>
              <a:gd name="adj" fmla="val 5000"/>
            </a:avLst>
          </a:prstGeom>
          <a:solidFill>
            <a:srgbClr val="E3F3EC"/>
          </a:solidFill>
          <a:ln w="15875">
            <a:solidFill>
              <a:srgbClr val="2E7D5B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5E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-&gt; UAT -&gt; Prod</a:t>
            </a:r>
            <a:endParaRPr lang="en-US" sz="15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100" dirty="0">
                <a:solidFill>
                  <a:srgbClr val="2E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config promoted</a:t>
            </a:r>
            <a:endParaRPr lang="en-US" sz="15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100" dirty="0">
                <a:solidFill>
                  <a:srgbClr val="2E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each environment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330995" y="1847088"/>
            <a:ext cx="1911096" cy="1463040"/>
          </a:xfrm>
          <a:prstGeom prst="roundRect">
            <a:avLst>
              <a:gd name="adj" fmla="val 5000"/>
            </a:avLst>
          </a:prstGeom>
          <a:solidFill>
            <a:srgbClr val="F8ECDA"/>
          </a:solidFill>
          <a:ln w="15875">
            <a:solidFill>
              <a:srgbClr val="B07A35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6B4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</a:t>
            </a:r>
            <a:endParaRPr lang="en-US" sz="15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100" dirty="0">
                <a:solidFill>
                  <a:srgbClr val="7A5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 approval</a:t>
            </a:r>
            <a:endParaRPr lang="en-US" sz="15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100" dirty="0">
                <a:solidFill>
                  <a:srgbClr val="7A5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to deploy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55291" y="2578608"/>
            <a:ext cx="86868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 txBox="1"/>
          <p:nvPr/>
        </p:nvSpPr>
        <p:spPr>
          <a:xfrm>
            <a:off x="2578151" y="220370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extractor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508803" y="2578608"/>
            <a:ext cx="86868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 txBox="1"/>
          <p:nvPr/>
        </p:nvSpPr>
        <p:spPr>
          <a:xfrm>
            <a:off x="5531663" y="220370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462315" y="2578608"/>
            <a:ext cx="86868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 txBox="1"/>
          <p:nvPr/>
        </p:nvSpPr>
        <p:spPr>
          <a:xfrm>
            <a:off x="817931" y="3931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A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process:  </a:t>
            </a:r>
            <a:r>
              <a:rPr lang="en-US" sz="12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made in Dev, reviewed via pull request, automated validation runs, merged on approval, then the same approved config is deployed through Dev, UAT and Production. No direct Production changes; secrets never committed to source control.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731520"/>
            <a:ext cx="2011680" cy="566928"/>
          </a:xfrm>
          <a:prstGeom prst="roundRect">
            <a:avLst>
              <a:gd name="adj" fmla="val 12903"/>
            </a:avLst>
          </a:prstGeom>
          <a:solidFill>
            <a:srgbClr val="F1EEE7"/>
          </a:solidFill>
          <a:ln w="15875">
            <a:solidFill>
              <a:srgbClr val="A8A196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3A3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user</a:t>
            </a:r>
            <a:endParaRPr lang="en-US" sz="12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900" dirty="0">
                <a:solidFill>
                  <a:srgbClr val="6B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 / market system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468880" y="1014984"/>
            <a:ext cx="91440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 txBox="1"/>
          <p:nvPr/>
        </p:nvSpPr>
        <p:spPr>
          <a:xfrm>
            <a:off x="2468880" y="740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383280" y="731520"/>
            <a:ext cx="2011680" cy="566928"/>
          </a:xfrm>
          <a:prstGeom prst="roundRect">
            <a:avLst>
              <a:gd name="adj" fmla="val 12903"/>
            </a:avLst>
          </a:prstGeom>
          <a:solidFill>
            <a:srgbClr val="E6F0FA"/>
          </a:solidFill>
          <a:ln w="15875">
            <a:solidFill>
              <a:srgbClr val="3D6FA8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3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Door + WAF</a:t>
            </a:r>
            <a:endParaRPr lang="en-US" sz="12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900" dirty="0">
                <a:solidFill>
                  <a:srgbClr val="2F5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TLS, WAF, DDoS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94960" y="1014984"/>
            <a:ext cx="91440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 txBox="1"/>
          <p:nvPr/>
        </p:nvSpPr>
        <p:spPr>
          <a:xfrm>
            <a:off x="5394960" y="740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Link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309360" y="731520"/>
            <a:ext cx="2011680" cy="566928"/>
          </a:xfrm>
          <a:prstGeom prst="roundRect">
            <a:avLst>
              <a:gd name="adj" fmla="val 12903"/>
            </a:avLst>
          </a:prstGeom>
          <a:solidFill>
            <a:srgbClr val="EEEBFB"/>
          </a:solidFill>
          <a:ln w="15875">
            <a:solidFill>
              <a:srgbClr val="6A5AAE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3F31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APIM internal</a:t>
            </a:r>
            <a:endParaRPr lang="en-US" sz="12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900" dirty="0">
                <a:solidFill>
                  <a:srgbClr val="5A4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endpoint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321040" y="1014984"/>
            <a:ext cx="91440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9235440" y="731520"/>
            <a:ext cx="2011680" cy="566928"/>
          </a:xfrm>
          <a:prstGeom prst="roundRect">
            <a:avLst>
              <a:gd name="adj" fmla="val 12903"/>
            </a:avLst>
          </a:prstGeom>
          <a:solidFill>
            <a:srgbClr val="E3F3EC"/>
          </a:solidFill>
          <a:ln w="15875">
            <a:solidFill>
              <a:srgbClr val="2E7D5B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E5E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38988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Inbound never traverses the Palo Alto. Front Door WAF inspects; APIM accepts traffic only from the Front Door Private Link origin.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2377440"/>
            <a:ext cx="2011680" cy="566928"/>
          </a:xfrm>
          <a:prstGeom prst="roundRect">
            <a:avLst>
              <a:gd name="adj" fmla="val 12903"/>
            </a:avLst>
          </a:prstGeom>
          <a:solidFill>
            <a:srgbClr val="E6F0FA"/>
          </a:solidFill>
          <a:ln w="15875">
            <a:solidFill>
              <a:srgbClr val="3D6FA8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3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/ on-prem</a:t>
            </a:r>
            <a:endParaRPr lang="en-US" sz="12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900" dirty="0">
                <a:solidFill>
                  <a:srgbClr val="2F5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VNet peering / ExpressRoute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468880" y="2660904"/>
            <a:ext cx="91440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 txBox="1"/>
          <p:nvPr/>
        </p:nvSpPr>
        <p:spPr>
          <a:xfrm>
            <a:off x="2468880" y="23865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83280" y="2377440"/>
            <a:ext cx="2011680" cy="566928"/>
          </a:xfrm>
          <a:prstGeom prst="roundRect">
            <a:avLst>
              <a:gd name="adj" fmla="val 12903"/>
            </a:avLst>
          </a:prstGeom>
          <a:solidFill>
            <a:srgbClr val="EEEBFB"/>
          </a:solidFill>
          <a:ln w="15875">
            <a:solidFill>
              <a:srgbClr val="6A5AAE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3F31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APIM internal</a:t>
            </a:r>
            <a:endParaRPr lang="en-US" sz="12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900" dirty="0">
                <a:solidFill>
                  <a:srgbClr val="5A4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+ policy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394960" y="2660904"/>
            <a:ext cx="91440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309360" y="2377440"/>
            <a:ext cx="2011680" cy="566928"/>
          </a:xfrm>
          <a:prstGeom prst="roundRect">
            <a:avLst>
              <a:gd name="adj" fmla="val 12903"/>
            </a:avLst>
          </a:prstGeom>
          <a:solidFill>
            <a:srgbClr val="E3F3EC"/>
          </a:solidFill>
          <a:ln w="15875">
            <a:solidFill>
              <a:srgbClr val="2E7D5B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E5E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03580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traffic stays private and does not go through the Palo Alto. Every internal call is still authenticated and policy-checked at APIM.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023360"/>
            <a:ext cx="2011680" cy="566928"/>
          </a:xfrm>
          <a:prstGeom prst="roundRect">
            <a:avLst>
              <a:gd name="adj" fmla="val 12903"/>
            </a:avLst>
          </a:prstGeom>
          <a:solidFill>
            <a:srgbClr val="EEEBFB"/>
          </a:solidFill>
          <a:ln w="15875">
            <a:solidFill>
              <a:srgbClr val="6A5AAE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3F31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APIM / backend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468880" y="4306824"/>
            <a:ext cx="91440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 txBox="1"/>
          <p:nvPr/>
        </p:nvSpPr>
        <p:spPr>
          <a:xfrm>
            <a:off x="2468880" y="40325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0.0.0.0/0 UDR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383280" y="4023360"/>
            <a:ext cx="2011680" cy="566928"/>
          </a:xfrm>
          <a:prstGeom prst="roundRect">
            <a:avLst>
              <a:gd name="adj" fmla="val 12903"/>
            </a:avLst>
          </a:prstGeom>
          <a:solidFill>
            <a:srgbClr val="FBECEC"/>
          </a:solidFill>
          <a:ln w="15875">
            <a:solidFill>
              <a:srgbClr val="B5525A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6B1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Palo Alto</a:t>
            </a:r>
            <a:endParaRPr lang="en-US" sz="12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900" dirty="0">
                <a:solidFill>
                  <a:srgbClr val="7A3A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egress + URL filter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394960" y="4306824"/>
            <a:ext cx="91440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 txBox="1"/>
          <p:nvPr/>
        </p:nvSpPr>
        <p:spPr>
          <a:xfrm>
            <a:off x="5394960" y="40325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309360" y="4023360"/>
            <a:ext cx="2011680" cy="566928"/>
          </a:xfrm>
          <a:prstGeom prst="roundRect">
            <a:avLst>
              <a:gd name="adj" fmla="val 12903"/>
            </a:avLst>
          </a:prstGeom>
          <a:solidFill>
            <a:srgbClr val="F1EEE7"/>
          </a:solidFill>
          <a:ln w="15875">
            <a:solidFill>
              <a:srgbClr val="A8A196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3A3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/ SaaS</a:t>
            </a:r>
            <a:endParaRPr lang="en-US" sz="12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900" dirty="0">
                <a:solidFill>
                  <a:srgbClr val="6B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e.g. Salesforce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6817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UDR (0.0.0.0/0 to the Palo Alto internal LB) forces all outbound data-plane traffic through the firewall. Secrets stay in Key Vault.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669280"/>
            <a:ext cx="2011680" cy="566928"/>
          </a:xfrm>
          <a:prstGeom prst="roundRect">
            <a:avLst>
              <a:gd name="adj" fmla="val 12903"/>
            </a:avLst>
          </a:prstGeom>
          <a:solidFill>
            <a:srgbClr val="EEEBFB"/>
          </a:solidFill>
          <a:ln w="15875">
            <a:solidFill>
              <a:srgbClr val="6A5AAE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3F31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APIM internal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468880" y="5952744"/>
            <a:ext cx="91440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 txBox="1"/>
          <p:nvPr/>
        </p:nvSpPr>
        <p:spPr>
          <a:xfrm>
            <a:off x="2468880" y="56784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Endpoint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383280" y="5669280"/>
            <a:ext cx="2011680" cy="566928"/>
          </a:xfrm>
          <a:prstGeom prst="roundRect">
            <a:avLst>
              <a:gd name="adj" fmla="val 12903"/>
            </a:avLst>
          </a:prstGeom>
          <a:solidFill>
            <a:srgbClr val="E3F3EC"/>
          </a:solidFill>
          <a:ln w="15875">
            <a:solidFill>
              <a:srgbClr val="2E7D5B"/>
            </a:solidFill>
            <a:prstDash val="solid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E5E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backend</a:t>
            </a:r>
            <a:endParaRPr lang="en-US" sz="12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900" dirty="0">
                <a:solidFill>
                  <a:srgbClr val="2E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 / PaaS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394960" y="5952744"/>
            <a:ext cx="914400" cy="0"/>
          </a:xfrm>
          <a:prstGeom prst="line">
            <a:avLst/>
          </a:prstGeom>
          <a:noFill/>
          <a:ln w="19050">
            <a:solidFill>
              <a:srgbClr val="B5525A"/>
            </a:solidFill>
            <a:prstDash val="dash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 txBox="1"/>
          <p:nvPr/>
        </p:nvSpPr>
        <p:spPr>
          <a:xfrm>
            <a:off x="5394960" y="56784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552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/32 UDR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309360" y="5669280"/>
            <a:ext cx="2011680" cy="566928"/>
          </a:xfrm>
          <a:prstGeom prst="roundRect">
            <a:avLst>
              <a:gd name="adj" fmla="val 12903"/>
            </a:avLst>
          </a:prstGeom>
          <a:solidFill>
            <a:srgbClr val="FBECEC"/>
          </a:solidFill>
          <a:ln w="15875">
            <a:solidFill>
              <a:srgbClr val="B5525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6B1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Palo Alto (optional)</a:t>
            </a:r>
            <a:endParaRPr lang="en-US" sz="12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900" dirty="0">
                <a:solidFill>
                  <a:srgbClr val="7A3A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if policy needs it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632764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East-west traffic never leaves Azure, so it does not need the firewall; NSG + Private Link secure it. Force to firewall only if policy demands.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8D4F0752-1C7E-D46A-6755-42C211F242A8}"/>
              </a:ext>
            </a:extLst>
          </p:cNvPr>
          <p:cNvSpPr/>
          <p:nvPr/>
        </p:nvSpPr>
        <p:spPr>
          <a:xfrm>
            <a:off x="9457640" y="2935224"/>
            <a:ext cx="2023160" cy="3364992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 0"/>
          <p:cNvSpPr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High-Level Azure APIM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governed gateway sits between every consumer and every backend — internal, external, or partner.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8625535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154680" y="1965960"/>
            <a:ext cx="12801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209544" y="1965960"/>
            <a:ext cx="1170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0" y="1965960"/>
            <a:ext cx="12801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626864" y="1965960"/>
            <a:ext cx="1170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0" y="1965960"/>
            <a:ext cx="12801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044184" y="1965960"/>
            <a:ext cx="1170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System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461504" y="1965960"/>
            <a:ext cx="1170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Service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815688" y="2788920"/>
            <a:ext cx="0" cy="164592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8625535" cy="960120"/>
          </a:xfrm>
          <a:prstGeom prst="roundRect">
            <a:avLst>
              <a:gd name="adj" fmla="val 5714"/>
            </a:avLst>
          </a:prstGeom>
          <a:solidFill>
            <a:srgbClr val="0FB5A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40080" y="2999232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Security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154680" y="3136392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E7FBFA"/>
          </a:solidFill>
          <a:ln w="15875">
            <a:solidFill>
              <a:srgbClr val="0FB5AE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209544" y="3136392"/>
            <a:ext cx="1627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Front Door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0" y="3136392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E7FBFA"/>
          </a:solidFill>
          <a:ln w="15875">
            <a:solidFill>
              <a:srgbClr val="0FB5AE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5084064" y="3136392"/>
            <a:ext cx="1627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 Firewall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903720" y="3136392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E7FBFA"/>
          </a:solidFill>
          <a:ln w="15875">
            <a:solidFill>
              <a:srgbClr val="0FB5AE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6958584" y="3136392"/>
            <a:ext cx="1627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/ Public Endpoints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15688" y="3959352"/>
            <a:ext cx="0" cy="164592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502920" y="4169664"/>
            <a:ext cx="8625535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640080" y="4169664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API Management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154680" y="4306824"/>
            <a:ext cx="1280160" cy="685800"/>
          </a:xfrm>
          <a:prstGeom prst="roundRect">
            <a:avLst>
              <a:gd name="adj" fmla="val 8000"/>
            </a:avLst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3209544" y="4306824"/>
            <a:ext cx="1170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0" y="4306824"/>
            <a:ext cx="1280160" cy="685800"/>
          </a:xfrm>
          <a:prstGeom prst="roundRect">
            <a:avLst>
              <a:gd name="adj" fmla="val 8000"/>
            </a:avLst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626864" y="4306824"/>
            <a:ext cx="1170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989320" y="4306824"/>
            <a:ext cx="1280160" cy="685800"/>
          </a:xfrm>
          <a:prstGeom prst="roundRect">
            <a:avLst>
              <a:gd name="adj" fmla="val 8000"/>
            </a:avLst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6044184" y="4306824"/>
            <a:ext cx="1170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Portal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406640" y="4306824"/>
            <a:ext cx="1280160" cy="685800"/>
          </a:xfrm>
          <a:prstGeom prst="roundRect">
            <a:avLst>
              <a:gd name="adj" fmla="val 8000"/>
            </a:avLst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7461504" y="4306824"/>
            <a:ext cx="1170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/ APIs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815688" y="5129784"/>
            <a:ext cx="0" cy="164592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2920" y="5340096"/>
            <a:ext cx="8625535" cy="960120"/>
          </a:xfrm>
          <a:prstGeom prst="roundRect">
            <a:avLst>
              <a:gd name="adj" fmla="val 5714"/>
            </a:avLst>
          </a:prstGeom>
          <a:solidFill>
            <a:srgbClr val="4A557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640080" y="5340096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154680" y="5477256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3209544" y="5477256"/>
            <a:ext cx="1627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029200" y="5477256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5084064" y="5477256"/>
            <a:ext cx="1627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903720" y="5477256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6958584" y="5477256"/>
            <a:ext cx="1627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Partner APIs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9646920" y="3346704"/>
            <a:ext cx="1669084" cy="960120"/>
          </a:xfrm>
          <a:prstGeom prst="roundRect">
            <a:avLst>
              <a:gd name="adj" fmla="val 5714"/>
            </a:avLst>
          </a:prstGeom>
          <a:solidFill>
            <a:schemeClr val="accent5">
              <a:lumMod val="40000"/>
              <a:lumOff val="60000"/>
            </a:schemeClr>
          </a:solidFill>
          <a:ln w="15875">
            <a:solidFill>
              <a:schemeClr val="tx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9393326" y="3355848"/>
            <a:ext cx="21762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Entra ID</a:t>
            </a:r>
            <a:endParaRPr lang="en-US" sz="10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OAuth 2.0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668408" y="4997196"/>
            <a:ext cx="1630375" cy="960120"/>
          </a:xfrm>
          <a:prstGeom prst="roundRect">
            <a:avLst>
              <a:gd name="adj" fmla="val 5714"/>
            </a:avLst>
          </a:prstGeom>
          <a:solidFill>
            <a:schemeClr val="accent5">
              <a:lumMod val="20000"/>
              <a:lumOff val="80000"/>
            </a:schemeClr>
          </a:solidFill>
          <a:ln w="15875">
            <a:solidFill>
              <a:schemeClr val="tx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9635718" y="5031486"/>
            <a:ext cx="164911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Key Vault</a:t>
            </a:r>
            <a:endParaRPr lang="en-US" sz="10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&amp; Certificates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Architecture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5745175" y="6492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Chaucer  Group  |  Azure API Management RFP Response</a:t>
            </a:r>
            <a:endParaRPr lang="en-US" sz="900" dirty="0"/>
          </a:p>
        </p:txBody>
      </p:sp>
      <p:sp>
        <p:nvSpPr>
          <p:cNvPr id="53" name="Text 50"/>
          <p:cNvSpPr/>
          <p:nvPr/>
        </p:nvSpPr>
        <p:spPr>
          <a:xfrm>
            <a:off x="5821528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Lifecycle Management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API moves through the same governed lifecycle, from design to retirement, with no manual hand-offs.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4420" y="2240280"/>
            <a:ext cx="274320" cy="27432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07442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14173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57784" y="2743200"/>
            <a:ext cx="1307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920240" y="3200400"/>
            <a:ext cx="210769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2702509" y="2240280"/>
            <a:ext cx="274320" cy="27432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2702509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131009" y="2743200"/>
            <a:ext cx="14173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2185873" y="2743200"/>
            <a:ext cx="1307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548329" y="3200400"/>
            <a:ext cx="210769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4330598" y="2240280"/>
            <a:ext cx="274320" cy="27432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330598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59098" y="2743200"/>
            <a:ext cx="14173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813962" y="2743200"/>
            <a:ext cx="1307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176418" y="3200400"/>
            <a:ext cx="210769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5958688" y="2240280"/>
            <a:ext cx="274320" cy="27432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5958688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387188" y="2743200"/>
            <a:ext cx="14173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5442052" y="2743200"/>
            <a:ext cx="1307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04508" y="3200400"/>
            <a:ext cx="210769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7586777" y="2240280"/>
            <a:ext cx="274320" cy="27432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7586777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015277" y="2743200"/>
            <a:ext cx="14173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7070141" y="2743200"/>
            <a:ext cx="1307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432597" y="3200400"/>
            <a:ext cx="210769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9214866" y="2240280"/>
            <a:ext cx="274320" cy="27432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9214866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643366" y="2743200"/>
            <a:ext cx="14173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8698230" y="2743200"/>
            <a:ext cx="1307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0060686" y="3200400"/>
            <a:ext cx="210769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10842955" y="2240280"/>
            <a:ext cx="274320" cy="27432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10842955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0271455" y="2743200"/>
            <a:ext cx="14173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10326319" y="2743200"/>
            <a:ext cx="1307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211580" y="4206240"/>
            <a:ext cx="9768535" cy="0"/>
          </a:xfrm>
          <a:prstGeom prst="line">
            <a:avLst/>
          </a:prstGeom>
          <a:noFill/>
          <a:ln w="19050">
            <a:solidFill>
              <a:srgbClr val="F5A623"/>
            </a:solidFill>
            <a:prstDash val="dash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502920" y="43891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4A5578"/>
                </a:solidFill>
              </a:rPr>
              <a:t>Feedback loop: usage analytics inform the next design cycle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Architecture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5745175" y="6492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Chaucer  Group  |  Azure API Management RFP Response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5821528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Internal API Access Model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consumers reach services only through APIM's internal VNet mode — no direct backend access.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19456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57784" y="2194560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Applications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880360" y="2606040"/>
            <a:ext cx="822960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3703320" y="219456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758184" y="2194560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APIM (Internal VNet Mode)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80760" y="2606040"/>
            <a:ext cx="822960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6903720" y="219456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958584" y="2194560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Microservices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703320" y="356616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FFF4E0"/>
          </a:solidFill>
          <a:ln w="15875">
            <a:solidFill>
              <a:srgbClr val="F5A623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758184" y="3566160"/>
            <a:ext cx="2267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(client credentials)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92040" y="3017520"/>
            <a:ext cx="0" cy="548640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02920" y="4572000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rule:  </a:t>
            </a:r>
            <a:r>
              <a:rPr lang="en-US" sz="1200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internal service is reachable except through the APIM gateway; network security groups block all other paths.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Architecture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5745175" y="6492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Chaucer  Group  |  Azure API Management RFP Response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821528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 API Access Model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consumers are inspected, authenticated, and rate-limited before ever reaching a backend service.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194560"/>
            <a:ext cx="2590724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57784" y="2194560"/>
            <a:ext cx="24809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Clients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093644" y="2606040"/>
            <a:ext cx="274320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3367964" y="2194560"/>
            <a:ext cx="2590724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422828" y="2194560"/>
            <a:ext cx="24809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Door + WAF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58688" y="2606040"/>
            <a:ext cx="274320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6233008" y="2194560"/>
            <a:ext cx="2590724" cy="82296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287872" y="2194560"/>
            <a:ext cx="24809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APIM (External)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823731" y="2606040"/>
            <a:ext cx="274320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9098051" y="2194560"/>
            <a:ext cx="2590724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9152915" y="2194560"/>
            <a:ext cx="24809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via Private Link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276524" y="3154680"/>
            <a:ext cx="29564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termination + OWASP rules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141568" y="3154680"/>
            <a:ext cx="29564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 + rate limiting + IP policies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06611" y="3154680"/>
            <a:ext cx="29564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IP on backend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Architecture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5745175" y="6492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Chaucer  Group  |  Azure API Management RFP Response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821528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Security Strategy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185855" cy="566928"/>
          </a:xfrm>
          <a:prstGeom prst="roundRect">
            <a:avLst>
              <a:gd name="adj" fmla="val 9677"/>
            </a:avLst>
          </a:prstGeom>
          <a:solidFill>
            <a:srgbClr val="F7F9F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685800" y="1426464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takeaway:  </a:t>
            </a:r>
            <a:r>
              <a:rPr lang="en-US" sz="1300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enforced in layers at the API gateway — never assumed at the backend — consistent with Zero Trust principles.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2556434" cy="3566160"/>
          </a:xfrm>
          <a:prstGeom prst="roundRect">
            <a:avLst>
              <a:gd name="adj" fmla="val 2861"/>
            </a:avLst>
          </a:prstGeom>
          <a:solidFill>
            <a:srgbClr val="F7F9F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1461097" y="2606040"/>
            <a:ext cx="640080" cy="64008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8" name="Image 0" descr="/home/claude/apim_rfp/icon_cache/FaUserShield_1E2761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518" y="27724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3383280"/>
            <a:ext cx="21906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Identity-First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04088" y="3931920"/>
            <a:ext cx="215409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is authenticated via Entra ID and OAuth 2.0 before it reaches a policy or backend.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79394" y="2331720"/>
            <a:ext cx="2556434" cy="3566160"/>
          </a:xfrm>
          <a:prstGeom prst="roundRect">
            <a:avLst>
              <a:gd name="adj" fmla="val 2861"/>
            </a:avLst>
          </a:prstGeom>
          <a:solidFill>
            <a:srgbClr val="F7F9F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9"/>
          <p:cNvSpPr/>
          <p:nvPr/>
        </p:nvSpPr>
        <p:spPr>
          <a:xfrm>
            <a:off x="4337571" y="2606040"/>
            <a:ext cx="640080" cy="64008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3" name="Image 1" descr="/home/claude/apim_rfp/icon_cache/FaShieldAlt_1E2761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992" y="27724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62274" y="3383280"/>
            <a:ext cx="21906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in Depth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580562" y="3931920"/>
            <a:ext cx="215409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WAF, mTLS, IP filtering, and rate limiting are layered at the edge and gateway, not relied on individually.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55868" y="2331720"/>
            <a:ext cx="2556434" cy="3566160"/>
          </a:xfrm>
          <a:prstGeom prst="roundRect">
            <a:avLst>
              <a:gd name="adj" fmla="val 2861"/>
            </a:avLst>
          </a:prstGeom>
          <a:solidFill>
            <a:srgbClr val="F7F9F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3"/>
          <p:cNvSpPr/>
          <p:nvPr/>
        </p:nvSpPr>
        <p:spPr>
          <a:xfrm>
            <a:off x="7214044" y="2606040"/>
            <a:ext cx="640080" cy="64008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8" name="Image 2" descr="/home/claude/apim_rfp/icon_cache/FaKey_1E2761_2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0465" y="277246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438748" y="3383280"/>
            <a:ext cx="21906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Secrets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57036" y="3931920"/>
            <a:ext cx="215409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Key Vault stores certificates and secrets; APIM never holds credentials in plain policy XML.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9132341" y="2331720"/>
            <a:ext cx="2556434" cy="3566160"/>
          </a:xfrm>
          <a:prstGeom prst="roundRect">
            <a:avLst>
              <a:gd name="adj" fmla="val 2861"/>
            </a:avLst>
          </a:prstGeom>
          <a:solidFill>
            <a:srgbClr val="F7F9F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10090518" y="2606040"/>
            <a:ext cx="640080" cy="64008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3" name="Image 3" descr="/home/claude/apim_rfp/icon_cache/FaSearch_1E2761_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6939" y="2772461"/>
            <a:ext cx="307238" cy="30723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315221" y="3383280"/>
            <a:ext cx="21906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Verification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9333509" y="3931920"/>
            <a:ext cx="215409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is inspected and logged — trust is never implicit, even for internal traffic.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Architecture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5745175" y="6492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Chaucer  Group  |  Azure API Management RFP Response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5821528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OAuth 2.0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credentials and authorization code flows are enforced at the gateway using tokens issued by Entra ID.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348740" y="1874520"/>
            <a:ext cx="274320" cy="27432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3487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2377440"/>
            <a:ext cx="19659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57784" y="2377440"/>
            <a:ext cx="1856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requests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token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68880" y="2880360"/>
            <a:ext cx="339014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653714" y="1874520"/>
            <a:ext cx="274320" cy="27432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653714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07894" y="2377440"/>
            <a:ext cx="19659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2862758" y="2377440"/>
            <a:ext cx="1856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authenticates &amp; issues token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73854" y="2880360"/>
            <a:ext cx="339014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5958688" y="1874520"/>
            <a:ext cx="274320" cy="27432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958688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12868" y="2377440"/>
            <a:ext cx="19659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167732" y="2377440"/>
            <a:ext cx="1856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calls API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bearer token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078828" y="2880360"/>
            <a:ext cx="339014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8263661" y="1874520"/>
            <a:ext cx="274320" cy="27432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8263661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417841" y="2377440"/>
            <a:ext cx="1965960" cy="1005840"/>
          </a:xfrm>
          <a:prstGeom prst="roundRect">
            <a:avLst>
              <a:gd name="adj" fmla="val 5455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7472705" y="2377440"/>
            <a:ext cx="1856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APIM validates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&amp; claims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383801" y="2880360"/>
            <a:ext cx="339014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10568635" y="1874520"/>
            <a:ext cx="274320" cy="27432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10568635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722815" y="2377440"/>
            <a:ext cx="19659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9777679" y="2377440"/>
            <a:ext cx="1856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forwarded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backend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2920" y="374904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A5578"/>
                </a:solidFill>
              </a:rPr>
              <a:t>Backend never sees or validates raw credentials — only a pre-verified, policy-enforced token.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Architecture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745175" y="6492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Chaucer  Group  |  Azure API Management RFP Response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5821528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JWT Validation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APIM validates signature, issuer, audience, and expiry on every request using a validate-jwt policy — before any backend call.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103120"/>
            <a:ext cx="21945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57784" y="2103120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Incoming Request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(Bearer JWT)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697480" y="2514600"/>
            <a:ext cx="731520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3429000" y="2103120"/>
            <a:ext cx="2743200" cy="82296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483864" y="210312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APIM validate-jwt Policy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72200" y="2514600"/>
            <a:ext cx="731520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6903720" y="210312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958584" y="2103120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Service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29000" y="3474720"/>
            <a:ext cx="1371600" cy="731520"/>
          </a:xfrm>
          <a:prstGeom prst="roundRect">
            <a:avLst>
              <a:gd name="adj" fmla="val 7500"/>
            </a:avLst>
          </a:prstGeom>
          <a:solidFill>
            <a:srgbClr val="FFF4E0"/>
          </a:solidFill>
          <a:ln w="15875">
            <a:solidFill>
              <a:srgbClr val="F5A623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483864" y="3474720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(JWKS from Entra ID)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892040" y="3474720"/>
            <a:ext cx="1371600" cy="731520"/>
          </a:xfrm>
          <a:prstGeom prst="roundRect">
            <a:avLst>
              <a:gd name="adj" fmla="val 7500"/>
            </a:avLst>
          </a:prstGeom>
          <a:solidFill>
            <a:srgbClr val="FFF4E0"/>
          </a:solidFill>
          <a:ln w="15875">
            <a:solidFill>
              <a:srgbClr val="F5A623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46904" y="3474720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&amp; Audience match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429000" y="4343400"/>
            <a:ext cx="1371600" cy="731520"/>
          </a:xfrm>
          <a:prstGeom prst="roundRect">
            <a:avLst>
              <a:gd name="adj" fmla="val 7500"/>
            </a:avLst>
          </a:prstGeom>
          <a:solidFill>
            <a:srgbClr val="FFF4E0"/>
          </a:solidFill>
          <a:ln w="15875">
            <a:solidFill>
              <a:srgbClr val="F5A623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483864" y="4343400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(exp) &amp; not-before (nbf)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892040" y="4343400"/>
            <a:ext cx="1371600" cy="731520"/>
          </a:xfrm>
          <a:prstGeom prst="roundRect">
            <a:avLst>
              <a:gd name="adj" fmla="val 7500"/>
            </a:avLst>
          </a:prstGeom>
          <a:solidFill>
            <a:srgbClr val="FFF4E0"/>
          </a:solidFill>
          <a:ln w="15875">
            <a:solidFill>
              <a:srgbClr val="F5A623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946904" y="4343400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claims / scopes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800600" y="2926080"/>
            <a:ext cx="0" cy="457200"/>
          </a:xfrm>
          <a:prstGeom prst="line">
            <a:avLst/>
          </a:prstGeom>
          <a:noFill/>
          <a:ln w="15875">
            <a:solidFill>
              <a:srgbClr val="F5A623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02920" y="53035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4A5578"/>
                </a:solidFill>
              </a:rPr>
              <a:t>On failure: request is rejected with 401 at the gateway — never reaches the backend.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Architecture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745175" y="6492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Chaucer  Group  |  Azure API Management RFP Response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5821528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APIM + Entra ID Integration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is the single identity provider for both API consumers and platform administrators.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063240" y="2331720"/>
            <a:ext cx="1752448" cy="1234440"/>
          </a:xfrm>
          <a:prstGeom prst="line">
            <a:avLst/>
          </a:prstGeom>
          <a:noFill/>
          <a:ln w="15875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 flipV="1">
            <a:off x="3063240" y="3566160"/>
            <a:ext cx="1752448" cy="1417320"/>
          </a:xfrm>
          <a:prstGeom prst="line">
            <a:avLst/>
          </a:prstGeom>
          <a:noFill/>
          <a:ln w="15875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 flipV="1">
            <a:off x="7376008" y="2331720"/>
            <a:ext cx="1752448" cy="1234440"/>
          </a:xfrm>
          <a:prstGeom prst="line">
            <a:avLst/>
          </a:prstGeom>
          <a:noFill/>
          <a:ln w="15875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7376008" y="3566160"/>
            <a:ext cx="1752448" cy="1417320"/>
          </a:xfrm>
          <a:prstGeom prst="line">
            <a:avLst/>
          </a:prstGeom>
          <a:noFill/>
          <a:ln w="15875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815688" y="3108960"/>
            <a:ext cx="256032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870552" y="3108960"/>
            <a:ext cx="2450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Entra ID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192024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57784" y="1920240"/>
            <a:ext cx="2450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Registrations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(client apps)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457200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57784" y="4572000"/>
            <a:ext cx="2450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Identity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(APIM to Key Vault)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128455" y="192024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9183319" y="1920240"/>
            <a:ext cx="2450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Access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(admin / DevOps)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128455" y="457200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9183319" y="4572000"/>
            <a:ext cx="2450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Issuance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(OAuth 2.0 / OIDC)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Architecture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5745175" y="6492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Chaucer  Group  |  Azure API Management RFP Response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821528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Secrets and Certificates Management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Key Vault is the single source of truth for every secret, certificate, and key APIM depends 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19456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57784" y="2194560"/>
            <a:ext cx="2633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Key Vault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2651760"/>
            <a:ext cx="914400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4160520" y="219456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215384" y="2194560"/>
            <a:ext cx="2633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APIM Managed Identity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903720" y="2651760"/>
            <a:ext cx="914400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7818120" y="2194560"/>
            <a:ext cx="38706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7872984" y="2194560"/>
            <a:ext cx="376092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Values &amp; TLS Certificates in APIM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657600"/>
            <a:ext cx="2613584" cy="731520"/>
          </a:xfrm>
          <a:prstGeom prst="roundRect">
            <a:avLst>
              <a:gd name="adj" fmla="val 7500"/>
            </a:avLst>
          </a:prstGeom>
          <a:solidFill>
            <a:srgbClr val="FFF4E0"/>
          </a:solidFill>
          <a:ln w="15875">
            <a:solidFill>
              <a:srgbClr val="F5A623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57784" y="3657600"/>
            <a:ext cx="2503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 keys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99384" y="3657600"/>
            <a:ext cx="2613584" cy="731520"/>
          </a:xfrm>
          <a:prstGeom prst="roundRect">
            <a:avLst>
              <a:gd name="adj" fmla="val 7500"/>
            </a:avLst>
          </a:prstGeom>
          <a:solidFill>
            <a:srgbClr val="FFF4E0"/>
          </a:solidFill>
          <a:ln w="15875">
            <a:solidFill>
              <a:srgbClr val="F5A623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354248" y="3657600"/>
            <a:ext cx="2503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/ mTLS certificates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95848" y="3657600"/>
            <a:ext cx="2613584" cy="731520"/>
          </a:xfrm>
          <a:prstGeom prst="roundRect">
            <a:avLst>
              <a:gd name="adj" fmla="val 7500"/>
            </a:avLst>
          </a:prstGeom>
          <a:solidFill>
            <a:srgbClr val="FFF4E0"/>
          </a:solidFill>
          <a:ln w="15875">
            <a:solidFill>
              <a:srgbClr val="F5A623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150712" y="3657600"/>
            <a:ext cx="2503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client secrets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892311" y="3657600"/>
            <a:ext cx="2613584" cy="731520"/>
          </a:xfrm>
          <a:prstGeom prst="roundRect">
            <a:avLst>
              <a:gd name="adj" fmla="val 7500"/>
            </a:avLst>
          </a:prstGeom>
          <a:solidFill>
            <a:srgbClr val="FFF4E0"/>
          </a:solidFill>
          <a:ln w="15875">
            <a:solidFill>
              <a:srgbClr val="F5A623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8947175" y="3657600"/>
            <a:ext cx="2503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keys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02920" y="466344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4A5578"/>
                </a:solidFill>
              </a:rPr>
              <a:t>Automatic certificate rotation — no manual redeploy required when secrets expire.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Architecture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745175" y="6492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Chaucer  Group  |  Azure API Management RFP Response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821528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Trust API Security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185855" cy="566928"/>
          </a:xfrm>
          <a:prstGeom prst="roundRect">
            <a:avLst>
              <a:gd name="adj" fmla="val 9677"/>
            </a:avLst>
          </a:prstGeom>
          <a:solidFill>
            <a:srgbClr val="F7F9F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685800" y="1426464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takeaway:  </a:t>
            </a:r>
            <a:r>
              <a:rPr lang="en-US" sz="1300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trust, always verify — applied consistently whether a call originates inside or outside Chaucer's network.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3515258" cy="3566160"/>
          </a:xfrm>
          <a:prstGeom prst="roundRect">
            <a:avLst>
              <a:gd name="adj" fmla="val 2081"/>
            </a:avLst>
          </a:prstGeom>
          <a:solidFill>
            <a:srgbClr val="F7F9F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1940509" y="2606040"/>
            <a:ext cx="640080" cy="64008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8" name="Image 0" descr="/home/claude/apim_rfp/icon_cache/FaNetworkWired_1E2761_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930" y="27724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338328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Explicitly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04088" y="3931920"/>
            <a:ext cx="311292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is authenticated and authorized regardless of network origin — internal traffic is not implicitly trusted.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38218" y="2331720"/>
            <a:ext cx="3515258" cy="3566160"/>
          </a:xfrm>
          <a:prstGeom prst="roundRect">
            <a:avLst>
              <a:gd name="adj" fmla="val 2081"/>
            </a:avLst>
          </a:prstGeom>
          <a:solidFill>
            <a:srgbClr val="F7F9F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9"/>
          <p:cNvSpPr/>
          <p:nvPr/>
        </p:nvSpPr>
        <p:spPr>
          <a:xfrm>
            <a:off x="5775808" y="2606040"/>
            <a:ext cx="640080" cy="64008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3" name="Image 1" descr="/home/claude/apim_rfp/icon_cache/FaLock_1E2761_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2228" y="27724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21098" y="338328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 Access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539386" y="3931920"/>
            <a:ext cx="311292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Products, subscriptions, and scopes grant only the minimum access each consumer needs.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73517" y="2331720"/>
            <a:ext cx="3515258" cy="3566160"/>
          </a:xfrm>
          <a:prstGeom prst="roundRect">
            <a:avLst>
              <a:gd name="adj" fmla="val 2081"/>
            </a:avLst>
          </a:prstGeom>
          <a:solidFill>
            <a:srgbClr val="F7F9F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3"/>
          <p:cNvSpPr/>
          <p:nvPr/>
        </p:nvSpPr>
        <p:spPr>
          <a:xfrm>
            <a:off x="9611106" y="2606040"/>
            <a:ext cx="640080" cy="64008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8" name="Image 2" descr="/home/claude/apim_rfp/icon_cache/FaExclamationTriangle_1E2761_2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7527" y="277246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56397" y="338328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Breach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374685" y="3931920"/>
            <a:ext cx="311292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Segmentation, rate limiting, and anomaly alerting limit blast radius if a credential is compromised.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Architecture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5745175" y="6492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Chaucer  Group  |  Azure API Management RFP Response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5821528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Governance Framework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lightweight governance board sets standards; automation enforces them so governance never slows delivery.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154680" y="2304288"/>
            <a:ext cx="1569568" cy="1261872"/>
          </a:xfrm>
          <a:prstGeom prst="line">
            <a:avLst/>
          </a:prstGeom>
          <a:noFill/>
          <a:ln w="15875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 flipV="1">
            <a:off x="3154680" y="3566160"/>
            <a:ext cx="1569568" cy="1435608"/>
          </a:xfrm>
          <a:prstGeom prst="line">
            <a:avLst/>
          </a:prstGeom>
          <a:noFill/>
          <a:ln w="15875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 flipV="1">
            <a:off x="7467448" y="2304288"/>
            <a:ext cx="1569568" cy="1261872"/>
          </a:xfrm>
          <a:prstGeom prst="line">
            <a:avLst/>
          </a:prstGeom>
          <a:noFill/>
          <a:ln w="15875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7467448" y="3566160"/>
            <a:ext cx="1569568" cy="1435608"/>
          </a:xfrm>
          <a:prstGeom prst="line">
            <a:avLst/>
          </a:prstGeom>
          <a:noFill/>
          <a:ln w="15875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724248" y="310896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779112" y="3108960"/>
            <a:ext cx="2633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Governance Board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192024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57784" y="192024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&amp; Design Standards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461772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57784" y="461772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Policy Baseline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37015" y="192024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9091879" y="192024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&amp; Versioning Rules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37015" y="461772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9091879" y="461772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&amp; Product Catalog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5745175" y="6492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Chaucer  Group  |  Azure API Management RFP Response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821528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gateway, policy, and backend call feeds a single Azure Monitor pane — no blind spots across environments.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194560"/>
            <a:ext cx="31089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57784" y="219456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APIM Gateway Metrics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3154680"/>
            <a:ext cx="31089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57784" y="315468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Insights 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4114800"/>
            <a:ext cx="31089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57784" y="411480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Front Door / WAF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11880" y="2578607"/>
            <a:ext cx="768096" cy="914399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611880" y="3538728"/>
            <a:ext cx="822960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 flipV="1">
            <a:off x="3611880" y="3675886"/>
            <a:ext cx="768096" cy="822962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4434840" y="3017520"/>
            <a:ext cx="2926080" cy="1005840"/>
          </a:xfrm>
          <a:prstGeom prst="roundRect">
            <a:avLst>
              <a:gd name="adj" fmla="val 5455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489704" y="3017520"/>
            <a:ext cx="28163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/ Log Analytics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60920" y="3520440"/>
            <a:ext cx="822960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8183880" y="3017520"/>
            <a:ext cx="3504895" cy="1005840"/>
          </a:xfrm>
          <a:prstGeom prst="roundRect">
            <a:avLst>
              <a:gd name="adj" fmla="val 5455"/>
            </a:avLst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8238744" y="3017520"/>
            <a:ext cx="33951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&amp; Workbooks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5745175" y="6492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Chaucer  Group  |  Azure API Management RFP Response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821528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B65C7863-E3E7-86F5-41B5-060D7A927875}"/>
              </a:ext>
            </a:extLst>
          </p:cNvPr>
          <p:cNvSpPr/>
          <p:nvPr/>
        </p:nvSpPr>
        <p:spPr>
          <a:xfrm>
            <a:off x="543560" y="5293360"/>
            <a:ext cx="31089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2A8E302B-9BC1-568E-1D3A-131010DD5FBB}"/>
              </a:ext>
            </a:extLst>
          </p:cNvPr>
          <p:cNvSpPr/>
          <p:nvPr/>
        </p:nvSpPr>
        <p:spPr>
          <a:xfrm>
            <a:off x="598424" y="529336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Diagnostics</a:t>
            </a:r>
            <a:endParaRPr lang="en-US" sz="1000" dirty="0"/>
          </a:p>
        </p:txBody>
      </p:sp>
      <p:sp>
        <p:nvSpPr>
          <p:cNvPr id="24" name="Shape 11">
            <a:extLst>
              <a:ext uri="{FF2B5EF4-FFF2-40B4-BE49-F238E27FC236}">
                <a16:creationId xmlns:a16="http://schemas.microsoft.com/office/drawing/2014/main" id="{6EF8BCDB-C7F2-4053-F246-E350C74659F7}"/>
              </a:ext>
            </a:extLst>
          </p:cNvPr>
          <p:cNvSpPr/>
          <p:nvPr/>
        </p:nvSpPr>
        <p:spPr>
          <a:xfrm flipV="1">
            <a:off x="3652520" y="3877053"/>
            <a:ext cx="782320" cy="1866397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APIM CI/CD Model (APIOps)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APIM configuration change is version-controlled, reviewed, and deployed automatically — never edited by hand in production.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348740" y="1874520"/>
            <a:ext cx="274320" cy="27432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13487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2377440"/>
            <a:ext cx="19659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57784" y="2377440"/>
            <a:ext cx="1856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Repo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(APIM config as code)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68880" y="2880360"/>
            <a:ext cx="339014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653714" y="1874520"/>
            <a:ext cx="274320" cy="27432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653714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07894" y="2377440"/>
            <a:ext cx="19659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2862758" y="2377440"/>
            <a:ext cx="1856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Review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73854" y="2880360"/>
            <a:ext cx="339014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5958688" y="1874520"/>
            <a:ext cx="274320" cy="27432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958688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12868" y="2377440"/>
            <a:ext cx="19659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167732" y="2377440"/>
            <a:ext cx="1856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Build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Policy Lint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078828" y="2880360"/>
            <a:ext cx="339014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8263661" y="1874520"/>
            <a:ext cx="274320" cy="27432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8263661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417841" y="2377440"/>
            <a:ext cx="19659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7472705" y="2377440"/>
            <a:ext cx="1856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(contract/security)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383801" y="2880360"/>
            <a:ext cx="339014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10568635" y="1874520"/>
            <a:ext cx="274320" cy="27432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10568635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722815" y="2377440"/>
            <a:ext cx="1965960" cy="1005840"/>
          </a:xfrm>
          <a:prstGeom prst="roundRect">
            <a:avLst>
              <a:gd name="adj" fmla="val 5455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9777679" y="2377440"/>
            <a:ext cx="18562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Release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APIM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374904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A5578"/>
                </a:solidFill>
              </a:rPr>
              <a:t>APIOps treats API definitions, policies, and products as code — the same rigor as application software.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745175" y="6492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Chaucer  Group  |  Azure API Management RFP Response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5821528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Promotion Strategy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is promoted the same way through every environment — no environment is a special case.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2590724" cy="1005840"/>
          </a:xfrm>
          <a:prstGeom prst="roundRect">
            <a:avLst>
              <a:gd name="adj" fmla="val 5455"/>
            </a:avLst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57784" y="2377440"/>
            <a:ext cx="24809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2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deploy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93644" y="2880360"/>
            <a:ext cx="274320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3367964" y="2377440"/>
            <a:ext cx="2590724" cy="1005840"/>
          </a:xfrm>
          <a:prstGeom prst="roundRect">
            <a:avLst>
              <a:gd name="adj" fmla="val 5455"/>
            </a:avLst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422828" y="2377440"/>
            <a:ext cx="24809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1B45"/>
                </a:solidFill>
                <a:latin typeface="Calibri"/>
                <a:ea typeface="Calibri"/>
                <a:cs typeface="Calibri"/>
              </a:rPr>
              <a:t>SIT</a:t>
            </a:r>
            <a:endParaRPr lang="en-US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 gate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58688" y="2880360"/>
            <a:ext cx="274320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6233008" y="2377440"/>
            <a:ext cx="2590724" cy="1005840"/>
          </a:xfrm>
          <a:prstGeom prst="roundRect">
            <a:avLst>
              <a:gd name="adj" fmla="val 5455"/>
            </a:avLst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287872" y="2377440"/>
            <a:ext cx="24809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</a:t>
            </a:r>
            <a:endParaRPr lang="en-US" sz="12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A5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sign-off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823731" y="2880360"/>
            <a:ext cx="274320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9098051" y="2377440"/>
            <a:ext cx="2590724" cy="1005840"/>
          </a:xfrm>
          <a:prstGeom prst="roundRect">
            <a:avLst>
              <a:gd name="adj" fmla="val 5455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  <a:effectLst>
            <a:outerShdw blurRad="50800" dist="12700" dir="54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9152915" y="2377440"/>
            <a:ext cx="24809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2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+ change window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0292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745175" y="64922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Chaucer  Group  |  Azure API Management RFP Response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5821528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520464" y="404937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Access Model: Internal and External, Security Boundary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1603912" y="738021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boundary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01192" y="1017932"/>
            <a:ext cx="0" cy="3029486"/>
          </a:xfrm>
          <a:prstGeom prst="line">
            <a:avLst/>
          </a:prstGeom>
          <a:noFill/>
          <a:ln w="22225">
            <a:solidFill>
              <a:srgbClr val="C0392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 txBox="1"/>
          <p:nvPr/>
        </p:nvSpPr>
        <p:spPr>
          <a:xfrm>
            <a:off x="1238152" y="404507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crossed only at the edge, by external traffic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0839" y="1438253"/>
            <a:ext cx="1812707" cy="563072"/>
          </a:xfrm>
          <a:prstGeom prst="roundRect">
            <a:avLst>
              <a:gd name="adj" fmla="val 12992"/>
            </a:avLst>
          </a:prstGeom>
          <a:solidFill>
            <a:srgbClr val="F1EEE7"/>
          </a:solidFill>
          <a:ln w="15875">
            <a:solidFill>
              <a:srgbClr val="A8A196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3A3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consumer</a:t>
            </a:r>
            <a:endParaRPr lang="en-US" sz="13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000" dirty="0">
                <a:solidFill>
                  <a:srgbClr val="6B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client / partner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852251" y="1327225"/>
            <a:ext cx="2114824" cy="785129"/>
          </a:xfrm>
          <a:prstGeom prst="roundRect">
            <a:avLst>
              <a:gd name="adj" fmla="val 9317"/>
            </a:avLst>
          </a:prstGeom>
          <a:solidFill>
            <a:srgbClr val="E6F0FA"/>
          </a:solidFill>
          <a:ln w="15875">
            <a:solidFill>
              <a:srgbClr val="3D6FA8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F3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Door + WAF</a:t>
            </a:r>
            <a:endParaRPr lang="en-US" sz="14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000" dirty="0">
                <a:solidFill>
                  <a:srgbClr val="2F5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TLS termination, OWASP rules,</a:t>
            </a:r>
            <a:endParaRPr lang="en-US" sz="14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000" dirty="0">
                <a:solidFill>
                  <a:srgbClr val="2F5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limiting, IP policy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323545" y="1723755"/>
            <a:ext cx="528706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5873429" y="1866505"/>
            <a:ext cx="2719060" cy="1665424"/>
          </a:xfrm>
          <a:prstGeom prst="roundRect">
            <a:avLst>
              <a:gd name="adj" fmla="val 4392"/>
            </a:avLst>
          </a:prstGeom>
          <a:solidFill>
            <a:srgbClr val="EEEBFB"/>
          </a:solidFill>
          <a:ln w="15875">
            <a:solidFill>
              <a:srgbClr val="6A5AAE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3F31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API Management</a:t>
            </a:r>
            <a:endParaRPr lang="en-US" sz="15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900" dirty="0">
                <a:solidFill>
                  <a:srgbClr val="5A4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VNet mode — one instance, no public endpoint</a:t>
            </a:r>
            <a:endParaRPr lang="en-US" sz="1500" dirty="0"/>
          </a:p>
          <a:p>
            <a:pPr marL="0" indent="0" algn="ctr">
              <a:spcAft>
                <a:spcPts val="300"/>
              </a:spcAft>
              <a:buNone/>
            </a:pPr>
            <a:endParaRPr lang="en-US" sz="15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900" dirty="0">
                <a:solidFill>
                  <a:srgbClr val="5A4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calls: OAuth 2.0 token validated at the gateway</a:t>
            </a:r>
            <a:endParaRPr lang="en-US" sz="15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900" dirty="0">
                <a:solidFill>
                  <a:srgbClr val="5A4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calls: Entra ID client credentials flow validated first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967076" y="1779269"/>
            <a:ext cx="521153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5488229" y="1779269"/>
            <a:ext cx="0" cy="602725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5488229" y="2381994"/>
            <a:ext cx="38520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 txBox="1"/>
          <p:nvPr/>
        </p:nvSpPr>
        <p:spPr>
          <a:xfrm>
            <a:off x="4909377" y="14200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Link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96724" y="1073446"/>
            <a:ext cx="2114825" cy="563072"/>
          </a:xfrm>
          <a:prstGeom prst="roundRect">
            <a:avLst>
              <a:gd name="adj" fmla="val 12992"/>
            </a:avLst>
          </a:prstGeom>
          <a:solidFill>
            <a:srgbClr val="F1EEE7"/>
          </a:solidFill>
          <a:ln w="15875">
            <a:solidFill>
              <a:srgbClr val="A8A196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3A3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application</a:t>
            </a:r>
            <a:endParaRPr lang="en-US" sz="13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000" dirty="0">
                <a:solidFill>
                  <a:srgbClr val="6B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inside the VNet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346348" y="1852269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direct, no edge hop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196724" y="2270965"/>
            <a:ext cx="2114824" cy="864434"/>
          </a:xfrm>
          <a:prstGeom prst="roundRect">
            <a:avLst>
              <a:gd name="adj" fmla="val 8462"/>
            </a:avLst>
          </a:prstGeom>
          <a:solidFill>
            <a:srgbClr val="E3F3EC"/>
          </a:solidFill>
          <a:ln w="15875">
            <a:solidFill>
              <a:srgbClr val="2E7D5B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E5E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services</a:t>
            </a:r>
            <a:endParaRPr lang="en-US" sz="14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000" dirty="0">
                <a:solidFill>
                  <a:srgbClr val="2E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Functions, integration</a:t>
            </a:r>
            <a:endParaRPr lang="en-US" sz="14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000" dirty="0">
                <a:solidFill>
                  <a:srgbClr val="2E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services, Private Endpoint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592489" y="2699217"/>
            <a:ext cx="604236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510839" y="4769102"/>
            <a:ext cx="10800710" cy="1260964"/>
          </a:xfrm>
          <a:prstGeom prst="roundRect">
            <a:avLst>
              <a:gd name="adj" fmla="val 8702"/>
            </a:avLst>
          </a:prstGeom>
          <a:solidFill>
            <a:srgbClr val="FFFFFF">
              <a:alpha val="0"/>
            </a:srgbClr>
          </a:solidFill>
          <a:ln w="15875">
            <a:solidFill>
              <a:srgbClr val="9AA3BA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 txBox="1"/>
          <p:nvPr/>
        </p:nvSpPr>
        <p:spPr>
          <a:xfrm>
            <a:off x="737427" y="4861929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across every layer, inside the boundary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 flipH="1">
            <a:off x="6024488" y="3500207"/>
            <a:ext cx="1208471" cy="1713008"/>
          </a:xfrm>
          <a:prstGeom prst="line">
            <a:avLst/>
          </a:prstGeom>
          <a:noFill/>
          <a:ln w="15875">
            <a:solidFill>
              <a:srgbClr val="C8A06A"/>
            </a:solidFill>
            <a:prstDash val="sysDash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232959" y="3500207"/>
            <a:ext cx="2265883" cy="1713008"/>
          </a:xfrm>
          <a:prstGeom prst="line">
            <a:avLst/>
          </a:prstGeom>
          <a:noFill/>
          <a:ln w="15875">
            <a:solidFill>
              <a:srgbClr val="C8A06A"/>
            </a:solidFill>
            <a:prstDash val="sysDash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 flipH="1">
            <a:off x="6024488" y="3135400"/>
            <a:ext cx="4229649" cy="2077815"/>
          </a:xfrm>
          <a:prstGeom prst="line">
            <a:avLst/>
          </a:prstGeom>
          <a:noFill/>
          <a:ln w="15875">
            <a:solidFill>
              <a:srgbClr val="C8A06A"/>
            </a:solidFill>
            <a:prstDash val="sysDash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 flipH="1">
            <a:off x="9498842" y="3135400"/>
            <a:ext cx="755294" cy="2077815"/>
          </a:xfrm>
          <a:prstGeom prst="line">
            <a:avLst/>
          </a:prstGeom>
          <a:noFill/>
          <a:ln w="15875">
            <a:solidFill>
              <a:srgbClr val="C8A06A"/>
            </a:solidFill>
            <a:prstDash val="sysDash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4740487" y="5213215"/>
            <a:ext cx="2568001" cy="705823"/>
          </a:xfrm>
          <a:prstGeom prst="roundRect">
            <a:avLst>
              <a:gd name="adj" fmla="val 10364"/>
            </a:avLst>
          </a:prstGeom>
          <a:solidFill>
            <a:srgbClr val="F8ECDA"/>
          </a:solidFill>
          <a:ln w="15875">
            <a:solidFill>
              <a:srgbClr val="B07A35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6B4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Entra ID</a:t>
            </a:r>
            <a:endParaRPr lang="en-US" sz="14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000" dirty="0">
                <a:solidFill>
                  <a:srgbClr val="7A5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for every layer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214842" y="5213215"/>
            <a:ext cx="2568001" cy="705823"/>
          </a:xfrm>
          <a:prstGeom prst="roundRect">
            <a:avLst>
              <a:gd name="adj" fmla="val 10364"/>
            </a:avLst>
          </a:prstGeom>
          <a:solidFill>
            <a:srgbClr val="F8ECDA"/>
          </a:solidFill>
          <a:ln w="15875">
            <a:solidFill>
              <a:srgbClr val="B07A35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6B4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Key Vault</a:t>
            </a:r>
            <a:endParaRPr lang="en-US" sz="14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000" dirty="0">
                <a:solidFill>
                  <a:srgbClr val="7A5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for every layer</a:t>
            </a:r>
            <a:endParaRPr lang="en-US" sz="1400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0395C9A6-FFB5-049C-B360-B30A210900CE}"/>
              </a:ext>
            </a:extLst>
          </p:cNvPr>
          <p:cNvCxnSpPr>
            <a:stCxn id="14" idx="2"/>
          </p:cNvCxnSpPr>
          <p:nvPr/>
        </p:nvCxnSpPr>
        <p:spPr>
          <a:xfrm rot="5400000">
            <a:off x="9149372" y="1079635"/>
            <a:ext cx="547882" cy="1661648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5158" y="582473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Non-OAuth consumers: approval process, then runtime flow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384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8A5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Approval process (one-time)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75158" y="1484071"/>
            <a:ext cx="2016252" cy="903427"/>
          </a:xfrm>
          <a:prstGeom prst="roundRect">
            <a:avLst>
              <a:gd name="adj" fmla="val 8097"/>
            </a:avLst>
          </a:prstGeom>
          <a:solidFill>
            <a:srgbClr val="F1EEE7"/>
          </a:solidFill>
          <a:ln w="15875">
            <a:solidFill>
              <a:srgbClr val="A8A196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3A3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cannot</a:t>
            </a:r>
            <a:endParaRPr lang="en-US" sz="12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3A3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OAuth 2.0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91410" y="1935785"/>
            <a:ext cx="238658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830068" y="1484071"/>
            <a:ext cx="2008022" cy="903427"/>
          </a:xfrm>
          <a:prstGeom prst="roundRect">
            <a:avLst>
              <a:gd name="adj" fmla="val 8097"/>
            </a:avLst>
          </a:prstGeom>
          <a:solidFill>
            <a:srgbClr val="E6F0FA"/>
          </a:solidFill>
          <a:ln w="15875">
            <a:solidFill>
              <a:srgbClr val="3D6FA8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3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</a:t>
            </a:r>
            <a:endParaRPr lang="en-US" sz="12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3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raised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38090" y="1935785"/>
            <a:ext cx="246888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5084978" y="1484071"/>
            <a:ext cx="2008022" cy="903427"/>
          </a:xfrm>
          <a:prstGeom prst="roundRect">
            <a:avLst>
              <a:gd name="adj" fmla="val 8097"/>
            </a:avLst>
          </a:prstGeom>
          <a:solidFill>
            <a:srgbClr val="EEEBFB"/>
          </a:solidFill>
          <a:ln w="15875">
            <a:solidFill>
              <a:srgbClr val="6A5AAE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3F31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review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093001" y="1935785"/>
            <a:ext cx="238658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7331659" y="1484071"/>
            <a:ext cx="2016252" cy="903427"/>
          </a:xfrm>
          <a:prstGeom prst="roundRect">
            <a:avLst>
              <a:gd name="adj" fmla="val 8097"/>
            </a:avLst>
          </a:prstGeom>
          <a:solidFill>
            <a:srgbClr val="F8ECDA"/>
          </a:solidFill>
          <a:ln w="15875">
            <a:solidFill>
              <a:srgbClr val="B07A35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6B4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347911" y="1935785"/>
            <a:ext cx="238658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9586570" y="1484071"/>
            <a:ext cx="2016252" cy="903427"/>
          </a:xfrm>
          <a:prstGeom prst="roundRect">
            <a:avLst>
              <a:gd name="adj" fmla="val 8097"/>
            </a:avLst>
          </a:prstGeom>
          <a:solidFill>
            <a:srgbClr val="E3F3EC"/>
          </a:solidFill>
          <a:ln w="15875">
            <a:solidFill>
              <a:srgbClr val="2E7D5B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E5E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/ API key,</a:t>
            </a:r>
            <a:endParaRPr lang="en-US" sz="12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E5E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time-boxed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3796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Runtime ingress flow (every call)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5158" y="3777386"/>
            <a:ext cx="2057400" cy="972922"/>
          </a:xfrm>
          <a:prstGeom prst="roundRect">
            <a:avLst>
              <a:gd name="adj" fmla="val 7519"/>
            </a:avLst>
          </a:prstGeom>
          <a:solidFill>
            <a:srgbClr val="F1EEE7"/>
          </a:solidFill>
          <a:ln w="15875">
            <a:solidFill>
              <a:srgbClr val="A8A196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3A3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Non-OAuth</a:t>
            </a:r>
            <a:endParaRPr lang="en-US" sz="13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3A3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632558" y="4263847"/>
            <a:ext cx="938174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3570732" y="3777386"/>
            <a:ext cx="2049170" cy="972922"/>
          </a:xfrm>
          <a:prstGeom prst="roundRect">
            <a:avLst>
              <a:gd name="adj" fmla="val 7519"/>
            </a:avLst>
          </a:prstGeom>
          <a:solidFill>
            <a:srgbClr val="0F2A5C"/>
          </a:solidFill>
          <a:ln w="15875">
            <a:solidFill>
              <a:srgbClr val="0F2A5C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Door + WAF</a:t>
            </a:r>
            <a:endParaRPr lang="en-US" sz="13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000" dirty="0">
                <a:solidFill>
                  <a:srgbClr val="D6D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TLS, WAF, DDoS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19902" y="4263847"/>
            <a:ext cx="938174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558077" y="3777386"/>
            <a:ext cx="2049170" cy="972922"/>
          </a:xfrm>
          <a:prstGeom prst="roundRect">
            <a:avLst>
              <a:gd name="adj" fmla="val 7519"/>
            </a:avLst>
          </a:prstGeom>
          <a:solidFill>
            <a:srgbClr val="E6F0FA"/>
          </a:solidFill>
          <a:ln w="15875">
            <a:solidFill>
              <a:srgbClr val="3D6FA8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3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APIM internal gateway</a:t>
            </a:r>
            <a:endParaRPr lang="en-US" sz="13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000" dirty="0">
                <a:solidFill>
                  <a:srgbClr val="2F5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validates cert / key (not JWT)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07247" y="4263847"/>
            <a:ext cx="938174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9545422" y="3777386"/>
            <a:ext cx="2057400" cy="972922"/>
          </a:xfrm>
          <a:prstGeom prst="roundRect">
            <a:avLst>
              <a:gd name="adj" fmla="val 7519"/>
            </a:avLst>
          </a:prstGeom>
          <a:solidFill>
            <a:srgbClr val="E3F3EC"/>
          </a:solidFill>
          <a:ln w="15875">
            <a:solidFill>
              <a:srgbClr val="2E7D5B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E5E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3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000" dirty="0">
                <a:solidFill>
                  <a:srgbClr val="2E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Private Link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06486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path as an OAuth consumer, but APIM validates a client certificate (mTLS) or API key instead of a JWT.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 flipH="1">
            <a:off x="5634899" y="1011875"/>
            <a:ext cx="476220" cy="520659"/>
          </a:xfrm>
          <a:prstGeom prst="line">
            <a:avLst/>
          </a:prstGeom>
          <a:noFill/>
          <a:ln w="15875">
            <a:solidFill>
              <a:srgbClr val="5B6B8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433718" y="1011875"/>
            <a:ext cx="291876" cy="2139696"/>
          </a:xfrm>
          <a:prstGeom prst="line">
            <a:avLst/>
          </a:prstGeom>
          <a:noFill/>
          <a:ln w="15875">
            <a:solidFill>
              <a:srgbClr val="5B6B8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6779362" y="1011875"/>
            <a:ext cx="2649931" cy="2139696"/>
          </a:xfrm>
          <a:prstGeom prst="line">
            <a:avLst/>
          </a:prstGeom>
          <a:noFill/>
          <a:ln w="15875">
            <a:solidFill>
              <a:srgbClr val="5B6B8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 flipH="1">
            <a:off x="4321454" y="2338487"/>
            <a:ext cx="576072" cy="656173"/>
          </a:xfrm>
          <a:prstGeom prst="line">
            <a:avLst/>
          </a:prstGeom>
          <a:noFill/>
          <a:ln w="15875">
            <a:solidFill>
              <a:srgbClr val="5B6B8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5611856" y="2338487"/>
            <a:ext cx="860268" cy="813084"/>
          </a:xfrm>
          <a:prstGeom prst="line">
            <a:avLst/>
          </a:prstGeom>
          <a:noFill/>
          <a:ln w="15875">
            <a:solidFill>
              <a:srgbClr val="5B6B8C"/>
            </a:solidFill>
            <a:prstDash val="dash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372271" y="2317090"/>
            <a:ext cx="2557760" cy="834481"/>
          </a:xfrm>
          <a:prstGeom prst="line">
            <a:avLst/>
          </a:prstGeom>
          <a:noFill/>
          <a:ln w="15875">
            <a:solidFill>
              <a:srgbClr val="5B6B8C"/>
            </a:solidFill>
            <a:prstDash val="dash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 txBox="1"/>
          <p:nvPr/>
        </p:nvSpPr>
        <p:spPr>
          <a:xfrm>
            <a:off x="3449848" y="2515149"/>
            <a:ext cx="100584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RBAC scope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787043" y="3650833"/>
            <a:ext cx="0" cy="670438"/>
          </a:xfrm>
          <a:prstGeom prst="line">
            <a:avLst/>
          </a:prstGeom>
          <a:noFill/>
          <a:ln w="15875">
            <a:solidFill>
              <a:srgbClr val="5B6B8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787043" y="5127224"/>
            <a:ext cx="0" cy="670438"/>
          </a:xfrm>
          <a:prstGeom prst="line">
            <a:avLst/>
          </a:prstGeom>
          <a:noFill/>
          <a:ln w="15875">
            <a:solidFill>
              <a:srgbClr val="5B6B8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9713488" y="3650833"/>
            <a:ext cx="0" cy="756026"/>
          </a:xfrm>
          <a:prstGeom prst="line">
            <a:avLst/>
          </a:prstGeom>
          <a:noFill/>
          <a:ln w="15875">
            <a:solidFill>
              <a:srgbClr val="5B6B8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9713488" y="5041636"/>
            <a:ext cx="0" cy="756026"/>
          </a:xfrm>
          <a:prstGeom prst="line">
            <a:avLst/>
          </a:prstGeom>
          <a:noFill/>
          <a:ln w="15875">
            <a:solidFill>
              <a:srgbClr val="5B6B8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5028103" y="377099"/>
            <a:ext cx="2734422" cy="634776"/>
          </a:xfrm>
          <a:prstGeom prst="roundRect">
            <a:avLst>
              <a:gd name="adj" fmla="val 21608"/>
            </a:avLst>
          </a:prstGeom>
          <a:solidFill>
            <a:srgbClr val="1F2761"/>
          </a:solidFill>
          <a:ln>
            <a:solidFill>
              <a:srgbClr val="1F276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APIM Instance (Premium)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Owned by the Platform team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37111" y="1532534"/>
            <a:ext cx="2235159" cy="805952"/>
          </a:xfrm>
          <a:prstGeom prst="roundRect">
            <a:avLst>
              <a:gd name="adj" fmla="val 13615"/>
            </a:avLst>
          </a:prstGeom>
          <a:solidFill>
            <a:srgbClr val="F0F2F8"/>
          </a:solidFill>
          <a:ln w="12700">
            <a:solidFill>
              <a:srgbClr val="1F276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ID Groups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(Admins, Claims-Team,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Partner-XYZ-ReadOnly)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77581" y="2994660"/>
            <a:ext cx="2281245" cy="805952"/>
          </a:xfrm>
          <a:prstGeom prst="roundRect">
            <a:avLst>
              <a:gd name="adj" fmla="val 13615"/>
            </a:avLst>
          </a:prstGeom>
          <a:solidFill>
            <a:srgbClr val="F0F2F8"/>
          </a:solidFill>
          <a:ln w="12700">
            <a:solidFill>
              <a:srgbClr val="1F276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(mapped from Entra ID,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local accounts)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335341" y="3151571"/>
            <a:ext cx="2903403" cy="499262"/>
          </a:xfrm>
          <a:prstGeom prst="roundRect">
            <a:avLst>
              <a:gd name="adj" fmla="val 21978"/>
            </a:avLst>
          </a:prstGeom>
          <a:solidFill>
            <a:srgbClr val="F0F2F8"/>
          </a:solidFill>
          <a:ln w="12700">
            <a:solidFill>
              <a:srgbClr val="1F276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Workspace: Partner and Broker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515259" y="3151571"/>
            <a:ext cx="2181393" cy="499262"/>
          </a:xfrm>
          <a:prstGeom prst="roundRect">
            <a:avLst>
              <a:gd name="adj" fmla="val 21978"/>
            </a:avLst>
          </a:prstGeom>
          <a:solidFill>
            <a:srgbClr val="F0F2F8"/>
          </a:solidFill>
          <a:ln w="12700">
            <a:solidFill>
              <a:srgbClr val="1F276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Workspace: Policy Admin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19389" y="4321272"/>
            <a:ext cx="2135307" cy="805952"/>
          </a:xfrm>
          <a:prstGeom prst="roundRect">
            <a:avLst>
              <a:gd name="adj" fmla="val 13615"/>
            </a:avLst>
          </a:prstGeom>
          <a:solidFill>
            <a:srgbClr val="F0F2F8"/>
          </a:solidFill>
          <a:ln w="12700">
            <a:solidFill>
              <a:srgbClr val="1F276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(e.g. External Market,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Partner)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753368" y="4406859"/>
            <a:ext cx="1920240" cy="634776"/>
          </a:xfrm>
          <a:prstGeom prst="roundRect">
            <a:avLst>
              <a:gd name="adj" fmla="val 17286"/>
            </a:avLst>
          </a:prstGeom>
          <a:solidFill>
            <a:srgbClr val="F0F2F8"/>
          </a:solidFill>
          <a:ln w="12700">
            <a:solidFill>
              <a:srgbClr val="1F276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(e.g. Internal Only)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065032" y="5797662"/>
            <a:ext cx="1436340" cy="499262"/>
          </a:xfrm>
          <a:prstGeom prst="roundRect">
            <a:avLst>
              <a:gd name="adj" fmla="val 21978"/>
            </a:avLst>
          </a:prstGeom>
          <a:solidFill>
            <a:srgbClr val="F0F2F8"/>
          </a:solidFill>
          <a:ln w="12700">
            <a:solidFill>
              <a:srgbClr val="1F276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Subscriptions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99159" y="5797662"/>
            <a:ext cx="1436340" cy="499262"/>
          </a:xfrm>
          <a:prstGeom prst="roundRect">
            <a:avLst>
              <a:gd name="adj" fmla="val 21978"/>
            </a:avLst>
          </a:prstGeom>
          <a:solidFill>
            <a:srgbClr val="F0F2F8"/>
          </a:solidFill>
          <a:ln w="12700">
            <a:solidFill>
              <a:srgbClr val="1F2761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Subscriptions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7931" y="8503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APIOps: configuration as code, promoted through environments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817931" y="1847088"/>
            <a:ext cx="1737360" cy="1463040"/>
          </a:xfrm>
          <a:prstGeom prst="roundRect">
            <a:avLst>
              <a:gd name="adj" fmla="val 5000"/>
            </a:avLst>
          </a:prstGeom>
          <a:solidFill>
            <a:srgbClr val="E6F0FA"/>
          </a:solidFill>
          <a:ln w="15875">
            <a:solidFill>
              <a:srgbClr val="3D6FA8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F3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15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100" dirty="0">
                <a:solidFill>
                  <a:srgbClr val="2F5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change APIs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423971" y="1847088"/>
            <a:ext cx="2084832" cy="1463040"/>
          </a:xfrm>
          <a:prstGeom prst="roundRect">
            <a:avLst>
              <a:gd name="adj" fmla="val 5000"/>
            </a:avLst>
          </a:prstGeom>
          <a:solidFill>
            <a:srgbClr val="0F2A5C"/>
          </a:solidFill>
          <a:ln w="15875">
            <a:solidFill>
              <a:srgbClr val="0F2A5C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repository</a:t>
            </a:r>
            <a:endParaRPr lang="en-US" sz="15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100" dirty="0">
                <a:solidFill>
                  <a:srgbClr val="D6D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source of truth</a:t>
            </a:r>
            <a:endParaRPr lang="en-US" sz="15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100" dirty="0">
                <a:solidFill>
                  <a:srgbClr val="D6DE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(APIs, policies, products)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377483" y="1847088"/>
            <a:ext cx="2084832" cy="1463040"/>
          </a:xfrm>
          <a:prstGeom prst="roundRect">
            <a:avLst>
              <a:gd name="adj" fmla="val 5000"/>
            </a:avLst>
          </a:prstGeom>
          <a:solidFill>
            <a:srgbClr val="E3F3EC"/>
          </a:solidFill>
          <a:ln w="15875">
            <a:solidFill>
              <a:srgbClr val="2E7D5B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5E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-&gt; SIT-&gt; UAT -&gt; Prod</a:t>
            </a:r>
            <a:endParaRPr lang="en-US" sz="15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100" dirty="0">
                <a:solidFill>
                  <a:srgbClr val="2E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config promoted</a:t>
            </a:r>
            <a:endParaRPr lang="en-US" sz="15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100" dirty="0">
                <a:solidFill>
                  <a:srgbClr val="2E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each environment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330995" y="1847088"/>
            <a:ext cx="1911096" cy="1463040"/>
          </a:xfrm>
          <a:prstGeom prst="roundRect">
            <a:avLst>
              <a:gd name="adj" fmla="val 5000"/>
            </a:avLst>
          </a:prstGeom>
          <a:solidFill>
            <a:srgbClr val="F8ECDA"/>
          </a:solidFill>
          <a:ln w="15875">
            <a:solidFill>
              <a:srgbClr val="B07A35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6B4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</a:t>
            </a:r>
            <a:endParaRPr lang="en-US" sz="15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100" dirty="0">
                <a:solidFill>
                  <a:srgbClr val="7A5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 approval</a:t>
            </a:r>
            <a:endParaRPr lang="en-US" sz="15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100" dirty="0">
                <a:solidFill>
                  <a:srgbClr val="7A5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to deploy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55291" y="2578608"/>
            <a:ext cx="86868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 txBox="1"/>
          <p:nvPr/>
        </p:nvSpPr>
        <p:spPr>
          <a:xfrm>
            <a:off x="2578151" y="220370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extractor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508803" y="2578608"/>
            <a:ext cx="86868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 txBox="1"/>
          <p:nvPr/>
        </p:nvSpPr>
        <p:spPr>
          <a:xfrm>
            <a:off x="5531663" y="220370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462315" y="2578608"/>
            <a:ext cx="86868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 txBox="1"/>
          <p:nvPr/>
        </p:nvSpPr>
        <p:spPr>
          <a:xfrm>
            <a:off x="817931" y="3931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A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process:  </a:t>
            </a:r>
            <a:r>
              <a:rPr lang="en-US" sz="12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made in Dev, reviewed via pull request, automated validation runs, merged on approval, then the same approved config is deployed through Dev, UAT and Production. No direct Production changes; secrets never committed to source control.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37160"/>
            <a:ext cx="12191695" cy="457200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ctr"/>
            <a:r>
              <a:rPr sz="2600" b="1" i="0">
                <a:solidFill>
                  <a:srgbClr val="132040"/>
                </a:solidFill>
                <a:latin typeface="Calibri"/>
              </a:rPr>
              <a:t>Figure 3 — APIM Service Reference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66928"/>
            <a:ext cx="12191695" cy="320040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ctr"/>
            <a:r>
              <a:rPr sz="1300" b="0" i="1">
                <a:solidFill>
                  <a:srgbClr val="5A6B7D"/>
                </a:solidFill>
                <a:latin typeface="Calibri"/>
              </a:rPr>
              <a:t>Section 5.2 Logical Architecture Overview: logical components and how a request flows between them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5421" y="1631852"/>
            <a:ext cx="8567224" cy="664698"/>
          </a:xfrm>
          <a:prstGeom prst="roundRect">
            <a:avLst>
              <a:gd name="adj" fmla="val 10000"/>
            </a:avLst>
          </a:prstGeom>
          <a:solidFill>
            <a:srgbClr val="F1EFE8"/>
          </a:solidFill>
          <a:ln w="16510">
            <a:solidFill>
              <a:srgbClr val="2E6C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400" b="1" i="0">
                <a:solidFill>
                  <a:srgbClr val="132040"/>
                </a:solidFill>
                <a:latin typeface="Calibri"/>
              </a:rPr>
              <a:t>Management plane</a:t>
            </a:r>
          </a:p>
          <a:p>
            <a:pPr algn="ctr"/>
            <a:r>
              <a:rPr sz="1100" b="0" i="0">
                <a:solidFill>
                  <a:srgbClr val="5A6B7D"/>
                </a:solidFill>
                <a:latin typeface="Calibri"/>
              </a:rPr>
              <a:t>Platform + domain teams define APIs, products, policies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75781" y="2591972"/>
            <a:ext cx="2511083" cy="664698"/>
          </a:xfrm>
          <a:prstGeom prst="roundRect">
            <a:avLst>
              <a:gd name="adj" fmla="val 10000"/>
            </a:avLst>
          </a:prstGeom>
          <a:solidFill>
            <a:srgbClr val="E6F1FB"/>
          </a:solidFill>
          <a:ln w="16510">
            <a:solidFill>
              <a:srgbClr val="2E6C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400" b="1" i="0">
                <a:solidFill>
                  <a:srgbClr val="0E3F6E"/>
                </a:solidFill>
                <a:latin typeface="Calibri"/>
              </a:rPr>
              <a:t>Developer portal</a:t>
            </a:r>
          </a:p>
          <a:p>
            <a:pPr algn="ctr"/>
            <a:r>
              <a:rPr sz="1100" b="0" i="0">
                <a:solidFill>
                  <a:srgbClr val="5A6B7D"/>
                </a:solidFill>
                <a:latin typeface="Calibri"/>
              </a:rPr>
              <a:t>Microsoft-managed website</a:t>
            </a:r>
          </a:p>
          <a:p>
            <a:pPr algn="ctr"/>
            <a:r>
              <a:rPr sz="1100" b="0" i="0">
                <a:solidFill>
                  <a:srgbClr val="5A6B7D"/>
                </a:solidFill>
                <a:latin typeface="Calibri"/>
              </a:rPr>
              <a:t>auto-generated, customisable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25418" y="2444261"/>
            <a:ext cx="2215661" cy="443132"/>
          </a:xfrm>
          <a:prstGeom prst="roundRect">
            <a:avLst>
              <a:gd name="adj" fmla="val 10000"/>
            </a:avLst>
          </a:prstGeom>
          <a:solidFill>
            <a:srgbClr val="FAEEDA"/>
          </a:solidFill>
          <a:ln w="16510">
            <a:solidFill>
              <a:srgbClr val="B9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300" b="1" i="0">
                <a:solidFill>
                  <a:srgbClr val="8A6A1F"/>
                </a:solidFill>
                <a:latin typeface="Calibri"/>
              </a:rPr>
              <a:t>Entra ID</a:t>
            </a:r>
          </a:p>
          <a:p>
            <a:pPr algn="ctr"/>
            <a:r>
              <a:rPr sz="1000" b="0" i="0">
                <a:solidFill>
                  <a:srgbClr val="5A6B7D"/>
                </a:solidFill>
                <a:latin typeface="Calibri"/>
              </a:rPr>
              <a:t>Internal, corporate SSO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25418" y="2710140"/>
            <a:ext cx="2215661" cy="443132"/>
          </a:xfrm>
          <a:prstGeom prst="roundRect">
            <a:avLst>
              <a:gd name="adj" fmla="val 10000"/>
            </a:avLst>
          </a:prstGeom>
          <a:solidFill>
            <a:srgbClr val="FAEEDA"/>
          </a:solidFill>
          <a:ln w="16510">
            <a:solidFill>
              <a:srgbClr val="B9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300" b="1" i="0">
                <a:solidFill>
                  <a:srgbClr val="8A6A1F"/>
                </a:solidFill>
                <a:latin typeface="Calibri"/>
              </a:rPr>
              <a:t>Entra ID B2B guest</a:t>
            </a:r>
          </a:p>
          <a:p>
            <a:pPr algn="ctr"/>
            <a:r>
              <a:rPr sz="1000" b="0" i="0">
                <a:solidFill>
                  <a:srgbClr val="5A6B7D"/>
                </a:solidFill>
                <a:latin typeface="Calibri"/>
              </a:rPr>
              <a:t>External partner, own credentials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4431323" y="2296550"/>
            <a:ext cx="147710" cy="273265"/>
          </a:xfrm>
          <a:prstGeom prst="line">
            <a:avLst/>
          </a:prstGeom>
          <a:ln w="17780">
            <a:solidFill>
              <a:srgbClr val="5A6B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5686864" y="2665827"/>
            <a:ext cx="694241" cy="221566"/>
          </a:xfrm>
          <a:prstGeom prst="line">
            <a:avLst/>
          </a:prstGeom>
          <a:ln w="17780">
            <a:solidFill>
              <a:srgbClr val="5A6B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5686864" y="2931707"/>
            <a:ext cx="694241" cy="103397"/>
          </a:xfrm>
          <a:prstGeom prst="line">
            <a:avLst/>
          </a:prstGeom>
          <a:ln w="17780">
            <a:solidFill>
              <a:srgbClr val="5A6B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175781" y="3847513"/>
            <a:ext cx="1181686" cy="472674"/>
          </a:xfrm>
          <a:prstGeom prst="roundRect">
            <a:avLst>
              <a:gd name="adj" fmla="val 10000"/>
            </a:avLst>
          </a:prstGeom>
          <a:solidFill>
            <a:srgbClr val="F1EFE8"/>
          </a:solidFill>
          <a:ln w="15240">
            <a:solidFill>
              <a:srgbClr val="B4B2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200" b="1" i="0">
                <a:solidFill>
                  <a:srgbClr val="132040"/>
                </a:solidFill>
                <a:latin typeface="Calibri"/>
              </a:rPr>
              <a:t>Internal</a:t>
            </a:r>
          </a:p>
          <a:p>
            <a:pPr algn="ctr"/>
            <a:r>
              <a:rPr sz="1000" b="0" i="0">
                <a:solidFill>
                  <a:srgbClr val="5A6B7D"/>
                </a:solidFill>
                <a:latin typeface="Calibri"/>
              </a:rPr>
              <a:t>developer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5178" y="3847513"/>
            <a:ext cx="1181686" cy="472674"/>
          </a:xfrm>
          <a:prstGeom prst="roundRect">
            <a:avLst>
              <a:gd name="adj" fmla="val 10000"/>
            </a:avLst>
          </a:prstGeom>
          <a:solidFill>
            <a:srgbClr val="F1EFE8"/>
          </a:solidFill>
          <a:ln w="15240">
            <a:solidFill>
              <a:srgbClr val="B4B2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200" b="1" i="0">
                <a:solidFill>
                  <a:srgbClr val="132040"/>
                </a:solidFill>
                <a:latin typeface="Calibri"/>
              </a:rPr>
              <a:t>External partner</a:t>
            </a:r>
          </a:p>
          <a:p>
            <a:pPr algn="ctr"/>
            <a:r>
              <a:rPr sz="1000" b="0" i="0">
                <a:solidFill>
                  <a:srgbClr val="5A6B7D"/>
                </a:solidFill>
                <a:latin typeface="Calibri"/>
              </a:rPr>
              <a:t>developer (B2B guest)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75781" y="4807633"/>
            <a:ext cx="3101926" cy="664698"/>
          </a:xfrm>
          <a:prstGeom prst="roundRect">
            <a:avLst>
              <a:gd name="adj" fmla="val 10000"/>
            </a:avLst>
          </a:prstGeom>
          <a:solidFill>
            <a:srgbClr val="E1F5EE"/>
          </a:solidFill>
          <a:ln w="1778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300" b="1" i="0">
                <a:solidFill>
                  <a:srgbClr val="0F6E56"/>
                </a:solidFill>
                <a:latin typeface="Calibri"/>
              </a:rPr>
              <a:t>APIM gateway (data plane)</a:t>
            </a:r>
          </a:p>
          <a:p>
            <a:pPr algn="ctr"/>
            <a:r>
              <a:rPr sz="1000" b="0" i="0">
                <a:solidFill>
                  <a:srgbClr val="5A6B7D"/>
                </a:solidFill>
                <a:latin typeface="Calibri"/>
              </a:rPr>
              <a:t>Runtime authN/authZ, rate limits,</a:t>
            </a:r>
          </a:p>
          <a:p>
            <a:pPr algn="ctr"/>
            <a:r>
              <a:rPr sz="1000" b="0" i="0">
                <a:solidFill>
                  <a:srgbClr val="5A6B7D"/>
                </a:solidFill>
                <a:latin typeface="Calibri"/>
              </a:rPr>
              <a:t>policy enforcement on every call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2406" y="4807633"/>
            <a:ext cx="1698673" cy="664698"/>
          </a:xfrm>
          <a:prstGeom prst="roundRect">
            <a:avLst>
              <a:gd name="adj" fmla="val 10000"/>
            </a:avLst>
          </a:prstGeom>
          <a:solidFill>
            <a:srgbClr val="E1F5EE"/>
          </a:solidFill>
          <a:ln w="1778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300" b="1" i="0">
                <a:solidFill>
                  <a:srgbClr val="0F6E56"/>
                </a:solidFill>
                <a:latin typeface="Calibri"/>
              </a:rPr>
              <a:t>Backend services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277707" y="5139983"/>
            <a:ext cx="620385" cy="0"/>
          </a:xfrm>
          <a:prstGeom prst="line">
            <a:avLst/>
          </a:prstGeom>
          <a:ln w="17780">
            <a:solidFill>
              <a:srgbClr val="0F6E5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766624" y="4320188"/>
            <a:ext cx="0" cy="465289"/>
          </a:xfrm>
          <a:prstGeom prst="line">
            <a:avLst/>
          </a:prstGeom>
          <a:ln w="17780">
            <a:solidFill>
              <a:srgbClr val="0F6E5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022166" y="4320188"/>
            <a:ext cx="73855" cy="465289"/>
          </a:xfrm>
          <a:prstGeom prst="line">
            <a:avLst/>
          </a:prstGeom>
          <a:ln w="17780">
            <a:solidFill>
              <a:srgbClr val="0F6E5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3766624" y="3271441"/>
            <a:ext cx="295422" cy="576072"/>
          </a:xfrm>
          <a:prstGeom prst="line">
            <a:avLst/>
          </a:prstGeom>
          <a:ln w="17780">
            <a:solidFill>
              <a:srgbClr val="2E6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 flipV="1">
            <a:off x="4800600" y="3271441"/>
            <a:ext cx="295421" cy="576072"/>
          </a:xfrm>
          <a:prstGeom prst="line">
            <a:avLst/>
          </a:prstGeom>
          <a:ln w="17780">
            <a:solidFill>
              <a:srgbClr val="2E6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0" y="852133714"/>
            <a:ext cx="12191695" cy="274320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ctr"/>
            <a:r>
              <a:rPr sz="1100" b="0" i="1">
                <a:solidFill>
                  <a:srgbClr val="5A6B7D"/>
                </a:solidFill>
                <a:latin typeface="Calibri"/>
              </a:rPr>
              <a:t>The portal publishes and mediates discovery and subscription; the gateway enforces every call at runtime.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37160"/>
            <a:ext cx="12191695" cy="457200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ctr"/>
            <a:r>
              <a:rPr sz="2600" b="1" i="0">
                <a:solidFill>
                  <a:srgbClr val="132040"/>
                </a:solidFill>
                <a:latin typeface="Calibri"/>
              </a:rPr>
              <a:t>Figure 3a — API Access Model and Security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66928"/>
            <a:ext cx="12191695" cy="320040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ctr"/>
            <a:r>
              <a:rPr sz="1300" b="0" i="1">
                <a:solidFill>
                  <a:srgbClr val="5A6B7D"/>
                </a:solidFill>
                <a:latin typeface="Calibri"/>
              </a:rPr>
              <a:t>Section 5.3: internal and external paths converging on the same internal-mode gateway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454249" y="1843186"/>
            <a:ext cx="0" cy="2840980"/>
          </a:xfrm>
          <a:prstGeom prst="line">
            <a:avLst/>
          </a:prstGeom>
          <a:ln w="25400">
            <a:solidFill>
              <a:srgbClr val="C0392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0" y="201018098"/>
            <a:ext cx="3657600" cy="274320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ctr"/>
            <a:r>
              <a:rPr sz="1300" b="1" i="0">
                <a:solidFill>
                  <a:srgbClr val="C0392B"/>
                </a:solidFill>
                <a:latin typeface="Calibri"/>
              </a:rPr>
              <a:t>Internet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83237298"/>
            <a:ext cx="4572000" cy="274320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ctr"/>
            <a:r>
              <a:rPr sz="1100" b="0" i="1">
                <a:solidFill>
                  <a:srgbClr val="C0392B"/>
                </a:solidFill>
                <a:latin typeface="Calibri"/>
              </a:rPr>
              <a:t>crossed only at the edge, by external traffic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484" y="2229916"/>
            <a:ext cx="1784908" cy="535472"/>
          </a:xfrm>
          <a:prstGeom prst="roundRect">
            <a:avLst>
              <a:gd name="adj" fmla="val 10000"/>
            </a:avLst>
          </a:prstGeom>
          <a:solidFill>
            <a:srgbClr val="F1EFE8"/>
          </a:solidFill>
          <a:ln w="16510">
            <a:solidFill>
              <a:srgbClr val="B4B2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300" b="1" i="0">
                <a:solidFill>
                  <a:srgbClr val="132040"/>
                </a:solidFill>
                <a:latin typeface="Calibri"/>
              </a:rPr>
              <a:t>External consumer</a:t>
            </a:r>
          </a:p>
          <a:p>
            <a:pPr algn="ctr"/>
            <a:r>
              <a:rPr sz="1000" b="0" i="0">
                <a:solidFill>
                  <a:srgbClr val="5A6B7D"/>
                </a:solidFill>
                <a:latin typeface="Calibri"/>
              </a:rPr>
              <a:t>public client / partner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82393" y="2497653"/>
            <a:ext cx="1383304" cy="0"/>
          </a:xfrm>
          <a:prstGeom prst="line">
            <a:avLst/>
          </a:prstGeom>
          <a:ln w="17780">
            <a:solidFill>
              <a:srgbClr val="5A6B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602991" y="2125797"/>
            <a:ext cx="2082393" cy="743711"/>
          </a:xfrm>
          <a:prstGeom prst="roundRect">
            <a:avLst>
              <a:gd name="adj" fmla="val 10000"/>
            </a:avLst>
          </a:prstGeom>
          <a:solidFill>
            <a:srgbClr val="E6F1FB"/>
          </a:solidFill>
          <a:ln w="16510">
            <a:solidFill>
              <a:srgbClr val="2E6C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400" b="1" i="0">
                <a:solidFill>
                  <a:srgbClr val="0E3F6E"/>
                </a:solidFill>
                <a:latin typeface="Calibri"/>
              </a:rPr>
              <a:t>Front Door + WAF</a:t>
            </a:r>
          </a:p>
          <a:p>
            <a:pPr algn="ctr"/>
            <a:r>
              <a:rPr sz="1000" b="0" i="0">
                <a:solidFill>
                  <a:srgbClr val="5A6B7D"/>
                </a:solidFill>
                <a:latin typeface="Calibri"/>
              </a:rPr>
              <a:t>TLS termination, OWASP rules,</a:t>
            </a:r>
          </a:p>
          <a:p>
            <a:pPr algn="ctr"/>
            <a:r>
              <a:rPr sz="1000" b="0" i="0">
                <a:solidFill>
                  <a:srgbClr val="5A6B7D"/>
                </a:solidFill>
                <a:latin typeface="Calibri"/>
              </a:rPr>
              <a:t>rate limiting, IP policy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2991" y="3717340"/>
            <a:ext cx="1784908" cy="535472"/>
          </a:xfrm>
          <a:prstGeom prst="roundRect">
            <a:avLst>
              <a:gd name="adj" fmla="val 10000"/>
            </a:avLst>
          </a:prstGeom>
          <a:solidFill>
            <a:srgbClr val="F1EFE8"/>
          </a:solidFill>
          <a:ln w="16510">
            <a:solidFill>
              <a:srgbClr val="B4B2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300" b="1" i="0">
                <a:solidFill>
                  <a:srgbClr val="132040"/>
                </a:solidFill>
                <a:latin typeface="Calibri"/>
              </a:rPr>
              <a:t>Internal application</a:t>
            </a:r>
          </a:p>
          <a:p>
            <a:pPr algn="ctr"/>
            <a:r>
              <a:rPr sz="1000" b="0" i="0">
                <a:solidFill>
                  <a:srgbClr val="5A6B7D"/>
                </a:solidFill>
                <a:latin typeface="Calibri"/>
              </a:rPr>
              <a:t>already inside the VNet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2211" y="2676143"/>
            <a:ext cx="2528620" cy="1487423"/>
          </a:xfrm>
          <a:prstGeom prst="roundRect">
            <a:avLst>
              <a:gd name="adj" fmla="val 10000"/>
            </a:avLst>
          </a:prstGeom>
          <a:solidFill>
            <a:srgbClr val="EEEDFE"/>
          </a:solidFill>
          <a:ln w="20320">
            <a:solidFill>
              <a:srgbClr val="6B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500" b="1" i="0">
                <a:solidFill>
                  <a:srgbClr val="4B3F8A"/>
                </a:solidFill>
                <a:latin typeface="Calibri"/>
              </a:rPr>
              <a:t>Azure API Management</a:t>
            </a:r>
          </a:p>
          <a:p>
            <a:pPr algn="ctr"/>
            <a:r>
              <a:rPr sz="1050" b="0" i="0">
                <a:solidFill>
                  <a:srgbClr val="5A6B7D"/>
                </a:solidFill>
                <a:latin typeface="Calibri"/>
              </a:rPr>
              <a:t>Internal VNet mode — one instance, no public endpoint</a:t>
            </a:r>
          </a:p>
          <a:p>
            <a:pPr algn="ctr"/>
            <a:r>
              <a:rPr sz="1000" b="0" i="0">
                <a:solidFill>
                  <a:srgbClr val="5A6B7D"/>
                </a:solidFill>
                <a:latin typeface="Calibri"/>
              </a:rPr>
              <a:t>External calls: OAuth 2.0 token validated at the gateway</a:t>
            </a:r>
          </a:p>
          <a:p>
            <a:pPr algn="ctr"/>
            <a:r>
              <a:rPr sz="1000" b="0" i="0">
                <a:solidFill>
                  <a:srgbClr val="5A6B7D"/>
                </a:solidFill>
                <a:latin typeface="Calibri"/>
              </a:rPr>
              <a:t>Internal calls: Entra ID client credentials flow validated first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85385" y="2445593"/>
            <a:ext cx="937077" cy="676778"/>
          </a:xfrm>
          <a:prstGeom prst="line">
            <a:avLst/>
          </a:prstGeom>
          <a:ln w="17780">
            <a:solidFill>
              <a:srgbClr val="5A6B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648200" y="2200168"/>
            <a:ext cx="1338681" cy="223113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ctr"/>
            <a:r>
              <a:rPr sz="1050" b="1" i="0">
                <a:solidFill>
                  <a:srgbClr val="B3261E"/>
                </a:solidFill>
                <a:latin typeface="Calibri"/>
              </a:rPr>
              <a:t>Private Link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387900" y="3717340"/>
            <a:ext cx="1234562" cy="267737"/>
          </a:xfrm>
          <a:prstGeom prst="line">
            <a:avLst/>
          </a:prstGeom>
          <a:ln w="17780">
            <a:solidFill>
              <a:srgbClr val="5A6B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201972" y="3776837"/>
            <a:ext cx="1636166" cy="223113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ctr"/>
            <a:r>
              <a:rPr sz="950" b="0" i="0">
                <a:solidFill>
                  <a:srgbClr val="5A6B7D"/>
                </a:solidFill>
                <a:latin typeface="Calibri"/>
              </a:rPr>
              <a:t>direct, no edge hop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50172" y="3010814"/>
            <a:ext cx="2082393" cy="818083"/>
          </a:xfrm>
          <a:prstGeom prst="roundRect">
            <a:avLst>
              <a:gd name="adj" fmla="val 10000"/>
            </a:avLst>
          </a:prstGeom>
          <a:solidFill>
            <a:srgbClr val="E1F5EE"/>
          </a:solidFill>
          <a:ln w="1778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400" b="1" i="0">
                <a:solidFill>
                  <a:srgbClr val="0F6E56"/>
                </a:solidFill>
                <a:latin typeface="Calibri"/>
              </a:rPr>
              <a:t>Backend services</a:t>
            </a:r>
          </a:p>
          <a:p>
            <a:pPr algn="ctr"/>
            <a:r>
              <a:rPr sz="1000" b="0" i="0">
                <a:solidFill>
                  <a:srgbClr val="5A6B7D"/>
                </a:solidFill>
                <a:latin typeface="Calibri"/>
              </a:rPr>
              <a:t>Functions, integration</a:t>
            </a:r>
          </a:p>
          <a:p>
            <a:pPr algn="ctr"/>
            <a:r>
              <a:rPr sz="1000" b="0" i="0">
                <a:solidFill>
                  <a:srgbClr val="5A6B7D"/>
                </a:solidFill>
                <a:latin typeface="Calibri"/>
              </a:rPr>
              <a:t>services, Private Endpoint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180831" y="3419856"/>
            <a:ext cx="639593" cy="0"/>
          </a:xfrm>
          <a:prstGeom prst="line">
            <a:avLst/>
          </a:prstGeom>
          <a:ln w="17780">
            <a:solidFill>
              <a:srgbClr val="5A6B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97484" y="5353507"/>
            <a:ext cx="10635081" cy="118993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9AA7B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t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676506098"/>
            <a:ext cx="5486400" cy="274320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l"/>
            <a:r>
              <a:rPr sz="1200" b="1" i="0">
                <a:solidFill>
                  <a:srgbClr val="5A6B7D"/>
                </a:solidFill>
                <a:latin typeface="Calibri"/>
              </a:rPr>
              <a:t>Shared across every layer, inside the boundary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62272" y="5769985"/>
            <a:ext cx="2826105" cy="669340"/>
          </a:xfrm>
          <a:prstGeom prst="roundRect">
            <a:avLst>
              <a:gd name="adj" fmla="val 10000"/>
            </a:avLst>
          </a:prstGeom>
          <a:solidFill>
            <a:srgbClr val="FAEEDA"/>
          </a:solidFill>
          <a:ln w="16510">
            <a:solidFill>
              <a:srgbClr val="B9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400" b="1" i="0">
                <a:solidFill>
                  <a:srgbClr val="8A6A1F"/>
                </a:solidFill>
                <a:latin typeface="Calibri"/>
              </a:rPr>
              <a:t>Microsoft Entra ID</a:t>
            </a:r>
          </a:p>
          <a:p>
            <a:pPr algn="ctr"/>
            <a:r>
              <a:rPr sz="1050" b="0" i="0">
                <a:solidFill>
                  <a:srgbClr val="8A6A1F"/>
                </a:solidFill>
                <a:latin typeface="Calibri"/>
              </a:rPr>
              <a:t>Identity for every layer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83347" y="5769985"/>
            <a:ext cx="2826105" cy="669340"/>
          </a:xfrm>
          <a:prstGeom prst="roundRect">
            <a:avLst>
              <a:gd name="adj" fmla="val 10000"/>
            </a:avLst>
          </a:prstGeom>
          <a:solidFill>
            <a:srgbClr val="FAEEDA"/>
          </a:solidFill>
          <a:ln w="16510">
            <a:solidFill>
              <a:srgbClr val="B9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400" b="1" i="0">
                <a:solidFill>
                  <a:srgbClr val="8A6A1F"/>
                </a:solidFill>
                <a:latin typeface="Calibri"/>
              </a:rPr>
              <a:t>Azure Key Vault</a:t>
            </a:r>
          </a:p>
          <a:p>
            <a:pPr algn="ctr"/>
            <a:r>
              <a:rPr sz="1050" b="0" i="0">
                <a:solidFill>
                  <a:srgbClr val="8A6A1F"/>
                </a:solidFill>
                <a:latin typeface="Calibri"/>
              </a:rPr>
              <a:t>Secrets for every layer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5875324" y="4163567"/>
            <a:ext cx="1041197" cy="1591544"/>
          </a:xfrm>
          <a:prstGeom prst="line">
            <a:avLst/>
          </a:prstGeom>
          <a:ln w="17780">
            <a:solidFill>
              <a:srgbClr val="C9A46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296400" y="3828897"/>
            <a:ext cx="594969" cy="1926214"/>
          </a:xfrm>
          <a:prstGeom prst="line">
            <a:avLst/>
          </a:prstGeom>
          <a:ln w="17780">
            <a:solidFill>
              <a:srgbClr val="C9A46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37160"/>
            <a:ext cx="12191695" cy="457200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ctr"/>
            <a:r>
              <a:rPr sz="2600" b="1" i="0">
                <a:solidFill>
                  <a:srgbClr val="132040"/>
                </a:solidFill>
                <a:latin typeface="Calibri"/>
              </a:rPr>
              <a:t>Figure 3b — Ingress Flow (High-Level Azure APIM Architecture)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66928"/>
            <a:ext cx="12191695" cy="320040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ctr"/>
            <a:r>
              <a:rPr sz="1300" b="0" i="1">
                <a:solidFill>
                  <a:srgbClr val="5A6B7D"/>
                </a:solidFill>
                <a:latin typeface="Calibri"/>
              </a:rPr>
              <a:t>Section 6.1 Ingress flow: request path from external consumer to backend, with Private Link labelled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4281" y="1506443"/>
            <a:ext cx="2687116" cy="509137"/>
          </a:xfrm>
          <a:prstGeom prst="roundRect">
            <a:avLst>
              <a:gd name="adj" fmla="val 10000"/>
            </a:avLst>
          </a:prstGeom>
          <a:solidFill>
            <a:srgbClr val="F1EFE8"/>
          </a:solidFill>
          <a:ln w="16510">
            <a:solidFill>
              <a:srgbClr val="B4B2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400" b="1" i="0">
                <a:solidFill>
                  <a:srgbClr val="132040"/>
                </a:solidFill>
                <a:latin typeface="Calibri"/>
              </a:rPr>
              <a:t>External consumer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767840" y="2015581"/>
            <a:ext cx="0" cy="502067"/>
          </a:xfrm>
          <a:prstGeom prst="line">
            <a:avLst/>
          </a:prstGeom>
          <a:ln w="17780">
            <a:solidFill>
              <a:srgbClr val="5A6B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979980" y="2086295"/>
            <a:ext cx="1131417" cy="212140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l"/>
            <a:r>
              <a:rPr sz="1050" b="0" i="0">
                <a:solidFill>
                  <a:srgbClr val="5A6B7D"/>
                </a:solidFill>
                <a:latin typeface="Calibri"/>
              </a:rPr>
              <a:t>1. request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281" y="2531790"/>
            <a:ext cx="2687116" cy="1004133"/>
          </a:xfrm>
          <a:prstGeom prst="roundRect">
            <a:avLst>
              <a:gd name="adj" fmla="val 10000"/>
            </a:avLst>
          </a:prstGeom>
          <a:solidFill>
            <a:srgbClr val="E6F1FB"/>
          </a:solidFill>
          <a:ln w="16510">
            <a:solidFill>
              <a:srgbClr val="2E6C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500" b="1" i="0">
                <a:solidFill>
                  <a:srgbClr val="0E3F6E"/>
                </a:solidFill>
                <a:latin typeface="Calibri"/>
              </a:rPr>
              <a:t>Edge security</a:t>
            </a:r>
          </a:p>
          <a:p>
            <a:pPr algn="ctr"/>
            <a:r>
              <a:rPr sz="1100" b="0" i="0">
                <a:solidFill>
                  <a:srgbClr val="0E3F6E"/>
                </a:solidFill>
                <a:latin typeface="Calibri"/>
              </a:rPr>
              <a:t>Azure Front Door + WAF</a:t>
            </a:r>
          </a:p>
          <a:p>
            <a:pPr algn="ctr"/>
            <a:r>
              <a:rPr sz="1000" b="0" i="0">
                <a:solidFill>
                  <a:srgbClr val="5A6B7D"/>
                </a:solidFill>
                <a:latin typeface="Calibri"/>
              </a:rPr>
              <a:t>TLS, DDoS, bot protection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11398" y="3033857"/>
            <a:ext cx="890991" cy="0"/>
          </a:xfrm>
          <a:prstGeom prst="line">
            <a:avLst/>
          </a:prstGeom>
          <a:ln w="17780">
            <a:solidFill>
              <a:srgbClr val="5A6B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182112" y="2602504"/>
            <a:ext cx="848563" cy="169712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ctr"/>
            <a:r>
              <a:rPr sz="1100" b="1" i="0">
                <a:solidFill>
                  <a:srgbClr val="5A6B7D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55841" y="3146999"/>
            <a:ext cx="1272844" cy="183855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ctr"/>
            <a:r>
              <a:rPr sz="1050" b="1" i="0" dirty="0">
                <a:solidFill>
                  <a:srgbClr val="B3261E"/>
                </a:solidFill>
                <a:latin typeface="Calibri"/>
              </a:rPr>
              <a:t>Private Link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9848" y="3302568"/>
            <a:ext cx="1414272" cy="155569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ctr"/>
            <a:r>
              <a:rPr sz="900" b="0" i="0" dirty="0">
                <a:solidFill>
                  <a:srgbClr val="B3261E"/>
                </a:solidFill>
                <a:latin typeface="Calibri"/>
              </a:rPr>
              <a:t>(Private Endpoint)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30675" y="2531790"/>
            <a:ext cx="2687116" cy="1004133"/>
          </a:xfrm>
          <a:prstGeom prst="roundRect">
            <a:avLst>
              <a:gd name="adj" fmla="val 10000"/>
            </a:avLst>
          </a:prstGeom>
          <a:solidFill>
            <a:srgbClr val="EEEDFE"/>
          </a:solidFill>
          <a:ln w="16510">
            <a:solidFill>
              <a:srgbClr val="6B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500" b="1" i="0">
                <a:solidFill>
                  <a:srgbClr val="4B3F8A"/>
                </a:solidFill>
                <a:latin typeface="Calibri"/>
              </a:rPr>
              <a:t>Azure API Management</a:t>
            </a:r>
          </a:p>
          <a:p>
            <a:pPr algn="ctr"/>
            <a:r>
              <a:rPr sz="1100" b="0" i="0">
                <a:solidFill>
                  <a:srgbClr val="4B3F8A"/>
                </a:solidFill>
                <a:latin typeface="Calibri"/>
              </a:rPr>
              <a:t>Internal gateway</a:t>
            </a:r>
          </a:p>
          <a:p>
            <a:pPr algn="ctr"/>
            <a:r>
              <a:rPr sz="1000" b="0" i="0">
                <a:solidFill>
                  <a:srgbClr val="5A6B7D"/>
                </a:solidFill>
                <a:latin typeface="Calibri"/>
              </a:rPr>
              <a:t>Auth, policy, routing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17792" y="3033857"/>
            <a:ext cx="395996" cy="0"/>
          </a:xfrm>
          <a:prstGeom prst="line">
            <a:avLst/>
          </a:prstGeom>
          <a:ln w="17780">
            <a:solidFill>
              <a:srgbClr val="5A6B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788505" y="2602504"/>
            <a:ext cx="707136" cy="169712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ctr"/>
            <a:r>
              <a:rPr sz="1100" b="1" i="0">
                <a:solidFill>
                  <a:srgbClr val="5A6B7D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42073" y="2531790"/>
            <a:ext cx="2687116" cy="1004133"/>
          </a:xfrm>
          <a:prstGeom prst="roundRect">
            <a:avLst>
              <a:gd name="adj" fmla="val 10000"/>
            </a:avLst>
          </a:prstGeom>
          <a:solidFill>
            <a:srgbClr val="E1F5EE"/>
          </a:solidFill>
          <a:ln w="1651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500" b="1" i="0">
                <a:solidFill>
                  <a:srgbClr val="0F6E56"/>
                </a:solidFill>
                <a:latin typeface="Calibri"/>
              </a:rPr>
              <a:t>Backend services</a:t>
            </a:r>
          </a:p>
          <a:p>
            <a:pPr algn="ctr"/>
            <a:r>
              <a:rPr sz="1050" b="0" i="0">
                <a:solidFill>
                  <a:srgbClr val="5A6B7D"/>
                </a:solidFill>
                <a:latin typeface="Calibri"/>
              </a:rPr>
              <a:t>Functions and</a:t>
            </a:r>
          </a:p>
          <a:p>
            <a:pPr algn="ctr"/>
            <a:r>
              <a:rPr sz="1050" b="0" i="0">
                <a:solidFill>
                  <a:srgbClr val="5A6B7D"/>
                </a:solidFill>
                <a:latin typeface="Calibri"/>
              </a:rPr>
              <a:t>integration services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4281" y="3967276"/>
            <a:ext cx="9404908" cy="12728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9AA7B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7136" y="4235988"/>
            <a:ext cx="2828544" cy="212140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l"/>
            <a:r>
              <a:rPr sz="1200" b="1" i="0">
                <a:solidFill>
                  <a:srgbClr val="5A6B7D"/>
                </a:solidFill>
                <a:latin typeface="Calibri"/>
              </a:rPr>
              <a:t>Shared across every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0277" y="4412772"/>
            <a:ext cx="2969971" cy="671779"/>
          </a:xfrm>
          <a:prstGeom prst="roundRect">
            <a:avLst>
              <a:gd name="adj" fmla="val 10000"/>
            </a:avLst>
          </a:prstGeom>
          <a:solidFill>
            <a:srgbClr val="FAEEDA"/>
          </a:solidFill>
          <a:ln w="16510">
            <a:solidFill>
              <a:srgbClr val="B9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400" b="1" i="0">
                <a:solidFill>
                  <a:srgbClr val="8A6A1F"/>
                </a:solidFill>
                <a:latin typeface="Calibri"/>
              </a:rPr>
              <a:t>Microsoft Entra ID</a:t>
            </a:r>
          </a:p>
          <a:p>
            <a:pPr algn="ctr"/>
            <a:r>
              <a:rPr sz="1050" b="0" i="0">
                <a:solidFill>
                  <a:srgbClr val="8A6A1F"/>
                </a:solidFill>
                <a:latin typeface="Calibri"/>
              </a:rPr>
              <a:t>Identity for every layer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4633" y="4412772"/>
            <a:ext cx="2969971" cy="671779"/>
          </a:xfrm>
          <a:prstGeom prst="roundRect">
            <a:avLst>
              <a:gd name="adj" fmla="val 10000"/>
            </a:avLst>
          </a:prstGeom>
          <a:solidFill>
            <a:srgbClr val="FAEEDA"/>
          </a:solidFill>
          <a:ln w="16510">
            <a:solidFill>
              <a:srgbClr val="B9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400" b="1" i="0">
                <a:solidFill>
                  <a:srgbClr val="8A6A1F"/>
                </a:solidFill>
                <a:latin typeface="Calibri"/>
              </a:rPr>
              <a:t>Azure Key Vault</a:t>
            </a:r>
          </a:p>
          <a:p>
            <a:pPr algn="ctr"/>
            <a:r>
              <a:rPr sz="1050" b="0" i="0">
                <a:solidFill>
                  <a:srgbClr val="8A6A1F"/>
                </a:solidFill>
                <a:latin typeface="Calibri"/>
              </a:rPr>
              <a:t>Secrets for every layer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37160"/>
            <a:ext cx="12191695" cy="457200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ctr"/>
            <a:r>
              <a:rPr sz="2600" b="1" i="0">
                <a:solidFill>
                  <a:srgbClr val="132040"/>
                </a:solidFill>
                <a:latin typeface="Calibri"/>
              </a:rPr>
              <a:t>Figure 10 — Which Flows Use the Palo Alto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66928"/>
            <a:ext cx="12191695" cy="320040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ctr"/>
            <a:r>
              <a:rPr sz="1300" b="0" i="1">
                <a:solidFill>
                  <a:srgbClr val="5A6B7D"/>
                </a:solidFill>
                <a:latin typeface="Calibri"/>
              </a:rPr>
              <a:t>Section 6.3 Topology and the guiding principle: outbound-only inspection; UDR terminology removed for Premium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21487999"/>
            <a:ext cx="10972800" cy="320040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l"/>
            <a:r>
              <a:rPr sz="1300" b="1" i="0">
                <a:solidFill>
                  <a:srgbClr val="0F6E56"/>
                </a:solidFill>
                <a:latin typeface="Calibri"/>
              </a:rPr>
              <a:t>Inbound (no firewall)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0428" y="1625803"/>
            <a:ext cx="1382572" cy="460857"/>
          </a:xfrm>
          <a:prstGeom prst="roundRect">
            <a:avLst>
              <a:gd name="adj" fmla="val 10000"/>
            </a:avLst>
          </a:prstGeom>
          <a:solidFill>
            <a:srgbClr val="F1EFE8"/>
          </a:solidFill>
          <a:ln w="15240">
            <a:solidFill>
              <a:srgbClr val="B4B2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200" b="1" i="0">
                <a:solidFill>
                  <a:srgbClr val="132040"/>
                </a:solidFill>
                <a:latin typeface="Calibri"/>
              </a:rPr>
              <a:t>External /</a:t>
            </a:r>
          </a:p>
          <a:p>
            <a:pPr algn="ctr"/>
            <a:r>
              <a:rPr sz="1200" b="1" i="0">
                <a:solidFill>
                  <a:srgbClr val="132040"/>
                </a:solidFill>
                <a:latin typeface="Calibri"/>
              </a:rPr>
              <a:t>partner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13001" y="1856231"/>
            <a:ext cx="230429" cy="0"/>
          </a:xfrm>
          <a:prstGeom prst="line">
            <a:avLst/>
          </a:prstGeom>
          <a:ln w="17780">
            <a:solidFill>
              <a:srgbClr val="0F6E5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624523" y="1717974"/>
            <a:ext cx="691286" cy="115214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ctr"/>
            <a:r>
              <a:rPr sz="950" b="0" i="0">
                <a:solidFill>
                  <a:srgbClr val="0F6E56"/>
                </a:solidFill>
                <a:latin typeface="Calibri"/>
              </a:rPr>
              <a:t>HTTPS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6252" y="1545153"/>
            <a:ext cx="1613001" cy="576072"/>
          </a:xfrm>
          <a:prstGeom prst="roundRect">
            <a:avLst>
              <a:gd name="adj" fmla="val 10000"/>
            </a:avLst>
          </a:prstGeom>
          <a:solidFill>
            <a:srgbClr val="E6F1FB"/>
          </a:solidFill>
          <a:ln w="16510">
            <a:solidFill>
              <a:srgbClr val="2E6C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300" b="1" i="0">
                <a:solidFill>
                  <a:srgbClr val="0E3F6E"/>
                </a:solidFill>
                <a:latin typeface="Calibri"/>
              </a:rPr>
              <a:t>Front Door + WAF</a:t>
            </a:r>
          </a:p>
          <a:p>
            <a:pPr algn="ctr"/>
            <a:r>
              <a:rPr sz="1000" b="0" i="0">
                <a:solidFill>
                  <a:srgbClr val="5A6B7D"/>
                </a:solidFill>
                <a:latin typeface="Calibri"/>
              </a:rPr>
              <a:t>edge inspection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29253" y="1873514"/>
            <a:ext cx="195865" cy="0"/>
          </a:xfrm>
          <a:prstGeom prst="line">
            <a:avLst/>
          </a:prstGeom>
          <a:ln w="17780">
            <a:solidFill>
              <a:srgbClr val="0F6E5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63817" y="1729496"/>
            <a:ext cx="633679" cy="103692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ctr"/>
            <a:r>
              <a:rPr sz="900" b="0" i="0">
                <a:solidFill>
                  <a:srgbClr val="0F6E56"/>
                </a:solidFill>
                <a:latin typeface="Calibri"/>
              </a:rPr>
              <a:t>Private Link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8147" y="1545153"/>
            <a:ext cx="1958644" cy="576072"/>
          </a:xfrm>
          <a:prstGeom prst="roundRect">
            <a:avLst>
              <a:gd name="adj" fmla="val 10000"/>
            </a:avLst>
          </a:prstGeom>
          <a:solidFill>
            <a:srgbClr val="EEEDFE"/>
          </a:solidFill>
          <a:ln w="16510">
            <a:solidFill>
              <a:srgbClr val="6B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300" b="1" i="0">
                <a:solidFill>
                  <a:srgbClr val="4B3F8A"/>
                </a:solidFill>
                <a:latin typeface="Calibri"/>
              </a:rPr>
              <a:t>APIM internal-mode</a:t>
            </a:r>
          </a:p>
          <a:p>
            <a:pPr algn="ctr"/>
            <a:r>
              <a:rPr sz="1000" b="0" i="0">
                <a:solidFill>
                  <a:srgbClr val="5A6B7D"/>
                </a:solidFill>
                <a:latin typeface="Calibri"/>
              </a:rPr>
              <a:t>gateway (spoke)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336792" y="1873514"/>
            <a:ext cx="195864" cy="0"/>
          </a:xfrm>
          <a:prstGeom prst="line">
            <a:avLst/>
          </a:prstGeom>
          <a:ln w="17780">
            <a:solidFill>
              <a:srgbClr val="0F6E5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624828" y="1545153"/>
            <a:ext cx="1180947" cy="576072"/>
          </a:xfrm>
          <a:prstGeom prst="roundRect">
            <a:avLst>
              <a:gd name="adj" fmla="val 10000"/>
            </a:avLst>
          </a:prstGeom>
          <a:solidFill>
            <a:srgbClr val="E6F1FB"/>
          </a:solidFill>
          <a:ln w="16510">
            <a:solidFill>
              <a:srgbClr val="2E6C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300" b="1" i="0">
                <a:solidFill>
                  <a:srgbClr val="0E3F6E"/>
                </a:solidFill>
                <a:latin typeface="Calibri"/>
              </a:rPr>
              <a:t>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204" y="1637324"/>
            <a:ext cx="2649931" cy="345643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l"/>
            <a:r>
              <a:rPr sz="1050" b="0" i="0">
                <a:solidFill>
                  <a:srgbClr val="5A6B7D"/>
                </a:solidFill>
                <a:latin typeface="Calibri"/>
              </a:rPr>
              <a:t>Internal / on-prem callers reach APIM directly over</a:t>
            </a:r>
          </a:p>
          <a:p>
            <a:pPr algn="l"/>
            <a:r>
              <a:rPr sz="1050" b="0" i="0">
                <a:solidFill>
                  <a:srgbClr val="5A6B7D"/>
                </a:solidFill>
                <a:latin typeface="Calibri"/>
              </a:rPr>
              <a:t>the private network, also without the firewall.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77519999"/>
            <a:ext cx="10972800" cy="320040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l"/>
            <a:r>
              <a:rPr sz="1300" b="1" i="0">
                <a:solidFill>
                  <a:srgbClr val="B98A3E"/>
                </a:solidFill>
                <a:latin typeface="Calibri"/>
              </a:rPr>
              <a:t>Outbound to external third party (uses the firewall)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8147" y="3238804"/>
            <a:ext cx="1958644" cy="460857"/>
          </a:xfrm>
          <a:prstGeom prst="roundRect">
            <a:avLst>
              <a:gd name="adj" fmla="val 10000"/>
            </a:avLst>
          </a:prstGeom>
          <a:solidFill>
            <a:srgbClr val="EEEDFE"/>
          </a:solidFill>
          <a:ln w="16510">
            <a:solidFill>
              <a:srgbClr val="6B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300" b="1" i="0">
                <a:solidFill>
                  <a:srgbClr val="4B3F8A"/>
                </a:solidFill>
                <a:latin typeface="Calibri"/>
              </a:rPr>
              <a:t>APIM / backend</a:t>
            </a:r>
          </a:p>
          <a:p>
            <a:pPr algn="ctr"/>
            <a:r>
              <a:rPr sz="1000" b="0" i="0">
                <a:solidFill>
                  <a:srgbClr val="5A6B7D"/>
                </a:solidFill>
                <a:latin typeface="Calibri"/>
              </a:rPr>
              <a:t>outbound call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36792" y="3469233"/>
            <a:ext cx="668243" cy="0"/>
          </a:xfrm>
          <a:prstGeom prst="line">
            <a:avLst/>
          </a:prstGeom>
          <a:ln w="17780">
            <a:solidFill>
              <a:srgbClr val="B98A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28963" y="3319454"/>
            <a:ext cx="806500" cy="115214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ctr"/>
            <a:r>
              <a:rPr sz="950" b="1" i="0">
                <a:solidFill>
                  <a:srgbClr val="B98A3E"/>
                </a:solidFill>
                <a:latin typeface="Calibri"/>
              </a:rPr>
              <a:t>egress traffic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28078" y="3238804"/>
            <a:ext cx="1411376" cy="460857"/>
          </a:xfrm>
          <a:prstGeom prst="roundRect">
            <a:avLst>
              <a:gd name="adj" fmla="val 10000"/>
            </a:avLst>
          </a:prstGeom>
          <a:solidFill>
            <a:srgbClr val="FAEEDA"/>
          </a:solidFill>
          <a:ln w="16510">
            <a:solidFill>
              <a:srgbClr val="B9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300" b="1" i="0">
                <a:solidFill>
                  <a:srgbClr val="8A6A1F"/>
                </a:solidFill>
                <a:latin typeface="Calibri"/>
              </a:rPr>
              <a:t>Palo Alto</a:t>
            </a:r>
          </a:p>
          <a:p>
            <a:pPr algn="ctr"/>
            <a:r>
              <a:rPr sz="950" b="0" i="0">
                <a:solidFill>
                  <a:srgbClr val="5A6B7D"/>
                </a:solidFill>
                <a:latin typeface="Calibri"/>
              </a:rPr>
              <a:t>NVA or Cloud NGFW, egress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39454" y="3469233"/>
            <a:ext cx="380208" cy="0"/>
          </a:xfrm>
          <a:prstGeom prst="line">
            <a:avLst/>
          </a:prstGeom>
          <a:ln w="17780">
            <a:solidFill>
              <a:srgbClr val="B98A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97062" y="3319454"/>
            <a:ext cx="633679" cy="115214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ctr"/>
            <a:r>
              <a:rPr sz="950" b="0" i="0">
                <a:solidFill>
                  <a:srgbClr val="B98A3E"/>
                </a:solidFill>
                <a:latin typeface="Calibri"/>
              </a:rPr>
              <a:t>inspected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42705" y="3238804"/>
            <a:ext cx="1411376" cy="460857"/>
          </a:xfrm>
          <a:prstGeom prst="roundRect">
            <a:avLst>
              <a:gd name="adj" fmla="val 10000"/>
            </a:avLst>
          </a:prstGeom>
          <a:solidFill>
            <a:srgbClr val="EDECEA"/>
          </a:solidFill>
          <a:ln w="15240">
            <a:solidFill>
              <a:srgbClr val="B4B2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200" b="1" i="0">
                <a:solidFill>
                  <a:srgbClr val="132040"/>
                </a:solidFill>
                <a:latin typeface="Calibri"/>
              </a:rPr>
              <a:t>External third party</a:t>
            </a:r>
          </a:p>
          <a:p>
            <a:pPr algn="ctr"/>
            <a:r>
              <a:rPr sz="950" b="0" i="0">
                <a:solidFill>
                  <a:srgbClr val="5A6B7D"/>
                </a:solidFill>
                <a:latin typeface="Calibri"/>
              </a:rPr>
              <a:t>SaaS API outside Azure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608576" y="3699662"/>
            <a:ext cx="2649931" cy="426293"/>
          </a:xfrm>
          <a:prstGeom prst="line">
            <a:avLst/>
          </a:prstGeom>
          <a:ln w="17780">
            <a:solidFill>
              <a:srgbClr val="6B5FA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028078" y="3930091"/>
            <a:ext cx="1411376" cy="391728"/>
          </a:xfrm>
          <a:prstGeom prst="roundRect">
            <a:avLst>
              <a:gd name="adj" fmla="val 10000"/>
            </a:avLst>
          </a:prstGeom>
          <a:solidFill>
            <a:srgbClr val="EEEDFE"/>
          </a:solidFill>
          <a:ln w="15240">
            <a:solidFill>
              <a:srgbClr val="6B5F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0000" tIns="20000" rIns="40000" bIns="20000" rtlCol="0" anchor="ctr"/>
          <a:lstStyle/>
          <a:p>
            <a:pPr algn="ctr"/>
            <a:r>
              <a:rPr sz="1150" b="1" i="0">
                <a:solidFill>
                  <a:srgbClr val="4B3F8A"/>
                </a:solidFill>
                <a:latin typeface="Calibri"/>
              </a:rPr>
              <a:t>Azure control plane</a:t>
            </a:r>
          </a:p>
          <a:p>
            <a:pPr algn="ctr"/>
            <a:r>
              <a:rPr sz="900" b="0" i="0">
                <a:solidFill>
                  <a:srgbClr val="5A6B7D"/>
                </a:solidFill>
                <a:latin typeface="Calibri"/>
              </a:rPr>
              <a:t>service tag, bypasses firewall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69883" y="4010741"/>
            <a:ext cx="2649931" cy="288036"/>
          </a:xfrm>
          <a:prstGeom prst="rect">
            <a:avLst/>
          </a:prstGeom>
          <a:noFill/>
        </p:spPr>
        <p:txBody>
          <a:bodyPr wrap="square" lIns="40000" tIns="20000" rIns="40000" bIns="20000" anchor="ctr">
            <a:spAutoFit/>
          </a:bodyPr>
          <a:lstStyle/>
          <a:p>
            <a:pPr algn="l"/>
            <a:r>
              <a:rPr sz="1050" b="0" i="0">
                <a:solidFill>
                  <a:srgbClr val="5A6B7D"/>
                </a:solidFill>
                <a:latin typeface="Calibri"/>
              </a:rPr>
              <a:t>APIM to private/internal backends stays on the</a:t>
            </a:r>
          </a:p>
          <a:p>
            <a:pPr algn="l"/>
            <a:r>
              <a:rPr sz="1050" b="0" i="0">
                <a:solidFill>
                  <a:srgbClr val="5A6B7D"/>
                </a:solidFill>
                <a:latin typeface="Calibri"/>
              </a:rPr>
              <a:t>private network, also bypassing the firewall.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91695" cy="457200"/>
          </a:xfrm>
          <a:prstGeom prst="rect">
            <a:avLst/>
          </a:prstGeom>
          <a:noFill/>
        </p:spPr>
        <p:txBody>
          <a:bodyPr wrap="square" lIns="40000" rIns="40000" tIns="20000" bIns="20000" anchor="ctr">
            <a:spAutoFit/>
          </a:bodyPr>
          <a:lstStyle/>
          <a:p>
            <a:pPr algn="ctr"/>
            <a:r>
              <a:rPr sz="2600" b="1" i="0">
                <a:solidFill>
                  <a:srgbClr val="132040"/>
                </a:solidFill>
                <a:latin typeface="Calibri"/>
              </a:rPr>
              <a:t>Implementation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66928"/>
            <a:ext cx="12191695" cy="320040"/>
          </a:xfrm>
          <a:prstGeom prst="rect">
            <a:avLst/>
          </a:prstGeom>
          <a:noFill/>
        </p:spPr>
        <p:txBody>
          <a:bodyPr wrap="square" lIns="40000" rIns="40000" tIns="20000" bIns="20000" anchor="ctr">
            <a:spAutoFit/>
          </a:bodyPr>
          <a:lstStyle/>
          <a:p>
            <a:pPr algn="ctr"/>
            <a:r>
              <a:rPr sz="1300" b="0" i="1">
                <a:solidFill>
                  <a:srgbClr val="5A6B7D"/>
                </a:solidFill>
                <a:latin typeface="Calibri"/>
              </a:rPr>
              <a:t>Section 17.1: four stages from foundation to production go-live, each building on the last</a:t>
            </a:r>
          </a:p>
        </p:txBody>
      </p:sp>
      <p:grpSp>
        <p:nvGrpSpPr>
          <p:cNvPr id="4" name="Stage 1 - Foundation" descr="Stage 1, Foundation: Stand up the platform. Landing-zone networking; APIM instance; Azure Front Door; Key Vault; Identity integration (Entra ID). Result: Platform provisioned as code."/>
          <p:cNvGrpSpPr/>
          <p:nvPr/>
        </p:nvGrpSpPr>
        <p:grpSpPr>
          <a:xfrm>
            <a:off x="386699" y="1160556"/>
            <a:ext cx="2280513" cy="4372295"/>
            <a:chOff x="386699" y="1160556"/>
            <a:chExt cx="2280513" cy="4372295"/>
          </a:xfrm>
        </p:grpSpPr>
        <p:sp>
          <p:nvSpPr>
            <p:cNvPr id="5" name="Card"/>
            <p:cNvSpPr/>
            <p:nvPr/>
          </p:nvSpPr>
          <p:spPr>
            <a:xfrm>
              <a:off x="386699" y="1160556"/>
              <a:ext cx="2280513" cy="4372295"/>
            </a:xfrm>
            <a:prstGeom prst="roundRect">
              <a:avLst>
                <a:gd name="adj" fmla="val 6206"/>
              </a:avLst>
            </a:prstGeom>
            <a:solidFill>
              <a:srgbClr val="FFFFFF"/>
            </a:solidFill>
            <a:ln w="25400">
              <a:solidFill>
                <a:srgbClr val="3574C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Body"/>
            <p:cNvSpPr/>
            <p:nvPr/>
          </p:nvSpPr>
          <p:spPr>
            <a:xfrm>
              <a:off x="398495" y="1978395"/>
              <a:ext cx="2256922" cy="2610794"/>
            </a:xfrm>
            <a:prstGeom prst="rect">
              <a:avLst/>
            </a:prstGeom>
            <a:solidFill>
              <a:srgbClr val="EAF2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Divider"/>
            <p:cNvCxnSpPr/>
            <p:nvPr/>
          </p:nvCxnSpPr>
          <p:spPr>
            <a:xfrm>
              <a:off x="398495" y="4589190"/>
              <a:ext cx="2256922" cy="0"/>
            </a:xfrm>
            <a:prstGeom prst="line">
              <a:avLst/>
            </a:prstGeom>
            <a:ln w="19050">
              <a:solidFill>
                <a:srgbClr val="3574C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Header"/>
            <p:cNvSpPr/>
            <p:nvPr/>
          </p:nvSpPr>
          <p:spPr>
            <a:xfrm>
              <a:off x="386699" y="1160556"/>
              <a:ext cx="2280513" cy="817839"/>
            </a:xfrm>
            <a:prstGeom prst="round2SameRect">
              <a:avLst>
                <a:gd name="adj1" fmla="val 17307"/>
                <a:gd name="adj2" fmla="val 0"/>
              </a:avLst>
            </a:prstGeom>
            <a:solidFill>
              <a:srgbClr val="3574C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Badge"/>
            <p:cNvSpPr/>
            <p:nvPr/>
          </p:nvSpPr>
          <p:spPr>
            <a:xfrm>
              <a:off x="543976" y="1349288"/>
              <a:ext cx="440375" cy="44037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900" b="1" i="0">
                  <a:solidFill>
                    <a:srgbClr val="3574C8"/>
                  </a:solidFill>
                  <a:latin typeface="Calibri"/>
                </a:rPr>
                <a:t>1</a:t>
              </a:r>
            </a:p>
          </p:txBody>
        </p:sp>
        <p:sp>
          <p:nvSpPr>
            <p:cNvPr id="10" name="Stage title"/>
            <p:cNvSpPr txBox="1"/>
            <p:nvPr/>
          </p:nvSpPr>
          <p:spPr>
            <a:xfrm>
              <a:off x="1094445" y="1160556"/>
              <a:ext cx="1494129" cy="81783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>
                  <a:solidFill>
                    <a:srgbClr val="FFFFFF"/>
                  </a:solidFill>
                  <a:latin typeface="Calibri"/>
                </a:rPr>
                <a:t>Foundation</a:t>
              </a:r>
            </a:p>
          </p:txBody>
        </p:sp>
        <p:sp>
          <p:nvSpPr>
            <p:cNvPr id="11" name="Stage content"/>
            <p:cNvSpPr txBox="1"/>
            <p:nvPr/>
          </p:nvSpPr>
          <p:spPr>
            <a:xfrm>
              <a:off x="543976" y="2072761"/>
              <a:ext cx="1965960" cy="246924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Aft>
                  <a:spcPts val="500"/>
                </a:spcAft>
              </a:pPr>
              <a:r>
                <a:rPr sz="1200" b="0" i="1">
                  <a:solidFill>
                    <a:srgbClr val="1F509A"/>
                  </a:solidFill>
                  <a:latin typeface="Calibri"/>
                </a:rPr>
                <a:t>Stand up the platform</a:t>
              </a:r>
            </a:p>
            <a:p>
              <a:pPr algn="l" marL="155448" indent="-155448">
                <a:spcAft>
                  <a:spcPts val="300"/>
                </a:spcAft>
                <a:buClr>
                  <a:srgbClr val="3574C8"/>
                </a:buClr>
                <a:buFont typeface="Arial"/>
                <a:buChar char="•"/>
              </a:pPr>
              <a:r>
                <a:rPr sz="1300" b="0" i="0">
                  <a:solidFill>
                    <a:srgbClr val="0B2A5B"/>
                  </a:solidFill>
                  <a:latin typeface="Calibri"/>
                </a:rPr>
                <a:t>Landing-zone networking</a:t>
              </a:r>
            </a:p>
            <a:p>
              <a:pPr algn="l" marL="155448" indent="-155448">
                <a:spcAft>
                  <a:spcPts val="300"/>
                </a:spcAft>
                <a:buClr>
                  <a:srgbClr val="3574C8"/>
                </a:buClr>
                <a:buFont typeface="Arial"/>
                <a:buChar char="•"/>
              </a:pPr>
              <a:r>
                <a:rPr sz="1300" b="0" i="0">
                  <a:solidFill>
                    <a:srgbClr val="0B2A5B"/>
                  </a:solidFill>
                  <a:latin typeface="Calibri"/>
                </a:rPr>
                <a:t>APIM instance</a:t>
              </a:r>
            </a:p>
            <a:p>
              <a:pPr algn="l" marL="155448" indent="-155448">
                <a:spcAft>
                  <a:spcPts val="300"/>
                </a:spcAft>
                <a:buClr>
                  <a:srgbClr val="3574C8"/>
                </a:buClr>
                <a:buFont typeface="Arial"/>
                <a:buChar char="•"/>
              </a:pPr>
              <a:r>
                <a:rPr sz="1300" b="0" i="0">
                  <a:solidFill>
                    <a:srgbClr val="0B2A5B"/>
                  </a:solidFill>
                  <a:latin typeface="Calibri"/>
                </a:rPr>
                <a:t>Azure Front Door</a:t>
              </a:r>
            </a:p>
            <a:p>
              <a:pPr algn="l" marL="155448" indent="-155448">
                <a:spcAft>
                  <a:spcPts val="300"/>
                </a:spcAft>
                <a:buClr>
                  <a:srgbClr val="3574C8"/>
                </a:buClr>
                <a:buFont typeface="Arial"/>
                <a:buChar char="•"/>
              </a:pPr>
              <a:r>
                <a:rPr sz="1300" b="0" i="0">
                  <a:solidFill>
                    <a:srgbClr val="0B2A5B"/>
                  </a:solidFill>
                  <a:latin typeface="Calibri"/>
                </a:rPr>
                <a:t>Key Vault</a:t>
              </a:r>
            </a:p>
            <a:p>
              <a:pPr algn="l" marL="155448" indent="-155448">
                <a:spcAft>
                  <a:spcPts val="300"/>
                </a:spcAft>
                <a:buClr>
                  <a:srgbClr val="3574C8"/>
                </a:buClr>
                <a:buFont typeface="Arial"/>
                <a:buChar char="•"/>
              </a:pPr>
              <a:r>
                <a:rPr sz="1300" b="0" i="0">
                  <a:solidFill>
                    <a:srgbClr val="0B2A5B"/>
                  </a:solidFill>
                  <a:latin typeface="Calibri"/>
                </a:rPr>
                <a:t>Identity integration (Entra ID)</a:t>
              </a:r>
            </a:p>
          </p:txBody>
        </p:sp>
        <p:sp>
          <p:nvSpPr>
            <p:cNvPr id="12" name="Check badge"/>
            <p:cNvSpPr/>
            <p:nvPr/>
          </p:nvSpPr>
          <p:spPr>
            <a:xfrm>
              <a:off x="543976" y="4707148"/>
              <a:ext cx="188732" cy="188732"/>
            </a:xfrm>
            <a:prstGeom prst="ellipse">
              <a:avLst/>
            </a:prstGeom>
            <a:solidFill>
              <a:srgbClr val="3574C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Check mark"/>
            <p:cNvSpPr/>
            <p:nvPr/>
          </p:nvSpPr>
          <p:spPr>
            <a:xfrm>
              <a:off x="587227" y="4758263"/>
              <a:ext cx="106162" cy="82570"/>
            </a:xfrm>
            <a:custGeom>
              <a:avLst/>
              <a:gdLst/>
              <a:ahLst/>
              <a:cxnLst/>
              <a:rect l="l" t="t" r="r" b="b"/>
              <a:pathLst>
                <a:path w="106162" h="82570">
                  <a:moveTo>
                    <a:pt x="0" y="47183"/>
                  </a:moveTo>
                  <a:lnTo>
                    <a:pt x="39319" y="82570"/>
                  </a:lnTo>
                  <a:lnTo>
                    <a:pt x="106162" y="0"/>
                  </a:lnTo>
                </a:path>
              </a:pathLst>
            </a:custGeom>
            <a:noFill/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sult label"/>
            <p:cNvSpPr txBox="1"/>
            <p:nvPr/>
          </p:nvSpPr>
          <p:spPr>
            <a:xfrm>
              <a:off x="811347" y="4707148"/>
              <a:ext cx="1179576" cy="1887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900" b="1" i="0">
                  <a:solidFill>
                    <a:srgbClr val="3574C8"/>
                  </a:solidFill>
                  <a:latin typeface="Calibri"/>
                </a:rPr>
                <a:t>RESULT</a:t>
              </a:r>
            </a:p>
          </p:txBody>
        </p:sp>
        <p:sp>
          <p:nvSpPr>
            <p:cNvPr id="15" name="Result text"/>
            <p:cNvSpPr txBox="1"/>
            <p:nvPr/>
          </p:nvSpPr>
          <p:spPr>
            <a:xfrm>
              <a:off x="543976" y="4982382"/>
              <a:ext cx="1965960" cy="48755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/>
              <a:r>
                <a:rPr sz="1300" b="1" i="0">
                  <a:solidFill>
                    <a:srgbClr val="0B2A5B"/>
                  </a:solidFill>
                  <a:latin typeface="Calibri"/>
                </a:rPr>
                <a:t>Platform provisioned</a:t>
              </a:r>
            </a:p>
            <a:p>
              <a:pPr algn="l"/>
              <a:r>
                <a:rPr sz="1300" b="1" i="0">
                  <a:solidFill>
                    <a:srgbClr val="0B2A5B"/>
                  </a:solidFill>
                  <a:latin typeface="Calibri"/>
                </a:rPr>
                <a:t>as code</a:t>
              </a:r>
            </a:p>
          </p:txBody>
        </p:sp>
      </p:grpSp>
      <p:sp>
        <p:nvSpPr>
          <p:cNvPr id="16" name="Arrow 1"/>
          <p:cNvSpPr/>
          <p:nvPr/>
        </p:nvSpPr>
        <p:spPr>
          <a:xfrm>
            <a:off x="2722260" y="1459382"/>
            <a:ext cx="136516" cy="220187"/>
          </a:xfrm>
          <a:custGeom>
            <a:avLst/>
            <a:gdLst/>
            <a:ahLst/>
            <a:cxnLst/>
            <a:rect l="l" t="t" r="r" b="b"/>
            <a:pathLst>
              <a:path w="136516" h="220187">
                <a:moveTo>
                  <a:pt x="0" y="0"/>
                </a:moveTo>
                <a:lnTo>
                  <a:pt x="136516" y="110094"/>
                </a:lnTo>
                <a:lnTo>
                  <a:pt x="0" y="220187"/>
                </a:lnTo>
                <a:close/>
              </a:path>
            </a:pathLst>
          </a:custGeom>
          <a:solidFill>
            <a:srgbClr val="2A6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7" name="Stage 2 - Platform configuration" descr="Stage 2, Platform configuration: Set up governance and delivery. Global and product policies; Developer portal; APIOps pipeline; Repository structure. Result: Policies, portal and pipeline in place."/>
          <p:cNvGrpSpPr/>
          <p:nvPr/>
        </p:nvGrpSpPr>
        <p:grpSpPr>
          <a:xfrm>
            <a:off x="2887400" y="1160556"/>
            <a:ext cx="2280513" cy="4372295"/>
            <a:chOff x="2887400" y="1160556"/>
            <a:chExt cx="2280513" cy="4372295"/>
          </a:xfrm>
        </p:grpSpPr>
        <p:sp>
          <p:nvSpPr>
            <p:cNvPr id="18" name="Card"/>
            <p:cNvSpPr/>
            <p:nvPr/>
          </p:nvSpPr>
          <p:spPr>
            <a:xfrm>
              <a:off x="2887400" y="1160556"/>
              <a:ext cx="2280513" cy="4372295"/>
            </a:xfrm>
            <a:prstGeom prst="roundRect">
              <a:avLst>
                <a:gd name="adj" fmla="val 6206"/>
              </a:avLst>
            </a:prstGeom>
            <a:solidFill>
              <a:srgbClr val="FFFFFF"/>
            </a:solidFill>
            <a:ln w="25400">
              <a:solidFill>
                <a:srgbClr val="2A62B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Body"/>
            <p:cNvSpPr/>
            <p:nvPr/>
          </p:nvSpPr>
          <p:spPr>
            <a:xfrm>
              <a:off x="2899196" y="1978395"/>
              <a:ext cx="2256922" cy="2610794"/>
            </a:xfrm>
            <a:prstGeom prst="rect">
              <a:avLst/>
            </a:prstGeom>
            <a:solidFill>
              <a:srgbClr val="EAF2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Divider"/>
            <p:cNvCxnSpPr/>
            <p:nvPr/>
          </p:nvCxnSpPr>
          <p:spPr>
            <a:xfrm>
              <a:off x="2899196" y="4589190"/>
              <a:ext cx="2256922" cy="0"/>
            </a:xfrm>
            <a:prstGeom prst="line">
              <a:avLst/>
            </a:prstGeom>
            <a:ln w="19050">
              <a:solidFill>
                <a:srgbClr val="2A62B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Header"/>
            <p:cNvSpPr/>
            <p:nvPr/>
          </p:nvSpPr>
          <p:spPr>
            <a:xfrm>
              <a:off x="2887400" y="1160556"/>
              <a:ext cx="2280513" cy="817839"/>
            </a:xfrm>
            <a:prstGeom prst="round2SameRect">
              <a:avLst>
                <a:gd name="adj1" fmla="val 17307"/>
                <a:gd name="adj2" fmla="val 0"/>
              </a:avLst>
            </a:prstGeom>
            <a:solidFill>
              <a:srgbClr val="2A62B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Badge"/>
            <p:cNvSpPr/>
            <p:nvPr/>
          </p:nvSpPr>
          <p:spPr>
            <a:xfrm>
              <a:off x="3044677" y="1349288"/>
              <a:ext cx="440375" cy="44037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900" b="1" i="0">
                  <a:solidFill>
                    <a:srgbClr val="2A62B0"/>
                  </a:solidFill>
                  <a:latin typeface="Calibri"/>
                </a:rPr>
                <a:t>2</a:t>
              </a:r>
            </a:p>
          </p:txBody>
        </p:sp>
        <p:sp>
          <p:nvSpPr>
            <p:cNvPr id="23" name="Stage title"/>
            <p:cNvSpPr txBox="1"/>
            <p:nvPr/>
          </p:nvSpPr>
          <p:spPr>
            <a:xfrm>
              <a:off x="3595146" y="1160556"/>
              <a:ext cx="1494129" cy="81783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>
                  <a:solidFill>
                    <a:srgbClr val="FFFFFF"/>
                  </a:solidFill>
                  <a:latin typeface="Calibri"/>
                </a:rPr>
                <a:t>Platform configuration</a:t>
              </a:r>
            </a:p>
          </p:txBody>
        </p:sp>
        <p:sp>
          <p:nvSpPr>
            <p:cNvPr id="24" name="Stage content"/>
            <p:cNvSpPr txBox="1"/>
            <p:nvPr/>
          </p:nvSpPr>
          <p:spPr>
            <a:xfrm>
              <a:off x="3044677" y="2072761"/>
              <a:ext cx="1965960" cy="246924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Aft>
                  <a:spcPts val="500"/>
                </a:spcAft>
              </a:pPr>
              <a:r>
                <a:rPr sz="1200" b="0" i="1">
                  <a:solidFill>
                    <a:srgbClr val="1B4A8F"/>
                  </a:solidFill>
                  <a:latin typeface="Calibri"/>
                </a:rPr>
                <a:t>Set up governance and delivery</a:t>
              </a:r>
            </a:p>
            <a:p>
              <a:pPr algn="l" marL="155448" indent="-155448">
                <a:spcAft>
                  <a:spcPts val="300"/>
                </a:spcAft>
                <a:buClr>
                  <a:srgbClr val="2A62B0"/>
                </a:buClr>
                <a:buFont typeface="Arial"/>
                <a:buChar char="•"/>
              </a:pPr>
              <a:r>
                <a:rPr sz="1300" b="0" i="0">
                  <a:solidFill>
                    <a:srgbClr val="0B2A5B"/>
                  </a:solidFill>
                  <a:latin typeface="Calibri"/>
                </a:rPr>
                <a:t>Global and product policies</a:t>
              </a:r>
            </a:p>
            <a:p>
              <a:pPr algn="l" marL="155448" indent="-155448">
                <a:spcAft>
                  <a:spcPts val="300"/>
                </a:spcAft>
                <a:buClr>
                  <a:srgbClr val="2A62B0"/>
                </a:buClr>
                <a:buFont typeface="Arial"/>
                <a:buChar char="•"/>
              </a:pPr>
              <a:r>
                <a:rPr sz="1300" b="0" i="0">
                  <a:solidFill>
                    <a:srgbClr val="0B2A5B"/>
                  </a:solidFill>
                  <a:latin typeface="Calibri"/>
                </a:rPr>
                <a:t>Developer portal</a:t>
              </a:r>
            </a:p>
            <a:p>
              <a:pPr algn="l" marL="155448" indent="-155448">
                <a:spcAft>
                  <a:spcPts val="300"/>
                </a:spcAft>
                <a:buClr>
                  <a:srgbClr val="2A62B0"/>
                </a:buClr>
                <a:buFont typeface="Arial"/>
                <a:buChar char="•"/>
              </a:pPr>
              <a:r>
                <a:rPr sz="1300" b="0" i="0">
                  <a:solidFill>
                    <a:srgbClr val="0B2A5B"/>
                  </a:solidFill>
                  <a:latin typeface="Calibri"/>
                </a:rPr>
                <a:t>APIOps pipeline</a:t>
              </a:r>
            </a:p>
            <a:p>
              <a:pPr algn="l" marL="155448" indent="-155448">
                <a:spcAft>
                  <a:spcPts val="300"/>
                </a:spcAft>
                <a:buClr>
                  <a:srgbClr val="2A62B0"/>
                </a:buClr>
                <a:buFont typeface="Arial"/>
                <a:buChar char="•"/>
              </a:pPr>
              <a:r>
                <a:rPr sz="1300" b="0" i="0">
                  <a:solidFill>
                    <a:srgbClr val="0B2A5B"/>
                  </a:solidFill>
                  <a:latin typeface="Calibri"/>
                </a:rPr>
                <a:t>Repository structure</a:t>
              </a:r>
            </a:p>
          </p:txBody>
        </p:sp>
        <p:sp>
          <p:nvSpPr>
            <p:cNvPr id="25" name="Check badge"/>
            <p:cNvSpPr/>
            <p:nvPr/>
          </p:nvSpPr>
          <p:spPr>
            <a:xfrm>
              <a:off x="3044677" y="4707148"/>
              <a:ext cx="188732" cy="188732"/>
            </a:xfrm>
            <a:prstGeom prst="ellipse">
              <a:avLst/>
            </a:prstGeom>
            <a:solidFill>
              <a:srgbClr val="2A62B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Check mark"/>
            <p:cNvSpPr/>
            <p:nvPr/>
          </p:nvSpPr>
          <p:spPr>
            <a:xfrm>
              <a:off x="3087928" y="4758263"/>
              <a:ext cx="106162" cy="82570"/>
            </a:xfrm>
            <a:custGeom>
              <a:avLst/>
              <a:gdLst/>
              <a:ahLst/>
              <a:cxnLst/>
              <a:rect l="l" t="t" r="r" b="b"/>
              <a:pathLst>
                <a:path w="106162" h="82570">
                  <a:moveTo>
                    <a:pt x="0" y="47183"/>
                  </a:moveTo>
                  <a:lnTo>
                    <a:pt x="39320" y="82570"/>
                  </a:lnTo>
                  <a:lnTo>
                    <a:pt x="106162" y="0"/>
                  </a:lnTo>
                </a:path>
              </a:pathLst>
            </a:custGeom>
            <a:noFill/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sult label"/>
            <p:cNvSpPr txBox="1"/>
            <p:nvPr/>
          </p:nvSpPr>
          <p:spPr>
            <a:xfrm>
              <a:off x="3312048" y="4707148"/>
              <a:ext cx="1179576" cy="1887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900" b="1" i="0">
                  <a:solidFill>
                    <a:srgbClr val="2A62B0"/>
                  </a:solidFill>
                  <a:latin typeface="Calibri"/>
                </a:rPr>
                <a:t>RESULT</a:t>
              </a:r>
            </a:p>
          </p:txBody>
        </p:sp>
        <p:sp>
          <p:nvSpPr>
            <p:cNvPr id="28" name="Result text"/>
            <p:cNvSpPr txBox="1"/>
            <p:nvPr/>
          </p:nvSpPr>
          <p:spPr>
            <a:xfrm>
              <a:off x="3044677" y="4982382"/>
              <a:ext cx="1965960" cy="48755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/>
              <a:r>
                <a:rPr sz="1300" b="1" i="0">
                  <a:solidFill>
                    <a:srgbClr val="0B2A5B"/>
                  </a:solidFill>
                  <a:latin typeface="Calibri"/>
                </a:rPr>
                <a:t>Policies, portal and</a:t>
              </a:r>
            </a:p>
            <a:p>
              <a:pPr algn="l"/>
              <a:r>
                <a:rPr sz="1300" b="1" i="0">
                  <a:solidFill>
                    <a:srgbClr val="0B2A5B"/>
                  </a:solidFill>
                  <a:latin typeface="Calibri"/>
                </a:rPr>
                <a:t>pipeline in place</a:t>
              </a:r>
            </a:p>
          </p:txBody>
        </p:sp>
      </p:grpSp>
      <p:sp>
        <p:nvSpPr>
          <p:cNvPr id="29" name="Arrow 2"/>
          <p:cNvSpPr/>
          <p:nvPr/>
        </p:nvSpPr>
        <p:spPr>
          <a:xfrm>
            <a:off x="5222961" y="1459382"/>
            <a:ext cx="136516" cy="220187"/>
          </a:xfrm>
          <a:custGeom>
            <a:avLst/>
            <a:gdLst/>
            <a:ahLst/>
            <a:cxnLst/>
            <a:rect l="l" t="t" r="r" b="b"/>
            <a:pathLst>
              <a:path w="136516" h="220187">
                <a:moveTo>
                  <a:pt x="0" y="0"/>
                </a:moveTo>
                <a:lnTo>
                  <a:pt x="136516" y="110094"/>
                </a:lnTo>
                <a:lnTo>
                  <a:pt x="0" y="220187"/>
                </a:lnTo>
                <a:close/>
              </a:path>
            </a:pathLst>
          </a:custGeom>
          <a:solidFill>
            <a:srgbClr val="2A6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30" name="Stage 3 - Pilot onboarding" descr="Stage 3, Pilot onboarding: Prove it with real consumers. An initial internal API; A pilot partner (external); Access flows; Security flows; Onboarding flows. Result: Flows validated end to end."/>
          <p:cNvGrpSpPr/>
          <p:nvPr/>
        </p:nvGrpSpPr>
        <p:grpSpPr>
          <a:xfrm>
            <a:off x="5388102" y="1160556"/>
            <a:ext cx="2280513" cy="4372295"/>
            <a:chOff x="5388102" y="1160556"/>
            <a:chExt cx="2280513" cy="4372295"/>
          </a:xfrm>
        </p:grpSpPr>
        <p:sp>
          <p:nvSpPr>
            <p:cNvPr id="31" name="Card"/>
            <p:cNvSpPr/>
            <p:nvPr/>
          </p:nvSpPr>
          <p:spPr>
            <a:xfrm>
              <a:off x="5388102" y="1160556"/>
              <a:ext cx="2280513" cy="4372295"/>
            </a:xfrm>
            <a:prstGeom prst="roundRect">
              <a:avLst>
                <a:gd name="adj" fmla="val 6206"/>
              </a:avLst>
            </a:prstGeom>
            <a:solidFill>
              <a:srgbClr val="FFFFFF"/>
            </a:solidFill>
            <a:ln w="25400">
              <a:solidFill>
                <a:srgbClr val="1F509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Body"/>
            <p:cNvSpPr/>
            <p:nvPr/>
          </p:nvSpPr>
          <p:spPr>
            <a:xfrm>
              <a:off x="5399897" y="1978395"/>
              <a:ext cx="2256922" cy="2610794"/>
            </a:xfrm>
            <a:prstGeom prst="rect">
              <a:avLst/>
            </a:prstGeom>
            <a:solidFill>
              <a:srgbClr val="EAF2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3" name="Divider"/>
            <p:cNvCxnSpPr/>
            <p:nvPr/>
          </p:nvCxnSpPr>
          <p:spPr>
            <a:xfrm>
              <a:off x="5399897" y="4589190"/>
              <a:ext cx="2256922" cy="0"/>
            </a:xfrm>
            <a:prstGeom prst="line">
              <a:avLst/>
            </a:prstGeom>
            <a:ln w="19050">
              <a:solidFill>
                <a:srgbClr val="1F509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Header"/>
            <p:cNvSpPr/>
            <p:nvPr/>
          </p:nvSpPr>
          <p:spPr>
            <a:xfrm>
              <a:off x="5388102" y="1160556"/>
              <a:ext cx="2280513" cy="817839"/>
            </a:xfrm>
            <a:prstGeom prst="round2SameRect">
              <a:avLst>
                <a:gd name="adj1" fmla="val 17307"/>
                <a:gd name="adj2" fmla="val 0"/>
              </a:avLst>
            </a:prstGeom>
            <a:solidFill>
              <a:srgbClr val="1F509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Badge"/>
            <p:cNvSpPr/>
            <p:nvPr/>
          </p:nvSpPr>
          <p:spPr>
            <a:xfrm>
              <a:off x="5545378" y="1349288"/>
              <a:ext cx="440375" cy="44037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900" b="1" i="0">
                  <a:solidFill>
                    <a:srgbClr val="1F509A"/>
                  </a:solidFill>
                  <a:latin typeface="Calibri"/>
                </a:rPr>
                <a:t>3</a:t>
              </a:r>
            </a:p>
          </p:txBody>
        </p:sp>
        <p:sp>
          <p:nvSpPr>
            <p:cNvPr id="36" name="Stage title"/>
            <p:cNvSpPr txBox="1"/>
            <p:nvPr/>
          </p:nvSpPr>
          <p:spPr>
            <a:xfrm>
              <a:off x="6095847" y="1160556"/>
              <a:ext cx="1494129" cy="81783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>
                  <a:solidFill>
                    <a:srgbClr val="FFFFFF"/>
                  </a:solidFill>
                  <a:latin typeface="Calibri"/>
                </a:rPr>
                <a:t>Pilot onboarding</a:t>
              </a:r>
            </a:p>
          </p:txBody>
        </p:sp>
        <p:sp>
          <p:nvSpPr>
            <p:cNvPr id="37" name="Stage content"/>
            <p:cNvSpPr txBox="1"/>
            <p:nvPr/>
          </p:nvSpPr>
          <p:spPr>
            <a:xfrm>
              <a:off x="5545378" y="2072761"/>
              <a:ext cx="1965960" cy="246924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Aft>
                  <a:spcPts val="500"/>
                </a:spcAft>
              </a:pPr>
              <a:r>
                <a:rPr sz="1200" b="0" i="1">
                  <a:solidFill>
                    <a:srgbClr val="143D80"/>
                  </a:solidFill>
                  <a:latin typeface="Calibri"/>
                </a:rPr>
                <a:t>Prove it with real consumers</a:t>
              </a:r>
            </a:p>
            <a:p>
              <a:pPr algn="l" marL="155448" indent="-155448">
                <a:spcAft>
                  <a:spcPts val="300"/>
                </a:spcAft>
                <a:buClr>
                  <a:srgbClr val="1F509A"/>
                </a:buClr>
                <a:buFont typeface="Arial"/>
                <a:buChar char="•"/>
              </a:pPr>
              <a:r>
                <a:rPr sz="1300" b="0" i="0">
                  <a:solidFill>
                    <a:srgbClr val="0B2A5B"/>
                  </a:solidFill>
                  <a:latin typeface="Calibri"/>
                </a:rPr>
                <a:t>An initial internal API</a:t>
              </a:r>
            </a:p>
            <a:p>
              <a:pPr algn="l" marL="155448" indent="-155448">
                <a:spcAft>
                  <a:spcPts val="300"/>
                </a:spcAft>
                <a:buClr>
                  <a:srgbClr val="1F509A"/>
                </a:buClr>
                <a:buFont typeface="Arial"/>
                <a:buChar char="•"/>
              </a:pPr>
              <a:r>
                <a:rPr sz="1300" b="0" i="0">
                  <a:solidFill>
                    <a:srgbClr val="0B2A5B"/>
                  </a:solidFill>
                  <a:latin typeface="Calibri"/>
                </a:rPr>
                <a:t>A pilot partner (external)</a:t>
              </a:r>
            </a:p>
            <a:p>
              <a:pPr algn="l">
                <a:spcBef>
                  <a:spcPts val="700"/>
                </a:spcBef>
                <a:spcAft>
                  <a:spcPts val="300"/>
                </a:spcAft>
              </a:pPr>
              <a:r>
                <a:rPr sz="1200" b="1" i="0">
                  <a:solidFill>
                    <a:srgbClr val="143D80"/>
                  </a:solidFill>
                  <a:latin typeface="Calibri"/>
                </a:rPr>
                <a:t>Validating end to end:</a:t>
              </a:r>
            </a:p>
            <a:p>
              <a:pPr algn="l" marL="155448" indent="-155448">
                <a:spcAft>
                  <a:spcPts val="300"/>
                </a:spcAft>
                <a:buClr>
                  <a:srgbClr val="1F509A"/>
                </a:buClr>
                <a:buFont typeface="Arial"/>
                <a:buChar char="•"/>
              </a:pPr>
              <a:r>
                <a:rPr sz="1300" b="0" i="0">
                  <a:solidFill>
                    <a:srgbClr val="0B2A5B"/>
                  </a:solidFill>
                  <a:latin typeface="Calibri"/>
                </a:rPr>
                <a:t>Access flows</a:t>
              </a:r>
            </a:p>
            <a:p>
              <a:pPr algn="l" marL="155448" indent="-155448">
                <a:spcAft>
                  <a:spcPts val="300"/>
                </a:spcAft>
                <a:buClr>
                  <a:srgbClr val="1F509A"/>
                </a:buClr>
                <a:buFont typeface="Arial"/>
                <a:buChar char="•"/>
              </a:pPr>
              <a:r>
                <a:rPr sz="1300" b="0" i="0">
                  <a:solidFill>
                    <a:srgbClr val="0B2A5B"/>
                  </a:solidFill>
                  <a:latin typeface="Calibri"/>
                </a:rPr>
                <a:t>Security flows</a:t>
              </a:r>
            </a:p>
            <a:p>
              <a:pPr algn="l" marL="155448" indent="-155448">
                <a:spcAft>
                  <a:spcPts val="300"/>
                </a:spcAft>
                <a:buClr>
                  <a:srgbClr val="1F509A"/>
                </a:buClr>
                <a:buFont typeface="Arial"/>
                <a:buChar char="•"/>
              </a:pPr>
              <a:r>
                <a:rPr sz="1300" b="0" i="0">
                  <a:solidFill>
                    <a:srgbClr val="0B2A5B"/>
                  </a:solidFill>
                  <a:latin typeface="Calibri"/>
                </a:rPr>
                <a:t>Onboarding flows</a:t>
              </a:r>
            </a:p>
          </p:txBody>
        </p:sp>
        <p:sp>
          <p:nvSpPr>
            <p:cNvPr id="38" name="Check badge"/>
            <p:cNvSpPr/>
            <p:nvPr/>
          </p:nvSpPr>
          <p:spPr>
            <a:xfrm>
              <a:off x="5545378" y="4707148"/>
              <a:ext cx="188732" cy="188732"/>
            </a:xfrm>
            <a:prstGeom prst="ellipse">
              <a:avLst/>
            </a:prstGeom>
            <a:solidFill>
              <a:srgbClr val="1F509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Check mark"/>
            <p:cNvSpPr/>
            <p:nvPr/>
          </p:nvSpPr>
          <p:spPr>
            <a:xfrm>
              <a:off x="5588629" y="4758263"/>
              <a:ext cx="106162" cy="82570"/>
            </a:xfrm>
            <a:custGeom>
              <a:avLst/>
              <a:gdLst/>
              <a:ahLst/>
              <a:cxnLst/>
              <a:rect l="l" t="t" r="r" b="b"/>
              <a:pathLst>
                <a:path w="106162" h="82570">
                  <a:moveTo>
                    <a:pt x="0" y="47183"/>
                  </a:moveTo>
                  <a:lnTo>
                    <a:pt x="39320" y="82570"/>
                  </a:lnTo>
                  <a:lnTo>
                    <a:pt x="106162" y="0"/>
                  </a:lnTo>
                </a:path>
              </a:pathLst>
            </a:custGeom>
            <a:noFill/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Result label"/>
            <p:cNvSpPr txBox="1"/>
            <p:nvPr/>
          </p:nvSpPr>
          <p:spPr>
            <a:xfrm>
              <a:off x="5812749" y="4707148"/>
              <a:ext cx="1179576" cy="1887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900" b="1" i="0">
                  <a:solidFill>
                    <a:srgbClr val="1F509A"/>
                  </a:solidFill>
                  <a:latin typeface="Calibri"/>
                </a:rPr>
                <a:t>RESULT</a:t>
              </a:r>
            </a:p>
          </p:txBody>
        </p:sp>
        <p:sp>
          <p:nvSpPr>
            <p:cNvPr id="41" name="Result text"/>
            <p:cNvSpPr txBox="1"/>
            <p:nvPr/>
          </p:nvSpPr>
          <p:spPr>
            <a:xfrm>
              <a:off x="5545378" y="4982382"/>
              <a:ext cx="1965960" cy="48755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/>
              <a:r>
                <a:rPr sz="1300" b="1" i="0">
                  <a:solidFill>
                    <a:srgbClr val="0B2A5B"/>
                  </a:solidFill>
                  <a:latin typeface="Calibri"/>
                </a:rPr>
                <a:t>Flows validated</a:t>
              </a:r>
            </a:p>
            <a:p>
              <a:pPr algn="l"/>
              <a:r>
                <a:rPr sz="1300" b="1" i="0">
                  <a:solidFill>
                    <a:srgbClr val="0B2A5B"/>
                  </a:solidFill>
                  <a:latin typeface="Calibri"/>
                </a:rPr>
                <a:t>end to end</a:t>
              </a:r>
            </a:p>
          </p:txBody>
        </p:sp>
      </p:grpSp>
      <p:sp>
        <p:nvSpPr>
          <p:cNvPr id="42" name="Arrow 3"/>
          <p:cNvSpPr/>
          <p:nvPr/>
        </p:nvSpPr>
        <p:spPr>
          <a:xfrm>
            <a:off x="7723662" y="1459382"/>
            <a:ext cx="136516" cy="220187"/>
          </a:xfrm>
          <a:custGeom>
            <a:avLst/>
            <a:gdLst/>
            <a:ahLst/>
            <a:cxnLst/>
            <a:rect l="l" t="t" r="r" b="b"/>
            <a:pathLst>
              <a:path w="136516" h="220187">
                <a:moveTo>
                  <a:pt x="0" y="0"/>
                </a:moveTo>
                <a:lnTo>
                  <a:pt x="136516" y="110094"/>
                </a:lnTo>
                <a:lnTo>
                  <a:pt x="0" y="220187"/>
                </a:lnTo>
                <a:close/>
              </a:path>
            </a:pathLst>
          </a:custGeom>
          <a:solidFill>
            <a:srgbClr val="2A6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43" name="Stage 4 - Production readiness" descr="Stage 4, Production readiness: Confirm it is ready to go live. Readiness criteria completed; Resilience testing; Observability in place. Result: Ready for production go-live."/>
          <p:cNvGrpSpPr/>
          <p:nvPr/>
        </p:nvGrpSpPr>
        <p:grpSpPr>
          <a:xfrm>
            <a:off x="7888803" y="1160556"/>
            <a:ext cx="2280513" cy="4372295"/>
            <a:chOff x="7888803" y="1160556"/>
            <a:chExt cx="2280513" cy="4372295"/>
          </a:xfrm>
        </p:grpSpPr>
        <p:sp>
          <p:nvSpPr>
            <p:cNvPr id="44" name="Card"/>
            <p:cNvSpPr/>
            <p:nvPr/>
          </p:nvSpPr>
          <p:spPr>
            <a:xfrm>
              <a:off x="7888803" y="1160556"/>
              <a:ext cx="2280513" cy="4372295"/>
            </a:xfrm>
            <a:prstGeom prst="roundRect">
              <a:avLst>
                <a:gd name="adj" fmla="val 6206"/>
              </a:avLst>
            </a:prstGeom>
            <a:solidFill>
              <a:srgbClr val="FFFFFF"/>
            </a:solidFill>
            <a:ln w="25400">
              <a:solidFill>
                <a:srgbClr val="143D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Body"/>
            <p:cNvSpPr/>
            <p:nvPr/>
          </p:nvSpPr>
          <p:spPr>
            <a:xfrm>
              <a:off x="7900598" y="1978395"/>
              <a:ext cx="2256922" cy="2610794"/>
            </a:xfrm>
            <a:prstGeom prst="rect">
              <a:avLst/>
            </a:prstGeom>
            <a:solidFill>
              <a:srgbClr val="EAF2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6" name="Divider"/>
            <p:cNvCxnSpPr/>
            <p:nvPr/>
          </p:nvCxnSpPr>
          <p:spPr>
            <a:xfrm>
              <a:off x="7900598" y="4589190"/>
              <a:ext cx="2256922" cy="0"/>
            </a:xfrm>
            <a:prstGeom prst="line">
              <a:avLst/>
            </a:prstGeom>
            <a:ln w="19050">
              <a:solidFill>
                <a:srgbClr val="143D8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Header"/>
            <p:cNvSpPr/>
            <p:nvPr/>
          </p:nvSpPr>
          <p:spPr>
            <a:xfrm>
              <a:off x="7888803" y="1160556"/>
              <a:ext cx="2280513" cy="817839"/>
            </a:xfrm>
            <a:prstGeom prst="round2SameRect">
              <a:avLst>
                <a:gd name="adj1" fmla="val 17307"/>
                <a:gd name="adj2" fmla="val 0"/>
              </a:avLst>
            </a:prstGeom>
            <a:solidFill>
              <a:srgbClr val="143D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Badge"/>
            <p:cNvSpPr/>
            <p:nvPr/>
          </p:nvSpPr>
          <p:spPr>
            <a:xfrm>
              <a:off x="8046079" y="1349288"/>
              <a:ext cx="440375" cy="44037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0" tIns="0" rIns="0" bIns="0">
              <a:noAutofit/>
            </a:bodyPr>
            <a:lstStyle/>
            <a:p>
              <a:pPr algn="ctr"/>
              <a:r>
                <a:rPr sz="1900" b="1" i="0">
                  <a:solidFill>
                    <a:srgbClr val="143D80"/>
                  </a:solidFill>
                  <a:latin typeface="Calibri"/>
                </a:rPr>
                <a:t>4</a:t>
              </a:r>
            </a:p>
          </p:txBody>
        </p:sp>
        <p:sp>
          <p:nvSpPr>
            <p:cNvPr id="49" name="Stage title"/>
            <p:cNvSpPr txBox="1"/>
            <p:nvPr/>
          </p:nvSpPr>
          <p:spPr>
            <a:xfrm>
              <a:off x="8596548" y="1160556"/>
              <a:ext cx="1494129" cy="81783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1600" b="1" i="0">
                  <a:solidFill>
                    <a:srgbClr val="FFFFFF"/>
                  </a:solidFill>
                  <a:latin typeface="Calibri"/>
                </a:rPr>
                <a:t>Production readiness</a:t>
              </a:r>
            </a:p>
          </p:txBody>
        </p:sp>
        <p:sp>
          <p:nvSpPr>
            <p:cNvPr id="50" name="Stage content"/>
            <p:cNvSpPr txBox="1"/>
            <p:nvPr/>
          </p:nvSpPr>
          <p:spPr>
            <a:xfrm>
              <a:off x="8046079" y="2072761"/>
              <a:ext cx="1965960" cy="246924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Aft>
                  <a:spcPts val="500"/>
                </a:spcAft>
              </a:pPr>
              <a:r>
                <a:rPr sz="1200" b="0" i="1">
                  <a:solidFill>
                    <a:srgbClr val="0B2A5B"/>
                  </a:solidFill>
                  <a:latin typeface="Calibri"/>
                </a:rPr>
                <a:t>Confirm it is ready to go live</a:t>
              </a:r>
            </a:p>
            <a:p>
              <a:pPr algn="l" marL="155448" indent="-155448">
                <a:spcAft>
                  <a:spcPts val="300"/>
                </a:spcAft>
                <a:buClr>
                  <a:srgbClr val="143D80"/>
                </a:buClr>
                <a:buFont typeface="Arial"/>
                <a:buChar char="•"/>
              </a:pPr>
              <a:r>
                <a:rPr sz="1300" b="0" i="0">
                  <a:solidFill>
                    <a:srgbClr val="0B2A5B"/>
                  </a:solidFill>
                  <a:latin typeface="Calibri"/>
                </a:rPr>
                <a:t>Readiness criteria completed</a:t>
              </a:r>
            </a:p>
            <a:p>
              <a:pPr algn="l" marL="155448" indent="-155448">
                <a:spcAft>
                  <a:spcPts val="300"/>
                </a:spcAft>
                <a:buClr>
                  <a:srgbClr val="143D80"/>
                </a:buClr>
                <a:buFont typeface="Arial"/>
                <a:buChar char="•"/>
              </a:pPr>
              <a:r>
                <a:rPr sz="1300" b="0" i="0">
                  <a:solidFill>
                    <a:srgbClr val="0B2A5B"/>
                  </a:solidFill>
                  <a:latin typeface="Calibri"/>
                </a:rPr>
                <a:t>Resilience testing</a:t>
              </a:r>
            </a:p>
            <a:p>
              <a:pPr algn="l" marL="155448" indent="-155448">
                <a:spcAft>
                  <a:spcPts val="300"/>
                </a:spcAft>
                <a:buClr>
                  <a:srgbClr val="143D80"/>
                </a:buClr>
                <a:buFont typeface="Arial"/>
                <a:buChar char="•"/>
              </a:pPr>
              <a:r>
                <a:rPr sz="1300" b="0" i="0">
                  <a:solidFill>
                    <a:srgbClr val="0B2A5B"/>
                  </a:solidFill>
                  <a:latin typeface="Calibri"/>
                </a:rPr>
                <a:t>Observability in place</a:t>
              </a:r>
            </a:p>
          </p:txBody>
        </p:sp>
        <p:sp>
          <p:nvSpPr>
            <p:cNvPr id="51" name="Check badge"/>
            <p:cNvSpPr/>
            <p:nvPr/>
          </p:nvSpPr>
          <p:spPr>
            <a:xfrm>
              <a:off x="8046079" y="4707148"/>
              <a:ext cx="188732" cy="188732"/>
            </a:xfrm>
            <a:prstGeom prst="ellipse">
              <a:avLst/>
            </a:prstGeom>
            <a:solidFill>
              <a:srgbClr val="143D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Check mark"/>
            <p:cNvSpPr/>
            <p:nvPr/>
          </p:nvSpPr>
          <p:spPr>
            <a:xfrm>
              <a:off x="8089331" y="4758263"/>
              <a:ext cx="106161" cy="82570"/>
            </a:xfrm>
            <a:custGeom>
              <a:avLst/>
              <a:gdLst/>
              <a:ahLst/>
              <a:cxnLst/>
              <a:rect l="l" t="t" r="r" b="b"/>
              <a:pathLst>
                <a:path w="106161" h="82570">
                  <a:moveTo>
                    <a:pt x="0" y="47183"/>
                  </a:moveTo>
                  <a:lnTo>
                    <a:pt x="39319" y="82570"/>
                  </a:lnTo>
                  <a:lnTo>
                    <a:pt x="106161" y="0"/>
                  </a:lnTo>
                </a:path>
              </a:pathLst>
            </a:custGeom>
            <a:noFill/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esult label"/>
            <p:cNvSpPr txBox="1"/>
            <p:nvPr/>
          </p:nvSpPr>
          <p:spPr>
            <a:xfrm>
              <a:off x="8313450" y="4707148"/>
              <a:ext cx="1179576" cy="1887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/>
              <a:r>
                <a:rPr sz="900" b="1" i="0">
                  <a:solidFill>
                    <a:srgbClr val="143D80"/>
                  </a:solidFill>
                  <a:latin typeface="Calibri"/>
                </a:rPr>
                <a:t>RESULT</a:t>
              </a:r>
            </a:p>
          </p:txBody>
        </p:sp>
        <p:sp>
          <p:nvSpPr>
            <p:cNvPr id="54" name="Result text"/>
            <p:cNvSpPr txBox="1"/>
            <p:nvPr/>
          </p:nvSpPr>
          <p:spPr>
            <a:xfrm>
              <a:off x="8046079" y="4982382"/>
              <a:ext cx="1965960" cy="48755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/>
              <a:r>
                <a:rPr sz="1300" b="1" i="0">
                  <a:solidFill>
                    <a:srgbClr val="0B2A5B"/>
                  </a:solidFill>
                  <a:latin typeface="Calibri"/>
                </a:rPr>
                <a:t>Ready for production</a:t>
              </a:r>
            </a:p>
            <a:p>
              <a:pPr algn="l"/>
              <a:r>
                <a:rPr sz="1300" b="1" i="0">
                  <a:solidFill>
                    <a:srgbClr val="0B2A5B"/>
                  </a:solidFill>
                  <a:latin typeface="Calibri"/>
                </a:rPr>
                <a:t>go-live</a:t>
              </a:r>
            </a:p>
          </p:txBody>
        </p:sp>
      </p:grpSp>
      <p:sp>
        <p:nvSpPr>
          <p:cNvPr id="55" name="Arrow 4"/>
          <p:cNvSpPr/>
          <p:nvPr/>
        </p:nvSpPr>
        <p:spPr>
          <a:xfrm>
            <a:off x="10224363" y="1459382"/>
            <a:ext cx="136516" cy="220187"/>
          </a:xfrm>
          <a:custGeom>
            <a:avLst/>
            <a:gdLst/>
            <a:ahLst/>
            <a:cxnLst/>
            <a:rect l="l" t="t" r="r" b="b"/>
            <a:pathLst>
              <a:path w="136516" h="220187">
                <a:moveTo>
                  <a:pt x="0" y="0"/>
                </a:moveTo>
                <a:lnTo>
                  <a:pt x="136516" y="110094"/>
                </a:lnTo>
                <a:lnTo>
                  <a:pt x="0" y="220187"/>
                </a:lnTo>
                <a:close/>
              </a:path>
            </a:pathLst>
          </a:custGeom>
          <a:solidFill>
            <a:srgbClr val="2A6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6" name="Production go-live" descr="End point of the roadmap: production go-live."/>
          <p:cNvGrpSpPr/>
          <p:nvPr/>
        </p:nvGrpSpPr>
        <p:grpSpPr>
          <a:xfrm>
            <a:off x="10389504" y="1160556"/>
            <a:ext cx="1415491" cy="4372295"/>
            <a:chOff x="10389504" y="1160556"/>
            <a:chExt cx="1415491" cy="4372295"/>
          </a:xfrm>
        </p:grpSpPr>
        <p:sp>
          <p:nvSpPr>
            <p:cNvPr id="57" name="Finish block"/>
            <p:cNvSpPr/>
            <p:nvPr/>
          </p:nvSpPr>
          <p:spPr>
            <a:xfrm>
              <a:off x="10389504" y="1160556"/>
              <a:ext cx="1415491" cy="4372295"/>
            </a:xfrm>
            <a:prstGeom prst="roundRect">
              <a:avLst>
                <a:gd name="adj" fmla="val 10000"/>
              </a:avLst>
            </a:prstGeom>
            <a:solidFill>
              <a:srgbClr val="0B2A5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Flag pole"/>
            <p:cNvSpPr/>
            <p:nvPr/>
          </p:nvSpPr>
          <p:spPr>
            <a:xfrm>
              <a:off x="10892790" y="2717596"/>
              <a:ext cx="39319" cy="77065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Flag"/>
            <p:cNvSpPr/>
            <p:nvPr/>
          </p:nvSpPr>
          <p:spPr>
            <a:xfrm>
              <a:off x="10932109" y="2717596"/>
              <a:ext cx="479694" cy="314554"/>
            </a:xfrm>
            <a:custGeom>
              <a:avLst/>
              <a:gdLst/>
              <a:ahLst/>
              <a:cxnLst/>
              <a:rect l="l" t="t" r="r" b="b"/>
              <a:pathLst>
                <a:path w="479694" h="314554">
                  <a:moveTo>
                    <a:pt x="0" y="0"/>
                  </a:moveTo>
                  <a:lnTo>
                    <a:pt x="479694" y="141549"/>
                  </a:lnTo>
                  <a:lnTo>
                    <a:pt x="0" y="31455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Finish label"/>
            <p:cNvSpPr txBox="1"/>
            <p:nvPr/>
          </p:nvSpPr>
          <p:spPr>
            <a:xfrm>
              <a:off x="10389504" y="3645529"/>
              <a:ext cx="1415491" cy="61337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/>
              <a:r>
                <a:rPr sz="1600" b="1" i="0">
                  <a:solidFill>
                    <a:srgbClr val="FFFFFF"/>
                  </a:solidFill>
                  <a:latin typeface="Calibri"/>
                </a:rPr>
                <a:t>Production</a:t>
              </a:r>
            </a:p>
            <a:p>
              <a:pPr algn="ctr"/>
              <a:r>
                <a:rPr sz="1600" b="1" i="0">
                  <a:solidFill>
                    <a:srgbClr val="FFFFFF"/>
                  </a:solidFill>
                  <a:latin typeface="Calibri"/>
                </a:rPr>
                <a:t>go-live</a:t>
              </a:r>
            </a:p>
          </p:txBody>
        </p:sp>
      </p:grpSp>
      <p:sp>
        <p:nvSpPr>
          <p:cNvPr id="61" name="Footer band"/>
          <p:cNvSpPr/>
          <p:nvPr/>
        </p:nvSpPr>
        <p:spPr>
          <a:xfrm>
            <a:off x="386699" y="5721583"/>
            <a:ext cx="11418295" cy="676290"/>
          </a:xfrm>
          <a:prstGeom prst="roundRect">
            <a:avLst>
              <a:gd name="adj" fmla="val 16279"/>
            </a:avLst>
          </a:prstGeom>
          <a:solidFill>
            <a:srgbClr val="EAF2FC"/>
          </a:solidFill>
          <a:ln w="19050">
            <a:solidFill>
              <a:srgbClr val="A9C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36576" rIns="182880" bIns="36576">
            <a:no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B2A5B"/>
                </a:solidFill>
                <a:latin typeface="Calibri"/>
              </a:rPr>
              <a:t>Each stage builds on the last, and the platform is provisioned and changed as code.</a:t>
            </a:r>
          </a:p>
          <a:p>
            <a:pPr algn="l"/>
            <a:r>
              <a:rPr sz="1300" b="0" i="0">
                <a:solidFill>
                  <a:srgbClr val="2A62B0"/>
                </a:solidFill>
                <a:latin typeface="Calibri"/>
              </a:rPr>
              <a:t>Detailed implementation planning is delivered through the project’s delivery governance.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91695" cy="457200"/>
          </a:xfrm>
          <a:prstGeom prst="rect">
            <a:avLst/>
          </a:prstGeom>
          <a:noFill/>
        </p:spPr>
        <p:txBody>
          <a:bodyPr wrap="square" lIns="40000" rIns="40000" tIns="20000" bIns="20000" anchor="ctr">
            <a:spAutoFit/>
          </a:bodyPr>
          <a:lstStyle/>
          <a:p>
            <a:pPr algn="ctr"/>
            <a:r>
              <a:rPr sz="2600" b="1" i="0">
                <a:solidFill>
                  <a:srgbClr val="132040"/>
                </a:solidFill>
                <a:latin typeface="Calibri"/>
              </a:rPr>
              <a:t>Indicative Monthly Platform Cost by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66928"/>
            <a:ext cx="12191695" cy="320040"/>
          </a:xfrm>
          <a:prstGeom prst="rect">
            <a:avLst/>
          </a:prstGeom>
          <a:noFill/>
        </p:spPr>
        <p:txBody>
          <a:bodyPr wrap="square" lIns="40000" rIns="40000" tIns="20000" bIns="20000" anchor="ctr">
            <a:spAutoFit/>
          </a:bodyPr>
          <a:lstStyle/>
          <a:p>
            <a:pPr algn="ctr"/>
            <a:r>
              <a:rPr sz="1300" b="0" i="1">
                <a:solidFill>
                  <a:srgbClr val="5A6B7D"/>
                </a:solidFill>
                <a:latin typeface="Calibri"/>
              </a:rPr>
              <a:t>Section 15.1 Capacity: indicative UK South list prices, to be validated against current Microsoft pricing</a:t>
            </a:r>
          </a:p>
        </p:txBody>
      </p:sp>
      <p:graphicFrame>
        <p:nvGraphicFramePr>
          <p:cNvPr id="4" name="Capacity cost chart" descr="Column chart of indicative monthly platform cost by environment: Dev 40 pounds, SIT 40 pounds, UAT 2,400 pounds, Prod 2,600 pounds."/>
          <p:cNvGraphicFramePr>
            <a:graphicFrameLocks noGrp="1"/>
          </p:cNvGraphicFramePr>
          <p:nvPr/>
        </p:nvGraphicFramePr>
        <p:xfrm>
          <a:off x="822960" y="1051560"/>
          <a:ext cx="10515600" cy="5074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822960" y="6199632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0" i="1">
                <a:solidFill>
                  <a:srgbClr val="5A6B7D"/>
                </a:solidFill>
                <a:latin typeface="Calibri"/>
              </a:rPr>
              <a:t>Indicative monthly platform cost; Dev and SIT on Developer tier, UAT and Production on Premium v2. Confirm against current Azure pricing.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b3f81c8-e39b-4405-bcc1-3e407ba7283f">
      <Terms xmlns="http://schemas.microsoft.com/office/infopath/2007/PartnerControls"/>
    </lcf76f155ced4ddcb4097134ff3c332f>
    <TaxCatchAll xmlns="de42048b-ec37-4ba8-8c7d-cce609e5a17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6902D86F343BD43911FD1ECE89E1A90" ma:contentTypeVersion="16" ma:contentTypeDescription="Create a new document." ma:contentTypeScope="" ma:versionID="8f538629485a383281b2d1038e3d32e9">
  <xsd:schema xmlns:xsd="http://www.w3.org/2001/XMLSchema" xmlns:xs="http://www.w3.org/2001/XMLSchema" xmlns:p="http://schemas.microsoft.com/office/2006/metadata/properties" xmlns:ns2="fb3f81c8-e39b-4405-bcc1-3e407ba7283f" xmlns:ns3="de42048b-ec37-4ba8-8c7d-cce609e5a17c" targetNamespace="http://schemas.microsoft.com/office/2006/metadata/properties" ma:root="true" ma:fieldsID="7770fb56b414f1dd5a021295642aef5f" ns2:_="" ns3:_="">
    <xsd:import namespace="fb3f81c8-e39b-4405-bcc1-3e407ba7283f"/>
    <xsd:import namespace="de42048b-ec37-4ba8-8c7d-cce609e5a17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3f81c8-e39b-4405-bcc1-3e407ba7283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b3dc6bb4-515a-48b9-9df5-06b9cdb1631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e42048b-ec37-4ba8-8c7d-cce609e5a17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1c5ceb05-ac89-4e37-8be6-f389aa604244}" ma:internalName="TaxCatchAll" ma:showField="CatchAllData" ma:web="de42048b-ec37-4ba8-8c7d-cce609e5a17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1D4B518-AAE0-495A-B86F-91CE9666EA15}">
  <ds:schemaRefs>
    <ds:schemaRef ds:uri="http://schemas.microsoft.com/office/2006/metadata/properties"/>
    <ds:schemaRef ds:uri="http://schemas.microsoft.com/office/infopath/2007/PartnerControls"/>
    <ds:schemaRef ds:uri="fb3f81c8-e39b-4405-bcc1-3e407ba7283f"/>
    <ds:schemaRef ds:uri="de42048b-ec37-4ba8-8c7d-cce609e5a17c"/>
  </ds:schemaRefs>
</ds:datastoreItem>
</file>

<file path=customXml/itemProps2.xml><?xml version="1.0" encoding="utf-8"?>
<ds:datastoreItem xmlns:ds="http://schemas.openxmlformats.org/officeDocument/2006/customXml" ds:itemID="{46FD4625-EF5B-4622-A784-FA7FF80DF62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C8CE23-7E1B-4F2E-8B58-A03B2DA80C0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3f81c8-e39b-4405-bcc1-3e407ba7283f"/>
    <ds:schemaRef ds:uri="de42048b-ec37-4ba8-8c7d-cce609e5a17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1367</TotalTime>
  <Words>5028</Words>
  <Application>Microsoft Office PowerPoint</Application>
  <PresentationFormat>Widescreen</PresentationFormat>
  <Paragraphs>567</Paragraphs>
  <Slides>28</Slides>
  <Notes>24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29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Puneet Kumar - Chaucer</cp:lastModifiedBy>
  <cp:revision>4</cp:revision>
  <dcterms:created xsi:type="dcterms:W3CDTF">2026-10-01T09:09:28Z</dcterms:created>
  <dcterms:modified xsi:type="dcterms:W3CDTF">2026-10-03T21:01:53Z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6034dab-5829-4c7a-a87e-18a6fc150b18_Enabled">
    <vt:lpwstr>true</vt:lpwstr>
  </property>
  <property fmtid="{D5CDD505-2E9C-101B-9397-08002B2CF9AE}" pid="3" name="MSIP_Label_66034dab-5829-4c7a-a87e-18a6fc150b18_SetDate">
    <vt:lpwstr>2026-10-01T10:36:07Z</vt:lpwstr>
  </property>
  <property fmtid="{D5CDD505-2E9C-101B-9397-08002B2CF9AE}" pid="4" name="MSIP_Label_66034dab-5829-4c7a-a87e-18a6fc150b18_Method">
    <vt:lpwstr>Standard</vt:lpwstr>
  </property>
  <property fmtid="{D5CDD505-2E9C-101B-9397-08002B2CF9AE}" pid="5" name="MSIP_Label_66034dab-5829-4c7a-a87e-18a6fc150b18_Name">
    <vt:lpwstr>Internal</vt:lpwstr>
  </property>
  <property fmtid="{D5CDD505-2E9C-101B-9397-08002B2CF9AE}" pid="6" name="MSIP_Label_66034dab-5829-4c7a-a87e-18a6fc150b18_SiteId">
    <vt:lpwstr>7c2d3141-755f-485a-aaae-ca6b3055ca0c</vt:lpwstr>
  </property>
  <property fmtid="{D5CDD505-2E9C-101B-9397-08002B2CF9AE}" pid="7" name="MSIP_Label_66034dab-5829-4c7a-a87e-18a6fc150b18_ActionId">
    <vt:lpwstr>a013a08c-c3e9-4465-bbe5-e0b7c01fdc28</vt:lpwstr>
  </property>
  <property fmtid="{D5CDD505-2E9C-101B-9397-08002B2CF9AE}" pid="8" name="MSIP_Label_66034dab-5829-4c7a-a87e-18a6fc150b18_ContentBits">
    <vt:lpwstr>0</vt:lpwstr>
  </property>
  <property fmtid="{D5CDD505-2E9C-101B-9397-08002B2CF9AE}" pid="9" name="MSIP_Label_66034dab-5829-4c7a-a87e-18a6fc150b18_Tag">
    <vt:lpwstr>10, 3, 0, 1</vt:lpwstr>
  </property>
  <property fmtid="{D5CDD505-2E9C-101B-9397-08002B2CF9AE}" pid="10" name="ContentTypeId">
    <vt:lpwstr>0x010100B6902D86F343BD43911FD1ECE89E1A90</vt:lpwstr>
  </property>
  <property fmtid="{D5CDD505-2E9C-101B-9397-08002B2CF9AE}" pid="11" name="MediaServiceImageTags">
    <vt:lpwstr/>
  </property>
</Properties>
</file>