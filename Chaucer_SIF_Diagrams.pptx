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0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90" r:id="rId36"/>
    <p:sldId id="302" r:id="rId37"/>
    <p:sldId id="291" r:id="rId38"/>
    <p:sldId id="292" r:id="rId39"/>
    <p:sldId id="293" r:id="rId40"/>
    <p:sldId id="294" r:id="rId41"/>
    <p:sldId id="295" r:id="rId42"/>
    <p:sldId id="296" r:id="rId43"/>
    <p:sldId id="298" r:id="rId44"/>
    <p:sldId id="303" r:id="rId45"/>
    <p:sldId id="304" r:id="rId46"/>
    <p:sldId id="305" r:id="rId47"/>
    <p:sldId id="299" r:id="rId48"/>
    <p:sldId id="300" r:id="rId49"/>
    <p:sldId id="301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Staged import, platform-driven ingestion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576035" y="357032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436173" y="357032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95383" y="306994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 dirty="0">
                <a:solidFill>
                  <a:srgbClr val="33414F"/>
                </a:solidFill>
                <a:latin typeface="Arial"/>
              </a:rPr>
              <a:t>Framework</a:t>
            </a:r>
          </a:p>
          <a:p>
            <a:pPr algn="ctr"/>
            <a:r>
              <a:rPr sz="1336" b="0" i="0" dirty="0">
                <a:solidFill>
                  <a:srgbClr val="33414F"/>
                </a:solidFill>
                <a:latin typeface="Arial"/>
              </a:rPr>
              <a:t>source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5521" y="306994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DCE7F5"/>
          </a:solidFill>
          <a:ln w="25019">
            <a:solidFill>
              <a:srgbClr val="2E549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1F3864"/>
                </a:solidFill>
                <a:latin typeface="Arial"/>
              </a:rPr>
              <a:t>Stage</a:t>
            </a:r>
          </a:p>
          <a:p>
            <a:pPr algn="ctr"/>
            <a:r>
              <a:rPr sz="1336" b="0" i="0">
                <a:solidFill>
                  <a:srgbClr val="1F3864"/>
                </a:solidFill>
                <a:latin typeface="Arial"/>
              </a:rPr>
              <a:t>ADLS / Blob</a:t>
            </a:r>
          </a:p>
        </p:txBody>
      </p:sp>
      <p:sp>
        <p:nvSpPr>
          <p:cNvPr id="7" name="Can 6"/>
          <p:cNvSpPr/>
          <p:nvPr/>
        </p:nvSpPr>
        <p:spPr>
          <a:xfrm>
            <a:off x="8615659" y="3069941"/>
            <a:ext cx="2680651" cy="1000776"/>
          </a:xfrm>
          <a:prstGeom prst="can">
            <a:avLst/>
          </a:prstGeom>
          <a:solidFill>
            <a:srgbClr val="E8EDF3"/>
          </a:solidFill>
          <a:ln w="25019">
            <a:solidFill>
              <a:srgbClr val="51607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Snowflake</a:t>
            </a:r>
          </a:p>
          <a:p>
            <a:pPr algn="ctr"/>
            <a:r>
              <a:rPr sz="1336" b="0" i="0">
                <a:solidFill>
                  <a:srgbClr val="33414F"/>
                </a:solidFill>
                <a:latin typeface="Arial"/>
              </a:rPr>
              <a:t>landing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0627" y="328439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 dirty="0">
                <a:solidFill>
                  <a:srgbClr val="5A6675"/>
                </a:solidFill>
                <a:latin typeface="Arial"/>
              </a:rPr>
              <a:t>write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0765" y="328439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8567" y="4669397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77" b="0" i="1" dirty="0">
                <a:solidFill>
                  <a:srgbClr val="7A828F"/>
                </a:solidFill>
                <a:latin typeface="Arial"/>
              </a:rPr>
              <a:t>The stage is the contract. The platform ingests on its own schedule.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1F3864"/>
                </a:solidFill>
                <a:latin typeface="Arial"/>
              </a:rPr>
              <a:t>Delivery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155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i="1">
                <a:solidFill>
                  <a:srgbClr val="7A828F"/>
                </a:solidFill>
                <a:latin typeface="Arial"/>
              </a:rPr>
              <a:t>Every integration follows the same pipeline. One immutable artefact is built once and promoted unchanged through each environment.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48840"/>
            <a:ext cx="1544269" cy="12344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20320">
            <a:solidFill>
              <a:srgbClr val="14284D"/>
            </a:solidFill>
          </a:ln>
          <a:effectLst/>
        </p:spPr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Pull request validation</a:t>
            </a:r>
          </a:p>
          <a:p>
            <a:pPr algn="ctr"/>
            <a:r>
              <a:rPr sz="850" b="0">
                <a:solidFill>
                  <a:srgbClr val="D6E0F5"/>
                </a:solidFill>
                <a:latin typeface="Arial"/>
              </a:rPr>
              <a:t>lint, build, test, security scan, peer approval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21509" y="2148840"/>
            <a:ext cx="1544269" cy="1234440"/>
          </a:xfrm>
          <a:prstGeom prst="roundRect">
            <a:avLst>
              <a:gd name="adj" fmla="val 10000"/>
            </a:avLst>
          </a:prstGeom>
          <a:solidFill>
            <a:srgbClr val="FBF1DA"/>
          </a:solidFill>
          <a:ln w="17780">
            <a:solidFill>
              <a:srgbClr val="B7791F"/>
            </a:solidFill>
          </a:ln>
          <a:effectLst/>
        </p:spPr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7A4F12"/>
                </a:solidFill>
                <a:latin typeface="Arial"/>
              </a:rPr>
              <a:t>Immutable artefact</a:t>
            </a:r>
          </a:p>
          <a:p>
            <a:pPr algn="ctr"/>
            <a:r>
              <a:rPr sz="850" b="0">
                <a:solidFill>
                  <a:srgbClr val="7A4F12"/>
                </a:solidFill>
                <a:latin typeface="Arial"/>
              </a:rPr>
              <a:t>built once, promoted unchanged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85818" y="2148840"/>
            <a:ext cx="1544269" cy="1234440"/>
          </a:xfrm>
          <a:prstGeom prst="roundRect">
            <a:avLst>
              <a:gd name="adj" fmla="val 10000"/>
            </a:avLst>
          </a:prstGeom>
          <a:solidFill>
            <a:srgbClr val="EAF3EC"/>
          </a:solidFill>
          <a:ln w="17780">
            <a:solidFill>
              <a:srgbClr val="3A8341"/>
            </a:solidFill>
          </a:ln>
          <a:effectLst/>
        </p:spPr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2E6B3A"/>
                </a:solidFill>
                <a:latin typeface="Arial"/>
              </a:rPr>
              <a:t>Development</a:t>
            </a:r>
          </a:p>
          <a:p>
            <a:pPr algn="ctr"/>
            <a:r>
              <a:rPr sz="850" b="0">
                <a:solidFill>
                  <a:srgbClr val="5A6675"/>
                </a:solidFill>
                <a:latin typeface="Arial"/>
              </a:rPr>
              <a:t>deploy, real dependencies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7287" y="2148840"/>
            <a:ext cx="1544269" cy="1234440"/>
          </a:xfrm>
          <a:prstGeom prst="roundRect">
            <a:avLst>
              <a:gd name="adj" fmla="val 10000"/>
            </a:avLst>
          </a:prstGeom>
          <a:solidFill>
            <a:srgbClr val="EAF3EC"/>
          </a:solidFill>
          <a:ln w="17780">
            <a:solidFill>
              <a:srgbClr val="3A8341"/>
            </a:solidFill>
          </a:ln>
          <a:effectLst/>
        </p:spPr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2E6B3A"/>
                </a:solidFill>
                <a:latin typeface="Arial"/>
              </a:rPr>
              <a:t>Test</a:t>
            </a:r>
          </a:p>
          <a:p>
            <a:pPr algn="ctr"/>
            <a:r>
              <a:rPr sz="850" b="0">
                <a:solidFill>
                  <a:srgbClr val="5A6675"/>
                </a:solidFill>
                <a:latin typeface="Arial"/>
              </a:rPr>
              <a:t>integration and end-to-end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8756" y="2148840"/>
            <a:ext cx="1544269" cy="1234440"/>
          </a:xfrm>
          <a:prstGeom prst="roundRect">
            <a:avLst>
              <a:gd name="adj" fmla="val 10000"/>
            </a:avLst>
          </a:prstGeom>
          <a:solidFill>
            <a:srgbClr val="EAF3EC"/>
          </a:solidFill>
          <a:ln w="17780">
            <a:solidFill>
              <a:srgbClr val="3A8341"/>
            </a:solidFill>
          </a:ln>
          <a:effectLst/>
        </p:spPr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2E6B3A"/>
                </a:solidFill>
                <a:latin typeface="Arial"/>
              </a:rPr>
              <a:t>UAT</a:t>
            </a:r>
          </a:p>
          <a:p>
            <a:pPr algn="ctr"/>
            <a:r>
              <a:rPr sz="850" b="0">
                <a:solidFill>
                  <a:srgbClr val="5A6675"/>
                </a:solidFill>
                <a:latin typeface="Arial"/>
              </a:rPr>
              <a:t>business acceptance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90225" y="2148840"/>
            <a:ext cx="1544269" cy="1234440"/>
          </a:xfrm>
          <a:prstGeom prst="roundRect">
            <a:avLst>
              <a:gd name="adj" fmla="val 10000"/>
            </a:avLst>
          </a:prstGeom>
          <a:solidFill>
            <a:srgbClr val="EAF3EC"/>
          </a:solidFill>
          <a:ln w="17780">
            <a:solidFill>
              <a:srgbClr val="3A8341"/>
            </a:solidFill>
          </a:ln>
          <a:effectLst/>
        </p:spPr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2E6B3A"/>
                </a:solidFill>
                <a:latin typeface="Arial"/>
              </a:rPr>
              <a:t>Production</a:t>
            </a:r>
          </a:p>
          <a:p>
            <a:pPr algn="ctr"/>
            <a:r>
              <a:rPr sz="850" b="0">
                <a:solidFill>
                  <a:srgbClr val="5A6675"/>
                </a:solidFill>
                <a:latin typeface="Arial"/>
              </a:rPr>
              <a:t>change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078992"/>
            <a:ext cx="1635709" cy="960120"/>
          </a:xfrm>
          <a:prstGeom prst="rect">
            <a:avLst/>
          </a:prstGeom>
          <a:noFill/>
        </p:spPr>
        <p:txBody>
          <a:bodyPr wrap="square" lIns="0" tIns="0" rIns="0" bIns="18288" anchor="b">
            <a:spAutoFit/>
          </a:bodyPr>
          <a:lstStyle/>
          <a:p>
            <a:pPr algn="ctr"/>
            <a:r>
              <a:rPr sz="800">
                <a:solidFill>
                  <a:srgbClr val="7A828F"/>
                </a:solidFill>
                <a:latin typeface="Arial"/>
              </a:rPr>
              <a:t>Every change enters through a pull request and cannot merge until checks pass and a peer approves.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5789" y="1078992"/>
            <a:ext cx="1635709" cy="960120"/>
          </a:xfrm>
          <a:prstGeom prst="rect">
            <a:avLst/>
          </a:prstGeom>
          <a:noFill/>
        </p:spPr>
        <p:txBody>
          <a:bodyPr wrap="square" lIns="0" tIns="0" rIns="0" bIns="18288" anchor="b">
            <a:spAutoFit/>
          </a:bodyPr>
          <a:lstStyle/>
          <a:p>
            <a:pPr algn="ctr"/>
            <a:r>
              <a:rPr sz="800">
                <a:solidFill>
                  <a:srgbClr val="7A828F"/>
                </a:solidFill>
                <a:latin typeface="Arial"/>
              </a:rPr>
              <a:t>A versioned artefact is built once and promoted unchanged, so production runs exactly what was tested.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0098" y="1078992"/>
            <a:ext cx="1635709" cy="960120"/>
          </a:xfrm>
          <a:prstGeom prst="rect">
            <a:avLst/>
          </a:prstGeom>
          <a:noFill/>
        </p:spPr>
        <p:txBody>
          <a:bodyPr wrap="square" lIns="0" tIns="0" rIns="0" bIns="18288" anchor="b">
            <a:spAutoFit/>
          </a:bodyPr>
          <a:lstStyle/>
          <a:p>
            <a:pPr algn="ctr"/>
            <a:r>
              <a:rPr sz="800">
                <a:solidFill>
                  <a:srgbClr val="7A828F"/>
                </a:solidFill>
                <a:latin typeface="Arial"/>
              </a:rPr>
              <a:t>A merged change deploys automatically and runs against real dependencies before anything is promoted.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1567" y="1078992"/>
            <a:ext cx="1635709" cy="960120"/>
          </a:xfrm>
          <a:prstGeom prst="rect">
            <a:avLst/>
          </a:prstGeom>
          <a:noFill/>
        </p:spPr>
        <p:txBody>
          <a:bodyPr wrap="square" lIns="0" tIns="0" rIns="0" bIns="18288" anchor="b">
            <a:spAutoFit/>
          </a:bodyPr>
          <a:lstStyle/>
          <a:p>
            <a:pPr algn="ctr"/>
            <a:r>
              <a:rPr sz="800">
                <a:solidFill>
                  <a:srgbClr val="7A828F"/>
                </a:solidFill>
                <a:latin typeface="Arial"/>
              </a:rPr>
              <a:t>Unit, integration and end-to-end tests, with contract and schema checks, must pass to progress.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3036" y="1078992"/>
            <a:ext cx="1635709" cy="960120"/>
          </a:xfrm>
          <a:prstGeom prst="rect">
            <a:avLst/>
          </a:prstGeom>
          <a:noFill/>
        </p:spPr>
        <p:txBody>
          <a:bodyPr wrap="square" lIns="0" tIns="0" rIns="0" bIns="18288" anchor="b">
            <a:spAutoFit/>
          </a:bodyPr>
          <a:lstStyle/>
          <a:p>
            <a:pPr algn="ctr"/>
            <a:r>
              <a:rPr sz="800">
                <a:solidFill>
                  <a:srgbClr val="7A828F"/>
                </a:solidFill>
                <a:latin typeface="Arial"/>
              </a:rPr>
              <a:t>Business acceptance in a production-like environment before the final promotion.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4505" y="1078992"/>
            <a:ext cx="1635709" cy="960120"/>
          </a:xfrm>
          <a:prstGeom prst="rect">
            <a:avLst/>
          </a:prstGeom>
          <a:noFill/>
        </p:spPr>
        <p:txBody>
          <a:bodyPr wrap="square" lIns="0" tIns="0" rIns="0" bIns="18288" anchor="b">
            <a:spAutoFit/>
          </a:bodyPr>
          <a:lstStyle/>
          <a:p>
            <a:pPr algn="ctr"/>
            <a:r>
              <a:rPr sz="800">
                <a:solidFill>
                  <a:srgbClr val="7A828F"/>
                </a:solidFill>
                <a:latin typeface="Arial"/>
              </a:rPr>
              <a:t>Only an artefact whose checks passed and whose sign-off is recorded is promoted, under change control.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01469" y="2766060"/>
            <a:ext cx="320040" cy="0"/>
          </a:xfrm>
          <a:prstGeom prst="line">
            <a:avLst/>
          </a:prstGeom>
          <a:ln w="25400">
            <a:solidFill>
              <a:srgbClr val="8A97A8"/>
            </a:solidFill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1612849" y="249174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5A6675"/>
                </a:solidFill>
                <a:latin typeface="Arial"/>
              </a:rPr>
              <a:t>merge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65778" y="2766060"/>
            <a:ext cx="320040" cy="0"/>
          </a:xfrm>
          <a:prstGeom prst="line">
            <a:avLst/>
          </a:prstGeom>
          <a:ln w="25400">
            <a:solidFill>
              <a:srgbClr val="8A97A8"/>
            </a:solidFill>
            <a:tailEnd type="triangle" w="med" len="med"/>
          </a:ln>
        </p:spPr>
      </p:cxnSp>
      <p:sp>
        <p:nvSpPr>
          <p:cNvPr id="19" name="TextBox 18"/>
          <p:cNvSpPr txBox="1"/>
          <p:nvPr/>
        </p:nvSpPr>
        <p:spPr>
          <a:xfrm>
            <a:off x="3477158" y="249174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5A6675"/>
                </a:solidFill>
                <a:latin typeface="Arial"/>
              </a:rPr>
              <a:t>deploy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30087" y="2766060"/>
            <a:ext cx="457200" cy="0"/>
          </a:xfrm>
          <a:prstGeom prst="line">
            <a:avLst/>
          </a:prstGeom>
          <a:ln w="25400">
            <a:solidFill>
              <a:srgbClr val="8A97A8"/>
            </a:solidFill>
            <a:tailEnd type="triangle" w="med" len="med"/>
          </a:ln>
        </p:spPr>
      </p:cxnSp>
      <p:sp>
        <p:nvSpPr>
          <p:cNvPr id="21" name="Diamond 20"/>
          <p:cNvSpPr/>
          <p:nvPr/>
        </p:nvSpPr>
        <p:spPr>
          <a:xfrm>
            <a:off x="5858103" y="2665476"/>
            <a:ext cx="201168" cy="201168"/>
          </a:xfrm>
          <a:prstGeom prst="diamond">
            <a:avLst/>
          </a:prstGeom>
          <a:solidFill>
            <a:srgbClr val="FBE7D6"/>
          </a:solidFill>
          <a:ln w="15240">
            <a:solidFill>
              <a:srgbClr val="C0562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10047" y="2473452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 i="0">
                <a:solidFill>
                  <a:srgbClr val="5A6675"/>
                </a:solidFill>
                <a:latin typeface="Arial"/>
              </a:rPr>
              <a:t>promote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1487" y="29032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C05621"/>
                </a:solidFill>
                <a:latin typeface="Arial"/>
              </a:rPr>
              <a:t>gate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31556" y="2766060"/>
            <a:ext cx="457200" cy="0"/>
          </a:xfrm>
          <a:prstGeom prst="line">
            <a:avLst/>
          </a:prstGeom>
          <a:ln w="25400">
            <a:solidFill>
              <a:srgbClr val="8A97A8"/>
            </a:solidFill>
            <a:tailEnd type="triangle" w="med" len="med"/>
          </a:ln>
        </p:spPr>
      </p:cxnSp>
      <p:sp>
        <p:nvSpPr>
          <p:cNvPr id="25" name="Diamond 24"/>
          <p:cNvSpPr/>
          <p:nvPr/>
        </p:nvSpPr>
        <p:spPr>
          <a:xfrm>
            <a:off x="7859572" y="2665476"/>
            <a:ext cx="201168" cy="201168"/>
          </a:xfrm>
          <a:prstGeom prst="diamond">
            <a:avLst/>
          </a:prstGeom>
          <a:solidFill>
            <a:srgbClr val="FBE7D6"/>
          </a:solidFill>
          <a:ln w="15240">
            <a:solidFill>
              <a:srgbClr val="C0562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11516" y="2473452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 i="0">
                <a:solidFill>
                  <a:srgbClr val="5A6675"/>
                </a:solidFill>
                <a:latin typeface="Arial"/>
              </a:rPr>
              <a:t>promote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02956" y="29032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C05621"/>
                </a:solidFill>
                <a:latin typeface="Arial"/>
              </a:rPr>
              <a:t>gate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733025" y="2766060"/>
            <a:ext cx="457200" cy="0"/>
          </a:xfrm>
          <a:prstGeom prst="line">
            <a:avLst/>
          </a:prstGeom>
          <a:ln w="25400">
            <a:solidFill>
              <a:srgbClr val="8A97A8"/>
            </a:solidFill>
            <a:tailEnd type="triangle" w="med" len="med"/>
          </a:ln>
        </p:spPr>
      </p:cxnSp>
      <p:sp>
        <p:nvSpPr>
          <p:cNvPr id="29" name="Diamond 28"/>
          <p:cNvSpPr/>
          <p:nvPr/>
        </p:nvSpPr>
        <p:spPr>
          <a:xfrm>
            <a:off x="9861042" y="2665476"/>
            <a:ext cx="201168" cy="201168"/>
          </a:xfrm>
          <a:prstGeom prst="diamond">
            <a:avLst/>
          </a:prstGeom>
          <a:solidFill>
            <a:srgbClr val="FBE7D6"/>
          </a:solidFill>
          <a:ln w="15240">
            <a:solidFill>
              <a:srgbClr val="C0562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12985" y="2473452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 i="0">
                <a:solidFill>
                  <a:srgbClr val="5A6675"/>
                </a:solidFill>
                <a:latin typeface="Arial"/>
              </a:rPr>
              <a:t>promote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4425" y="29032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C05621"/>
                </a:solidFill>
                <a:latin typeface="Arial"/>
              </a:rPr>
              <a:t>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3401568"/>
            <a:ext cx="1727149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 i="1">
                <a:solidFill>
                  <a:srgbClr val="7A828F"/>
                </a:solidFill>
                <a:latin typeface="Arial"/>
              </a:rPr>
              <a:t>at validation, before merge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85818" y="3977639"/>
            <a:ext cx="7548676" cy="1051560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 w="15240">
            <a:solidFill>
              <a:srgbClr val="7C8BA0"/>
            </a:solidFill>
          </a:ln>
          <a:effectLst/>
        </p:spPr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33414F"/>
                </a:solidFill>
                <a:latin typeface="Arial"/>
              </a:rPr>
              <a:t>Every environment runs integration and automation tests, environment validation (configuration, connectivity, identity and secrets, health), and security testing with SonarQube and JFrog.</a:t>
            </a:r>
          </a:p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Promotion is gated and approved. A higher environment accepts only an artefact whose checks have passed and whose sign-off is recorded, and production follows change control.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960156" y="3383280"/>
            <a:ext cx="0" cy="594359"/>
          </a:xfrm>
          <a:prstGeom prst="line">
            <a:avLst/>
          </a:prstGeom>
          <a:ln w="20320">
            <a:solidFill>
              <a:srgbClr val="9AA6B5"/>
            </a:solidFill>
            <a:tailEnd type="triangle" w="med" len="med"/>
          </a:ln>
        </p:spPr>
      </p:cxnSp>
      <p:sp>
        <p:nvSpPr>
          <p:cNvPr id="35" name="Rounded Rectangle 34"/>
          <p:cNvSpPr/>
          <p:nvPr/>
        </p:nvSpPr>
        <p:spPr>
          <a:xfrm>
            <a:off x="457200" y="5349240"/>
            <a:ext cx="11277295" cy="658368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 w="15240">
            <a:solidFill>
              <a:srgbClr val="AEB6C2"/>
            </a:solidFill>
          </a:ln>
          <a:effectLst/>
        </p:spPr>
        <p:txBody>
          <a:bodyPr wrap="square" lIns="109728" tIns="18288" rIns="109728" bIns="18288" rtlCol="0" anchor="ctr"/>
          <a:lstStyle/>
          <a:p>
            <a:pPr algn="ctr"/>
            <a:r>
              <a:rPr sz="1000" b="1">
                <a:solidFill>
                  <a:srgbClr val="1F3864"/>
                </a:solidFill>
                <a:latin typeface="Arial"/>
              </a:rPr>
              <a:t>Foundation.  </a:t>
            </a:r>
            <a:r>
              <a:rPr sz="1000">
                <a:solidFill>
                  <a:srgbClr val="33414F"/>
                </a:solidFill>
                <a:latin typeface="Arial"/>
              </a:rPr>
              <a:t>Source and infrastructure-as-code live in the Chaucer repository under the DevSecOps project, and the pipeline is the only route to an environment.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Direct streaming connector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576035" y="357032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436173" y="357032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95383" y="306994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Framework</a:t>
            </a:r>
          </a:p>
          <a:p>
            <a:pPr algn="ctr"/>
            <a:r>
              <a:rPr sz="1336" b="0" i="0">
                <a:solidFill>
                  <a:srgbClr val="33414F"/>
                </a:solidFill>
                <a:latin typeface="Arial"/>
              </a:rPr>
              <a:t>event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5521" y="306994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BE7D6"/>
          </a:solidFill>
          <a:ln w="25019">
            <a:solidFill>
              <a:srgbClr val="C05621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7B3410"/>
                </a:solidFill>
                <a:latin typeface="Arial"/>
              </a:rPr>
              <a:t>Event Hubs</a:t>
            </a:r>
          </a:p>
          <a:p>
            <a:pPr algn="ctr"/>
            <a:r>
              <a:rPr sz="1336" b="0" i="0">
                <a:solidFill>
                  <a:srgbClr val="7B3410"/>
                </a:solidFill>
                <a:latin typeface="Arial"/>
              </a:rPr>
              <a:t>Kafka surface</a:t>
            </a:r>
          </a:p>
        </p:txBody>
      </p:sp>
      <p:sp>
        <p:nvSpPr>
          <p:cNvPr id="7" name="Can 6"/>
          <p:cNvSpPr/>
          <p:nvPr/>
        </p:nvSpPr>
        <p:spPr>
          <a:xfrm>
            <a:off x="8615659" y="3069941"/>
            <a:ext cx="2680651" cy="1000776"/>
          </a:xfrm>
          <a:prstGeom prst="can">
            <a:avLst/>
          </a:prstGeom>
          <a:solidFill>
            <a:srgbClr val="E8EDF3"/>
          </a:solidFill>
          <a:ln w="25019">
            <a:solidFill>
              <a:srgbClr val="51607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Snowflake</a:t>
            </a:r>
          </a:p>
          <a:p>
            <a:pPr algn="ctr"/>
            <a:r>
              <a:rPr sz="1336" b="0" i="0">
                <a:solidFill>
                  <a:srgbClr val="33414F"/>
                </a:solidFill>
                <a:latin typeface="Arial"/>
              </a:rPr>
              <a:t>Snowpipe Streaming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0627" y="328439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0765" y="328439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8567" y="4669397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77" b="0" i="1">
                <a:solidFill>
                  <a:srgbClr val="7A828F"/>
                </a:solidFill>
                <a:latin typeface="Arial"/>
              </a:rPr>
              <a:t>Governed exception. Named, owned and time-bound.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Governed API write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576035" y="374903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436173" y="374903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95383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5521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DCE7F5"/>
          </a:solidFill>
          <a:ln w="25019">
            <a:solidFill>
              <a:srgbClr val="2E549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1F3864"/>
                </a:solidFill>
                <a:latin typeface="Arial"/>
              </a:rPr>
              <a:t>API Management</a:t>
            </a:r>
          </a:p>
          <a:p>
            <a:pPr algn="ctr"/>
            <a:r>
              <a:rPr sz="1336" b="0" i="0">
                <a:solidFill>
                  <a:srgbClr val="1F3864"/>
                </a:solidFill>
                <a:latin typeface="Arial"/>
              </a:rPr>
              <a:t>governed write</a:t>
            </a:r>
          </a:p>
        </p:txBody>
      </p:sp>
      <p:sp>
        <p:nvSpPr>
          <p:cNvPr id="7" name="Can 6"/>
          <p:cNvSpPr/>
          <p:nvPr/>
        </p:nvSpPr>
        <p:spPr>
          <a:xfrm>
            <a:off x="8615659" y="3248651"/>
            <a:ext cx="2680651" cy="1000776"/>
          </a:xfrm>
          <a:prstGeom prst="can">
            <a:avLst/>
          </a:prstGeom>
          <a:solidFill>
            <a:srgbClr val="E8EDF3"/>
          </a:solidFill>
          <a:ln w="25019">
            <a:solidFill>
              <a:srgbClr val="51607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Snowflake</a:t>
            </a:r>
          </a:p>
          <a:p>
            <a:pPr algn="ctr"/>
            <a:r>
              <a:rPr sz="1336" b="0" i="0">
                <a:solidFill>
                  <a:srgbClr val="33414F"/>
                </a:solidFill>
                <a:latin typeface="Arial"/>
              </a:rPr>
              <a:t>controlled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0627" y="346310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write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0765" y="346310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land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Bulk unload to a serving store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576035" y="357032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436173" y="357032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755521" y="306994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DCE7F5"/>
          </a:solidFill>
          <a:ln w="25019">
            <a:solidFill>
              <a:srgbClr val="2E549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1F3864"/>
                </a:solidFill>
                <a:latin typeface="Arial"/>
              </a:rPr>
              <a:t>Serving store</a:t>
            </a:r>
          </a:p>
          <a:p>
            <a:pPr algn="ctr"/>
            <a:r>
              <a:rPr sz="1336" b="0" i="0">
                <a:solidFill>
                  <a:srgbClr val="1F3864"/>
                </a:solidFill>
                <a:latin typeface="Arial"/>
              </a:rPr>
              <a:t>ADLS / Blob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15659" y="306994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Framework services</a:t>
            </a:r>
          </a:p>
        </p:txBody>
      </p:sp>
      <p:sp>
        <p:nvSpPr>
          <p:cNvPr id="7" name="Can 6"/>
          <p:cNvSpPr/>
          <p:nvPr/>
        </p:nvSpPr>
        <p:spPr>
          <a:xfrm>
            <a:off x="895383" y="3069941"/>
            <a:ext cx="2680651" cy="1000776"/>
          </a:xfrm>
          <a:prstGeom prst="can">
            <a:avLst/>
          </a:prstGeom>
          <a:solidFill>
            <a:srgbClr val="E8EDF3"/>
          </a:solidFill>
          <a:ln w="25019">
            <a:solidFill>
              <a:srgbClr val="51607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Snowflake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0627" y="328439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bulk unload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0765" y="328439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8567" y="4669397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77" b="0" i="1">
                <a:solidFill>
                  <a:srgbClr val="7A828F"/>
                </a:solidFill>
                <a:latin typeface="Arial"/>
              </a:rPr>
              <a:t>The store is the contract. The platform stays off the live path.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Curated reads through API Management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576035" y="374903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436173" y="374903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95383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Consumer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5521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DCE7F5"/>
          </a:solidFill>
          <a:ln w="25019">
            <a:solidFill>
              <a:srgbClr val="2E549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1F3864"/>
                </a:solidFill>
                <a:latin typeface="Arial"/>
              </a:rPr>
              <a:t>API Management</a:t>
            </a:r>
          </a:p>
          <a:p>
            <a:pPr algn="ctr"/>
            <a:r>
              <a:rPr sz="1336" b="0" i="0">
                <a:solidFill>
                  <a:srgbClr val="1F3864"/>
                </a:solidFill>
                <a:latin typeface="Arial"/>
              </a:rPr>
              <a:t>curated read</a:t>
            </a:r>
          </a:p>
        </p:txBody>
      </p:sp>
      <p:sp>
        <p:nvSpPr>
          <p:cNvPr id="7" name="Can 6"/>
          <p:cNvSpPr/>
          <p:nvPr/>
        </p:nvSpPr>
        <p:spPr>
          <a:xfrm>
            <a:off x="8615659" y="3248651"/>
            <a:ext cx="2680651" cy="1000776"/>
          </a:xfrm>
          <a:prstGeom prst="can">
            <a:avLst/>
          </a:prstGeom>
          <a:solidFill>
            <a:srgbClr val="E8EDF3"/>
          </a:solidFill>
          <a:ln w="25019">
            <a:solidFill>
              <a:srgbClr val="51607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Snowflake</a:t>
            </a:r>
          </a:p>
          <a:p>
            <a:pPr algn="ctr"/>
            <a:r>
              <a:rPr sz="1336" b="0" i="0">
                <a:solidFill>
                  <a:srgbClr val="33414F"/>
                </a:solidFill>
                <a:latin typeface="Arial"/>
              </a:rPr>
              <a:t>or serving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0627" y="346310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0765" y="346310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curated query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API Composition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04007" y="3749040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659579" y="3749040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8515151" y="2691420"/>
            <a:ext cx="846096" cy="105762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515151" y="3749040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515151" y="3749040"/>
            <a:ext cx="846096" cy="1057619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0971" y="3378873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18508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33414F"/>
                </a:solidFill>
                <a:latin typeface="Arial"/>
              </a:rPr>
              <a:t>Consumer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76543" y="3378873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DCE7F5"/>
          </a:solidFill>
          <a:ln w="18508">
            <a:solidFill>
              <a:srgbClr val="2E549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1F3864"/>
                </a:solidFill>
                <a:latin typeface="Arial"/>
              </a:rPr>
              <a:t>APIM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2115" y="3378873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BF1DA"/>
          </a:solidFill>
          <a:ln w="18508">
            <a:solidFill>
              <a:srgbClr val="B7791F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7A4F12"/>
                </a:solidFill>
                <a:latin typeface="Arial"/>
              </a:rPr>
              <a:t>Function</a:t>
            </a:r>
          </a:p>
          <a:p>
            <a:pPr algn="ctr"/>
            <a:r>
              <a:rPr sz="988" b="0" i="0">
                <a:solidFill>
                  <a:srgbClr val="7A4F12"/>
                </a:solidFill>
                <a:latin typeface="Arial"/>
              </a:rPr>
              <a:t>aggregator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87687" y="2321253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18508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33414F"/>
                </a:solidFill>
                <a:latin typeface="Arial"/>
              </a:rPr>
              <a:t>Client sys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87687" y="3378873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18508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33414F"/>
                </a:solidFill>
                <a:latin typeface="Arial"/>
              </a:rPr>
              <a:t>Policy sys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87687" y="4436492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18508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33414F"/>
                </a:solidFill>
                <a:latin typeface="Arial"/>
              </a:rPr>
              <a:t>Claims sys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9775" y="353751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5347" y="353751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aggregate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0919" y="300870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reads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API Facade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576035" y="374903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436173" y="374903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95383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Consumer</a:t>
            </a:r>
          </a:p>
          <a:p>
            <a:pPr algn="ctr"/>
            <a:r>
              <a:rPr sz="1336" b="0" i="0">
                <a:solidFill>
                  <a:srgbClr val="33414F"/>
                </a:solidFill>
                <a:latin typeface="Arial"/>
              </a:rPr>
              <a:t>broker 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5521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DCE7F5"/>
          </a:solidFill>
          <a:ln w="25019">
            <a:solidFill>
              <a:srgbClr val="2E549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1F3864"/>
                </a:solidFill>
                <a:latin typeface="Arial"/>
              </a:rPr>
              <a:t>APIM</a:t>
            </a:r>
          </a:p>
          <a:p>
            <a:pPr algn="ctr"/>
            <a:r>
              <a:rPr sz="1336" b="0" i="0">
                <a:solidFill>
                  <a:srgbClr val="1F3864"/>
                </a:solidFill>
                <a:latin typeface="Arial"/>
              </a:rPr>
              <a:t>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15659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Backend</a:t>
            </a:r>
          </a:p>
          <a:p>
            <a:pPr algn="ctr"/>
            <a:r>
              <a:rPr sz="1336" b="0" i="0">
                <a:solidFill>
                  <a:srgbClr val="33414F"/>
                </a:solidFill>
                <a:latin typeface="Arial"/>
              </a:rPr>
              <a:t>policy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0627" y="346310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0765" y="346310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invoke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Async request-reply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04007" y="3749039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659579" y="3749039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515151" y="3749039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812489" y="3378873"/>
            <a:ext cx="856671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0971" y="3378873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18508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33414F"/>
                </a:solidFill>
                <a:latin typeface="Arial"/>
              </a:rPr>
              <a:t>Consumer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6543" y="3378873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DCE7F5"/>
          </a:solidFill>
          <a:ln w="18508">
            <a:solidFill>
              <a:srgbClr val="2E549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1F3864"/>
                </a:solidFill>
                <a:latin typeface="Arial"/>
              </a:rPr>
              <a:t>APIM</a:t>
            </a:r>
          </a:p>
          <a:p>
            <a:pPr algn="ctr"/>
            <a:r>
              <a:rPr sz="988" b="0" i="0">
                <a:solidFill>
                  <a:srgbClr val="1F3864"/>
                </a:solidFill>
                <a:latin typeface="Arial"/>
              </a:rPr>
              <a:t>202 +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2115" y="3378873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D6ECEC"/>
          </a:solidFill>
          <a:ln w="18508">
            <a:solidFill>
              <a:srgbClr val="2C7A7B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1D5253"/>
                </a:solidFill>
                <a:latin typeface="Arial"/>
              </a:rPr>
              <a:t>Queue</a:t>
            </a:r>
          </a:p>
          <a:p>
            <a:pPr algn="ctr"/>
            <a:r>
              <a:rPr sz="988" b="0" i="0">
                <a:solidFill>
                  <a:srgbClr val="1D5253"/>
                </a:solidFill>
                <a:latin typeface="Arial"/>
              </a:rPr>
              <a:t>Service Bus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87687" y="3378873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BF1DA"/>
          </a:solidFill>
          <a:ln w="18508">
            <a:solidFill>
              <a:srgbClr val="B7791F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7A4F12"/>
                </a:solidFill>
                <a:latin typeface="Arial"/>
              </a:rPr>
              <a:t>Function</a:t>
            </a:r>
          </a:p>
          <a:p>
            <a:pPr algn="ctr"/>
            <a:r>
              <a:rPr sz="988" b="0" i="0">
                <a:solidFill>
                  <a:srgbClr val="7A4F12"/>
                </a:solidFill>
                <a:latin typeface="Arial"/>
              </a:rPr>
              <a:t>+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9775" y="353751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5347" y="353751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enqueue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0919" y="353751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8567" y="3167349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callback / status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Bordereaux 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350828" y="3644137"/>
            <a:ext cx="671376" cy="0"/>
          </a:xfrm>
          <a:prstGeom prst="line">
            <a:avLst/>
          </a:prstGeom>
          <a:ln w="15735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616722" y="3644137"/>
            <a:ext cx="671376" cy="0"/>
          </a:xfrm>
          <a:prstGeom prst="line">
            <a:avLst/>
          </a:prstGeom>
          <a:ln w="15735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882616" y="3644137"/>
            <a:ext cx="671376" cy="0"/>
          </a:xfrm>
          <a:prstGeom prst="line">
            <a:avLst/>
          </a:prstGeom>
          <a:ln w="15735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9148509" y="3224527"/>
            <a:ext cx="671376" cy="419610"/>
          </a:xfrm>
          <a:prstGeom prst="line">
            <a:avLst/>
          </a:prstGeom>
          <a:ln w="15735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8509" y="3644137"/>
            <a:ext cx="671376" cy="419610"/>
          </a:xfrm>
          <a:prstGeom prst="line">
            <a:avLst/>
          </a:prstGeom>
          <a:ln w="15735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91" y="3350410"/>
            <a:ext cx="1573537" cy="587453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14686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032" b="1" i="0">
                <a:solidFill>
                  <a:srgbClr val="33414F"/>
                </a:solidFill>
                <a:latin typeface="Arial"/>
              </a:rPr>
              <a:t>Coverholder</a:t>
            </a:r>
          </a:p>
          <a:p>
            <a:pPr algn="ctr"/>
            <a:r>
              <a:rPr sz="784" b="0" i="0">
                <a:solidFill>
                  <a:srgbClr val="33414F"/>
                </a:solidFill>
                <a:latin typeface="Arial"/>
              </a:rPr>
              <a:t>MGA / DCA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9078" y="3350410"/>
            <a:ext cx="1573537" cy="587453"/>
          </a:xfrm>
          <a:prstGeom prst="roundRect">
            <a:avLst>
              <a:gd name="adj" fmla="val 16071"/>
            </a:avLst>
          </a:prstGeom>
          <a:solidFill>
            <a:srgbClr val="E9E2F5"/>
          </a:solidFill>
          <a:ln w="14686">
            <a:solidFill>
              <a:srgbClr val="6D4AA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032" b="1" i="0">
                <a:solidFill>
                  <a:srgbClr val="4A2E7A"/>
                </a:solidFill>
                <a:latin typeface="Arial"/>
              </a:rPr>
              <a:t>Validate &amp; map</a:t>
            </a:r>
          </a:p>
          <a:p>
            <a:pPr algn="ctr"/>
            <a:r>
              <a:rPr sz="784" b="0" i="0">
                <a:solidFill>
                  <a:srgbClr val="4A2E7A"/>
                </a:solidFill>
                <a:latin typeface="Arial"/>
              </a:rPr>
              <a:t>to canonical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4972" y="3350410"/>
            <a:ext cx="1573537" cy="587453"/>
          </a:xfrm>
          <a:prstGeom prst="roundRect">
            <a:avLst>
              <a:gd name="adj" fmla="val 16071"/>
            </a:avLst>
          </a:prstGeom>
          <a:solidFill>
            <a:srgbClr val="D6ECEC"/>
          </a:solidFill>
          <a:ln w="14686">
            <a:solidFill>
              <a:srgbClr val="2C7A7B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032" b="1" i="0">
                <a:solidFill>
                  <a:srgbClr val="1D5253"/>
                </a:solidFill>
                <a:latin typeface="Arial"/>
              </a:rPr>
              <a:t>Canonical events</a:t>
            </a:r>
          </a:p>
          <a:p>
            <a:pPr algn="ctr"/>
            <a:r>
              <a:rPr sz="784" b="0" i="0">
                <a:solidFill>
                  <a:srgbClr val="1D5253"/>
                </a:solidFill>
                <a:latin typeface="Arial"/>
              </a:rPr>
              <a:t>Service Bus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40866" y="2930800"/>
            <a:ext cx="1573537" cy="587453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14686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032" b="1" i="0">
                <a:solidFill>
                  <a:srgbClr val="33414F"/>
                </a:solidFill>
                <a:latin typeface="Arial"/>
              </a:rPr>
              <a:t>Policy admin</a:t>
            </a:r>
          </a:p>
        </p:txBody>
      </p:sp>
      <p:sp>
        <p:nvSpPr>
          <p:cNvPr id="12" name="Can 11"/>
          <p:cNvSpPr/>
          <p:nvPr/>
        </p:nvSpPr>
        <p:spPr>
          <a:xfrm>
            <a:off x="3043185" y="3350410"/>
            <a:ext cx="1573537" cy="587453"/>
          </a:xfrm>
          <a:prstGeom prst="can">
            <a:avLst/>
          </a:prstGeom>
          <a:solidFill>
            <a:srgbClr val="E8EDF3"/>
          </a:solidFill>
          <a:ln w="14686">
            <a:solidFill>
              <a:srgbClr val="51607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032" b="1" i="0">
                <a:solidFill>
                  <a:srgbClr val="33414F"/>
                </a:solidFill>
                <a:latin typeface="Arial"/>
              </a:rPr>
              <a:t>Blob</a:t>
            </a:r>
          </a:p>
          <a:p>
            <a:pPr algn="ctr"/>
            <a:r>
              <a:rPr sz="784" b="0" i="0">
                <a:solidFill>
                  <a:srgbClr val="33414F"/>
                </a:solidFill>
                <a:latin typeface="Arial"/>
              </a:rPr>
              <a:t>landing</a:t>
            </a:r>
          </a:p>
        </p:txBody>
      </p:sp>
      <p:sp>
        <p:nvSpPr>
          <p:cNvPr id="13" name="Can 12"/>
          <p:cNvSpPr/>
          <p:nvPr/>
        </p:nvSpPr>
        <p:spPr>
          <a:xfrm>
            <a:off x="9840866" y="3770020"/>
            <a:ext cx="1573537" cy="587453"/>
          </a:xfrm>
          <a:prstGeom prst="can">
            <a:avLst/>
          </a:prstGeom>
          <a:solidFill>
            <a:srgbClr val="E8EDF3"/>
          </a:solidFill>
          <a:ln w="14686">
            <a:solidFill>
              <a:srgbClr val="51607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032" b="1" i="0">
                <a:solidFill>
                  <a:srgbClr val="33414F"/>
                </a:solidFill>
                <a:latin typeface="Arial"/>
              </a:rPr>
              <a:t>Snowflake</a:t>
            </a:r>
          </a:p>
          <a:p>
            <a:pPr algn="ctr"/>
            <a:r>
              <a:rPr sz="784" b="0" i="0">
                <a:solidFill>
                  <a:srgbClr val="33414F"/>
                </a:solidFill>
                <a:latin typeface="Arial"/>
              </a:rPr>
              <a:t>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9236" y="347629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26" b="0" i="0">
                <a:solidFill>
                  <a:srgbClr val="5A6675"/>
                </a:solidFill>
                <a:latin typeface="Arial"/>
              </a:rPr>
              <a:t>bordereaux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5130" y="347629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26" b="0" i="0">
                <a:solidFill>
                  <a:srgbClr val="5A6675"/>
                </a:solidFill>
                <a:latin typeface="Arial"/>
              </a:rPr>
              <a:t>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1024" y="347629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26" b="0" i="0">
                <a:solidFill>
                  <a:srgbClr val="5A6675"/>
                </a:solidFill>
                <a:latin typeface="Arial"/>
              </a:rPr>
              <a:t>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6917" y="3266488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26" b="0" i="0">
                <a:solidFill>
                  <a:srgbClr val="5A6675"/>
                </a:solidFill>
                <a:latin typeface="Arial"/>
              </a:rPr>
              <a:t>distribute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8567" y="4708897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67" b="0" i="1">
                <a:solidFill>
                  <a:srgbClr val="7A828F"/>
                </a:solidFill>
                <a:latin typeface="Arial"/>
              </a:rPr>
              <a:t>Target state: coverholder API capture-at-source replaces manual bordereaux re-key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Bulk Boundary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576035" y="357032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436173" y="357032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95383" y="306994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EFF1F4"/>
          </a:solidFill>
          <a:ln w="25019">
            <a:solidFill>
              <a:srgbClr val="AEB6C2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7A828F"/>
                </a:solidFill>
                <a:latin typeface="Arial"/>
              </a:rPr>
              <a:t>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5521" y="306994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EFF1F4"/>
          </a:solidFill>
          <a:ln w="25019">
            <a:solidFill>
              <a:srgbClr val="AEB6C2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7A828F"/>
                </a:solidFill>
                <a:latin typeface="Arial"/>
              </a:rPr>
              <a:t>Data Platform</a:t>
            </a:r>
          </a:p>
          <a:p>
            <a:pPr algn="ctr"/>
            <a:r>
              <a:rPr sz="1336" b="0" i="0">
                <a:solidFill>
                  <a:srgbClr val="7A828F"/>
                </a:solidFill>
                <a:latin typeface="Arial"/>
              </a:rPr>
              <a:t>ELT (not SIF)</a:t>
            </a:r>
          </a:p>
        </p:txBody>
      </p:sp>
      <p:sp>
        <p:nvSpPr>
          <p:cNvPr id="7" name="Can 6"/>
          <p:cNvSpPr/>
          <p:nvPr/>
        </p:nvSpPr>
        <p:spPr>
          <a:xfrm>
            <a:off x="8615659" y="3069941"/>
            <a:ext cx="2680651" cy="1000776"/>
          </a:xfrm>
          <a:prstGeom prst="can">
            <a:avLst/>
          </a:prstGeom>
          <a:solidFill>
            <a:srgbClr val="E8EDF3"/>
          </a:solidFill>
          <a:ln w="25019">
            <a:solidFill>
              <a:srgbClr val="51607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Snowflake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0627" y="328439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bulk 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0765" y="328439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land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8567" y="4669397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77" b="0" i="1">
                <a:solidFill>
                  <a:srgbClr val="7A828F"/>
                </a:solidFill>
                <a:latin typeface="Arial"/>
              </a:rPr>
              <a:t>Owned by the Data Platform; the SIF only raises a trigger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Canonical Contract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5186042" y="2650611"/>
            <a:ext cx="1764470" cy="1102794"/>
          </a:xfrm>
          <a:prstGeom prst="line">
            <a:avLst/>
          </a:prstGeom>
          <a:ln w="41354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186042" y="3753405"/>
            <a:ext cx="1764470" cy="1102794"/>
          </a:xfrm>
          <a:prstGeom prst="line">
            <a:avLst/>
          </a:prstGeom>
          <a:ln w="41354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50565" y="2981449"/>
            <a:ext cx="4135477" cy="1543911"/>
          </a:xfrm>
          <a:prstGeom prst="roundRect">
            <a:avLst>
              <a:gd name="adj" fmla="val 16071"/>
            </a:avLst>
          </a:prstGeom>
          <a:solidFill>
            <a:srgbClr val="D6ECEC"/>
          </a:solidFill>
          <a:ln w="38597">
            <a:solidFill>
              <a:srgbClr val="2C7A7B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2713" b="1" i="0">
                <a:solidFill>
                  <a:srgbClr val="1D5253"/>
                </a:solidFill>
                <a:latin typeface="Arial"/>
              </a:rPr>
              <a:t>Canonical events</a:t>
            </a:r>
          </a:p>
          <a:p>
            <a:pPr algn="ctr"/>
            <a:r>
              <a:rPr sz="2062" b="0" i="0">
                <a:solidFill>
                  <a:srgbClr val="1D5253"/>
                </a:solidFill>
                <a:latin typeface="Arial"/>
              </a:rPr>
              <a:t>Service Bus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5652" y="1878655"/>
            <a:ext cx="4135477" cy="1543911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38597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2713" b="1" i="0">
                <a:solidFill>
                  <a:srgbClr val="33414F"/>
                </a:solidFill>
                <a:latin typeface="Arial"/>
              </a:rPr>
              <a:t>Operational</a:t>
            </a:r>
          </a:p>
          <a:p>
            <a:pPr algn="ctr"/>
            <a:r>
              <a:rPr sz="2062" b="0" i="0">
                <a:solidFill>
                  <a:srgbClr val="33414F"/>
                </a:solidFill>
                <a:latin typeface="Arial"/>
              </a:rPr>
              <a:t>systems</a:t>
            </a:r>
          </a:p>
        </p:txBody>
      </p:sp>
      <p:sp>
        <p:nvSpPr>
          <p:cNvPr id="7" name="Can 6"/>
          <p:cNvSpPr/>
          <p:nvPr/>
        </p:nvSpPr>
        <p:spPr>
          <a:xfrm>
            <a:off x="7005652" y="4084243"/>
            <a:ext cx="4135477" cy="1543911"/>
          </a:xfrm>
          <a:prstGeom prst="can">
            <a:avLst/>
          </a:prstGeom>
          <a:solidFill>
            <a:srgbClr val="E8EDF3"/>
          </a:solidFill>
          <a:ln w="38597">
            <a:solidFill>
              <a:srgbClr val="51607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2713" b="1" i="0">
                <a:solidFill>
                  <a:srgbClr val="33414F"/>
                </a:solidFill>
                <a:latin typeface="Arial"/>
              </a:rPr>
              <a:t>Snowflake</a:t>
            </a:r>
          </a:p>
          <a:p>
            <a:pPr algn="ctr"/>
            <a:r>
              <a:rPr sz="2062" b="0" i="0">
                <a:solidFill>
                  <a:srgbClr val="33414F"/>
                </a:solidFill>
                <a:latin typeface="Arial"/>
              </a:rPr>
              <a:t>data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70997" y="2760890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170" b="0" i="0">
                <a:solidFill>
                  <a:srgbClr val="5A6675"/>
                </a:solidFill>
                <a:latin typeface="Arial"/>
              </a:rPr>
              <a:t>one shared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8567" y="655174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79" b="0" i="1">
                <a:solidFill>
                  <a:srgbClr val="7A828F"/>
                </a:solidFill>
                <a:latin typeface="Arial"/>
              </a:rPr>
              <a:t>The canonical model is the contract for operational and analytical consumers alike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Canonical Model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04007" y="2559218"/>
            <a:ext cx="846096" cy="1057619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804007" y="3616837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2804007" y="3616837"/>
            <a:ext cx="846096" cy="1057619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59579" y="3616837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515151" y="3088027"/>
            <a:ext cx="846096" cy="52881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515151" y="3616837"/>
            <a:ext cx="846096" cy="52881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0971" y="2189051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18508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33414F"/>
                </a:solidFill>
                <a:latin typeface="Arial"/>
              </a:rPr>
              <a:t>Broker</a:t>
            </a:r>
          </a:p>
          <a:p>
            <a:pPr algn="ctr"/>
            <a:r>
              <a:rPr sz="988" b="0" i="0">
                <a:solidFill>
                  <a:srgbClr val="33414F"/>
                </a:solidFill>
                <a:latin typeface="Arial"/>
              </a:rPr>
              <a:t>EDI / XML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0971" y="3246670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18508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33414F"/>
                </a:solidFill>
                <a:latin typeface="Arial"/>
              </a:rPr>
              <a:t>Coverholder</a:t>
            </a:r>
          </a:p>
          <a:p>
            <a:pPr algn="ctr"/>
            <a:r>
              <a:rPr sz="988" b="0" i="0">
                <a:solidFill>
                  <a:srgbClr val="33414F"/>
                </a:solidFill>
                <a:latin typeface="Arial"/>
              </a:rPr>
              <a:t>bordereaux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0971" y="4304290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18508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33414F"/>
                </a:solidFill>
                <a:latin typeface="Arial"/>
              </a:rPr>
              <a:t>Bureau</a:t>
            </a:r>
          </a:p>
          <a:p>
            <a:pPr algn="ctr"/>
            <a:r>
              <a:rPr sz="988" b="0" i="0">
                <a:solidFill>
                  <a:srgbClr val="33414F"/>
                </a:solidFill>
                <a:latin typeface="Arial"/>
              </a:rPr>
              <a:t>ACORD / CDR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76543" y="3246670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BF1DA"/>
          </a:solidFill>
          <a:ln w="18508">
            <a:solidFill>
              <a:srgbClr val="B7791F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7A4F12"/>
                </a:solidFill>
                <a:latin typeface="Arial"/>
              </a:rPr>
              <a:t>Translator</a:t>
            </a:r>
          </a:p>
          <a:p>
            <a:pPr algn="ctr"/>
            <a:r>
              <a:rPr sz="988" b="0" i="0">
                <a:solidFill>
                  <a:srgbClr val="7A4F12"/>
                </a:solidFill>
                <a:latin typeface="Arial"/>
              </a:rPr>
              <a:t>Functions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87687" y="2717861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18508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33414F"/>
                </a:solidFill>
                <a:latin typeface="Arial"/>
              </a:rPr>
              <a:t>Policy sys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87687" y="3775480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18508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33414F"/>
                </a:solidFill>
                <a:latin typeface="Arial"/>
              </a:rPr>
              <a:t>Claims sys</a:t>
            </a:r>
          </a:p>
        </p:txBody>
      </p:sp>
      <p:sp>
        <p:nvSpPr>
          <p:cNvPr id="15" name="Can 14"/>
          <p:cNvSpPr/>
          <p:nvPr/>
        </p:nvSpPr>
        <p:spPr>
          <a:xfrm>
            <a:off x="6532115" y="3246670"/>
            <a:ext cx="1983036" cy="740333"/>
          </a:xfrm>
          <a:prstGeom prst="can">
            <a:avLst/>
          </a:prstGeom>
          <a:solidFill>
            <a:srgbClr val="E8EDF3"/>
          </a:solidFill>
          <a:ln w="18508">
            <a:solidFill>
              <a:srgbClr val="51607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33414F"/>
                </a:solidFill>
                <a:latin typeface="Arial"/>
              </a:rPr>
              <a:t>Canonical</a:t>
            </a:r>
          </a:p>
          <a:p>
            <a:pPr algn="ctr"/>
            <a:r>
              <a:rPr sz="988" b="0" i="0">
                <a:solidFill>
                  <a:srgbClr val="33414F"/>
                </a:solidFill>
                <a:latin typeface="Arial"/>
              </a:rP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9775" y="287650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5347" y="340531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canonical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19" y="3140908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distribute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8567" y="5487501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93" b="0" i="1">
                <a:solidFill>
                  <a:srgbClr val="7A828F"/>
                </a:solidFill>
                <a:latin typeface="Arial"/>
              </a:rPr>
              <a:t>One translator per format; internal systems see only the canonical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CDC Ingest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04007" y="3616837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659579" y="3616837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515151" y="3616837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76543" y="3246670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BF1DA"/>
          </a:solidFill>
          <a:ln w="18508">
            <a:solidFill>
              <a:srgbClr val="B7791F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7A4F12"/>
                </a:solidFill>
                <a:latin typeface="Arial"/>
              </a:rPr>
              <a:t>CDC connector</a:t>
            </a:r>
          </a:p>
          <a:p>
            <a:pPr algn="ctr"/>
            <a:r>
              <a:rPr sz="988" b="0" i="0">
                <a:solidFill>
                  <a:srgbClr val="7A4F12"/>
                </a:solidFill>
                <a:latin typeface="Arial"/>
              </a:rPr>
              <a:t>log-based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2115" y="3246670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BE7D6"/>
          </a:solidFill>
          <a:ln w="18508">
            <a:solidFill>
              <a:srgbClr val="C05621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7B3410"/>
                </a:solidFill>
                <a:latin typeface="Arial"/>
              </a:rPr>
              <a:t>Event Hubs</a:t>
            </a:r>
          </a:p>
          <a:p>
            <a:pPr algn="ctr"/>
            <a:r>
              <a:rPr sz="988" b="0" i="0">
                <a:solidFill>
                  <a:srgbClr val="7B3410"/>
                </a:solidFill>
                <a:latin typeface="Arial"/>
              </a:rPr>
              <a:t>change stream</a:t>
            </a:r>
          </a:p>
        </p:txBody>
      </p:sp>
      <p:sp>
        <p:nvSpPr>
          <p:cNvPr id="8" name="Can 7"/>
          <p:cNvSpPr/>
          <p:nvPr/>
        </p:nvSpPr>
        <p:spPr>
          <a:xfrm>
            <a:off x="820971" y="3246670"/>
            <a:ext cx="1983036" cy="740333"/>
          </a:xfrm>
          <a:prstGeom prst="can">
            <a:avLst/>
          </a:prstGeom>
          <a:solidFill>
            <a:srgbClr val="E8EDF3"/>
          </a:solidFill>
          <a:ln w="18508">
            <a:solidFill>
              <a:srgbClr val="51607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33414F"/>
                </a:solidFill>
                <a:latin typeface="Arial"/>
              </a:rPr>
              <a:t>Operational DB</a:t>
            </a:r>
          </a:p>
          <a:p>
            <a:pPr algn="ctr"/>
            <a:r>
              <a:rPr sz="988" b="0" i="0">
                <a:solidFill>
                  <a:srgbClr val="33414F"/>
                </a:solidFill>
                <a:latin typeface="Arial"/>
              </a:rPr>
              <a:t>source</a:t>
            </a:r>
          </a:p>
        </p:txBody>
      </p:sp>
      <p:sp>
        <p:nvSpPr>
          <p:cNvPr id="9" name="Can 8"/>
          <p:cNvSpPr/>
          <p:nvPr/>
        </p:nvSpPr>
        <p:spPr>
          <a:xfrm>
            <a:off x="9387687" y="3246670"/>
            <a:ext cx="1983036" cy="740333"/>
          </a:xfrm>
          <a:prstGeom prst="can">
            <a:avLst/>
          </a:prstGeom>
          <a:solidFill>
            <a:srgbClr val="E8EDF3"/>
          </a:solidFill>
          <a:ln w="18508">
            <a:solidFill>
              <a:srgbClr val="51607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33414F"/>
                </a:solidFill>
                <a:latin typeface="Arial"/>
              </a:rPr>
              <a:t>Snowflake</a:t>
            </a:r>
          </a:p>
          <a:p>
            <a:pPr algn="ctr"/>
            <a:r>
              <a:rPr sz="988" b="0" i="0">
                <a:solidFill>
                  <a:srgbClr val="33414F"/>
                </a:solidFill>
                <a:latin typeface="Arial"/>
              </a:rPr>
              <a:t>landing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9775" y="340531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change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5347" y="340531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0919" y="340531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land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8567" y="4429882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93" b="0" i="1">
                <a:solidFill>
                  <a:srgbClr val="7A828F"/>
                </a:solidFill>
                <a:latin typeface="Arial"/>
              </a:rPr>
              <a:t>Only when the source cannot emit domain events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Claim Check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595488" y="2633771"/>
            <a:ext cx="1115268" cy="0"/>
          </a:xfrm>
          <a:prstGeom prst="line">
            <a:avLst/>
          </a:prstGeom>
          <a:ln w="26982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444962" y="2633771"/>
            <a:ext cx="1115268" cy="0"/>
          </a:xfrm>
          <a:prstGeom prst="line">
            <a:avLst/>
          </a:prstGeom>
          <a:ln w="26982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246373" y="3137441"/>
            <a:ext cx="3219887" cy="1223197"/>
          </a:xfrm>
          <a:prstGeom prst="line">
            <a:avLst/>
          </a:prstGeom>
          <a:ln w="26982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6725434" y="3137441"/>
            <a:ext cx="3219887" cy="1223197"/>
          </a:xfrm>
          <a:prstGeom prst="line">
            <a:avLst/>
          </a:prstGeom>
          <a:ln w="26982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97258" y="2130102"/>
            <a:ext cx="2698229" cy="1007339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183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70" b="1" i="0">
                <a:solidFill>
                  <a:srgbClr val="33414F"/>
                </a:solidFill>
                <a:latin typeface="Arial"/>
              </a:rPr>
              <a:t>Producer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46732" y="2130102"/>
            <a:ext cx="2698229" cy="1007339"/>
          </a:xfrm>
          <a:prstGeom prst="roundRect">
            <a:avLst>
              <a:gd name="adj" fmla="val 16071"/>
            </a:avLst>
          </a:prstGeom>
          <a:solidFill>
            <a:srgbClr val="D6ECEC"/>
          </a:solidFill>
          <a:ln w="25183">
            <a:solidFill>
              <a:srgbClr val="2C7A7B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70" b="1" i="0">
                <a:solidFill>
                  <a:srgbClr val="1D5253"/>
                </a:solidFill>
                <a:latin typeface="Arial"/>
              </a:rPr>
              <a:t>Queue: reference</a:t>
            </a:r>
          </a:p>
          <a:p>
            <a:pPr algn="ctr"/>
            <a:r>
              <a:rPr sz="1345" b="0" i="0">
                <a:solidFill>
                  <a:srgbClr val="1D5253"/>
                </a:solidFill>
                <a:latin typeface="Arial"/>
              </a:rPr>
              <a:t>Service Bus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6206" y="2130102"/>
            <a:ext cx="2698229" cy="1007339"/>
          </a:xfrm>
          <a:prstGeom prst="roundRect">
            <a:avLst>
              <a:gd name="adj" fmla="val 16071"/>
            </a:avLst>
          </a:prstGeom>
          <a:solidFill>
            <a:srgbClr val="FBF1DA"/>
          </a:solidFill>
          <a:ln w="25183">
            <a:solidFill>
              <a:srgbClr val="B7791F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70" b="1" i="0">
                <a:solidFill>
                  <a:srgbClr val="7A4F12"/>
                </a:solidFill>
                <a:latin typeface="Arial"/>
              </a:rPr>
              <a:t>Consumer</a:t>
            </a:r>
          </a:p>
          <a:p>
            <a:pPr algn="ctr"/>
            <a:r>
              <a:rPr sz="1345" b="0" i="0">
                <a:solidFill>
                  <a:srgbClr val="7A4F12"/>
                </a:solidFill>
                <a:latin typeface="Arial"/>
              </a:rPr>
              <a:t>Function</a:t>
            </a:r>
          </a:p>
        </p:txBody>
      </p:sp>
      <p:sp>
        <p:nvSpPr>
          <p:cNvPr id="10" name="Can 9"/>
          <p:cNvSpPr/>
          <p:nvPr/>
        </p:nvSpPr>
        <p:spPr>
          <a:xfrm>
            <a:off x="4746732" y="4360638"/>
            <a:ext cx="2698229" cy="1007339"/>
          </a:xfrm>
          <a:prstGeom prst="can">
            <a:avLst/>
          </a:prstGeom>
          <a:solidFill>
            <a:srgbClr val="E8EDF3"/>
          </a:solidFill>
          <a:ln w="25183">
            <a:solidFill>
              <a:srgbClr val="51607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70" b="1" i="0">
                <a:solidFill>
                  <a:srgbClr val="33414F"/>
                </a:solidFill>
                <a:latin typeface="Arial"/>
              </a:rPr>
              <a:t>Blob store</a:t>
            </a:r>
          </a:p>
          <a:p>
            <a:pPr algn="ctr"/>
            <a:r>
              <a:rPr sz="1345" b="0" i="0">
                <a:solidFill>
                  <a:srgbClr val="33414F"/>
                </a:solidFill>
                <a:latin typeface="Arial"/>
              </a:rPr>
              <a:t>payload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55842" y="2345960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16" b="0" i="0">
                <a:solidFill>
                  <a:srgbClr val="5A6675"/>
                </a:solidFill>
                <a:latin typeface="Arial"/>
              </a:rPr>
              <a:t>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5316" y="2345960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16" b="0" i="0">
                <a:solidFill>
                  <a:srgbClr val="5A6675"/>
                </a:solidFill>
                <a:latin typeface="Arial"/>
              </a:rPr>
              <a:t>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9037" y="3461228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16" b="0" i="0">
                <a:solidFill>
                  <a:srgbClr val="5A6675"/>
                </a:solidFill>
                <a:latin typeface="Arial"/>
              </a:rPr>
              <a:t>store payload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8098" y="3461228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16" b="0" i="0">
                <a:solidFill>
                  <a:srgbClr val="5A6675"/>
                </a:solidFill>
                <a:latin typeface="Arial"/>
              </a:rPr>
              <a:t>fetch payload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Compensation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576035" y="374903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436173" y="374903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6095847" y="4249428"/>
            <a:ext cx="3860138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95383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E9E2F5"/>
          </a:solidFill>
          <a:ln w="25019">
            <a:solidFill>
              <a:srgbClr val="6D4AA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4A2E7A"/>
                </a:solidFill>
                <a:latin typeface="Arial"/>
              </a:rPr>
              <a:t>Logic App</a:t>
            </a:r>
          </a:p>
          <a:p>
            <a:pPr algn="ctr"/>
            <a:r>
              <a:rPr sz="1336" b="0" i="0">
                <a:solidFill>
                  <a:srgbClr val="4A2E7A"/>
                </a:solidFill>
                <a:latin typeface="Arial"/>
              </a:rPr>
              <a:t>orchestrator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5521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Bind policy</a:t>
            </a:r>
          </a:p>
          <a:p>
            <a:pPr algn="ctr"/>
            <a:r>
              <a:rPr sz="1336" b="0" i="0">
                <a:solidFill>
                  <a:srgbClr val="33414F"/>
                </a:solidFill>
                <a:latin typeface="Arial"/>
              </a:rPr>
              <a:t>System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15659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688" b="1" i="0">
                <a:solidFill>
                  <a:srgbClr val="33414F"/>
                </a:solidFill>
                <a:latin typeface="Arial"/>
              </a:rPr>
              <a:t>Post to</a:t>
            </a:r>
          </a:p>
          <a:p>
            <a:pPr algn="ctr"/>
            <a:r>
              <a:rPr sz="1688" b="1" i="0">
                <a:solidFill>
                  <a:srgbClr val="33414F"/>
                </a:solidFill>
                <a:latin typeface="Arial"/>
              </a:rPr>
              <a:t>finance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0627" y="346310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10765" y="346310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8636" y="3963492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on failure → compensate (void bind)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Competing Consumers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576035" y="374903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7436173" y="2319359"/>
            <a:ext cx="1143744" cy="142968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436173" y="374903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436173" y="3749039"/>
            <a:ext cx="1143744" cy="1429681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95383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Producer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5521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D6ECEC"/>
          </a:solidFill>
          <a:ln w="25019">
            <a:solidFill>
              <a:srgbClr val="2C7A7B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1D5253"/>
                </a:solidFill>
                <a:latin typeface="Arial"/>
              </a:rPr>
              <a:t>Queue</a:t>
            </a:r>
          </a:p>
          <a:p>
            <a:pPr algn="ctr"/>
            <a:r>
              <a:rPr sz="1336" b="0" i="0">
                <a:solidFill>
                  <a:srgbClr val="1D5253"/>
                </a:solidFill>
                <a:latin typeface="Arial"/>
              </a:rPr>
              <a:t>Service Bus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15659" y="1818970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BF1DA"/>
          </a:solidFill>
          <a:ln w="25019">
            <a:solidFill>
              <a:srgbClr val="B7791F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7A4F12"/>
                </a:solidFill>
                <a:latin typeface="Arial"/>
              </a:rPr>
              <a:t>Worker 1</a:t>
            </a:r>
          </a:p>
          <a:p>
            <a:pPr algn="ctr"/>
            <a:r>
              <a:rPr sz="1336" b="0" i="0">
                <a:solidFill>
                  <a:srgbClr val="7A4F12"/>
                </a:solidFill>
                <a:latin typeface="Arial"/>
              </a:rPr>
              <a:t>Function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15659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BF1DA"/>
          </a:solidFill>
          <a:ln w="25019">
            <a:solidFill>
              <a:srgbClr val="B7791F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7A4F12"/>
                </a:solidFill>
                <a:latin typeface="Arial"/>
              </a:rPr>
              <a:t>Worker 2</a:t>
            </a:r>
          </a:p>
          <a:p>
            <a:pPr algn="ctr"/>
            <a:r>
              <a:rPr sz="1336" b="0" i="0">
                <a:solidFill>
                  <a:srgbClr val="7A4F12"/>
                </a:solidFill>
                <a:latin typeface="Arial"/>
              </a:rPr>
              <a:t>Function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15659" y="4678332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BF1DA"/>
          </a:solidFill>
          <a:ln w="25019">
            <a:solidFill>
              <a:srgbClr val="B7791F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7A4F12"/>
                </a:solidFill>
                <a:latin typeface="Arial"/>
              </a:rPr>
              <a:t>Worker 3</a:t>
            </a:r>
          </a:p>
          <a:p>
            <a:pPr algn="ctr"/>
            <a:r>
              <a:rPr sz="1336" b="0" i="0">
                <a:solidFill>
                  <a:srgbClr val="7A4F12"/>
                </a:solidFill>
                <a:latin typeface="Arial"/>
              </a:rPr>
              <a:t>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0627" y="346310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enqueue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0765" y="274826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compete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Content Router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576035" y="374903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7436173" y="2319359"/>
            <a:ext cx="1143744" cy="142968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436173" y="374903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436173" y="3749039"/>
            <a:ext cx="1143744" cy="1429681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95383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5521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D6ECEC"/>
          </a:solidFill>
          <a:ln w="25019">
            <a:solidFill>
              <a:srgbClr val="2C7A7B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1D5253"/>
                </a:solidFill>
                <a:latin typeface="Arial"/>
              </a:rPr>
              <a:t>Router</a:t>
            </a:r>
          </a:p>
          <a:p>
            <a:pPr algn="ctr"/>
            <a:r>
              <a:rPr sz="1336" b="0" i="0">
                <a:solidFill>
                  <a:srgbClr val="1D5253"/>
                </a:solidFill>
                <a:latin typeface="Arial"/>
              </a:rPr>
              <a:t>SB / Event Grid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15659" y="1818970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Motor</a:t>
            </a:r>
          </a:p>
          <a:p>
            <a:pPr algn="ctr"/>
            <a:r>
              <a:rPr sz="1336" b="0" i="0">
                <a:solidFill>
                  <a:srgbClr val="33414F"/>
                </a:solidFill>
                <a:latin typeface="Arial"/>
              </a:rPr>
              <a:t>LOB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15659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Property</a:t>
            </a:r>
          </a:p>
          <a:p>
            <a:pPr algn="ctr"/>
            <a:r>
              <a:rPr sz="1336" b="0" i="0">
                <a:solidFill>
                  <a:srgbClr val="33414F"/>
                </a:solidFill>
                <a:latin typeface="Arial"/>
              </a:rPr>
              <a:t>LOB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15659" y="4678332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Casualty</a:t>
            </a:r>
          </a:p>
          <a:p>
            <a:pPr algn="ctr"/>
            <a:r>
              <a:rPr sz="1336" b="0" i="0">
                <a:solidFill>
                  <a:srgbClr val="33414F"/>
                </a:solidFill>
                <a:latin typeface="Arial"/>
              </a:rPr>
              <a:t>LOB 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0627" y="346310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0765" y="274826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route by content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Data Product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04007" y="3749039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659579" y="3749039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515151" y="3749039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0971" y="3378873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18508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33414F"/>
                </a:solidFill>
                <a:latin typeface="Arial"/>
              </a:rPr>
              <a:t>Consumer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76543" y="3378873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DCE7F5"/>
          </a:solidFill>
          <a:ln w="18508">
            <a:solidFill>
              <a:srgbClr val="2E549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1F3864"/>
                </a:solidFill>
                <a:latin typeface="Arial"/>
              </a:rPr>
              <a:t>APIM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2115" y="3378873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BF1DA"/>
          </a:solidFill>
          <a:ln w="18508">
            <a:solidFill>
              <a:srgbClr val="B7791F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249" b="1" i="0">
                <a:solidFill>
                  <a:srgbClr val="7A4F12"/>
                </a:solidFill>
                <a:latin typeface="Arial"/>
              </a:rPr>
              <a:t>Serving</a:t>
            </a:r>
          </a:p>
          <a:p>
            <a:pPr algn="ctr"/>
            <a:r>
              <a:rPr sz="1249" b="1" i="0">
                <a:solidFill>
                  <a:srgbClr val="7A4F12"/>
                </a:solidFill>
                <a:latin typeface="Arial"/>
              </a:rPr>
              <a:t>Function / cache</a:t>
            </a:r>
          </a:p>
        </p:txBody>
      </p:sp>
      <p:sp>
        <p:nvSpPr>
          <p:cNvPr id="9" name="Can 8"/>
          <p:cNvSpPr/>
          <p:nvPr/>
        </p:nvSpPr>
        <p:spPr>
          <a:xfrm>
            <a:off x="9387687" y="3378873"/>
            <a:ext cx="1983036" cy="740333"/>
          </a:xfrm>
          <a:prstGeom prst="can">
            <a:avLst/>
          </a:prstGeom>
          <a:solidFill>
            <a:srgbClr val="E8EDF3"/>
          </a:solidFill>
          <a:ln w="18508">
            <a:solidFill>
              <a:srgbClr val="51607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33414F"/>
                </a:solidFill>
                <a:latin typeface="Arial"/>
              </a:rPr>
              <a:t>Snowflake</a:t>
            </a:r>
          </a:p>
          <a:p>
            <a:pPr algn="ctr"/>
            <a:r>
              <a:rPr sz="988" b="0" i="0">
                <a:solidFill>
                  <a:srgbClr val="33414F"/>
                </a:solidFill>
                <a:latin typeface="Arial"/>
              </a:rPr>
              <a:t>curated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9775" y="353751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5347" y="353751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0919" y="353751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query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Decision Tree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69389" y="1875941"/>
            <a:ext cx="0" cy="284269"/>
          </a:xfrm>
          <a:prstGeom prst="line">
            <a:avLst/>
          </a:prstGeom>
          <a:ln w="22741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759781" y="2558187"/>
            <a:ext cx="1961459" cy="0"/>
          </a:xfrm>
          <a:prstGeom prst="line">
            <a:avLst/>
          </a:prstGeom>
          <a:ln w="22741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869389" y="2956165"/>
            <a:ext cx="0" cy="397977"/>
          </a:xfrm>
          <a:prstGeom prst="line">
            <a:avLst/>
          </a:prstGeom>
          <a:ln w="22741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759781" y="3752119"/>
            <a:ext cx="1961459" cy="0"/>
          </a:xfrm>
          <a:prstGeom prst="line">
            <a:avLst/>
          </a:prstGeom>
          <a:ln w="22741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69389" y="4150096"/>
            <a:ext cx="0" cy="397977"/>
          </a:xfrm>
          <a:prstGeom prst="line">
            <a:avLst/>
          </a:prstGeom>
          <a:ln w="22741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59781" y="4946051"/>
            <a:ext cx="1961459" cy="0"/>
          </a:xfrm>
          <a:prstGeom prst="line">
            <a:avLst/>
          </a:prstGeom>
          <a:ln w="22741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869389" y="5344028"/>
            <a:ext cx="0" cy="397977"/>
          </a:xfrm>
          <a:prstGeom prst="line">
            <a:avLst/>
          </a:prstGeom>
          <a:ln w="22741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59781" y="6139982"/>
            <a:ext cx="1961459" cy="0"/>
          </a:xfrm>
          <a:prstGeom prst="line">
            <a:avLst/>
          </a:prstGeom>
          <a:ln w="22741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69389" y="6537960"/>
            <a:ext cx="0" cy="397977"/>
          </a:xfrm>
          <a:prstGeom prst="line">
            <a:avLst/>
          </a:prstGeom>
          <a:ln w="22741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59781" y="7333914"/>
            <a:ext cx="1961459" cy="0"/>
          </a:xfrm>
          <a:prstGeom prst="line">
            <a:avLst/>
          </a:prstGeom>
          <a:ln w="22741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69389" y="7731891"/>
            <a:ext cx="0" cy="397977"/>
          </a:xfrm>
          <a:prstGeom prst="line">
            <a:avLst/>
          </a:prstGeom>
          <a:ln w="22741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759781" y="8527846"/>
            <a:ext cx="1961459" cy="0"/>
          </a:xfrm>
          <a:prstGeom prst="line">
            <a:avLst/>
          </a:prstGeom>
          <a:ln w="22741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8997" y="1307402"/>
            <a:ext cx="3780783" cy="568538"/>
          </a:xfrm>
          <a:prstGeom prst="roundRect">
            <a:avLst>
              <a:gd name="adj" fmla="val 25000"/>
            </a:avLst>
          </a:prstGeom>
          <a:solidFill>
            <a:srgbClr val="DCE7F5"/>
          </a:solidFill>
          <a:ln w="21320">
            <a:solidFill>
              <a:srgbClr val="2E549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98" b="1" i="0">
                <a:solidFill>
                  <a:srgbClr val="1F3864"/>
                </a:solidFill>
                <a:latin typeface="Arial"/>
              </a:rPr>
              <a:t>New integration requirement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997" y="2160210"/>
            <a:ext cx="3780783" cy="795954"/>
          </a:xfrm>
          <a:prstGeom prst="roundRect">
            <a:avLst>
              <a:gd name="adj" fmla="val 17857"/>
            </a:avLst>
          </a:prstGeom>
          <a:solidFill>
            <a:srgbClr val="FDF3E0"/>
          </a:solidFill>
          <a:ln w="21320">
            <a:solidFill>
              <a:srgbClr val="C08A2E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253" b="1" i="0">
                <a:solidFill>
                  <a:srgbClr val="7A4F12"/>
                </a:solidFill>
                <a:latin typeface="Arial"/>
              </a:rPr>
              <a:t>Bulk, analytical or</a:t>
            </a:r>
          </a:p>
          <a:p>
            <a:pPr algn="ctr"/>
            <a:r>
              <a:rPr sz="1253" b="0" i="0">
                <a:solidFill>
                  <a:srgbClr val="7A4F12"/>
                </a:solidFill>
                <a:latin typeface="Arial"/>
              </a:rPr>
              <a:t>historical data?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1240" y="2160210"/>
            <a:ext cx="4519883" cy="795954"/>
          </a:xfrm>
          <a:prstGeom prst="roundRect">
            <a:avLst>
              <a:gd name="adj" fmla="val 17857"/>
            </a:avLst>
          </a:prstGeom>
          <a:solidFill>
            <a:srgbClr val="E4F0E6"/>
          </a:solidFill>
          <a:ln w="21320">
            <a:solidFill>
              <a:srgbClr val="2F855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43" b="1" i="0">
                <a:solidFill>
                  <a:srgbClr val="1C5138"/>
                </a:solidFill>
                <a:latin typeface="Arial"/>
              </a:rPr>
              <a:t>Data Platform (Snowflake)</a:t>
            </a:r>
          </a:p>
          <a:p>
            <a:pPr algn="ctr"/>
            <a:r>
              <a:rPr sz="1063" b="0" i="0">
                <a:solidFill>
                  <a:srgbClr val="1C5138"/>
                </a:solidFill>
                <a:latin typeface="Arial"/>
              </a:rPr>
              <a:t>outside SIF; only triggers/notifies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997" y="3354142"/>
            <a:ext cx="3780783" cy="795954"/>
          </a:xfrm>
          <a:prstGeom prst="roundRect">
            <a:avLst>
              <a:gd name="adj" fmla="val 17857"/>
            </a:avLst>
          </a:prstGeom>
          <a:solidFill>
            <a:srgbClr val="FDF3E0"/>
          </a:solidFill>
          <a:ln w="21320">
            <a:solidFill>
              <a:srgbClr val="C08A2E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253" b="1" i="0">
                <a:solidFill>
                  <a:srgbClr val="7A4F12"/>
                </a:solidFill>
                <a:latin typeface="Arial"/>
              </a:rPr>
              <a:t>Multi-step, stateful process</a:t>
            </a:r>
          </a:p>
          <a:p>
            <a:pPr algn="ctr"/>
            <a:r>
              <a:rPr sz="1253" b="0" i="0">
                <a:solidFill>
                  <a:srgbClr val="7A4F12"/>
                </a:solidFill>
                <a:latin typeface="Arial"/>
              </a:rPr>
              <a:t>across systems?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1240" y="3354142"/>
            <a:ext cx="4519883" cy="795954"/>
          </a:xfrm>
          <a:prstGeom prst="roundRect">
            <a:avLst>
              <a:gd name="adj" fmla="val 17857"/>
            </a:avLst>
          </a:prstGeom>
          <a:solidFill>
            <a:srgbClr val="E4F0E6"/>
          </a:solidFill>
          <a:ln w="21320">
            <a:solidFill>
              <a:srgbClr val="2F855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43" b="1" i="0">
                <a:solidFill>
                  <a:srgbClr val="1C5138"/>
                </a:solidFill>
                <a:latin typeface="Arial"/>
              </a:rPr>
              <a:t>Orchestration</a:t>
            </a:r>
          </a:p>
          <a:p>
            <a:pPr algn="ctr"/>
            <a:r>
              <a:rPr sz="1063" b="0" i="0">
                <a:solidFill>
                  <a:srgbClr val="1C5138"/>
                </a:solidFill>
                <a:latin typeface="Arial"/>
              </a:rPr>
              <a:t>Logic Apps (Standard) + Functions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997" y="4548073"/>
            <a:ext cx="3780783" cy="795954"/>
          </a:xfrm>
          <a:prstGeom prst="roundRect">
            <a:avLst>
              <a:gd name="adj" fmla="val 17857"/>
            </a:avLst>
          </a:prstGeom>
          <a:solidFill>
            <a:srgbClr val="FDF3E0"/>
          </a:solidFill>
          <a:ln w="21320">
            <a:solidFill>
              <a:srgbClr val="C08A2E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253" b="1" i="0">
                <a:solidFill>
                  <a:srgbClr val="7A4F12"/>
                </a:solidFill>
                <a:latin typeface="Arial"/>
              </a:rPr>
              <a:t>Synchronous reply needed AND</a:t>
            </a:r>
          </a:p>
          <a:p>
            <a:pPr algn="ctr"/>
            <a:r>
              <a:rPr sz="1253" b="0" i="0">
                <a:solidFill>
                  <a:srgbClr val="7A4F12"/>
                </a:solidFill>
                <a:latin typeface="Arial"/>
              </a:rPr>
              <a:t>work is short/bounded?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1240" y="4548073"/>
            <a:ext cx="4519883" cy="795954"/>
          </a:xfrm>
          <a:prstGeom prst="roundRect">
            <a:avLst>
              <a:gd name="adj" fmla="val 17857"/>
            </a:avLst>
          </a:prstGeom>
          <a:solidFill>
            <a:srgbClr val="E4F0E6"/>
          </a:solidFill>
          <a:ln w="21320">
            <a:solidFill>
              <a:srgbClr val="2F855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43" b="1" i="0">
                <a:solidFill>
                  <a:srgbClr val="1C5138"/>
                </a:solidFill>
                <a:latin typeface="Arial"/>
              </a:rPr>
              <a:t>Request / Response API</a:t>
            </a:r>
          </a:p>
          <a:p>
            <a:pPr algn="ctr"/>
            <a:r>
              <a:rPr sz="1063" b="0" i="0">
                <a:solidFill>
                  <a:srgbClr val="1C5138"/>
                </a:solidFill>
                <a:latin typeface="Arial"/>
              </a:rPr>
              <a:t>API Management (+ Functions)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997" y="5742005"/>
            <a:ext cx="3780783" cy="795954"/>
          </a:xfrm>
          <a:prstGeom prst="roundRect">
            <a:avLst>
              <a:gd name="adj" fmla="val 17857"/>
            </a:avLst>
          </a:prstGeom>
          <a:solidFill>
            <a:srgbClr val="FDF3E0"/>
          </a:solidFill>
          <a:ln w="21320">
            <a:solidFill>
              <a:srgbClr val="C08A2E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253" b="1" i="0">
                <a:solidFill>
                  <a:srgbClr val="7A4F12"/>
                </a:solidFill>
                <a:latin typeface="Arial"/>
              </a:rPr>
              <a:t>Synchronous reply needed but</a:t>
            </a:r>
          </a:p>
          <a:p>
            <a:pPr algn="ctr"/>
            <a:r>
              <a:rPr sz="1253" b="0" i="0">
                <a:solidFill>
                  <a:srgbClr val="7A4F12"/>
                </a:solidFill>
                <a:latin typeface="Arial"/>
              </a:rPr>
              <a:t>work is long-running?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1240" y="5742005"/>
            <a:ext cx="4519883" cy="795954"/>
          </a:xfrm>
          <a:prstGeom prst="roundRect">
            <a:avLst>
              <a:gd name="adj" fmla="val 17857"/>
            </a:avLst>
          </a:prstGeom>
          <a:solidFill>
            <a:srgbClr val="E4F0E6"/>
          </a:solidFill>
          <a:ln w="21320">
            <a:solidFill>
              <a:srgbClr val="2F855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43" b="1" i="0">
                <a:solidFill>
                  <a:srgbClr val="1C5138"/>
                </a:solidFill>
                <a:latin typeface="Arial"/>
              </a:rPr>
              <a:t>Asynchronous Request-Reply</a:t>
            </a:r>
          </a:p>
          <a:p>
            <a:pPr algn="ctr"/>
            <a:r>
              <a:rPr sz="1063" b="0" i="0">
                <a:solidFill>
                  <a:srgbClr val="1C5138"/>
                </a:solidFill>
                <a:latin typeface="Arial"/>
              </a:rPr>
              <a:t>APIM + Service Bus (202 + status)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997" y="6935937"/>
            <a:ext cx="3780783" cy="795954"/>
          </a:xfrm>
          <a:prstGeom prst="roundRect">
            <a:avLst>
              <a:gd name="adj" fmla="val 17857"/>
            </a:avLst>
          </a:prstGeom>
          <a:solidFill>
            <a:srgbClr val="FDF3E0"/>
          </a:solidFill>
          <a:ln w="21320">
            <a:solidFill>
              <a:srgbClr val="C08A2E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253" b="1" i="0">
                <a:solidFill>
                  <a:srgbClr val="7A4F12"/>
                </a:solidFill>
                <a:latin typeface="Arial"/>
              </a:rPr>
              <a:t>A command directed to</a:t>
            </a:r>
          </a:p>
          <a:p>
            <a:pPr algn="ctr"/>
            <a:r>
              <a:rPr sz="1253" b="0" i="0">
                <a:solidFill>
                  <a:srgbClr val="7A4F12"/>
                </a:solidFill>
                <a:latin typeface="Arial"/>
              </a:rPr>
              <a:t>one known consumer?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1240" y="6935937"/>
            <a:ext cx="4519883" cy="795954"/>
          </a:xfrm>
          <a:prstGeom prst="roundRect">
            <a:avLst>
              <a:gd name="adj" fmla="val 17857"/>
            </a:avLst>
          </a:prstGeom>
          <a:solidFill>
            <a:srgbClr val="E4F0E6"/>
          </a:solidFill>
          <a:ln w="21320">
            <a:solidFill>
              <a:srgbClr val="2F855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43" b="1" i="0">
                <a:solidFill>
                  <a:srgbClr val="1C5138"/>
                </a:solidFill>
                <a:latin typeface="Arial"/>
              </a:rPr>
              <a:t>Asynchronous Messaging</a:t>
            </a:r>
          </a:p>
          <a:p>
            <a:pPr algn="ctr"/>
            <a:r>
              <a:rPr sz="1063" b="0" i="0">
                <a:solidFill>
                  <a:srgbClr val="1C5138"/>
                </a:solidFill>
                <a:latin typeface="Arial"/>
              </a:rPr>
              <a:t>Service Bus queue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997" y="8129868"/>
            <a:ext cx="3780783" cy="795954"/>
          </a:xfrm>
          <a:prstGeom prst="roundRect">
            <a:avLst>
              <a:gd name="adj" fmla="val 17857"/>
            </a:avLst>
          </a:prstGeom>
          <a:solidFill>
            <a:srgbClr val="FDF3E0"/>
          </a:solidFill>
          <a:ln w="21320">
            <a:solidFill>
              <a:srgbClr val="C08A2E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253" b="1" i="0">
                <a:solidFill>
                  <a:srgbClr val="7A4F12"/>
                </a:solidFill>
                <a:latin typeface="Arial"/>
              </a:rPr>
              <a:t>A broadcast event for</a:t>
            </a:r>
          </a:p>
          <a:p>
            <a:pPr algn="ctr"/>
            <a:r>
              <a:rPr sz="1253" b="0" i="0">
                <a:solidFill>
                  <a:srgbClr val="7A4F12"/>
                </a:solidFill>
                <a:latin typeface="Arial"/>
              </a:rPr>
              <a:t>any interested consumer?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1240" y="8129868"/>
            <a:ext cx="4519883" cy="795954"/>
          </a:xfrm>
          <a:prstGeom prst="roundRect">
            <a:avLst>
              <a:gd name="adj" fmla="val 17857"/>
            </a:avLst>
          </a:prstGeom>
          <a:solidFill>
            <a:srgbClr val="E4F0E6"/>
          </a:solidFill>
          <a:ln w="21320">
            <a:solidFill>
              <a:srgbClr val="2F855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43" b="1" i="0">
                <a:solidFill>
                  <a:srgbClr val="1C5138"/>
                </a:solidFill>
                <a:latin typeface="Arial"/>
              </a:rPr>
              <a:t>Event-Driven</a:t>
            </a:r>
          </a:p>
          <a:p>
            <a:pPr algn="ctr"/>
            <a:r>
              <a:rPr sz="1063" b="0" i="0">
                <a:solidFill>
                  <a:srgbClr val="1C5138"/>
                </a:solidFill>
                <a:latin typeface="Arial"/>
              </a:rPr>
              <a:t>Event Grid / SB Topics / Event Hubs (see §5.3)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997" y="9238519"/>
            <a:ext cx="3780783" cy="568538"/>
          </a:xfrm>
          <a:prstGeom prst="roundRect">
            <a:avLst>
              <a:gd name="adj" fmla="val 25000"/>
            </a:avLst>
          </a:prstGeom>
          <a:solidFill>
            <a:srgbClr val="EEF1F5"/>
          </a:solidFill>
          <a:ln w="21320">
            <a:solidFill>
              <a:srgbClr val="51607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231" b="1" i="0">
                <a:solidFill>
                  <a:srgbClr val="33414F"/>
                </a:solidFill>
                <a:latin typeface="Arial"/>
              </a:rPr>
              <a:t>Revisit requirement /</a:t>
            </a:r>
          </a:p>
          <a:p>
            <a:pPr algn="ctr"/>
            <a:r>
              <a:rPr sz="1231" b="0" i="0">
                <a:solidFill>
                  <a:srgbClr val="33414F"/>
                </a:solidFill>
                <a:latin typeface="Arial"/>
              </a:rPr>
              <a:t>combine patterns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3230" y="2444480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19" b="1" i="0">
                <a:solidFill>
                  <a:srgbClr val="1C5138"/>
                </a:solidFill>
                <a:latin typeface="Arial"/>
              </a:rPr>
              <a:t>Yes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85817" y="2998805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19" b="1" i="0">
                <a:solidFill>
                  <a:srgbClr val="5A6675"/>
                </a:solidFill>
                <a:latin typeface="Arial"/>
              </a:rPr>
              <a:t>No 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3230" y="3638411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19" b="1" i="0">
                <a:solidFill>
                  <a:srgbClr val="1C5138"/>
                </a:solidFill>
                <a:latin typeface="Arial"/>
              </a:rPr>
              <a:t>Yes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85817" y="4192737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19" b="1" i="0">
                <a:solidFill>
                  <a:srgbClr val="5A6675"/>
                </a:solidFill>
                <a:latin typeface="Arial"/>
              </a:rPr>
              <a:t>No 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3230" y="483234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19" b="1" i="0">
                <a:solidFill>
                  <a:srgbClr val="1C5138"/>
                </a:solidFill>
                <a:latin typeface="Arial"/>
              </a:rPr>
              <a:t>Yes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85817" y="5386668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19" b="1" i="0">
                <a:solidFill>
                  <a:srgbClr val="5A6675"/>
                </a:solidFill>
                <a:latin typeface="Arial"/>
              </a:rPr>
              <a:t>No 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3230" y="6026275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19" b="1" i="0">
                <a:solidFill>
                  <a:srgbClr val="1C5138"/>
                </a:solidFill>
                <a:latin typeface="Arial"/>
              </a:rPr>
              <a:t>Yes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85817" y="6580600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19" b="1" i="0">
                <a:solidFill>
                  <a:srgbClr val="5A6675"/>
                </a:solidFill>
                <a:latin typeface="Arial"/>
              </a:rPr>
              <a:t>No 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43230" y="722020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19" b="1" i="0">
                <a:solidFill>
                  <a:srgbClr val="1C5138"/>
                </a:solidFill>
                <a:latin typeface="Arial"/>
              </a:rPr>
              <a:t>Yes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85817" y="7774532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19" b="1" i="0">
                <a:solidFill>
                  <a:srgbClr val="5A6675"/>
                </a:solidFill>
                <a:latin typeface="Arial"/>
              </a:rPr>
              <a:t>No 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43230" y="8414138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19" b="1" i="0">
                <a:solidFill>
                  <a:srgbClr val="1C5138"/>
                </a:solidFill>
                <a:latin typeface="Arial"/>
              </a:rPr>
              <a:t>Yes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Event Notification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576035" y="3749040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7436173" y="3034199"/>
            <a:ext cx="1143744" cy="714841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436173" y="3749040"/>
            <a:ext cx="1143744" cy="71484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95383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Source</a:t>
            </a:r>
          </a:p>
          <a:p>
            <a:pPr algn="ctr"/>
            <a:r>
              <a:rPr sz="1336" b="0" i="0">
                <a:solidFill>
                  <a:srgbClr val="33414F"/>
                </a:solidFill>
                <a:latin typeface="Arial"/>
              </a:rPr>
              <a:t>e.g. Blob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5521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DFF1E2"/>
          </a:solidFill>
          <a:ln w="25019">
            <a:solidFill>
              <a:srgbClr val="2F855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1C5138"/>
                </a:solidFill>
                <a:latin typeface="Arial"/>
              </a:rPr>
              <a:t>Event Grid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15659" y="253381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BF1DA"/>
          </a:solidFill>
          <a:ln w="25019">
            <a:solidFill>
              <a:srgbClr val="B7791F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7A4F12"/>
                </a:solidFill>
                <a:latin typeface="Arial"/>
              </a:rPr>
              <a:t>Handler 1</a:t>
            </a:r>
          </a:p>
          <a:p>
            <a:pPr algn="ctr"/>
            <a:r>
              <a:rPr sz="1336" b="0" i="0">
                <a:solidFill>
                  <a:srgbClr val="7A4F12"/>
                </a:solidFill>
                <a:latin typeface="Arial"/>
              </a:rPr>
              <a:t>Function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15659" y="3963492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E9E2F5"/>
          </a:solidFill>
          <a:ln w="25019">
            <a:solidFill>
              <a:srgbClr val="6D4AA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4A2E7A"/>
                </a:solidFill>
                <a:latin typeface="Arial"/>
              </a:rPr>
              <a:t>Handler 2</a:t>
            </a:r>
          </a:p>
          <a:p>
            <a:pPr algn="ctr"/>
            <a:r>
              <a:rPr sz="1336" b="0" i="0">
                <a:solidFill>
                  <a:srgbClr val="4A2E7A"/>
                </a:solidFill>
                <a:latin typeface="Arial"/>
              </a:rPr>
              <a:t>Logic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0627" y="346310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emits 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10765" y="310568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routes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Event Offload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04007" y="3749039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659579" y="3749039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515151" y="3749039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0971" y="3378873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18508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249" b="1" i="0">
                <a:solidFill>
                  <a:srgbClr val="33414F"/>
                </a:solidFill>
                <a:latin typeface="Arial"/>
              </a:rPr>
              <a:t>Operational</a:t>
            </a:r>
          </a:p>
          <a:p>
            <a:pPr algn="ctr"/>
            <a:r>
              <a:rPr sz="1249" b="1" i="0">
                <a:solidFill>
                  <a:srgbClr val="33414F"/>
                </a:solidFill>
                <a:latin typeface="Arial"/>
              </a:rPr>
              <a:t>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76543" y="3378873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BE7D6"/>
          </a:solidFill>
          <a:ln w="18508">
            <a:solidFill>
              <a:srgbClr val="C05621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249" b="1" i="0">
                <a:solidFill>
                  <a:srgbClr val="7B3410"/>
                </a:solidFill>
                <a:latin typeface="Arial"/>
              </a:rPr>
              <a:t>Event Hubs /</a:t>
            </a:r>
          </a:p>
          <a:p>
            <a:pPr algn="ctr"/>
            <a:r>
              <a:rPr sz="1249" b="1" i="0">
                <a:solidFill>
                  <a:srgbClr val="7B3410"/>
                </a:solidFill>
                <a:latin typeface="Arial"/>
              </a:rPr>
              <a:t>Service Bus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2115" y="3378873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BF1DA"/>
          </a:solidFill>
          <a:ln w="18508">
            <a:solidFill>
              <a:srgbClr val="B7791F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249" b="1" i="0">
                <a:solidFill>
                  <a:srgbClr val="7A4F12"/>
                </a:solidFill>
                <a:latin typeface="Arial"/>
              </a:rPr>
              <a:t>Capture /</a:t>
            </a:r>
          </a:p>
          <a:p>
            <a:pPr algn="ctr"/>
            <a:r>
              <a:rPr sz="1249" b="1" i="0">
                <a:solidFill>
                  <a:srgbClr val="7A4F12"/>
                </a:solidFill>
                <a:latin typeface="Arial"/>
              </a:rPr>
              <a:t>Function</a:t>
            </a:r>
          </a:p>
        </p:txBody>
      </p:sp>
      <p:sp>
        <p:nvSpPr>
          <p:cNvPr id="9" name="Can 8"/>
          <p:cNvSpPr/>
          <p:nvPr/>
        </p:nvSpPr>
        <p:spPr>
          <a:xfrm>
            <a:off x="9387687" y="3378873"/>
            <a:ext cx="1983036" cy="740333"/>
          </a:xfrm>
          <a:prstGeom prst="can">
            <a:avLst/>
          </a:prstGeom>
          <a:solidFill>
            <a:srgbClr val="E8EDF3"/>
          </a:solidFill>
          <a:ln w="18508">
            <a:solidFill>
              <a:srgbClr val="51607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33414F"/>
                </a:solidFill>
                <a:latin typeface="Arial"/>
              </a:rPr>
              <a:t>Snowflake</a:t>
            </a:r>
          </a:p>
          <a:p>
            <a:pPr algn="ctr"/>
            <a:r>
              <a:rPr sz="988" b="0" i="0">
                <a:solidFill>
                  <a:srgbClr val="33414F"/>
                </a:solidFill>
                <a:latin typeface="Arial"/>
              </a:rPr>
              <a:t>landing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9775" y="353751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5347" y="353751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load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Exp1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847691" y="2891790"/>
            <a:ext cx="0" cy="2002536"/>
          </a:xfrm>
          <a:prstGeom prst="line">
            <a:avLst/>
          </a:prstGeom>
          <a:ln w="24688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011015" y="3989070"/>
            <a:ext cx="1673352" cy="0"/>
          </a:xfrm>
          <a:prstGeom prst="line">
            <a:avLst/>
          </a:prstGeom>
          <a:ln w="32918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507327" y="3989070"/>
            <a:ext cx="1673352" cy="0"/>
          </a:xfrm>
          <a:prstGeom prst="line">
            <a:avLst/>
          </a:prstGeom>
          <a:ln w="32918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7783" y="3989070"/>
            <a:ext cx="603504" cy="0"/>
          </a:xfrm>
          <a:prstGeom prst="line">
            <a:avLst/>
          </a:prstGeom>
          <a:ln w="43891">
            <a:solidFill>
              <a:srgbClr val="1FA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48659" y="3727094"/>
            <a:ext cx="301752" cy="523951"/>
          </a:xfrm>
          <a:prstGeom prst="line">
            <a:avLst/>
          </a:prstGeom>
          <a:ln w="43891">
            <a:solidFill>
              <a:srgbClr val="1FA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3448659" y="3727094"/>
            <a:ext cx="301752" cy="523951"/>
          </a:xfrm>
          <a:prstGeom prst="line">
            <a:avLst/>
          </a:prstGeom>
          <a:ln w="43891">
            <a:solidFill>
              <a:srgbClr val="1FA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386419" y="3989070"/>
            <a:ext cx="0" cy="0"/>
          </a:xfrm>
          <a:prstGeom prst="line">
            <a:avLst/>
          </a:prstGeom>
          <a:ln w="38404">
            <a:solidFill>
              <a:srgbClr val="007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386419" y="3810762"/>
            <a:ext cx="356616" cy="178308"/>
          </a:xfrm>
          <a:prstGeom prst="line">
            <a:avLst/>
          </a:prstGeom>
          <a:ln w="38404">
            <a:solidFill>
              <a:srgbClr val="007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86419" y="3989070"/>
            <a:ext cx="356616" cy="178308"/>
          </a:xfrm>
          <a:prstGeom prst="line">
            <a:avLst/>
          </a:prstGeom>
          <a:ln w="38404">
            <a:solidFill>
              <a:srgbClr val="007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n 11"/>
          <p:cNvSpPr/>
          <p:nvPr/>
        </p:nvSpPr>
        <p:spPr>
          <a:xfrm>
            <a:off x="5821527" y="3687318"/>
            <a:ext cx="548640" cy="603503"/>
          </a:xfrm>
          <a:prstGeom prst="can">
            <a:avLst/>
          </a:prstGeom>
          <a:solidFill>
            <a:srgbClr val="7EB1E0"/>
          </a:solidFill>
          <a:ln w="19202">
            <a:solidFill>
              <a:srgbClr val="51607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50411" y="263118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88" b="1" i="0">
                <a:solidFill>
                  <a:srgbClr val="C0392B"/>
                </a:solidFill>
                <a:latin typeface="Arial"/>
              </a:rPr>
              <a:t>hand-off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0411" y="5010912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26" b="0" i="0">
                <a:solidFill>
                  <a:srgbClr val="C0392B"/>
                </a:solidFill>
                <a:latin typeface="Arial"/>
              </a:rPr>
              <a:t>Private Link / PE · Managed Identity · TLS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2255" y="222656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Data platform · Snowflake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6723" y="222656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SIF · 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0411" y="366674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41" b="0" i="0">
                <a:solidFill>
                  <a:srgbClr val="3A4557"/>
                </a:solidFill>
                <a:latin typeface="Arial"/>
              </a:rPr>
              <a:t>COPY INTO (unload)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6723" y="366674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41" b="0" i="0">
                <a:solidFill>
                  <a:srgbClr val="3A4557"/>
                </a:solidFill>
                <a:latin typeface="Arial"/>
              </a:rPr>
              <a:t>read object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2255" y="4366260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Snowflake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8567" y="4366260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Blob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8567" y="4599432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34" b="0" i="0">
                <a:solidFill>
                  <a:srgbClr val="5A6470"/>
                </a:solidFill>
                <a:latin typeface="Arial"/>
              </a:rPr>
              <a:t>SIF serving 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4879" y="4366260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AIS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4879" y="4599432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34" b="0" i="0">
                <a:solidFill>
                  <a:srgbClr val="5A6470"/>
                </a:solidFill>
                <a:latin typeface="Arial"/>
              </a:rPr>
              <a:t>Function / Logic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98567" y="523722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88" b="0" i="1">
                <a:solidFill>
                  <a:srgbClr val="5A6470"/>
                </a:solidFill>
                <a:latin typeface="Arial"/>
              </a:rPr>
              <a:t>Bulk or large result sets. The platform unloads a curated extract into the SIF-owned serving store; the SIF reads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Exp2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5847" y="2788920"/>
            <a:ext cx="0" cy="2002536"/>
          </a:xfrm>
          <a:prstGeom prst="line">
            <a:avLst/>
          </a:prstGeom>
          <a:ln w="24688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762859" y="3886200"/>
            <a:ext cx="1673352" cy="0"/>
          </a:xfrm>
          <a:prstGeom prst="line">
            <a:avLst/>
          </a:prstGeom>
          <a:ln w="32918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259171" y="3886200"/>
            <a:ext cx="1673352" cy="0"/>
          </a:xfrm>
          <a:prstGeom prst="line">
            <a:avLst/>
          </a:prstGeom>
          <a:ln w="32918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55483" y="3886200"/>
            <a:ext cx="1673352" cy="0"/>
          </a:xfrm>
          <a:prstGeom prst="line">
            <a:avLst/>
          </a:prstGeom>
          <a:ln w="32918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049627" y="3886200"/>
            <a:ext cx="603504" cy="0"/>
          </a:xfrm>
          <a:prstGeom prst="line">
            <a:avLst/>
          </a:prstGeom>
          <a:ln w="43891">
            <a:solidFill>
              <a:srgbClr val="1FA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200503" y="3624224"/>
            <a:ext cx="301752" cy="523951"/>
          </a:xfrm>
          <a:prstGeom prst="line">
            <a:avLst/>
          </a:prstGeom>
          <a:ln w="43891">
            <a:solidFill>
              <a:srgbClr val="1FA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2200503" y="3624224"/>
            <a:ext cx="301752" cy="523951"/>
          </a:xfrm>
          <a:prstGeom prst="line">
            <a:avLst/>
          </a:prstGeom>
          <a:ln w="43891">
            <a:solidFill>
              <a:srgbClr val="1FA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998567" y="252831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88" b="1" i="0">
                <a:solidFill>
                  <a:srgbClr val="C0392B"/>
                </a:solidFill>
                <a:latin typeface="Arial"/>
              </a:rPr>
              <a:t>hand-off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8567" y="4908042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26" b="0" i="0">
                <a:solidFill>
                  <a:srgbClr val="C0392B"/>
                </a:solidFill>
                <a:latin typeface="Arial"/>
              </a:rPr>
              <a:t>Private Link / PE · Managed Identity · TLS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2255" y="212369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Data platform · Snowflake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4879" y="212369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SIF · 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2255" y="356387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41" b="0" i="0">
                <a:solidFill>
                  <a:srgbClr val="3A4557"/>
                </a:solidFill>
                <a:latin typeface="Arial"/>
              </a:rPr>
              <a:t>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8567" y="356387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41" b="0" i="0">
                <a:solidFill>
                  <a:srgbClr val="3A4557"/>
                </a:solidFill>
                <a:latin typeface="Arial"/>
              </a:rPr>
              <a:t>read via Private 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4879" y="356387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41" b="0" i="0">
                <a:solidFill>
                  <a:srgbClr val="3A4557"/>
                </a:solidFill>
                <a:latin typeface="Arial"/>
              </a:rPr>
              <a:t>serve to consumer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4099" y="4263390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Snowflake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0411" y="3776472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4" b="1" i="0">
                <a:solidFill>
                  <a:srgbClr val="FFFFFF"/>
                </a:solidFill>
                <a:latin typeface="Arial"/>
              </a:rPr>
              <a:t>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0411" y="4263390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SQL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50411" y="4496562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34" b="0" i="0">
                <a:solidFill>
                  <a:srgbClr val="5A6470"/>
                </a:solidFill>
                <a:latin typeface="Arial"/>
              </a:rPr>
              <a:t>Snowflake SQL 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6723" y="3749039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728" b="1" i="0">
                <a:solidFill>
                  <a:srgbClr val="FFFFFF"/>
                </a:solidFill>
                <a:latin typeface="Arial"/>
              </a:rPr>
              <a:t>&lt;/&gt;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6723" y="4263390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APIM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6723" y="4496562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34" b="0" i="0">
                <a:solidFill>
                  <a:srgbClr val="5A6470"/>
                </a:solidFill>
                <a:latin typeface="Arial"/>
              </a:rPr>
              <a:t>gateway + cache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43035" y="4263390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AIS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43035" y="4496562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34" b="0" i="0">
                <a:solidFill>
                  <a:srgbClr val="5A6470"/>
                </a:solidFill>
                <a:latin typeface="Arial"/>
              </a:rPr>
              <a:t>consumer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98567" y="513435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88" b="0" i="1">
                <a:solidFill>
                  <a:srgbClr val="5A6470"/>
                </a:solidFill>
                <a:latin typeface="Arial"/>
              </a:rPr>
              <a:t>On-demand, small, low-latency reads. APIM fronts and caches. Curated and eventually-consistent; watch warehouse cost under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98567" y="534009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88" b="0" i="1">
                <a:solidFill>
                  <a:srgbClr val="5A6470"/>
                </a:solidFill>
                <a:latin typeface="Arial"/>
              </a:rPr>
              <a:t>load.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File Egress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350828" y="3749040"/>
            <a:ext cx="671376" cy="0"/>
          </a:xfrm>
          <a:prstGeom prst="line">
            <a:avLst/>
          </a:prstGeom>
          <a:ln w="15735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616722" y="3749040"/>
            <a:ext cx="671376" cy="0"/>
          </a:xfrm>
          <a:prstGeom prst="line">
            <a:avLst/>
          </a:prstGeom>
          <a:ln w="15735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882616" y="3749040"/>
            <a:ext cx="671376" cy="0"/>
          </a:xfrm>
          <a:prstGeom prst="line">
            <a:avLst/>
          </a:prstGeom>
          <a:ln w="15735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8509" y="3749040"/>
            <a:ext cx="671376" cy="0"/>
          </a:xfrm>
          <a:prstGeom prst="line">
            <a:avLst/>
          </a:prstGeom>
          <a:ln w="15735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91" y="3455313"/>
            <a:ext cx="1573537" cy="587453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14686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991" b="1" i="0">
                <a:solidFill>
                  <a:srgbClr val="33414F"/>
                </a:solidFill>
                <a:latin typeface="Arial"/>
              </a:rPr>
              <a:t>Records /</a:t>
            </a:r>
          </a:p>
          <a:p>
            <a:pPr algn="ctr"/>
            <a:r>
              <a:rPr sz="991" b="1" i="0">
                <a:solidFill>
                  <a:srgbClr val="33414F"/>
                </a:solidFill>
                <a:latin typeface="Arial"/>
              </a:rPr>
              <a:t>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3185" y="3455313"/>
            <a:ext cx="1573537" cy="587453"/>
          </a:xfrm>
          <a:prstGeom prst="roundRect">
            <a:avLst>
              <a:gd name="adj" fmla="val 16071"/>
            </a:avLst>
          </a:prstGeom>
          <a:solidFill>
            <a:srgbClr val="E9E2F5"/>
          </a:solidFill>
          <a:ln w="14686">
            <a:solidFill>
              <a:srgbClr val="6D4AA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032" b="1" i="0">
                <a:solidFill>
                  <a:srgbClr val="4A2E7A"/>
                </a:solidFill>
                <a:latin typeface="Arial"/>
              </a:rPr>
              <a:t>Logic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9078" y="3455313"/>
            <a:ext cx="1573537" cy="587453"/>
          </a:xfrm>
          <a:prstGeom prst="roundRect">
            <a:avLst>
              <a:gd name="adj" fmla="val 16071"/>
            </a:avLst>
          </a:prstGeom>
          <a:solidFill>
            <a:srgbClr val="FBF1DA"/>
          </a:solidFill>
          <a:ln w="14686">
            <a:solidFill>
              <a:srgbClr val="B7791F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032" b="1" i="0">
                <a:solidFill>
                  <a:srgbClr val="7A4F12"/>
                </a:solidFill>
                <a:latin typeface="Arial"/>
              </a:rPr>
              <a:t>Function</a:t>
            </a:r>
          </a:p>
          <a:p>
            <a:pPr algn="ctr"/>
            <a:r>
              <a:rPr sz="784" b="0" i="0">
                <a:solidFill>
                  <a:srgbClr val="7A4F12"/>
                </a:solidFill>
                <a:latin typeface="Arial"/>
              </a:rPr>
              <a:t>render 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40866" y="3455313"/>
            <a:ext cx="1573537" cy="587453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14686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032" b="1" i="0">
                <a:solidFill>
                  <a:srgbClr val="33414F"/>
                </a:solidFill>
                <a:latin typeface="Arial"/>
              </a:rPr>
              <a:t>Partner</a:t>
            </a:r>
          </a:p>
          <a:p>
            <a:pPr algn="ctr"/>
            <a:r>
              <a:rPr sz="784" b="0" i="0">
                <a:solidFill>
                  <a:srgbClr val="33414F"/>
                </a:solidFill>
                <a:latin typeface="Arial"/>
              </a:rPr>
              <a:t>collects</a:t>
            </a:r>
          </a:p>
        </p:txBody>
      </p:sp>
      <p:sp>
        <p:nvSpPr>
          <p:cNvPr id="11" name="Can 10"/>
          <p:cNvSpPr/>
          <p:nvPr/>
        </p:nvSpPr>
        <p:spPr>
          <a:xfrm>
            <a:off x="7574972" y="3455313"/>
            <a:ext cx="1573537" cy="587453"/>
          </a:xfrm>
          <a:prstGeom prst="can">
            <a:avLst/>
          </a:prstGeom>
          <a:solidFill>
            <a:srgbClr val="E8EDF3"/>
          </a:solidFill>
          <a:ln w="14686">
            <a:solidFill>
              <a:srgbClr val="51607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032" b="1" i="0">
                <a:solidFill>
                  <a:srgbClr val="33414F"/>
                </a:solidFill>
                <a:latin typeface="Arial"/>
              </a:rPr>
              <a:t>SFTP / Blob</a:t>
            </a:r>
          </a:p>
          <a:p>
            <a:pPr algn="ctr"/>
            <a:r>
              <a:rPr sz="784" b="0" i="0">
                <a:solidFill>
                  <a:srgbClr val="33414F"/>
                </a:solidFill>
                <a:latin typeface="Arial"/>
              </a:rPr>
              <a:t>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9236" y="358119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26" b="0" i="0">
                <a:solidFill>
                  <a:srgbClr val="5A6675"/>
                </a:solidFill>
                <a:latin typeface="Arial"/>
              </a:rPr>
              <a:t>collect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5130" y="358119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26" b="0" i="0">
                <a:solidFill>
                  <a:srgbClr val="5A6675"/>
                </a:solidFill>
                <a:latin typeface="Arial"/>
              </a:rPr>
              <a:t>format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1024" y="358119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26" b="0" i="0">
                <a:solidFill>
                  <a:srgbClr val="5A6675"/>
                </a:solidFill>
                <a:latin typeface="Arial"/>
              </a:rPr>
              <a:t>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6917" y="358119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26" b="0" i="0">
                <a:solidFill>
                  <a:srgbClr val="5A6675"/>
                </a:solidFill>
                <a:latin typeface="Arial"/>
              </a:rPr>
              <a:t>deliver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File Ingestion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350828" y="3644137"/>
            <a:ext cx="671376" cy="0"/>
          </a:xfrm>
          <a:prstGeom prst="line">
            <a:avLst/>
          </a:prstGeom>
          <a:ln w="15735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616722" y="3644137"/>
            <a:ext cx="671376" cy="0"/>
          </a:xfrm>
          <a:prstGeom prst="line">
            <a:avLst/>
          </a:prstGeom>
          <a:ln w="15735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882616" y="3644137"/>
            <a:ext cx="671376" cy="0"/>
          </a:xfrm>
          <a:prstGeom prst="line">
            <a:avLst/>
          </a:prstGeom>
          <a:ln w="15735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8509" y="3644137"/>
            <a:ext cx="671376" cy="0"/>
          </a:xfrm>
          <a:prstGeom prst="line">
            <a:avLst/>
          </a:prstGeom>
          <a:ln w="15735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91" y="3350410"/>
            <a:ext cx="1573537" cy="587453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14686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032" b="1" i="0">
                <a:solidFill>
                  <a:srgbClr val="33414F"/>
                </a:solidFill>
                <a:latin typeface="Arial"/>
              </a:rPr>
              <a:t>Partner</a:t>
            </a:r>
          </a:p>
          <a:p>
            <a:pPr algn="ctr"/>
            <a:r>
              <a:rPr sz="784" b="0" i="0">
                <a:solidFill>
                  <a:srgbClr val="33414F"/>
                </a:solidFill>
                <a:latin typeface="Arial"/>
              </a:rPr>
              <a:t>via SFTP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9078" y="3350410"/>
            <a:ext cx="1573537" cy="587453"/>
          </a:xfrm>
          <a:prstGeom prst="roundRect">
            <a:avLst>
              <a:gd name="adj" fmla="val 16071"/>
            </a:avLst>
          </a:prstGeom>
          <a:solidFill>
            <a:srgbClr val="DFF1E2"/>
          </a:solidFill>
          <a:ln w="14686">
            <a:solidFill>
              <a:srgbClr val="2F855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032" b="1" i="0">
                <a:solidFill>
                  <a:srgbClr val="1C5138"/>
                </a:solidFill>
                <a:latin typeface="Arial"/>
              </a:rPr>
              <a:t>Event Grid</a:t>
            </a:r>
          </a:p>
          <a:p>
            <a:pPr algn="ctr"/>
            <a:r>
              <a:rPr sz="784" b="0" i="0">
                <a:solidFill>
                  <a:srgbClr val="1C5138"/>
                </a:solidFill>
                <a:latin typeface="Arial"/>
              </a:rPr>
              <a:t>blob-created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74972" y="3350410"/>
            <a:ext cx="1573537" cy="587453"/>
          </a:xfrm>
          <a:prstGeom prst="roundRect">
            <a:avLst>
              <a:gd name="adj" fmla="val 16071"/>
            </a:avLst>
          </a:prstGeom>
          <a:solidFill>
            <a:srgbClr val="E9E2F5"/>
          </a:solidFill>
          <a:ln w="14686">
            <a:solidFill>
              <a:srgbClr val="6D4AA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032" b="1" i="0">
                <a:solidFill>
                  <a:srgbClr val="4A2E7A"/>
                </a:solidFill>
                <a:latin typeface="Arial"/>
              </a:rPr>
              <a:t>Logic App</a:t>
            </a:r>
          </a:p>
          <a:p>
            <a:pPr algn="ctr"/>
            <a:r>
              <a:rPr sz="784" b="0" i="0">
                <a:solidFill>
                  <a:srgbClr val="4A2E7A"/>
                </a:solidFill>
                <a:latin typeface="Arial"/>
              </a:rPr>
              <a:t>+ Function: parse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40866" y="3350410"/>
            <a:ext cx="1573537" cy="587453"/>
          </a:xfrm>
          <a:prstGeom prst="roundRect">
            <a:avLst>
              <a:gd name="adj" fmla="val 16071"/>
            </a:avLst>
          </a:prstGeom>
          <a:solidFill>
            <a:srgbClr val="D6ECEC"/>
          </a:solidFill>
          <a:ln w="14686">
            <a:solidFill>
              <a:srgbClr val="2C7A7B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032" b="1" i="0">
                <a:solidFill>
                  <a:srgbClr val="1D5253"/>
                </a:solidFill>
                <a:latin typeface="Arial"/>
              </a:rPr>
              <a:t>Service Bus</a:t>
            </a:r>
          </a:p>
          <a:p>
            <a:pPr algn="ctr"/>
            <a:r>
              <a:rPr sz="784" b="0" i="0">
                <a:solidFill>
                  <a:srgbClr val="1D5253"/>
                </a:solidFill>
                <a:latin typeface="Arial"/>
              </a:rPr>
              <a:t>records</a:t>
            </a:r>
          </a:p>
        </p:txBody>
      </p:sp>
      <p:sp>
        <p:nvSpPr>
          <p:cNvPr id="11" name="Can 10"/>
          <p:cNvSpPr/>
          <p:nvPr/>
        </p:nvSpPr>
        <p:spPr>
          <a:xfrm>
            <a:off x="3043185" y="3350410"/>
            <a:ext cx="1573537" cy="587453"/>
          </a:xfrm>
          <a:prstGeom prst="can">
            <a:avLst/>
          </a:prstGeom>
          <a:solidFill>
            <a:srgbClr val="E8EDF3"/>
          </a:solidFill>
          <a:ln w="14686">
            <a:solidFill>
              <a:srgbClr val="51607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032" b="1" i="0">
                <a:solidFill>
                  <a:srgbClr val="33414F"/>
                </a:solidFill>
                <a:latin typeface="Arial"/>
              </a:rPr>
              <a:t>Blob</a:t>
            </a:r>
          </a:p>
          <a:p>
            <a:pPr algn="ctr"/>
            <a:r>
              <a:rPr sz="784" b="0" i="0">
                <a:solidFill>
                  <a:srgbClr val="33414F"/>
                </a:solidFill>
                <a:latin typeface="Arial"/>
              </a:rPr>
              <a:t>landing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9236" y="347629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26" b="0" i="0">
                <a:solidFill>
                  <a:srgbClr val="5A6675"/>
                </a:solidFill>
                <a:latin typeface="Arial"/>
              </a:rPr>
              <a:t>drop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5130" y="347629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26" b="0" i="0">
                <a:solidFill>
                  <a:srgbClr val="5A6675"/>
                </a:solidFill>
                <a:latin typeface="Arial"/>
              </a:rPr>
              <a:t>on arrival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1024" y="347629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26" b="0" i="0">
                <a:solidFill>
                  <a:srgbClr val="5A6675"/>
                </a:solidFill>
                <a:latin typeface="Arial"/>
              </a:rPr>
              <a:t>orchestrate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6917" y="347629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26" b="0" i="0">
                <a:solidFill>
                  <a:srgbClr val="5A6675"/>
                </a:solidFill>
                <a:latin typeface="Arial"/>
              </a:rPr>
              <a:t>emit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8567" y="4289287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67" b="0" i="1">
                <a:solidFill>
                  <a:srgbClr val="7A828F"/>
                </a:solidFill>
                <a:latin typeface="Arial"/>
              </a:rPr>
              <a:t>A file is a transport: react on arrival, decompose into messages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Human Approval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576035" y="374903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436173" y="374903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95383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E9E2F5"/>
          </a:solidFill>
          <a:ln w="25019">
            <a:solidFill>
              <a:srgbClr val="6D4AA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4A2E7A"/>
                </a:solidFill>
                <a:latin typeface="Arial"/>
              </a:rPr>
              <a:t>Logic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5521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Approver</a:t>
            </a:r>
          </a:p>
          <a:p>
            <a:pPr algn="ctr"/>
            <a:r>
              <a:rPr sz="1336" b="0" i="0">
                <a:solidFill>
                  <a:srgbClr val="33414F"/>
                </a:solidFill>
                <a:latin typeface="Arial"/>
              </a:rPr>
              <a:t>Teams / Email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15659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688" b="1" i="0">
                <a:solidFill>
                  <a:srgbClr val="33414F"/>
                </a:solidFill>
                <a:latin typeface="Arial"/>
              </a:rPr>
              <a:t>Continue</a:t>
            </a:r>
          </a:p>
          <a:p>
            <a:pPr algn="ctr"/>
            <a:r>
              <a:rPr sz="1688" b="1" i="0">
                <a:solidFill>
                  <a:srgbClr val="33414F"/>
                </a:solidFill>
                <a:latin typeface="Arial"/>
              </a:rPr>
              <a:t>/ reject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0627" y="346310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request 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0765" y="346310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decision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Imp1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5847" y="2891790"/>
            <a:ext cx="0" cy="2002536"/>
          </a:xfrm>
          <a:prstGeom prst="line">
            <a:avLst/>
          </a:prstGeom>
          <a:ln w="24688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762859" y="3989070"/>
            <a:ext cx="1673352" cy="0"/>
          </a:xfrm>
          <a:prstGeom prst="line">
            <a:avLst/>
          </a:prstGeom>
          <a:ln w="32918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259171" y="3989070"/>
            <a:ext cx="1673352" cy="0"/>
          </a:xfrm>
          <a:prstGeom prst="line">
            <a:avLst/>
          </a:prstGeom>
          <a:ln w="32918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55483" y="3989070"/>
            <a:ext cx="1673352" cy="0"/>
          </a:xfrm>
          <a:prstGeom prst="line">
            <a:avLst/>
          </a:prstGeom>
          <a:ln w="32918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145639" y="3989070"/>
            <a:ext cx="0" cy="0"/>
          </a:xfrm>
          <a:prstGeom prst="line">
            <a:avLst/>
          </a:prstGeom>
          <a:ln w="38404">
            <a:solidFill>
              <a:srgbClr val="007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145639" y="3810762"/>
            <a:ext cx="356616" cy="178308"/>
          </a:xfrm>
          <a:prstGeom prst="line">
            <a:avLst/>
          </a:prstGeom>
          <a:ln w="38404">
            <a:solidFill>
              <a:srgbClr val="007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45639" y="3989070"/>
            <a:ext cx="356616" cy="178308"/>
          </a:xfrm>
          <a:prstGeom prst="line">
            <a:avLst/>
          </a:prstGeom>
          <a:ln w="38404">
            <a:solidFill>
              <a:srgbClr val="007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538563" y="3989070"/>
            <a:ext cx="603504" cy="0"/>
          </a:xfrm>
          <a:prstGeom prst="line">
            <a:avLst/>
          </a:prstGeom>
          <a:ln w="43891">
            <a:solidFill>
              <a:srgbClr val="1FA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689439" y="3727094"/>
            <a:ext cx="301752" cy="523951"/>
          </a:xfrm>
          <a:prstGeom prst="line">
            <a:avLst/>
          </a:prstGeom>
          <a:ln w="43891">
            <a:solidFill>
              <a:srgbClr val="1FA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689439" y="3727094"/>
            <a:ext cx="301752" cy="523951"/>
          </a:xfrm>
          <a:prstGeom prst="line">
            <a:avLst/>
          </a:prstGeom>
          <a:ln w="43891">
            <a:solidFill>
              <a:srgbClr val="1FA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n 12"/>
          <p:cNvSpPr/>
          <p:nvPr/>
        </p:nvSpPr>
        <p:spPr>
          <a:xfrm>
            <a:off x="4573371" y="3687318"/>
            <a:ext cx="548640" cy="603503"/>
          </a:xfrm>
          <a:prstGeom prst="can">
            <a:avLst/>
          </a:prstGeom>
          <a:solidFill>
            <a:srgbClr val="7EB1E0"/>
          </a:solidFill>
          <a:ln w="19202">
            <a:solidFill>
              <a:srgbClr val="51607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98567" y="263118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88" b="1" i="0">
                <a:solidFill>
                  <a:srgbClr val="C0392B"/>
                </a:solidFill>
                <a:latin typeface="Arial"/>
              </a:rPr>
              <a:t>hand-off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8567" y="5010912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26" b="0" i="0">
                <a:solidFill>
                  <a:srgbClr val="C0392B"/>
                </a:solidFill>
                <a:latin typeface="Arial"/>
              </a:rPr>
              <a:t>Private Link / PE · Managed Identity · TLS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2255" y="222656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SIF · 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4879" y="222656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Data platform · Snowflake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2255" y="366674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41" b="0" i="0">
                <a:solidFill>
                  <a:srgbClr val="3A4557"/>
                </a:solidFill>
                <a:latin typeface="Arial"/>
              </a:rPr>
              <a:t>write object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8567" y="366674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41" b="0" i="0">
                <a:solidFill>
                  <a:srgbClr val="3A4557"/>
                </a:solidFill>
                <a:latin typeface="Arial"/>
              </a:rPr>
              <a:t>Event Grid notify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4879" y="366674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41" b="0" i="0">
                <a:solidFill>
                  <a:srgbClr val="3A4557"/>
                </a:solidFill>
                <a:latin typeface="Arial"/>
              </a:rPr>
              <a:t>COPY into 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4099" y="4366260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4099" y="4599432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34" b="0" i="0">
                <a:solidFill>
                  <a:srgbClr val="5A6470"/>
                </a:solidFill>
                <a:latin typeface="Arial"/>
              </a:rPr>
              <a:t>Logic App / Function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50411" y="4366260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Blob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50411" y="4599432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34" b="0" i="0">
                <a:solidFill>
                  <a:srgbClr val="5A6470"/>
                </a:solidFill>
                <a:latin typeface="Arial"/>
              </a:rPr>
              <a:t>ADLS external stage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6723" y="4366260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Snowpipe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6723" y="4599432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34" b="0" i="0">
                <a:solidFill>
                  <a:srgbClr val="5A6470"/>
                </a:solidFill>
                <a:latin typeface="Arial"/>
              </a:rPr>
              <a:t>auto-ingest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43035" y="4366260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Snowflake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8567" y="523722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88" b="0" i="1">
                <a:solidFill>
                  <a:srgbClr val="5A6470"/>
                </a:solidFill>
                <a:latin typeface="Arial"/>
              </a:rPr>
              <a:t>Preferred for batch and near-real-time. SIF owns the stage object; the platform's Snowpipe ingests on notification.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Imp2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44003" y="2788920"/>
            <a:ext cx="0" cy="2002536"/>
          </a:xfrm>
          <a:prstGeom prst="line">
            <a:avLst/>
          </a:prstGeom>
          <a:ln w="24688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011015" y="3886200"/>
            <a:ext cx="1673352" cy="0"/>
          </a:xfrm>
          <a:prstGeom prst="line">
            <a:avLst/>
          </a:prstGeom>
          <a:ln w="32918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507327" y="3886200"/>
            <a:ext cx="1673352" cy="0"/>
          </a:xfrm>
          <a:prstGeom prst="line">
            <a:avLst/>
          </a:prstGeom>
          <a:ln w="32918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290407" y="3886200"/>
            <a:ext cx="603504" cy="0"/>
          </a:xfrm>
          <a:prstGeom prst="line">
            <a:avLst/>
          </a:prstGeom>
          <a:ln w="43891">
            <a:solidFill>
              <a:srgbClr val="1FA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441283" y="3624224"/>
            <a:ext cx="301752" cy="523951"/>
          </a:xfrm>
          <a:prstGeom prst="line">
            <a:avLst/>
          </a:prstGeom>
          <a:ln w="43891">
            <a:solidFill>
              <a:srgbClr val="1FA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441283" y="3624224"/>
            <a:ext cx="301752" cy="523951"/>
          </a:xfrm>
          <a:prstGeom prst="line">
            <a:avLst/>
          </a:prstGeom>
          <a:ln w="43891">
            <a:solidFill>
              <a:srgbClr val="1FA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46723" y="252831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88" b="1" i="0">
                <a:solidFill>
                  <a:srgbClr val="C0392B"/>
                </a:solidFill>
                <a:latin typeface="Arial"/>
              </a:rPr>
              <a:t>hand-off boundary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6723" y="4908042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26" b="0" i="0">
                <a:solidFill>
                  <a:srgbClr val="C0392B"/>
                </a:solidFill>
                <a:latin typeface="Arial"/>
              </a:rPr>
              <a:t>Private Link / PE · Managed Identity · TLS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0411" y="212369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SIF · 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4879" y="212369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Data platform · Snowflake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0411" y="356387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41" b="0" i="0">
                <a:solidFill>
                  <a:srgbClr val="3A4557"/>
                </a:solidFill>
                <a:latin typeface="Arial"/>
              </a:rPr>
              <a:t>load / stream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6723" y="356387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41" b="0" i="0">
                <a:solidFill>
                  <a:srgbClr val="3A4557"/>
                </a:solidFill>
                <a:latin typeface="Arial"/>
              </a:rPr>
              <a:t>Snowpipe Streaming / COPY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2255" y="366674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592" b="1" i="1">
                <a:solidFill>
                  <a:srgbClr val="FFFFFF"/>
                </a:solidFill>
                <a:latin typeface="Arial"/>
              </a:rPr>
              <a:t>ƒx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2255" y="4263390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2255" y="4496562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34" b="0" i="0">
                <a:solidFill>
                  <a:srgbClr val="5A6470"/>
                </a:solidFill>
                <a:latin typeface="Arial"/>
              </a:rPr>
              <a:t>Function / driver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8567" y="4263390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Connector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8567" y="4496562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34" b="0" i="0">
                <a:solidFill>
                  <a:srgbClr val="5A6470"/>
                </a:solidFill>
                <a:latin typeface="Arial"/>
              </a:rPr>
              <a:t>Snowflake driver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4879" y="4263390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Snowflake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8567" y="513435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88" b="0" i="1">
                <a:solidFill>
                  <a:srgbClr val="5A6470"/>
                </a:solidFill>
                <a:latin typeface="Arial"/>
              </a:rPr>
              <a:t>Direct load via a Snowflake connector or driver. Use only for sub-second streams or where a connector is required; no Blob,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98567" y="534009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88" b="0" i="1">
                <a:solidFill>
                  <a:srgbClr val="5A6470"/>
                </a:solidFill>
                <a:latin typeface="Arial"/>
              </a:rPr>
              <a:t>no APIM. Governed by exception.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Imp3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5847" y="2891790"/>
            <a:ext cx="0" cy="2002536"/>
          </a:xfrm>
          <a:prstGeom prst="line">
            <a:avLst/>
          </a:prstGeom>
          <a:ln w="24688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762859" y="3989070"/>
            <a:ext cx="1673352" cy="0"/>
          </a:xfrm>
          <a:prstGeom prst="line">
            <a:avLst/>
          </a:prstGeom>
          <a:ln w="32918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259171" y="3989070"/>
            <a:ext cx="1673352" cy="0"/>
          </a:xfrm>
          <a:prstGeom prst="line">
            <a:avLst/>
          </a:prstGeom>
          <a:ln w="32918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55483" y="3989070"/>
            <a:ext cx="1673352" cy="0"/>
          </a:xfrm>
          <a:prstGeom prst="line">
            <a:avLst/>
          </a:prstGeom>
          <a:ln w="32918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538563" y="3989070"/>
            <a:ext cx="603504" cy="0"/>
          </a:xfrm>
          <a:prstGeom prst="line">
            <a:avLst/>
          </a:prstGeom>
          <a:ln w="43891">
            <a:solidFill>
              <a:srgbClr val="1FA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689439" y="3727094"/>
            <a:ext cx="301752" cy="523951"/>
          </a:xfrm>
          <a:prstGeom prst="line">
            <a:avLst/>
          </a:prstGeom>
          <a:ln w="43891">
            <a:solidFill>
              <a:srgbClr val="1FA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689439" y="3727094"/>
            <a:ext cx="301752" cy="523951"/>
          </a:xfrm>
          <a:prstGeom prst="line">
            <a:avLst/>
          </a:prstGeom>
          <a:ln w="43891">
            <a:solidFill>
              <a:srgbClr val="1FA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998567" y="263118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88" b="1" i="0">
                <a:solidFill>
                  <a:srgbClr val="C0392B"/>
                </a:solidFill>
                <a:latin typeface="Arial"/>
              </a:rPr>
              <a:t>hand-off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8567" y="5010912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26" b="0" i="0">
                <a:solidFill>
                  <a:srgbClr val="C0392B"/>
                </a:solidFill>
                <a:latin typeface="Arial"/>
              </a:rPr>
              <a:t>Private Link / PE · Managed Identity · TLS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2255" y="222656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SIF · 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4879" y="222656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Data platform · Snowflake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2255" y="366674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41" b="0" i="0">
                <a:solidFill>
                  <a:srgbClr val="3A4557"/>
                </a:solidFill>
                <a:latin typeface="Arial"/>
              </a:rPr>
              <a:t>small 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8567" y="366674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41" b="0" i="0">
                <a:solidFill>
                  <a:srgbClr val="3A4557"/>
                </a:solidFill>
                <a:latin typeface="Arial"/>
              </a:rPr>
              <a:t>governed call (OAuth)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4879" y="366674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41" b="0" i="0">
                <a:solidFill>
                  <a:srgbClr val="3A4557"/>
                </a:solidFill>
                <a:latin typeface="Arial"/>
              </a:rPr>
              <a:t>INSERT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4099" y="376961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592" b="1" i="1">
                <a:solidFill>
                  <a:srgbClr val="FFFFFF"/>
                </a:solidFill>
                <a:latin typeface="Arial"/>
              </a:rPr>
              <a:t>ƒx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4099" y="4366260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4099" y="4599432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34" b="0" i="0">
                <a:solidFill>
                  <a:srgbClr val="5A6470"/>
                </a:solidFill>
                <a:latin typeface="Arial"/>
              </a:rPr>
              <a:t>event 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50411" y="3851910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728" b="1" i="0">
                <a:solidFill>
                  <a:srgbClr val="FFFFFF"/>
                </a:solidFill>
                <a:latin typeface="Arial"/>
              </a:rPr>
              <a:t>&lt;/&gt;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0411" y="4366260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APIM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50411" y="4599432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34" b="0" i="0">
                <a:solidFill>
                  <a:srgbClr val="5A6470"/>
                </a:solidFill>
                <a:latin typeface="Arial"/>
              </a:rPr>
              <a:t>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6723" y="3879341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4" b="1" i="0">
                <a:solidFill>
                  <a:srgbClr val="FFFFFF"/>
                </a:solidFill>
                <a:latin typeface="Arial"/>
              </a:rPr>
              <a:t>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6723" y="4366260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SQL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6723" y="4599432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34" b="0" i="0">
                <a:solidFill>
                  <a:srgbClr val="5A6470"/>
                </a:solidFill>
                <a:latin typeface="Arial"/>
              </a:rPr>
              <a:t>Snowflake SQL REST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43035" y="4366260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33414F"/>
                </a:solidFill>
                <a:latin typeface="Arial"/>
              </a:rPr>
              <a:t>Snowflake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98567" y="523722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88" b="0" i="1">
                <a:solidFill>
                  <a:srgbClr val="5A6470"/>
                </a:solidFill>
                <a:latin typeface="Arial"/>
              </a:rPr>
              <a:t>Small, event-driven writes fronted by APIM. Low-volume and governed only; not for bulk. Trigger: a SIF event.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Inbound Webhook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350828" y="3749040"/>
            <a:ext cx="671376" cy="0"/>
          </a:xfrm>
          <a:prstGeom prst="line">
            <a:avLst/>
          </a:prstGeom>
          <a:ln w="15735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616722" y="3749040"/>
            <a:ext cx="671376" cy="0"/>
          </a:xfrm>
          <a:prstGeom prst="line">
            <a:avLst/>
          </a:prstGeom>
          <a:ln w="15735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882616" y="3749040"/>
            <a:ext cx="671376" cy="0"/>
          </a:xfrm>
          <a:prstGeom prst="line">
            <a:avLst/>
          </a:prstGeom>
          <a:ln w="15735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8509" y="3749040"/>
            <a:ext cx="671376" cy="0"/>
          </a:xfrm>
          <a:prstGeom prst="line">
            <a:avLst/>
          </a:prstGeom>
          <a:ln w="15735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91" y="3455313"/>
            <a:ext cx="1573537" cy="587453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14686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991" b="1" i="0">
                <a:solidFill>
                  <a:srgbClr val="33414F"/>
                </a:solidFill>
                <a:latin typeface="Arial"/>
              </a:rPr>
              <a:t>Partner /</a:t>
            </a:r>
          </a:p>
          <a:p>
            <a:pPr algn="ctr"/>
            <a:r>
              <a:rPr sz="991" b="1" i="0">
                <a:solidFill>
                  <a:srgbClr val="33414F"/>
                </a:solidFill>
                <a:latin typeface="Arial"/>
              </a:rPr>
              <a:t>SaaS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3185" y="3455313"/>
            <a:ext cx="1573537" cy="587453"/>
          </a:xfrm>
          <a:prstGeom prst="roundRect">
            <a:avLst>
              <a:gd name="adj" fmla="val 16071"/>
            </a:avLst>
          </a:prstGeom>
          <a:solidFill>
            <a:srgbClr val="E6EEF0"/>
          </a:solidFill>
          <a:ln w="14686">
            <a:solidFill>
              <a:srgbClr val="2C6E8F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032" b="1" i="0">
                <a:solidFill>
                  <a:srgbClr val="194155"/>
                </a:solidFill>
                <a:latin typeface="Arial"/>
              </a:rPr>
              <a:t>Front Door</a:t>
            </a:r>
          </a:p>
          <a:p>
            <a:pPr algn="ctr"/>
            <a:r>
              <a:rPr sz="784" b="0" i="0">
                <a:solidFill>
                  <a:srgbClr val="194155"/>
                </a:solidFill>
                <a:latin typeface="Arial"/>
              </a:rPr>
              <a:t>+ WAF / DDoS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9078" y="3455313"/>
            <a:ext cx="1573537" cy="587453"/>
          </a:xfrm>
          <a:prstGeom prst="roundRect">
            <a:avLst>
              <a:gd name="adj" fmla="val 16071"/>
            </a:avLst>
          </a:prstGeom>
          <a:solidFill>
            <a:srgbClr val="DCE7F5"/>
          </a:solidFill>
          <a:ln w="14686">
            <a:solidFill>
              <a:srgbClr val="2E549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032" b="1" i="0">
                <a:solidFill>
                  <a:srgbClr val="1F3864"/>
                </a:solidFill>
                <a:latin typeface="Arial"/>
              </a:rPr>
              <a:t>APIM</a:t>
            </a:r>
          </a:p>
          <a:p>
            <a:pPr algn="ctr"/>
            <a:r>
              <a:rPr sz="784" b="0" i="0">
                <a:solidFill>
                  <a:srgbClr val="1F3864"/>
                </a:solidFill>
                <a:latin typeface="Arial"/>
              </a:rPr>
              <a:t>validate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4972" y="3455313"/>
            <a:ext cx="1573537" cy="587453"/>
          </a:xfrm>
          <a:prstGeom prst="roundRect">
            <a:avLst>
              <a:gd name="adj" fmla="val 16071"/>
            </a:avLst>
          </a:prstGeom>
          <a:solidFill>
            <a:srgbClr val="D6ECEC"/>
          </a:solidFill>
          <a:ln w="14686">
            <a:solidFill>
              <a:srgbClr val="2C7A7B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991" b="1" i="0">
                <a:solidFill>
                  <a:srgbClr val="1D5253"/>
                </a:solidFill>
                <a:latin typeface="Arial"/>
              </a:rPr>
              <a:t>Event Grid /</a:t>
            </a:r>
          </a:p>
          <a:p>
            <a:pPr algn="ctr"/>
            <a:r>
              <a:rPr sz="991" b="1" i="0">
                <a:solidFill>
                  <a:srgbClr val="1D5253"/>
                </a:solidFill>
                <a:latin typeface="Arial"/>
              </a:rPr>
              <a:t>Service Bus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40866" y="3455313"/>
            <a:ext cx="1573537" cy="587453"/>
          </a:xfrm>
          <a:prstGeom prst="roundRect">
            <a:avLst>
              <a:gd name="adj" fmla="val 16071"/>
            </a:avLst>
          </a:prstGeom>
          <a:solidFill>
            <a:srgbClr val="FBF1DA"/>
          </a:solidFill>
          <a:ln w="14686">
            <a:solidFill>
              <a:srgbClr val="B7791F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032" b="1" i="0">
                <a:solidFill>
                  <a:srgbClr val="7A4F12"/>
                </a:solidFill>
                <a:latin typeface="Arial"/>
              </a:rPr>
              <a:t>Function</a:t>
            </a:r>
          </a:p>
          <a:p>
            <a:pPr algn="ctr"/>
            <a:r>
              <a:rPr sz="784" b="0" i="0">
                <a:solidFill>
                  <a:srgbClr val="7A4F12"/>
                </a:solidFill>
                <a:latin typeface="Arial"/>
              </a:rP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9236" y="358119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26" b="0" i="0">
                <a:solidFill>
                  <a:srgbClr val="5A6675"/>
                </a:solidFill>
                <a:latin typeface="Arial"/>
              </a:rPr>
              <a:t>HTTPS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5130" y="358119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26" b="0" i="0">
                <a:solidFill>
                  <a:srgbClr val="5A6675"/>
                </a:solidFill>
                <a:latin typeface="Arial"/>
              </a:rPr>
              <a:t>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1024" y="358119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26" b="0" i="0">
                <a:solidFill>
                  <a:srgbClr val="5A6675"/>
                </a:solidFill>
                <a:latin typeface="Arial"/>
              </a:rPr>
              <a:t>enqueue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6917" y="358119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26" b="0" i="0">
                <a:solidFill>
                  <a:srgbClr val="5A6675"/>
                </a:solidFill>
                <a:latin typeface="Arial"/>
              </a:rPr>
              <a:t>async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Orch Impl Sep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576035" y="357032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436173" y="357032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95383" y="306994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E9E2F5"/>
          </a:solidFill>
          <a:ln w="25019">
            <a:solidFill>
              <a:srgbClr val="6D4AA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4A2E7A"/>
                </a:solidFill>
                <a:latin typeface="Arial"/>
              </a:rPr>
              <a:t>Logic App</a:t>
            </a:r>
          </a:p>
          <a:p>
            <a:pPr algn="ctr"/>
            <a:r>
              <a:rPr sz="1336" b="0" i="0">
                <a:solidFill>
                  <a:srgbClr val="4A2E7A"/>
                </a:solidFill>
                <a:latin typeface="Arial"/>
              </a:rPr>
              <a:t>control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5521" y="306994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BF1DA"/>
          </a:solidFill>
          <a:ln w="25019">
            <a:solidFill>
              <a:srgbClr val="B7791F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7A4F12"/>
                </a:solidFill>
                <a:latin typeface="Arial"/>
              </a:rPr>
              <a:t>Function</a:t>
            </a:r>
          </a:p>
          <a:p>
            <a:pPr algn="ctr"/>
            <a:r>
              <a:rPr sz="1336" b="0" i="0">
                <a:solidFill>
                  <a:srgbClr val="7A4F12"/>
                </a:solidFill>
                <a:latin typeface="Arial"/>
              </a:rPr>
              <a:t>logic / compute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15659" y="306994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0627" y="328439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delegates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0765" y="328439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invokes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8567" y="4669397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77" b="0" i="1">
                <a:solidFill>
                  <a:srgbClr val="7A828F"/>
                </a:solidFill>
                <a:latin typeface="Arial"/>
              </a:rPr>
              <a:t>Process control in Logic Apps; business logic in Functions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Orchestration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576035" y="374903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7436173" y="2319359"/>
            <a:ext cx="1143744" cy="142968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436173" y="374903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436173" y="3749039"/>
            <a:ext cx="1143744" cy="1429681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95383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Trigger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5521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E9E2F5"/>
          </a:solidFill>
          <a:ln w="25019">
            <a:solidFill>
              <a:srgbClr val="6D4AA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4A2E7A"/>
                </a:solidFill>
                <a:latin typeface="Arial"/>
              </a:rPr>
              <a:t>Logic App</a:t>
            </a:r>
          </a:p>
          <a:p>
            <a:pPr algn="ctr"/>
            <a:r>
              <a:rPr sz="1336" b="0" i="0">
                <a:solidFill>
                  <a:srgbClr val="4A2E7A"/>
                </a:solidFill>
                <a:latin typeface="Arial"/>
              </a:rPr>
              <a:t>Standard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15659" y="1818970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DCE7F5"/>
          </a:solidFill>
          <a:ln w="25019">
            <a:solidFill>
              <a:srgbClr val="2E549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1F3864"/>
                </a:solidFill>
                <a:latin typeface="Arial"/>
              </a:rPr>
              <a:t>APIM →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15659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BF1DA"/>
          </a:solidFill>
          <a:ln w="25019">
            <a:solidFill>
              <a:srgbClr val="B7791F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7A4F12"/>
                </a:solidFill>
                <a:latin typeface="Arial"/>
              </a:rPr>
              <a:t>Function</a:t>
            </a:r>
          </a:p>
          <a:p>
            <a:pPr algn="ctr"/>
            <a:r>
              <a:rPr sz="1336" b="0" i="0">
                <a:solidFill>
                  <a:srgbClr val="7A4F12"/>
                </a:solidFill>
                <a:latin typeface="Arial"/>
              </a:rPr>
              <a:t>logic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15659" y="4678332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D6ECEC"/>
          </a:solidFill>
          <a:ln w="25019">
            <a:solidFill>
              <a:srgbClr val="2C7A7B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1D5253"/>
                </a:solidFill>
                <a:latin typeface="Arial"/>
              </a:rPr>
              <a:t>Service Bus</a:t>
            </a:r>
          </a:p>
          <a:p>
            <a:pPr algn="ctr"/>
            <a:r>
              <a:rPr sz="1336" b="0" i="0">
                <a:solidFill>
                  <a:srgbClr val="1D5253"/>
                </a:solidFill>
                <a:latin typeface="Arial"/>
              </a:rPr>
              <a:t>async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0627" y="346310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0765" y="274826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coordinates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Outbound Webhook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576035" y="374903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436173" y="374903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95383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Event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5521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DFF1E2"/>
          </a:solidFill>
          <a:ln w="25019">
            <a:solidFill>
              <a:srgbClr val="2F855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688" b="1" i="0">
                <a:solidFill>
                  <a:srgbClr val="1C5138"/>
                </a:solidFill>
                <a:latin typeface="Arial"/>
              </a:rPr>
              <a:t>Event Grid /</a:t>
            </a:r>
          </a:p>
          <a:p>
            <a:pPr algn="ctr"/>
            <a:r>
              <a:rPr sz="1688" b="1" i="0">
                <a:solidFill>
                  <a:srgbClr val="1C5138"/>
                </a:solidFill>
                <a:latin typeface="Arial"/>
              </a:rPr>
              <a:t>Logic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15659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688" b="1" i="0">
                <a:solidFill>
                  <a:srgbClr val="33414F"/>
                </a:solidFill>
                <a:latin typeface="Arial"/>
              </a:rPr>
              <a:t>External</a:t>
            </a:r>
          </a:p>
          <a:p>
            <a:pPr algn="ctr"/>
            <a:r>
              <a:rPr sz="1688" b="1" i="0">
                <a:solidFill>
                  <a:srgbClr val="33414F"/>
                </a:solidFill>
                <a:latin typeface="Arial"/>
              </a:rPr>
              <a:t>subscriber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0627" y="346310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0765" y="346310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push (HTTPS)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Protocol Mediation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576035" y="374903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436173" y="374903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95383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688" b="1" i="0">
                <a:solidFill>
                  <a:srgbClr val="33414F"/>
                </a:solidFill>
                <a:latin typeface="Arial"/>
              </a:rPr>
              <a:t>Modern</a:t>
            </a:r>
          </a:p>
          <a:p>
            <a:pPr algn="ctr"/>
            <a:r>
              <a:rPr sz="1688" b="1" i="0">
                <a:solidFill>
                  <a:srgbClr val="33414F"/>
                </a:solidFill>
                <a:latin typeface="Arial"/>
              </a:rPr>
              <a:t>consumer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5521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DCE7F5"/>
          </a:solidFill>
          <a:ln w="25019">
            <a:solidFill>
              <a:srgbClr val="2E549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1F3864"/>
                </a:solidFill>
                <a:latin typeface="Arial"/>
              </a:rPr>
              <a:t>APIM / Function</a:t>
            </a:r>
          </a:p>
          <a:p>
            <a:pPr algn="ctr"/>
            <a:r>
              <a:rPr sz="1336" b="0" i="0">
                <a:solidFill>
                  <a:srgbClr val="1F3864"/>
                </a:solidFill>
                <a:latin typeface="Arial"/>
              </a:rPr>
              <a:t>translate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15659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Legacy SOAP</a:t>
            </a:r>
          </a:p>
          <a:p>
            <a:pPr algn="ctr"/>
            <a:r>
              <a:rPr sz="1336" b="0" i="0">
                <a:solidFill>
                  <a:srgbClr val="33414F"/>
                </a:solidFill>
                <a:latin typeface="Arial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0627" y="346310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REST/JSON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0765" y="346310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SOAP/XML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Arial"/>
              </a:rPr>
              <a:t>Principle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DCE7F5"/>
          </a:solidFill>
          <a:ln w="17780">
            <a:solidFill>
              <a:srgbClr val="2E5496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1F3864"/>
                </a:solidFill>
                <a:latin typeface="Arial"/>
              </a:rPr>
              <a:t>Global Enterprise Architecture Principles</a:t>
            </a:r>
          </a:p>
          <a:p>
            <a:pPr algn="ctr"/>
            <a:r>
              <a:rPr sz="1000">
                <a:solidFill>
                  <a:srgbClr val="33414F"/>
                </a:solidFill>
                <a:latin typeface="Arial"/>
              </a:rPr>
              <a:t>Enterprise-first  •  SaaS &gt; PaaS &gt; IaaS  •  API-first  •  open standards  •  reuse before build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4476" y="1627632"/>
            <a:ext cx="0" cy="585216"/>
          </a:xfrm>
          <a:prstGeom prst="line">
            <a:avLst/>
          </a:prstGeom>
          <a:ln w="27940">
            <a:solidFill>
              <a:srgbClr val="8A97A8"/>
            </a:solidFill>
            <a:tailEnd type="triangle" w="med" len="med"/>
          </a:ln>
        </p:spPr>
      </p:cxnSp>
      <p:sp>
        <p:nvSpPr>
          <p:cNvPr id="5" name="TextBox 4"/>
          <p:cNvSpPr txBox="1"/>
          <p:nvPr/>
        </p:nvSpPr>
        <p:spPr>
          <a:xfrm>
            <a:off x="548640" y="1975104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7A828F"/>
                </a:solidFill>
                <a:latin typeface="Arial"/>
              </a:rPr>
              <a:t>Domain principles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2035454" cy="822960"/>
          </a:xfrm>
          <a:prstGeom prst="roundRect">
            <a:avLst>
              <a:gd name="adj" fmla="val 10000"/>
            </a:avLst>
          </a:prstGeom>
          <a:solidFill>
            <a:srgbClr val="EAF3EC"/>
          </a:solidFill>
          <a:ln w="17780">
            <a:solidFill>
              <a:srgbClr val="3A8341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2E6B3A"/>
                </a:solidFill>
                <a:latin typeface="Arial"/>
              </a:rPr>
              <a:t>Integration</a:t>
            </a:r>
          </a:p>
          <a:p>
            <a:pPr algn="ctr"/>
            <a:r>
              <a:rPr sz="950">
                <a:solidFill>
                  <a:srgbClr val="5A6675"/>
                </a:solidFill>
                <a:latin typeface="Arial"/>
              </a:rPr>
              <a:t>mediated, central, reusable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2694" y="2240280"/>
            <a:ext cx="2035454" cy="822960"/>
          </a:xfrm>
          <a:prstGeom prst="roundRect">
            <a:avLst>
              <a:gd name="adj" fmla="val 10000"/>
            </a:avLst>
          </a:prstGeom>
          <a:solidFill>
            <a:srgbClr val="EAF3EC"/>
          </a:solidFill>
          <a:ln w="17780">
            <a:solidFill>
              <a:srgbClr val="3A8341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2E6B3A"/>
                </a:solidFill>
                <a:latin typeface="Arial"/>
              </a:rPr>
              <a:t>Application</a:t>
            </a:r>
          </a:p>
          <a:p>
            <a:pPr algn="ctr"/>
            <a:r>
              <a:rPr sz="950">
                <a:solidFill>
                  <a:srgbClr val="5A6675"/>
                </a:solidFill>
                <a:latin typeface="Arial"/>
              </a:rPr>
              <a:t>expose as APIs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6748" y="2240280"/>
            <a:ext cx="2035454" cy="822960"/>
          </a:xfrm>
          <a:prstGeom prst="roundRect">
            <a:avLst>
              <a:gd name="adj" fmla="val 10000"/>
            </a:avLst>
          </a:prstGeom>
          <a:solidFill>
            <a:srgbClr val="EAF3EC"/>
          </a:solidFill>
          <a:ln w="17780">
            <a:solidFill>
              <a:srgbClr val="3A8341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2E6B3A"/>
                </a:solidFill>
                <a:latin typeface="Arial"/>
              </a:rPr>
              <a:t>Data</a:t>
            </a:r>
          </a:p>
          <a:p>
            <a:pPr algn="ctr"/>
            <a:r>
              <a:rPr sz="950">
                <a:solidFill>
                  <a:srgbClr val="5A6675"/>
                </a:solidFill>
                <a:latin typeface="Arial"/>
              </a:rPr>
              <a:t>FAIR, platform-owned bulk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40803" y="2240280"/>
            <a:ext cx="2035454" cy="822960"/>
          </a:xfrm>
          <a:prstGeom prst="roundRect">
            <a:avLst>
              <a:gd name="adj" fmla="val 10000"/>
            </a:avLst>
          </a:prstGeom>
          <a:solidFill>
            <a:srgbClr val="EAF3EC"/>
          </a:solidFill>
          <a:ln w="17780">
            <a:solidFill>
              <a:srgbClr val="3A8341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2E6B3A"/>
                </a:solidFill>
                <a:latin typeface="Arial"/>
              </a:rPr>
              <a:t>Technology</a:t>
            </a:r>
          </a:p>
          <a:p>
            <a:pPr algn="ctr"/>
            <a:r>
              <a:rPr sz="950">
                <a:solidFill>
                  <a:srgbClr val="5A6675"/>
                </a:solidFill>
                <a:latin typeface="Arial"/>
              </a:rPr>
              <a:t>exploit cloud, open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4857" y="2240280"/>
            <a:ext cx="2035454" cy="822960"/>
          </a:xfrm>
          <a:prstGeom prst="roundRect">
            <a:avLst>
              <a:gd name="adj" fmla="val 10000"/>
            </a:avLst>
          </a:prstGeom>
          <a:solidFill>
            <a:srgbClr val="EAF3EC"/>
          </a:solidFill>
          <a:ln w="17780">
            <a:solidFill>
              <a:srgbClr val="3A8341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2E6B3A"/>
                </a:solidFill>
                <a:latin typeface="Arial"/>
              </a:rPr>
              <a:t>Security</a:t>
            </a:r>
          </a:p>
          <a:p>
            <a:pPr algn="ctr"/>
            <a:r>
              <a:rPr sz="950">
                <a:solidFill>
                  <a:srgbClr val="5A6675"/>
                </a:solidFill>
                <a:latin typeface="Arial"/>
              </a:rPr>
              <a:t>shift-left, Zero Trust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66367" y="3081528"/>
            <a:ext cx="0" cy="603504"/>
          </a:xfrm>
          <a:prstGeom prst="line">
            <a:avLst/>
          </a:prstGeom>
          <a:ln w="30480">
            <a:solidFill>
              <a:srgbClr val="2E5496"/>
            </a:solidFill>
            <a:tailEnd type="triangle" w="med" len="med"/>
          </a:ln>
        </p:spPr>
      </p:cxnSp>
      <p:sp>
        <p:nvSpPr>
          <p:cNvPr id="12" name="TextBox 11"/>
          <p:cNvSpPr txBox="1"/>
          <p:nvPr/>
        </p:nvSpPr>
        <p:spPr>
          <a:xfrm>
            <a:off x="1874519" y="3383280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7A828F"/>
                </a:solidFill>
                <a:latin typeface="Arial"/>
              </a:rPr>
              <a:t>Domain architecture frameworks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03320"/>
            <a:ext cx="2035454" cy="86868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20320">
            <a:solidFill>
              <a:srgbClr val="14284D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Systems Integration Framework</a:t>
            </a:r>
          </a:p>
          <a:p>
            <a:pPr algn="ctr"/>
            <a:r>
              <a:rPr sz="850">
                <a:solidFill>
                  <a:srgbClr val="D6E0F5"/>
                </a:solidFill>
                <a:latin typeface="Arial"/>
              </a:rPr>
              <a:t>patterns • decision tree • guardrails • exceptions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2694" y="3703320"/>
            <a:ext cx="2035454" cy="86868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3970">
            <a:solidFill>
              <a:srgbClr val="AEB6C2"/>
            </a:solidFill>
            <a:prstDash val="dash"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r>
              <a:rPr sz="1100" b="1">
                <a:solidFill>
                  <a:srgbClr val="7A828F"/>
                </a:solidFill>
                <a:latin typeface="Arial"/>
              </a:rPr>
              <a:t>Application</a:t>
            </a:r>
          </a:p>
          <a:p>
            <a:pPr algn="ctr"/>
            <a:r>
              <a:rPr sz="850">
                <a:solidFill>
                  <a:srgbClr val="AEB6C2"/>
                </a:solidFill>
                <a:latin typeface="Arial"/>
              </a:rPr>
              <a:t>domain framework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6748" y="3703320"/>
            <a:ext cx="2035454" cy="86868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3970">
            <a:solidFill>
              <a:srgbClr val="AEB6C2"/>
            </a:solidFill>
            <a:prstDash val="dash"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r>
              <a:rPr sz="1100" b="1">
                <a:solidFill>
                  <a:srgbClr val="7A828F"/>
                </a:solidFill>
                <a:latin typeface="Arial"/>
              </a:rPr>
              <a:t>Data</a:t>
            </a:r>
          </a:p>
          <a:p>
            <a:pPr algn="ctr"/>
            <a:r>
              <a:rPr sz="850">
                <a:solidFill>
                  <a:srgbClr val="AEB6C2"/>
                </a:solidFill>
                <a:latin typeface="Arial"/>
              </a:rPr>
              <a:t>domain framework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0803" y="3703320"/>
            <a:ext cx="2035454" cy="86868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3970">
            <a:solidFill>
              <a:srgbClr val="AEB6C2"/>
            </a:solidFill>
            <a:prstDash val="dash"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r>
              <a:rPr sz="1100" b="1">
                <a:solidFill>
                  <a:srgbClr val="7A828F"/>
                </a:solidFill>
                <a:latin typeface="Arial"/>
              </a:rPr>
              <a:t>Technology</a:t>
            </a:r>
          </a:p>
          <a:p>
            <a:pPr algn="ctr"/>
            <a:r>
              <a:rPr sz="850">
                <a:solidFill>
                  <a:srgbClr val="AEB6C2"/>
                </a:solidFill>
                <a:latin typeface="Arial"/>
              </a:rPr>
              <a:t>domain framework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4857" y="3703320"/>
            <a:ext cx="2035454" cy="86868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3970">
            <a:solidFill>
              <a:srgbClr val="AEB6C2"/>
            </a:solidFill>
            <a:prstDash val="dash"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r>
              <a:rPr sz="1100" b="1">
                <a:solidFill>
                  <a:srgbClr val="7A828F"/>
                </a:solidFill>
                <a:latin typeface="Arial"/>
              </a:rPr>
              <a:t>Security</a:t>
            </a:r>
          </a:p>
          <a:p>
            <a:pPr algn="ctr"/>
            <a:r>
              <a:rPr sz="850">
                <a:solidFill>
                  <a:srgbClr val="AEB6C2"/>
                </a:solidFill>
                <a:latin typeface="Arial"/>
              </a:rPr>
              <a:t>domain framework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66367" y="4572000"/>
            <a:ext cx="0" cy="566928"/>
          </a:xfrm>
          <a:prstGeom prst="line">
            <a:avLst/>
          </a:prstGeom>
          <a:ln w="27940">
            <a:solidFill>
              <a:srgbClr val="8A97A8"/>
            </a:solidFill>
            <a:tailEnd type="triangle" w="med" len="med"/>
          </a:ln>
        </p:spPr>
      </p:cxnSp>
      <p:sp>
        <p:nvSpPr>
          <p:cNvPr id="19" name="TextBox 18"/>
          <p:cNvSpPr txBox="1"/>
          <p:nvPr/>
        </p:nvSpPr>
        <p:spPr>
          <a:xfrm>
            <a:off x="1730959" y="4700016"/>
            <a:ext cx="10972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5A6675"/>
                </a:solidFill>
                <a:latin typeface="Arial"/>
              </a:rPr>
              <a:t>applies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38928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BF1DA"/>
          </a:solidFill>
          <a:ln w="17780">
            <a:solidFill>
              <a:srgbClr val="B7791F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7A4F12"/>
                </a:solidFill>
                <a:latin typeface="Arial"/>
              </a:rPr>
              <a:t>Engineering Standards (Cloud)</a:t>
            </a:r>
          </a:p>
          <a:p>
            <a:pPr algn="ctr"/>
            <a:r>
              <a:rPr sz="1000">
                <a:solidFill>
                  <a:srgbClr val="7A4F12"/>
                </a:solidFill>
                <a:latin typeface="Arial"/>
              </a:rPr>
              <a:t>vWAN hub-spoke  •  Managed Identity (no keys)  •  Key Vault  •  WAF/DDoS  •  IaC/DevSecOps  •  ASR/ZRS/GRS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53328"/>
            <a:ext cx="1109167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7A828F"/>
                </a:solidFill>
                <a:latin typeface="Arial"/>
              </a:rPr>
              <a:t>The SIF is the Integration domain framework. It applies the enterprise and domain principles and is realised through the engineering standards.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Pub/sub Fanout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576035" y="374903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7436173" y="2319359"/>
            <a:ext cx="1143744" cy="142968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436173" y="374903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436173" y="3749039"/>
            <a:ext cx="1143744" cy="1429681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95383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Publisher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5521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D6ECEC"/>
          </a:solidFill>
          <a:ln w="25019">
            <a:solidFill>
              <a:srgbClr val="2C7A7B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1D5253"/>
                </a:solidFill>
                <a:latin typeface="Arial"/>
              </a:rPr>
              <a:t>Topic</a:t>
            </a:r>
          </a:p>
          <a:p>
            <a:pPr algn="ctr"/>
            <a:r>
              <a:rPr sz="1336" b="0" i="0">
                <a:solidFill>
                  <a:srgbClr val="1D5253"/>
                </a:solidFill>
                <a:latin typeface="Arial"/>
              </a:rPr>
              <a:t>Service Bus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15659" y="1818970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Finance</a:t>
            </a:r>
          </a:p>
          <a:p>
            <a:pPr algn="ctr"/>
            <a:r>
              <a:rPr sz="1336" b="0" i="0">
                <a:solidFill>
                  <a:srgbClr val="33414F"/>
                </a:solidFill>
                <a:latin typeface="Arial"/>
              </a:rPr>
              <a:t>subscription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15659" y="324865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Doc gen</a:t>
            </a:r>
          </a:p>
          <a:p>
            <a:pPr algn="ctr"/>
            <a:r>
              <a:rPr sz="1336" b="0" i="0">
                <a:solidFill>
                  <a:srgbClr val="33414F"/>
                </a:solidFill>
                <a:latin typeface="Arial"/>
              </a:rPr>
              <a:t>subscription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15659" y="4678332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Analytics</a:t>
            </a:r>
          </a:p>
          <a:p>
            <a:pPr algn="ctr"/>
            <a:r>
              <a:rPr sz="1336" b="0" i="0">
                <a:solidFill>
                  <a:srgbClr val="33414F"/>
                </a:solidFill>
                <a:latin typeface="Arial"/>
              </a:rPr>
              <a:t>subscription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0627" y="346310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publish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0765" y="274826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subscriptions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Queue Leveling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350828" y="3749040"/>
            <a:ext cx="671376" cy="0"/>
          </a:xfrm>
          <a:prstGeom prst="line">
            <a:avLst/>
          </a:prstGeom>
          <a:ln w="15735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616722" y="3749040"/>
            <a:ext cx="671376" cy="0"/>
          </a:xfrm>
          <a:prstGeom prst="line">
            <a:avLst/>
          </a:prstGeom>
          <a:ln w="15735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882616" y="3749040"/>
            <a:ext cx="671376" cy="0"/>
          </a:xfrm>
          <a:prstGeom prst="line">
            <a:avLst/>
          </a:prstGeom>
          <a:ln w="15735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8509" y="3749040"/>
            <a:ext cx="671376" cy="0"/>
          </a:xfrm>
          <a:prstGeom prst="line">
            <a:avLst/>
          </a:prstGeom>
          <a:ln w="15735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91" y="3455313"/>
            <a:ext cx="1573537" cy="587453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14686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032" b="1" i="0">
                <a:solidFill>
                  <a:srgbClr val="33414F"/>
                </a:solidFill>
                <a:latin typeface="Arial"/>
              </a:rPr>
              <a:t>Producers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3185" y="3455313"/>
            <a:ext cx="1573537" cy="587453"/>
          </a:xfrm>
          <a:prstGeom prst="roundRect">
            <a:avLst>
              <a:gd name="adj" fmla="val 16071"/>
            </a:avLst>
          </a:prstGeom>
          <a:solidFill>
            <a:srgbClr val="DCE7F5"/>
          </a:solidFill>
          <a:ln w="14686">
            <a:solidFill>
              <a:srgbClr val="2E549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032" b="1" i="0">
                <a:solidFill>
                  <a:srgbClr val="1F3864"/>
                </a:solidFill>
                <a:latin typeface="Arial"/>
              </a:rPr>
              <a:t>APIM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9078" y="3455313"/>
            <a:ext cx="1573537" cy="587453"/>
          </a:xfrm>
          <a:prstGeom prst="roundRect">
            <a:avLst>
              <a:gd name="adj" fmla="val 16071"/>
            </a:avLst>
          </a:prstGeom>
          <a:solidFill>
            <a:srgbClr val="D6ECEC"/>
          </a:solidFill>
          <a:ln w="14686">
            <a:solidFill>
              <a:srgbClr val="2C7A7B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032" b="1" i="0">
                <a:solidFill>
                  <a:srgbClr val="1D5253"/>
                </a:solidFill>
                <a:latin typeface="Arial"/>
              </a:rPr>
              <a:t>Queue</a:t>
            </a:r>
          </a:p>
          <a:p>
            <a:pPr algn="ctr"/>
            <a:r>
              <a:rPr sz="784" b="0" i="0">
                <a:solidFill>
                  <a:srgbClr val="1D5253"/>
                </a:solidFill>
                <a:latin typeface="Arial"/>
              </a:rPr>
              <a:t>Service Bus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4972" y="3455313"/>
            <a:ext cx="1573537" cy="587453"/>
          </a:xfrm>
          <a:prstGeom prst="roundRect">
            <a:avLst>
              <a:gd name="adj" fmla="val 16071"/>
            </a:avLst>
          </a:prstGeom>
          <a:solidFill>
            <a:srgbClr val="FBF1DA"/>
          </a:solidFill>
          <a:ln w="14686">
            <a:solidFill>
              <a:srgbClr val="B7791F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032" b="1" i="0">
                <a:solidFill>
                  <a:srgbClr val="7A4F12"/>
                </a:solidFill>
                <a:latin typeface="Arial"/>
              </a:rPr>
              <a:t>Function</a:t>
            </a:r>
          </a:p>
          <a:p>
            <a:pPr algn="ctr"/>
            <a:r>
              <a:rPr sz="784" b="0" i="0">
                <a:solidFill>
                  <a:srgbClr val="7A4F12"/>
                </a:solidFill>
                <a:latin typeface="Arial"/>
              </a:rPr>
              <a:t>consumer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40866" y="3455313"/>
            <a:ext cx="1573537" cy="587453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14686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032" b="1" i="0">
                <a:solidFill>
                  <a:srgbClr val="33414F"/>
                </a:solidFill>
                <a:latin typeface="Arial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9236" y="358119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26" b="0" i="0">
                <a:solidFill>
                  <a:srgbClr val="5A6675"/>
                </a:solidFill>
                <a:latin typeface="Arial"/>
              </a:rPr>
              <a:t>submit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5130" y="358119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26" b="0" i="0">
                <a:solidFill>
                  <a:srgbClr val="5A6675"/>
                </a:solidFill>
                <a:latin typeface="Arial"/>
              </a:rPr>
              <a:t>enqueue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1024" y="358119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26" b="0" i="0">
                <a:solidFill>
                  <a:srgbClr val="5A6675"/>
                </a:solidFill>
                <a:latin typeface="Arial"/>
              </a:rPr>
              <a:t>dequeue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6917" y="358119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26" b="0" i="0">
                <a:solidFill>
                  <a:srgbClr val="5A6675"/>
                </a:solidFill>
                <a:latin typeface="Arial"/>
              </a:rPr>
              <a:t>process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Reference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79279" y="2350970"/>
            <a:ext cx="0" cy="231006"/>
          </a:xfrm>
          <a:prstGeom prst="line">
            <a:avLst/>
          </a:prstGeom>
          <a:ln w="2310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879279" y="3506002"/>
            <a:ext cx="0" cy="231006"/>
          </a:xfrm>
          <a:prstGeom prst="line">
            <a:avLst/>
          </a:prstGeom>
          <a:ln w="2310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79279" y="4661033"/>
            <a:ext cx="0" cy="231007"/>
          </a:xfrm>
          <a:prstGeom prst="line">
            <a:avLst/>
          </a:prstGeom>
          <a:ln w="2310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86373" y="1744578"/>
            <a:ext cx="288758" cy="0"/>
          </a:xfrm>
          <a:prstGeom prst="line">
            <a:avLst/>
          </a:prstGeom>
          <a:ln w="2310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879279" y="5816065"/>
            <a:ext cx="0" cy="231006"/>
          </a:xfrm>
          <a:prstGeom prst="line">
            <a:avLst/>
          </a:prstGeom>
          <a:ln w="2310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98205" y="1426945"/>
            <a:ext cx="1588168" cy="635267"/>
          </a:xfrm>
          <a:prstGeom prst="roundRect">
            <a:avLst>
              <a:gd name="adj" fmla="val 20454"/>
            </a:avLst>
          </a:prstGeom>
          <a:solidFill>
            <a:srgbClr val="EEF1F5"/>
          </a:solidFill>
          <a:ln w="21656">
            <a:solidFill>
              <a:srgbClr val="51607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250" b="1" i="0">
                <a:solidFill>
                  <a:srgbClr val="33414F"/>
                </a:solidFill>
                <a:latin typeface="Arial"/>
              </a:rPr>
              <a:t>Consumers /</a:t>
            </a:r>
          </a:p>
          <a:p>
            <a:pPr algn="ctr"/>
            <a:r>
              <a:rPr sz="1250" b="0" i="0">
                <a:solidFill>
                  <a:srgbClr val="33414F"/>
                </a:solidFill>
                <a:latin typeface="Arial"/>
              </a:rPr>
              <a:t>producers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5131" y="1426945"/>
            <a:ext cx="6208294" cy="924025"/>
          </a:xfrm>
          <a:prstGeom prst="roundRect">
            <a:avLst>
              <a:gd name="adj" fmla="val 15625"/>
            </a:avLst>
          </a:prstGeom>
          <a:solidFill>
            <a:srgbClr val="DCE7F5"/>
          </a:solidFill>
          <a:ln w="21656">
            <a:solidFill>
              <a:srgbClr val="2E549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64" b="1" i="0">
                <a:solidFill>
                  <a:srgbClr val="1F3864"/>
                </a:solidFill>
                <a:latin typeface="Arial"/>
              </a:rPr>
              <a:t>Exposure</a:t>
            </a:r>
          </a:p>
          <a:p>
            <a:pPr algn="ctr"/>
            <a:r>
              <a:rPr sz="1364" b="0" i="0">
                <a:solidFill>
                  <a:srgbClr val="1F3864"/>
                </a:solidFill>
                <a:latin typeface="Arial"/>
              </a:rPr>
              <a:t>API Management  •  (shared, non-public)</a:t>
            </a:r>
          </a:p>
          <a:p>
            <a:pPr algn="ctr"/>
            <a:r>
              <a:rPr sz="1080" b="0" i="1">
                <a:solidFill>
                  <a:srgbClr val="1F3864"/>
                </a:solidFill>
                <a:latin typeface="Arial"/>
              </a:rPr>
              <a:t>Front Door + WAF + DDoS for public ingress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5131" y="2581976"/>
            <a:ext cx="6208294" cy="924025"/>
          </a:xfrm>
          <a:prstGeom prst="roundRect">
            <a:avLst>
              <a:gd name="adj" fmla="val 15625"/>
            </a:avLst>
          </a:prstGeom>
          <a:solidFill>
            <a:srgbClr val="E9E2F5"/>
          </a:solidFill>
          <a:ln w="21656">
            <a:solidFill>
              <a:srgbClr val="6D4AA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64" b="1" i="0">
                <a:solidFill>
                  <a:srgbClr val="4A2E7A"/>
                </a:solidFill>
                <a:latin typeface="Arial"/>
              </a:rPr>
              <a:t>Orchestration</a:t>
            </a:r>
          </a:p>
          <a:p>
            <a:pPr algn="ctr"/>
            <a:r>
              <a:rPr sz="1364" b="0" i="0">
                <a:solidFill>
                  <a:srgbClr val="4A2E7A"/>
                </a:solidFill>
                <a:latin typeface="Arial"/>
              </a:rPr>
              <a:t>Logic Apps (Standard)</a:t>
            </a:r>
          </a:p>
          <a:p>
            <a:pPr algn="ctr"/>
            <a:r>
              <a:rPr sz="1080" b="0" i="1">
                <a:solidFill>
                  <a:srgbClr val="4A2E7A"/>
                </a:solidFill>
                <a:latin typeface="Arial"/>
              </a:rPr>
              <a:t>Stateful control flow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5131" y="3737008"/>
            <a:ext cx="6208294" cy="924025"/>
          </a:xfrm>
          <a:prstGeom prst="roundRect">
            <a:avLst>
              <a:gd name="adj" fmla="val 15625"/>
            </a:avLst>
          </a:prstGeom>
          <a:solidFill>
            <a:srgbClr val="D6ECEC"/>
          </a:solidFill>
          <a:ln w="21656">
            <a:solidFill>
              <a:srgbClr val="2C7A7B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64" b="1" i="0">
                <a:solidFill>
                  <a:srgbClr val="1D5253"/>
                </a:solidFill>
                <a:latin typeface="Arial"/>
              </a:rPr>
              <a:t>Messaging &amp; Eventing</a:t>
            </a:r>
          </a:p>
          <a:p>
            <a:pPr algn="ctr"/>
            <a:r>
              <a:rPr sz="1364" b="0" i="0">
                <a:solidFill>
                  <a:srgbClr val="1D5253"/>
                </a:solidFill>
                <a:latin typeface="Arial"/>
              </a:rPr>
              <a:t>Service Bus   •   Event Grid   •   Event Hubs</a:t>
            </a:r>
          </a:p>
          <a:p>
            <a:pPr algn="ctr"/>
            <a:r>
              <a:rPr sz="1080" b="0" i="1">
                <a:solidFill>
                  <a:srgbClr val="1D5253"/>
                </a:solidFill>
                <a:latin typeface="Arial"/>
              </a:rPr>
              <a:t>Async, pub/sub, streaming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5131" y="4892040"/>
            <a:ext cx="6208294" cy="924025"/>
          </a:xfrm>
          <a:prstGeom prst="roundRect">
            <a:avLst>
              <a:gd name="adj" fmla="val 15625"/>
            </a:avLst>
          </a:prstGeom>
          <a:solidFill>
            <a:srgbClr val="FBF1DA"/>
          </a:solidFill>
          <a:ln w="21656">
            <a:solidFill>
              <a:srgbClr val="B7791F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64" b="1" i="0">
                <a:solidFill>
                  <a:srgbClr val="7A4F12"/>
                </a:solidFill>
                <a:latin typeface="Arial"/>
              </a:rPr>
              <a:t>Implementation</a:t>
            </a:r>
          </a:p>
          <a:p>
            <a:pPr algn="ctr"/>
            <a:r>
              <a:rPr sz="1364" b="0" i="0">
                <a:solidFill>
                  <a:srgbClr val="7A4F12"/>
                </a:solidFill>
                <a:latin typeface="Arial"/>
              </a:rPr>
              <a:t>Azure Functions  (Python / .NET)</a:t>
            </a:r>
          </a:p>
          <a:p>
            <a:pPr algn="ctr"/>
            <a:r>
              <a:rPr sz="1080" b="0" i="1">
                <a:solidFill>
                  <a:srgbClr val="7A4F12"/>
                </a:solidFill>
                <a:latin typeface="Arial"/>
              </a:rPr>
              <a:t>Logic, transform, compute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5131" y="6047071"/>
            <a:ext cx="6208294" cy="808522"/>
          </a:xfrm>
          <a:prstGeom prst="roundRect">
            <a:avLst>
              <a:gd name="adj" fmla="val 17857"/>
            </a:avLst>
          </a:prstGeom>
          <a:solidFill>
            <a:srgbClr val="F3F5F8"/>
          </a:solidFill>
          <a:ln w="21656">
            <a:solidFill>
              <a:srgbClr val="51607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64" b="1" i="0">
                <a:solidFill>
                  <a:srgbClr val="33414F"/>
                </a:solidFill>
                <a:latin typeface="Arial"/>
              </a:rPr>
              <a:t>Data Platform Exchange (boundary)</a:t>
            </a:r>
          </a:p>
          <a:p>
            <a:pPr algn="ctr"/>
            <a:r>
              <a:rPr sz="1364" b="0" i="0">
                <a:solidFill>
                  <a:srgbClr val="33414F"/>
                </a:solidFill>
                <a:latin typeface="Arial"/>
              </a:rPr>
              <a:t>Snowflake: events in / curated products out, via defined patterns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43308" y="1426945"/>
            <a:ext cx="2165684" cy="837397"/>
          </a:xfrm>
          <a:prstGeom prst="roundRect">
            <a:avLst>
              <a:gd name="adj" fmla="val 15517"/>
            </a:avLst>
          </a:prstGeom>
          <a:solidFill>
            <a:srgbClr val="F1F4F8"/>
          </a:solidFill>
          <a:ln w="21656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250" b="0" i="0">
                <a:solidFill>
                  <a:srgbClr val="33414F"/>
                </a:solidFill>
                <a:latin typeface="Arial"/>
              </a:rPr>
              <a:t>Entra ID +</a:t>
            </a:r>
          </a:p>
          <a:p>
            <a:pPr algn="ctr"/>
            <a:r>
              <a:rPr sz="1250" b="0" i="0">
                <a:solidFill>
                  <a:srgbClr val="33414F"/>
                </a:solidFill>
                <a:latin typeface="Arial"/>
              </a:rPr>
              <a:t>Managed Identity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43308" y="2437597"/>
            <a:ext cx="2165684" cy="837397"/>
          </a:xfrm>
          <a:prstGeom prst="roundRect">
            <a:avLst>
              <a:gd name="adj" fmla="val 15517"/>
            </a:avLst>
          </a:prstGeom>
          <a:solidFill>
            <a:srgbClr val="F1F4F8"/>
          </a:solidFill>
          <a:ln w="21656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250" b="0" i="0">
                <a:solidFill>
                  <a:srgbClr val="33414F"/>
                </a:solidFill>
                <a:latin typeface="Arial"/>
              </a:rPr>
              <a:t>Key Vault</a:t>
            </a:r>
          </a:p>
          <a:p>
            <a:pPr algn="ctr"/>
            <a:r>
              <a:rPr sz="1250" b="0" i="0">
                <a:solidFill>
                  <a:srgbClr val="33414F"/>
                </a:solidFill>
                <a:latin typeface="Arial"/>
              </a:rPr>
              <a:t>(Cyber sub)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43308" y="3448250"/>
            <a:ext cx="2165684" cy="837397"/>
          </a:xfrm>
          <a:prstGeom prst="roundRect">
            <a:avLst>
              <a:gd name="adj" fmla="val 15517"/>
            </a:avLst>
          </a:prstGeom>
          <a:solidFill>
            <a:srgbClr val="F1F4F8"/>
          </a:solidFill>
          <a:ln w="21656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250" b="0" i="0">
                <a:solidFill>
                  <a:srgbClr val="33414F"/>
                </a:solidFill>
                <a:latin typeface="Arial"/>
              </a:rPr>
              <a:t>Monitor /</a:t>
            </a:r>
          </a:p>
          <a:p>
            <a:pPr algn="ctr"/>
            <a:r>
              <a:rPr sz="1250" b="0" i="0">
                <a:solidFill>
                  <a:srgbClr val="33414F"/>
                </a:solidFill>
                <a:latin typeface="Arial"/>
              </a:rPr>
              <a:t>Log Analytics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43308" y="4458903"/>
            <a:ext cx="2165684" cy="837397"/>
          </a:xfrm>
          <a:prstGeom prst="roundRect">
            <a:avLst>
              <a:gd name="adj" fmla="val 15517"/>
            </a:avLst>
          </a:prstGeom>
          <a:solidFill>
            <a:srgbClr val="F1F4F8"/>
          </a:solidFill>
          <a:ln w="21656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250" b="0" i="0">
                <a:solidFill>
                  <a:srgbClr val="33414F"/>
                </a:solidFill>
                <a:latin typeface="Arial"/>
              </a:rPr>
              <a:t>vWAN + Private</a:t>
            </a:r>
          </a:p>
          <a:p>
            <a:pPr algn="ctr"/>
            <a:r>
              <a:rPr sz="1250" b="0" i="0">
                <a:solidFill>
                  <a:srgbClr val="33414F"/>
                </a:solidFill>
                <a:latin typeface="Arial"/>
              </a:rPr>
              <a:t>Endpoints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8870" y="1159844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93" b="1" i="0">
                <a:solidFill>
                  <a:srgbClr val="5A6675"/>
                </a:solidFill>
                <a:latin typeface="Arial"/>
              </a:rPr>
              <a:t>Cross-cutting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Reliable Messaging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04007" y="3749039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659579" y="3749039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515151" y="3749039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0971" y="3378873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18508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33414F"/>
                </a:solidFill>
                <a:latin typeface="Arial"/>
              </a:rPr>
              <a:t>Producer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76543" y="3378873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D6ECEC"/>
          </a:solidFill>
          <a:ln w="18508">
            <a:solidFill>
              <a:srgbClr val="2C7A7B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1D5253"/>
                </a:solidFill>
                <a:latin typeface="Arial"/>
              </a:rPr>
              <a:t>Queue</a:t>
            </a:r>
          </a:p>
          <a:p>
            <a:pPr algn="ctr"/>
            <a:r>
              <a:rPr sz="988" b="0" i="0">
                <a:solidFill>
                  <a:srgbClr val="1D5253"/>
                </a:solidFill>
                <a:latin typeface="Arial"/>
              </a:rPr>
              <a:t>sessions, dedup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2115" y="3378873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BF1DA"/>
          </a:solidFill>
          <a:ln w="18508">
            <a:solidFill>
              <a:srgbClr val="B7791F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249" b="1" i="0">
                <a:solidFill>
                  <a:srgbClr val="7A4F12"/>
                </a:solidFill>
                <a:latin typeface="Arial"/>
              </a:rPr>
              <a:t>Idempotent</a:t>
            </a:r>
          </a:p>
          <a:p>
            <a:pPr algn="ctr"/>
            <a:r>
              <a:rPr sz="1249" b="1" i="0">
                <a:solidFill>
                  <a:srgbClr val="7A4F12"/>
                </a:solidFill>
                <a:latin typeface="Arial"/>
              </a:rPr>
              <a:t>consumer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87687" y="3378873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18508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249" b="1" i="0">
                <a:solidFill>
                  <a:srgbClr val="33414F"/>
                </a:solidFill>
                <a:latin typeface="Arial"/>
              </a:rPr>
              <a:t>System of</a:t>
            </a:r>
          </a:p>
          <a:p>
            <a:pPr algn="ctr"/>
            <a:r>
              <a:rPr sz="1249" b="1" i="0">
                <a:solidFill>
                  <a:srgbClr val="33414F"/>
                </a:solidFill>
                <a:latin typeface="Arial"/>
              </a:rPr>
              <a:t>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9775" y="353751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send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5347" y="353751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deliver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0919" y="353751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apply once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Reverse Etl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04007" y="3616837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659579" y="3616837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515151" y="3616837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76543" y="3246670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BF1DA"/>
          </a:solidFill>
          <a:ln w="18508">
            <a:solidFill>
              <a:srgbClr val="B7791F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7A4F12"/>
                </a:solidFill>
                <a:latin typeface="Arial"/>
              </a:rPr>
              <a:t>Pipeline /</a:t>
            </a:r>
          </a:p>
          <a:p>
            <a:pPr algn="ctr"/>
            <a:r>
              <a:rPr sz="988" b="0" i="0">
                <a:solidFill>
                  <a:srgbClr val="7A4F12"/>
                </a:solidFill>
                <a:latin typeface="Arial"/>
              </a:rPr>
              <a:t>Function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2115" y="3246670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D6ECEC"/>
          </a:solidFill>
          <a:ln w="18508">
            <a:solidFill>
              <a:srgbClr val="2C7A7B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1D5253"/>
                </a:solidFill>
                <a:latin typeface="Arial"/>
              </a:rPr>
              <a:t>Service Bus /</a:t>
            </a:r>
          </a:p>
          <a:p>
            <a:pPr algn="ctr"/>
            <a:r>
              <a:rPr sz="988" b="0" i="0">
                <a:solidFill>
                  <a:srgbClr val="1D5253"/>
                </a:solidFill>
                <a:latin typeface="Arial"/>
              </a:rPr>
              <a:t>APIM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87687" y="3246670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18508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33414F"/>
                </a:solidFill>
                <a:latin typeface="Arial"/>
              </a:rPr>
              <a:t>Operational</a:t>
            </a:r>
          </a:p>
          <a:p>
            <a:pPr algn="ctr"/>
            <a:r>
              <a:rPr sz="988" b="0" i="0">
                <a:solidFill>
                  <a:srgbClr val="33414F"/>
                </a:solidFill>
                <a:latin typeface="Arial"/>
              </a:rPr>
              <a:t>system</a:t>
            </a:r>
          </a:p>
        </p:txBody>
      </p:sp>
      <p:sp>
        <p:nvSpPr>
          <p:cNvPr id="9" name="Can 8"/>
          <p:cNvSpPr/>
          <p:nvPr/>
        </p:nvSpPr>
        <p:spPr>
          <a:xfrm>
            <a:off x="820971" y="3246670"/>
            <a:ext cx="1983036" cy="740333"/>
          </a:xfrm>
          <a:prstGeom prst="can">
            <a:avLst/>
          </a:prstGeom>
          <a:solidFill>
            <a:srgbClr val="E8EDF3"/>
          </a:solidFill>
          <a:ln w="18508">
            <a:solidFill>
              <a:srgbClr val="51607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33414F"/>
                </a:solidFill>
                <a:latin typeface="Arial"/>
              </a:rPr>
              <a:t>Snowflake</a:t>
            </a:r>
          </a:p>
          <a:p>
            <a:pPr algn="ctr"/>
            <a:r>
              <a:rPr sz="988" b="0" i="0">
                <a:solidFill>
                  <a:srgbClr val="33414F"/>
                </a:solidFill>
                <a:latin typeface="Arial"/>
              </a:rPr>
              <a:t>curated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9775" y="340531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5347" y="340531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publish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0919" y="340531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consume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8567" y="4429882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93" b="0" i="1">
                <a:solidFill>
                  <a:srgbClr val="7A828F"/>
                </a:solidFill>
                <a:latin typeface="Arial"/>
              </a:rPr>
              <a:t>Analytics informs operations — it does not overwrite the system of record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Scheduled Trigger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04007" y="3616837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659579" y="3616837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515151" y="3616837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0971" y="3246670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18508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33414F"/>
                </a:solidFill>
                <a:latin typeface="Arial"/>
              </a:rPr>
              <a:t>Schedule</a:t>
            </a:r>
          </a:p>
          <a:p>
            <a:pPr algn="ctr"/>
            <a:r>
              <a:rPr sz="988" b="0" i="0">
                <a:solidFill>
                  <a:srgbClr val="33414F"/>
                </a:solidFill>
                <a:latin typeface="Arial"/>
              </a:rPr>
              <a:t>recurrence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76543" y="3246670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E9E2F5"/>
          </a:solidFill>
          <a:ln w="18508">
            <a:solidFill>
              <a:srgbClr val="6D4AA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4A2E7A"/>
                </a:solidFill>
                <a:latin typeface="Arial"/>
              </a:rPr>
              <a:t>Logic App</a:t>
            </a:r>
          </a:p>
          <a:p>
            <a:pPr algn="ctr"/>
            <a:r>
              <a:rPr sz="988" b="0" i="0">
                <a:solidFill>
                  <a:srgbClr val="4A2E7A"/>
                </a:solidFill>
                <a:latin typeface="Arial"/>
              </a:rPr>
              <a:t>Standard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2115" y="3246670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BF1DA"/>
          </a:solidFill>
          <a:ln w="18508">
            <a:solidFill>
              <a:srgbClr val="B7791F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7A4F12"/>
                </a:solidFill>
                <a:latin typeface="Arial"/>
              </a:rPr>
              <a:t>Function /</a:t>
            </a:r>
          </a:p>
          <a:p>
            <a:pPr algn="ctr"/>
            <a:r>
              <a:rPr sz="988" b="0" i="0">
                <a:solidFill>
                  <a:srgbClr val="7A4F12"/>
                </a:solidFill>
                <a:latin typeface="Arial"/>
              </a:rPr>
              <a:t>Service Bus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87687" y="3246670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18508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33414F"/>
                </a:solidFill>
                <a:latin typeface="Arial"/>
              </a:rP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9775" y="340531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fires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5347" y="340531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0919" y="340531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dispatch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8567" y="4429882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93" b="0" i="1">
                <a:solidFill>
                  <a:srgbClr val="7A828F"/>
                </a:solidFill>
                <a:latin typeface="Arial"/>
              </a:rPr>
              <a:t>Use only where there is no event to react to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Streaming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04007" y="3749039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659579" y="3749039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515151" y="3749039"/>
            <a:ext cx="846096" cy="0"/>
          </a:xfrm>
          <a:prstGeom prst="line">
            <a:avLst/>
          </a:prstGeom>
          <a:ln w="19830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0971" y="3378873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18508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249" b="1" i="0">
                <a:solidFill>
                  <a:srgbClr val="33414F"/>
                </a:solidFill>
                <a:latin typeface="Arial"/>
              </a:rPr>
              <a:t>Feeds /</a:t>
            </a:r>
          </a:p>
          <a:p>
            <a:pPr algn="ctr"/>
            <a:r>
              <a:rPr sz="1249" b="1" i="0">
                <a:solidFill>
                  <a:srgbClr val="33414F"/>
                </a:solidFill>
                <a:latin typeface="Arial"/>
              </a:rPr>
              <a:t>producers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76543" y="3378873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BE7D6"/>
          </a:solidFill>
          <a:ln w="18508">
            <a:solidFill>
              <a:srgbClr val="C05621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7B3410"/>
                </a:solidFill>
                <a:latin typeface="Arial"/>
              </a:rPr>
              <a:t>Event Hubs</a:t>
            </a:r>
          </a:p>
          <a:p>
            <a:pPr algn="ctr"/>
            <a:r>
              <a:rPr sz="988" b="0" i="0">
                <a:solidFill>
                  <a:srgbClr val="7B3410"/>
                </a:solidFill>
                <a:latin typeface="Arial"/>
              </a:rPr>
              <a:t>partitioned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2115" y="3378873"/>
            <a:ext cx="1983036" cy="740333"/>
          </a:xfrm>
          <a:prstGeom prst="roundRect">
            <a:avLst>
              <a:gd name="adj" fmla="val 16071"/>
            </a:avLst>
          </a:prstGeom>
          <a:solidFill>
            <a:srgbClr val="FBF1DA"/>
          </a:solidFill>
          <a:ln w="18508">
            <a:solidFill>
              <a:srgbClr val="B7791F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7A4F12"/>
                </a:solidFill>
                <a:latin typeface="Arial"/>
              </a:rPr>
              <a:t>Processor</a:t>
            </a:r>
          </a:p>
          <a:p>
            <a:pPr algn="ctr"/>
            <a:r>
              <a:rPr sz="988" b="0" i="0">
                <a:solidFill>
                  <a:srgbClr val="7A4F12"/>
                </a:solidFill>
                <a:latin typeface="Arial"/>
              </a:rPr>
              <a:t>Functions / ASA</a:t>
            </a:r>
          </a:p>
        </p:txBody>
      </p:sp>
      <p:sp>
        <p:nvSpPr>
          <p:cNvPr id="9" name="Can 8"/>
          <p:cNvSpPr/>
          <p:nvPr/>
        </p:nvSpPr>
        <p:spPr>
          <a:xfrm>
            <a:off x="9387687" y="3378873"/>
            <a:ext cx="1983036" cy="740333"/>
          </a:xfrm>
          <a:prstGeom prst="can">
            <a:avLst/>
          </a:prstGeom>
          <a:solidFill>
            <a:srgbClr val="E8EDF3"/>
          </a:solidFill>
          <a:ln w="18508">
            <a:solidFill>
              <a:srgbClr val="51607A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301" b="1" i="0">
                <a:solidFill>
                  <a:srgbClr val="33414F"/>
                </a:solidFill>
                <a:latin typeface="Arial"/>
              </a:rPr>
              <a:t>Snowflake</a:t>
            </a:r>
          </a:p>
          <a:p>
            <a:pPr algn="ctr"/>
            <a:r>
              <a:rPr sz="988" b="0" i="0">
                <a:solidFill>
                  <a:srgbClr val="33414F"/>
                </a:solidFill>
                <a:latin typeface="Arial"/>
              </a:rPr>
              <a:t>landing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9775" y="353751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5347" y="353751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0919" y="3537516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40" b="0" i="0">
                <a:solidFill>
                  <a:srgbClr val="5A6675"/>
                </a:solidFill>
                <a:latin typeface="Arial"/>
              </a:rPr>
              <a:t>offload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5DB775-C2B1-2717-65C2-2C4696BDF2D7}"/>
              </a:ext>
            </a:extLst>
          </p:cNvPr>
          <p:cNvSpPr txBox="1"/>
          <p:nvPr/>
        </p:nvSpPr>
        <p:spPr>
          <a:xfrm>
            <a:off x="3048000" y="3302042"/>
            <a:ext cx="6096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3 Security and Trust Boundary Architecture</a:t>
            </a:r>
            <a:endParaRPr lang="en-IN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7315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Security and Trust Boundary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286000" y="1188720"/>
            <a:ext cx="0" cy="3977640"/>
          </a:xfrm>
          <a:prstGeom prst="line">
            <a:avLst/>
          </a:prstGeom>
          <a:ln w="20320">
            <a:solidFill>
              <a:srgbClr val="C0392B"/>
            </a:solidFill>
            <a:prstDash val="dash"/>
          </a:ln>
        </p:spPr>
      </p:cxnSp>
      <p:sp>
        <p:nvSpPr>
          <p:cNvPr id="4" name="TextBox 3"/>
          <p:cNvSpPr txBox="1"/>
          <p:nvPr/>
        </p:nvSpPr>
        <p:spPr>
          <a:xfrm>
            <a:off x="1417320" y="896112"/>
            <a:ext cx="2743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Arial"/>
              </a:rPr>
              <a:t>Internet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230368"/>
            <a:ext cx="29260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0392B"/>
                </a:solidFill>
                <a:latin typeface="Arial"/>
              </a:rPr>
              <a:t>crossed only at the 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88920"/>
            <a:ext cx="1600200" cy="868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7780">
            <a:solidFill>
              <a:srgbClr val="7C8BA0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r>
              <a:rPr sz="1200" b="0">
                <a:solidFill>
                  <a:srgbClr val="33414F"/>
                </a:solidFill>
                <a:latin typeface="Arial"/>
              </a:rPr>
              <a:t>Internet / partners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278892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EEF2FA"/>
          </a:solidFill>
          <a:ln w="17780">
            <a:solidFill>
              <a:srgbClr val="7C8BA0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r>
              <a:rPr sz="1250" b="1" dirty="0">
                <a:solidFill>
                  <a:srgbClr val="1F3864"/>
                </a:solidFill>
                <a:latin typeface="Arial"/>
              </a:rPr>
              <a:t>Perimeter edge</a:t>
            </a:r>
          </a:p>
          <a:p>
            <a:pPr algn="ctr"/>
            <a:r>
              <a:rPr sz="950" dirty="0">
                <a:solidFill>
                  <a:srgbClr val="5A6675"/>
                </a:solidFill>
                <a:latin typeface="Arial"/>
              </a:rPr>
              <a:t>internet-facing ingress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278892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DCE7F5"/>
          </a:solidFill>
          <a:ln w="17780">
            <a:solidFill>
              <a:srgbClr val="2E5496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r>
              <a:rPr sz="1250" b="1">
                <a:solidFill>
                  <a:srgbClr val="1F3864"/>
                </a:solidFill>
                <a:latin typeface="Arial"/>
              </a:rPr>
              <a:t>API Management</a:t>
            </a:r>
          </a:p>
          <a:p>
            <a:pPr algn="ctr"/>
            <a:r>
              <a:rPr sz="950">
                <a:solidFill>
                  <a:srgbClr val="5A6675"/>
                </a:solidFill>
                <a:latin typeface="Arial"/>
              </a:rPr>
              <a:t>governed gateway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487168"/>
            <a:ext cx="2286000" cy="1417320"/>
          </a:xfrm>
          <a:prstGeom prst="roundRect">
            <a:avLst>
              <a:gd name="adj" fmla="val 8000"/>
            </a:avLst>
          </a:prstGeom>
          <a:solidFill>
            <a:srgbClr val="DCEBE7"/>
          </a:solidFill>
          <a:ln w="17780">
            <a:solidFill>
              <a:srgbClr val="4C9A8A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2E6B5E"/>
                </a:solidFill>
                <a:latin typeface="Arial"/>
              </a:rPr>
              <a:t>Integration platform</a:t>
            </a:r>
          </a:p>
          <a:p>
            <a:pPr algn="ctr"/>
            <a:r>
              <a:rPr sz="950">
                <a:solidFill>
                  <a:srgbClr val="5A6675"/>
                </a:solidFill>
                <a:latin typeface="Arial"/>
              </a:rPr>
              <a:t>Logic Apps, Functions</a:t>
            </a:r>
          </a:p>
          <a:p>
            <a:pPr algn="ctr"/>
            <a:r>
              <a:rPr sz="950">
                <a:solidFill>
                  <a:srgbClr val="5A6675"/>
                </a:solidFill>
                <a:latin typeface="Arial"/>
              </a:rPr>
              <a:t>Service Bus, Event Grid, Event Hubs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55480" y="2788920"/>
            <a:ext cx="2148840" cy="868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7780">
            <a:solidFill>
              <a:srgbClr val="7C8BA0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33414F"/>
                </a:solidFill>
                <a:latin typeface="Arial"/>
              </a:rPr>
              <a:t>Backend systems</a:t>
            </a:r>
          </a:p>
          <a:p>
            <a:pPr algn="ctr"/>
            <a:r>
              <a:rPr sz="900">
                <a:solidFill>
                  <a:srgbClr val="5A6675"/>
                </a:solidFill>
                <a:latin typeface="Arial"/>
              </a:rPr>
              <a:t>via Private Endpoint</a:t>
            </a:r>
          </a:p>
          <a:p>
            <a:pPr algn="ctr"/>
            <a:r>
              <a:rPr sz="900">
                <a:solidFill>
                  <a:srgbClr val="5A6675"/>
                </a:solidFill>
                <a:latin typeface="Arial"/>
              </a:rPr>
              <a:t>Data platform via Private Link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57400" y="3223260"/>
            <a:ext cx="640080" cy="0"/>
          </a:xfrm>
          <a:prstGeom prst="line">
            <a:avLst/>
          </a:prstGeom>
          <a:ln w="25400">
            <a:solidFill>
              <a:srgbClr val="8A97A8"/>
            </a:solidFill>
            <a:tailEnd type="triangle" w="med" len="med"/>
          </a:ln>
        </p:spPr>
      </p:cxnSp>
      <p:cxnSp>
        <p:nvCxnSpPr>
          <p:cNvPr id="15" name="Connector 14"/>
          <p:cNvCxnSpPr/>
          <p:nvPr/>
        </p:nvCxnSpPr>
        <p:spPr>
          <a:xfrm>
            <a:off x="4526280" y="3223260"/>
            <a:ext cx="274320" cy="0"/>
          </a:xfrm>
          <a:prstGeom prst="line">
            <a:avLst/>
          </a:prstGeom>
          <a:ln w="25400">
            <a:solidFill>
              <a:srgbClr val="8A97A8"/>
            </a:solidFill>
            <a:tailEnd type="triangle" w="med" len="med"/>
          </a:ln>
        </p:spPr>
      </p:cxnSp>
      <p:cxnSp>
        <p:nvCxnSpPr>
          <p:cNvPr id="16" name="Connector 15"/>
          <p:cNvCxnSpPr/>
          <p:nvPr/>
        </p:nvCxnSpPr>
        <p:spPr>
          <a:xfrm>
            <a:off x="6629400" y="3223260"/>
            <a:ext cx="274320" cy="0"/>
          </a:xfrm>
          <a:prstGeom prst="line">
            <a:avLst/>
          </a:prstGeom>
          <a:ln w="25400">
            <a:solidFill>
              <a:srgbClr val="8A97A8"/>
            </a:solidFill>
            <a:tailEnd type="triangle" w="med" len="med"/>
          </a:ln>
        </p:spPr>
      </p:cxnSp>
      <p:cxnSp>
        <p:nvCxnSpPr>
          <p:cNvPr id="17" name="Connector 16"/>
          <p:cNvCxnSpPr/>
          <p:nvPr/>
        </p:nvCxnSpPr>
        <p:spPr>
          <a:xfrm>
            <a:off x="9189720" y="3223260"/>
            <a:ext cx="365760" cy="0"/>
          </a:xfrm>
          <a:prstGeom prst="line">
            <a:avLst/>
          </a:prstGeom>
          <a:ln w="25400">
            <a:solidFill>
              <a:srgbClr val="8A97A8"/>
            </a:solidFill>
            <a:tailEnd type="triangle" w="med" len="med"/>
          </a:ln>
        </p:spPr>
      </p:cxnSp>
      <p:cxnSp>
        <p:nvCxnSpPr>
          <p:cNvPr id="18" name="Connector 17"/>
          <p:cNvCxnSpPr/>
          <p:nvPr/>
        </p:nvCxnSpPr>
        <p:spPr>
          <a:xfrm>
            <a:off x="8046720" y="3904487"/>
            <a:ext cx="0" cy="713233"/>
          </a:xfrm>
          <a:prstGeom prst="line">
            <a:avLst/>
          </a:prstGeom>
          <a:ln w="20320">
            <a:solidFill>
              <a:srgbClr val="8A97A8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8183879" y="4133087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5A6675"/>
                </a:solidFill>
                <a:latin typeface="Arial"/>
              </a:rPr>
              <a:t>MI + KV ref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461772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FBF1DA"/>
          </a:solidFill>
          <a:ln w="17780">
            <a:solidFill>
              <a:srgbClr val="B7791F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7A4F12"/>
                </a:solidFill>
                <a:latin typeface="Arial"/>
              </a:rPr>
              <a:t>Key Vault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48640" y="2651760"/>
            <a:ext cx="2464308" cy="141732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7780">
            <a:solidFill>
              <a:srgbClr val="2E5496"/>
            </a:solidFill>
          </a:ln>
          <a:effectLst/>
        </p:spPr>
        <p:txBody>
          <a:bodyPr wrap="square" lIns="118872" tIns="384048" rIns="118872" bIns="91440" rtlCol="0" anchor="t"/>
          <a:lstStyle/>
          <a:p>
            <a:pPr algn="ctr"/>
            <a:r>
              <a:rPr sz="1400" b="1">
                <a:solidFill>
                  <a:srgbClr val="1F3864"/>
                </a:solidFill>
                <a:latin typeface="Arial"/>
              </a:rPr>
              <a:t>Raise</a:t>
            </a:r>
          </a:p>
          <a:p>
            <a:pPr algn="ctr">
              <a:spcBef>
                <a:spcPts val="400"/>
              </a:spcBef>
            </a:pPr>
            <a:r>
              <a:rPr sz="950">
                <a:solidFill>
                  <a:srgbClr val="33414F"/>
                </a:solidFill>
                <a:latin typeface="Arial"/>
              </a:rPr>
              <a:t>Document the deviation, the rationale and the proposed compensating controls.</a:t>
            </a:r>
          </a:p>
        </p:txBody>
      </p:sp>
      <p:sp>
        <p:nvSpPr>
          <p:cNvPr id="4" name="Oval 3"/>
          <p:cNvSpPr/>
          <p:nvPr/>
        </p:nvSpPr>
        <p:spPr>
          <a:xfrm>
            <a:off x="1543050" y="2414015"/>
            <a:ext cx="475488" cy="475488"/>
          </a:xfrm>
          <a:prstGeom prst="ellipse">
            <a:avLst/>
          </a:prstGeom>
          <a:solidFill>
            <a:srgbClr val="1F3864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4428" y="2651760"/>
            <a:ext cx="2464308" cy="141732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7780">
            <a:solidFill>
              <a:srgbClr val="2E5496"/>
            </a:solidFill>
          </a:ln>
          <a:effectLst/>
        </p:spPr>
        <p:txBody>
          <a:bodyPr wrap="square" lIns="118872" tIns="384048" rIns="118872" bIns="91440" rtlCol="0" anchor="t"/>
          <a:lstStyle/>
          <a:p>
            <a:pPr algn="ctr"/>
            <a:r>
              <a:rPr sz="1400" b="1">
                <a:solidFill>
                  <a:srgbClr val="1F3864"/>
                </a:solidFill>
                <a:latin typeface="Arial"/>
              </a:rPr>
              <a:t>Assess</a:t>
            </a:r>
          </a:p>
          <a:p>
            <a:pPr algn="ctr">
              <a:spcBef>
                <a:spcPts val="400"/>
              </a:spcBef>
            </a:pPr>
            <a:r>
              <a:rPr sz="950">
                <a:solidFill>
                  <a:srgbClr val="33414F"/>
                </a:solidFill>
                <a:latin typeface="Arial"/>
              </a:rPr>
              <a:t>Security and risk assessment, with escalation to the risk register where the posture is affected.</a:t>
            </a:r>
          </a:p>
        </p:txBody>
      </p:sp>
      <p:sp>
        <p:nvSpPr>
          <p:cNvPr id="6" name="Oval 5"/>
          <p:cNvSpPr/>
          <p:nvPr/>
        </p:nvSpPr>
        <p:spPr>
          <a:xfrm>
            <a:off x="4418838" y="2414015"/>
            <a:ext cx="475488" cy="475488"/>
          </a:xfrm>
          <a:prstGeom prst="ellipse">
            <a:avLst/>
          </a:prstGeom>
          <a:solidFill>
            <a:srgbClr val="1F3864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216" y="2651760"/>
            <a:ext cx="2464308" cy="141732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7780">
            <a:solidFill>
              <a:srgbClr val="2E5496"/>
            </a:solidFill>
          </a:ln>
          <a:effectLst/>
        </p:spPr>
        <p:txBody>
          <a:bodyPr wrap="square" lIns="118872" tIns="384048" rIns="118872" bIns="91440" rtlCol="0" anchor="t"/>
          <a:lstStyle/>
          <a:p>
            <a:pPr algn="ctr"/>
            <a:r>
              <a:rPr sz="1400" b="1">
                <a:solidFill>
                  <a:srgbClr val="1F3864"/>
                </a:solidFill>
                <a:latin typeface="Arial"/>
              </a:rPr>
              <a:t>Approve</a:t>
            </a:r>
          </a:p>
          <a:p>
            <a:pPr algn="ctr">
              <a:spcBef>
                <a:spcPts val="400"/>
              </a:spcBef>
            </a:pPr>
            <a:r>
              <a:rPr sz="950">
                <a:solidFill>
                  <a:srgbClr val="33414F"/>
                </a:solidFill>
                <a:latin typeface="Arial"/>
              </a:rPr>
              <a:t>Security approval and, where required, senior leadership. Record owner and expiry.</a:t>
            </a:r>
          </a:p>
        </p:txBody>
      </p:sp>
      <p:sp>
        <p:nvSpPr>
          <p:cNvPr id="8" name="Oval 7"/>
          <p:cNvSpPr/>
          <p:nvPr/>
        </p:nvSpPr>
        <p:spPr>
          <a:xfrm>
            <a:off x="7294626" y="2414015"/>
            <a:ext cx="475488" cy="475488"/>
          </a:xfrm>
          <a:prstGeom prst="ellipse">
            <a:avLst/>
          </a:prstGeom>
          <a:solidFill>
            <a:srgbClr val="1F3864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76004" y="2651760"/>
            <a:ext cx="2464308" cy="141732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7780">
            <a:solidFill>
              <a:srgbClr val="2E5496"/>
            </a:solidFill>
          </a:ln>
          <a:effectLst/>
        </p:spPr>
        <p:txBody>
          <a:bodyPr wrap="square" lIns="118872" tIns="384048" rIns="118872" bIns="91440" rtlCol="0" anchor="t"/>
          <a:lstStyle/>
          <a:p>
            <a:pPr algn="ctr"/>
            <a:r>
              <a:rPr sz="1400" b="1">
                <a:solidFill>
                  <a:srgbClr val="1F3864"/>
                </a:solidFill>
                <a:latin typeface="Arial"/>
              </a:rPr>
              <a:t>Review</a:t>
            </a:r>
          </a:p>
          <a:p>
            <a:pPr algn="ctr">
              <a:spcBef>
                <a:spcPts val="400"/>
              </a:spcBef>
            </a:pPr>
            <a:r>
              <a:rPr sz="950">
                <a:solidFill>
                  <a:srgbClr val="33414F"/>
                </a:solidFill>
                <a:latin typeface="Arial"/>
              </a:rPr>
              <a:t>Re-examine at expiry, and remediate to the standard pattern where possible.</a:t>
            </a:r>
          </a:p>
        </p:txBody>
      </p:sp>
      <p:sp>
        <p:nvSpPr>
          <p:cNvPr id="10" name="Oval 9"/>
          <p:cNvSpPr/>
          <p:nvPr/>
        </p:nvSpPr>
        <p:spPr>
          <a:xfrm>
            <a:off x="10170414" y="2414015"/>
            <a:ext cx="475488" cy="475488"/>
          </a:xfrm>
          <a:prstGeom prst="ellipse">
            <a:avLst/>
          </a:prstGeom>
          <a:solidFill>
            <a:srgbClr val="1F3864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2948" y="3360420"/>
            <a:ext cx="411480" cy="0"/>
          </a:xfrm>
          <a:prstGeom prst="line">
            <a:avLst/>
          </a:prstGeom>
          <a:ln w="30480">
            <a:solidFill>
              <a:srgbClr val="8A97A8"/>
            </a:solidFill>
            <a:tailEnd type="triangle" w="med" len="med"/>
          </a:ln>
        </p:spPr>
      </p:cxnSp>
      <p:cxnSp>
        <p:nvCxnSpPr>
          <p:cNvPr id="12" name="Connector 11"/>
          <p:cNvCxnSpPr/>
          <p:nvPr/>
        </p:nvCxnSpPr>
        <p:spPr>
          <a:xfrm>
            <a:off x="5888736" y="3360420"/>
            <a:ext cx="411480" cy="0"/>
          </a:xfrm>
          <a:prstGeom prst="line">
            <a:avLst/>
          </a:prstGeom>
          <a:ln w="30480">
            <a:solidFill>
              <a:srgbClr val="8A97A8"/>
            </a:solidFill>
            <a:tailEnd type="triangle" w="med" len="med"/>
          </a:ln>
        </p:spPr>
      </p:cxnSp>
      <p:cxnSp>
        <p:nvCxnSpPr>
          <p:cNvPr id="13" name="Connector 12"/>
          <p:cNvCxnSpPr/>
          <p:nvPr/>
        </p:nvCxnSpPr>
        <p:spPr>
          <a:xfrm>
            <a:off x="8764524" y="3360420"/>
            <a:ext cx="411480" cy="0"/>
          </a:xfrm>
          <a:prstGeom prst="line">
            <a:avLst/>
          </a:prstGeom>
          <a:ln w="30480">
            <a:solidFill>
              <a:srgbClr val="8A97A8"/>
            </a:solidFill>
            <a:tailEnd type="triangle" w="med" len="med"/>
          </a:ln>
        </p:spPr>
      </p:cxnSp>
      <p:cxnSp>
        <p:nvCxnSpPr>
          <p:cNvPr id="14" name="Connector 13"/>
          <p:cNvCxnSpPr/>
          <p:nvPr/>
        </p:nvCxnSpPr>
        <p:spPr>
          <a:xfrm>
            <a:off x="10408158" y="4069080"/>
            <a:ext cx="0" cy="566928"/>
          </a:xfrm>
          <a:prstGeom prst="line">
            <a:avLst/>
          </a:prstGeom>
          <a:ln w="25400">
            <a:solidFill>
              <a:srgbClr val="9AA6B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780794" y="4636008"/>
            <a:ext cx="8627364" cy="0"/>
          </a:xfrm>
          <a:prstGeom prst="line">
            <a:avLst/>
          </a:prstGeom>
          <a:ln w="25400">
            <a:solidFill>
              <a:srgbClr val="9AA6B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780794" y="4069080"/>
            <a:ext cx="0" cy="566928"/>
          </a:xfrm>
          <a:prstGeom prst="line">
            <a:avLst/>
          </a:prstGeom>
          <a:ln w="25400">
            <a:solidFill>
              <a:srgbClr val="9AA6B5"/>
            </a:solidFill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548640" y="4361688"/>
            <a:ext cx="11091672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 i="1">
                <a:solidFill>
                  <a:srgbClr val="5A6675"/>
                </a:solidFill>
                <a:latin typeface="Arial"/>
              </a:rPr>
              <a:t>re-examine at expiry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20056"/>
            <a:ext cx="11091672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0" i="1">
                <a:solidFill>
                  <a:srgbClr val="7A828F"/>
                </a:solidFill>
                <a:latin typeface="Arial"/>
              </a:rPr>
              <a:t>Every exception is time-bound, with a named owner and an expiry.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000" b="1" i="0">
                <a:solidFill>
                  <a:srgbClr val="1F3864"/>
                </a:solidFill>
                <a:latin typeface="Arial"/>
              </a:rPr>
              <a:t>Integration Pattern Decision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7A828F"/>
                </a:solidFill>
                <a:latin typeface="Arial"/>
              </a:rPr>
              <a:t>Read from the top. The first yes resolves the pattern family. No technology is chosen here. The matrix in 7.2 maps a family to Azure capabilities.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60704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EEF2FA"/>
          </a:solidFill>
          <a:ln w="17780">
            <a:solidFill>
              <a:srgbClr val="2E5496"/>
            </a:solidFill>
          </a:ln>
          <a:effectLst/>
        </p:spPr>
        <p:txBody>
          <a:bodyPr wrap="square" tIns="18288" bIns="18288" rtlCol="0" anchor="ctr"/>
          <a:lstStyle/>
          <a:p>
            <a:pPr algn="ctr"/>
            <a:r>
              <a:rPr sz="1100" b="0">
                <a:solidFill>
                  <a:srgbClr val="1F3864"/>
                </a:solidFill>
                <a:latin typeface="Arial"/>
              </a:rPr>
              <a:t>Does a consumer need an immediate, synchronous answer?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060704"/>
            <a:ext cx="4663440" cy="5486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17780">
            <a:solidFill>
              <a:srgbClr val="14284D"/>
            </a:solidFill>
          </a:ln>
          <a:effectLst/>
        </p:spPr>
        <p:txBody>
          <a:bodyPr wrap="square" tIns="18288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Synchronous request-reply</a:t>
            </a:r>
          </a:p>
          <a:p>
            <a:pPr algn="ctr"/>
            <a:r>
              <a:rPr sz="950" b="0">
                <a:solidFill>
                  <a:srgbClr val="D6E0F5"/>
                </a:solidFill>
                <a:latin typeface="Arial"/>
              </a:rPr>
              <a:t>SFINT1 to SFINT4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0" y="1335024"/>
            <a:ext cx="1645920" cy="0"/>
          </a:xfrm>
          <a:prstGeom prst="line">
            <a:avLst/>
          </a:prstGeom>
          <a:ln w="25400">
            <a:solidFill>
              <a:srgbClr val="8A97A8"/>
            </a:solidFill>
            <a:tailEnd type="triangle" w="med" len="med"/>
          </a:ln>
        </p:spPr>
      </p:cxnSp>
      <p:sp>
        <p:nvSpPr>
          <p:cNvPr id="7" name="TextBox 6"/>
          <p:cNvSpPr txBox="1"/>
          <p:nvPr/>
        </p:nvSpPr>
        <p:spPr>
          <a:xfrm>
            <a:off x="5349240" y="1060704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5A6675"/>
                </a:solidFill>
                <a:latin typeface="Arial"/>
              </a:rPr>
              <a:t>yes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1609343"/>
            <a:ext cx="0" cy="274321"/>
          </a:xfrm>
          <a:prstGeom prst="line">
            <a:avLst/>
          </a:prstGeom>
          <a:ln w="25400">
            <a:solidFill>
              <a:srgbClr val="9AA6B5"/>
            </a:solidFill>
            <a:tailEnd type="triangle" w="med" len="med"/>
          </a:ln>
        </p:spPr>
      </p:cxnSp>
      <p:sp>
        <p:nvSpPr>
          <p:cNvPr id="9" name="TextBox 8"/>
          <p:cNvSpPr txBox="1"/>
          <p:nvPr/>
        </p:nvSpPr>
        <p:spPr>
          <a:xfrm>
            <a:off x="3035808" y="1655063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A828F"/>
                </a:solidFill>
                <a:latin typeface="Arial"/>
              </a:rPr>
              <a:t>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83664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EEF2FA"/>
          </a:solidFill>
          <a:ln w="17780">
            <a:solidFill>
              <a:srgbClr val="2E5496"/>
            </a:solidFill>
          </a:ln>
          <a:effectLst/>
        </p:spPr>
        <p:txBody>
          <a:bodyPr wrap="square" tIns="18288" bIns="18288" rtlCol="0" anchor="ctr"/>
          <a:lstStyle/>
          <a:p>
            <a:pPr algn="ctr"/>
            <a:r>
              <a:rPr sz="1100" b="0">
                <a:solidFill>
                  <a:srgbClr val="1F3864"/>
                </a:solidFill>
                <a:latin typeface="Arial"/>
              </a:rPr>
              <a:t>Is the main purpose analytics, or bulk movement across the data boundary?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1883664"/>
            <a:ext cx="4663440" cy="5486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17780">
            <a:solidFill>
              <a:srgbClr val="14284D"/>
            </a:solidFill>
          </a:ln>
          <a:effectLst/>
        </p:spPr>
        <p:txBody>
          <a:bodyPr wrap="square" tIns="18288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Data platform exchange</a:t>
            </a:r>
          </a:p>
          <a:p>
            <a:pPr algn="ctr"/>
            <a:r>
              <a:rPr sz="950" b="0">
                <a:solidFill>
                  <a:srgbClr val="D6E0F5"/>
                </a:solidFill>
                <a:latin typeface="Arial"/>
              </a:rPr>
              <a:t>SFINT21 to SFINT23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03520" y="2157984"/>
            <a:ext cx="1645920" cy="0"/>
          </a:xfrm>
          <a:prstGeom prst="line">
            <a:avLst/>
          </a:prstGeom>
          <a:ln w="25400">
            <a:solidFill>
              <a:srgbClr val="8A97A8"/>
            </a:solidFill>
            <a:tailEnd type="triangle" w="med" len="med"/>
          </a:ln>
        </p:spPr>
      </p:cxnSp>
      <p:sp>
        <p:nvSpPr>
          <p:cNvPr id="13" name="TextBox 12"/>
          <p:cNvSpPr txBox="1"/>
          <p:nvPr/>
        </p:nvSpPr>
        <p:spPr>
          <a:xfrm>
            <a:off x="5349240" y="1883664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5A6675"/>
                </a:solidFill>
                <a:latin typeface="Arial"/>
              </a:rPr>
              <a:t>yes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26080" y="2432304"/>
            <a:ext cx="0" cy="274320"/>
          </a:xfrm>
          <a:prstGeom prst="line">
            <a:avLst/>
          </a:prstGeom>
          <a:ln w="25400">
            <a:solidFill>
              <a:srgbClr val="9AA6B5"/>
            </a:solidFill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3035808" y="2478024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A828F"/>
                </a:solidFill>
                <a:latin typeface="Arial"/>
              </a:rPr>
              <a:t>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06624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EEF2FA"/>
          </a:solidFill>
          <a:ln w="17780">
            <a:solidFill>
              <a:srgbClr val="2E5496"/>
            </a:solidFill>
          </a:ln>
          <a:effectLst/>
        </p:spPr>
        <p:txBody>
          <a:bodyPr wrap="square" tIns="18288" bIns="18288" rtlCol="0" anchor="ctr"/>
          <a:lstStyle/>
          <a:p>
            <a:pPr algn="ctr"/>
            <a:r>
              <a:rPr sz="1100" b="0">
                <a:solidFill>
                  <a:srgbClr val="1F3864"/>
                </a:solidFill>
                <a:latin typeface="Arial"/>
              </a:rPr>
              <a:t>Is it primarily transferring a file or batch?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2706624"/>
            <a:ext cx="4663440" cy="5486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17780">
            <a:solidFill>
              <a:srgbClr val="14284D"/>
            </a:solidFill>
          </a:ln>
          <a:effectLst/>
        </p:spPr>
        <p:txBody>
          <a:bodyPr wrap="square" tIns="18288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File transfer</a:t>
            </a:r>
          </a:p>
          <a:p>
            <a:pPr algn="ctr"/>
            <a:r>
              <a:rPr sz="950" b="0">
                <a:solidFill>
                  <a:srgbClr val="D6E0F5"/>
                </a:solidFill>
                <a:latin typeface="Arial"/>
              </a:rPr>
              <a:t>SFINT19 to SFINT20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03520" y="2980944"/>
            <a:ext cx="1645920" cy="0"/>
          </a:xfrm>
          <a:prstGeom prst="line">
            <a:avLst/>
          </a:prstGeom>
          <a:ln w="25400">
            <a:solidFill>
              <a:srgbClr val="8A97A8"/>
            </a:solidFill>
            <a:tailEnd type="triangle" w="med" len="med"/>
          </a:ln>
        </p:spPr>
      </p:cxnSp>
      <p:sp>
        <p:nvSpPr>
          <p:cNvPr id="19" name="TextBox 18"/>
          <p:cNvSpPr txBox="1"/>
          <p:nvPr/>
        </p:nvSpPr>
        <p:spPr>
          <a:xfrm>
            <a:off x="5349240" y="2706624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5A6675"/>
                </a:solidFill>
                <a:latin typeface="Arial"/>
              </a:rPr>
              <a:t>yes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26080" y="3255264"/>
            <a:ext cx="0" cy="274320"/>
          </a:xfrm>
          <a:prstGeom prst="line">
            <a:avLst/>
          </a:prstGeom>
          <a:ln w="25400">
            <a:solidFill>
              <a:srgbClr val="9AA6B5"/>
            </a:solidFill>
            <a:tailEnd type="triangle" w="med" len="med"/>
          </a:ln>
        </p:spPr>
      </p:cxnSp>
      <p:sp>
        <p:nvSpPr>
          <p:cNvPr id="21" name="TextBox 20"/>
          <p:cNvSpPr txBox="1"/>
          <p:nvPr/>
        </p:nvSpPr>
        <p:spPr>
          <a:xfrm>
            <a:off x="3035808" y="3300984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A828F"/>
                </a:solidFill>
                <a:latin typeface="Arial"/>
              </a:rPr>
              <a:t>no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529584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EEF2FA"/>
          </a:solidFill>
          <a:ln w="17780">
            <a:solidFill>
              <a:srgbClr val="2E5496"/>
            </a:solidFill>
          </a:ln>
          <a:effectLst/>
        </p:spPr>
        <p:txBody>
          <a:bodyPr wrap="square" tIns="18288" bIns="18288" rtlCol="0" anchor="ctr"/>
          <a:lstStyle/>
          <a:p>
            <a:pPr algn="ctr"/>
            <a:r>
              <a:rPr sz="1100" b="0">
                <a:solidFill>
                  <a:srgbClr val="1F3864"/>
                </a:solidFill>
                <a:latin typeface="Arial"/>
              </a:rPr>
              <a:t>Does it span multiple systems, or need long-running state and retries?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3529584"/>
            <a:ext cx="4663440" cy="5486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17780">
            <a:solidFill>
              <a:srgbClr val="14284D"/>
            </a:solidFill>
          </a:ln>
          <a:effectLst/>
        </p:spPr>
        <p:txBody>
          <a:bodyPr wrap="square" tIns="18288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Orchestration</a:t>
            </a:r>
          </a:p>
          <a:p>
            <a:pPr algn="ctr"/>
            <a:r>
              <a:rPr sz="950" b="0">
                <a:solidFill>
                  <a:srgbClr val="D6E0F5"/>
                </a:solidFill>
                <a:latin typeface="Arial"/>
              </a:rPr>
              <a:t>SFINT16 to SFINT18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03520" y="3803904"/>
            <a:ext cx="1645920" cy="0"/>
          </a:xfrm>
          <a:prstGeom prst="line">
            <a:avLst/>
          </a:prstGeom>
          <a:ln w="25400">
            <a:solidFill>
              <a:srgbClr val="8A97A8"/>
            </a:solidFill>
            <a:tailEnd type="triangle" w="med" len="med"/>
          </a:ln>
        </p:spPr>
      </p:cxnSp>
      <p:sp>
        <p:nvSpPr>
          <p:cNvPr id="25" name="TextBox 24"/>
          <p:cNvSpPr txBox="1"/>
          <p:nvPr/>
        </p:nvSpPr>
        <p:spPr>
          <a:xfrm>
            <a:off x="5349240" y="3529584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5A6675"/>
                </a:solidFill>
                <a:latin typeface="Arial"/>
              </a:rPr>
              <a:t>yes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26080" y="4078224"/>
            <a:ext cx="0" cy="274320"/>
          </a:xfrm>
          <a:prstGeom prst="line">
            <a:avLst/>
          </a:prstGeom>
          <a:ln w="25400">
            <a:solidFill>
              <a:srgbClr val="9AA6B5"/>
            </a:solidFill>
            <a:tailEnd type="triangle" w="med" len="med"/>
          </a:ln>
        </p:spPr>
      </p:cxnSp>
      <p:sp>
        <p:nvSpPr>
          <p:cNvPr id="27" name="TextBox 26"/>
          <p:cNvSpPr txBox="1"/>
          <p:nvPr/>
        </p:nvSpPr>
        <p:spPr>
          <a:xfrm>
            <a:off x="3035808" y="4123944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A828F"/>
                </a:solidFill>
                <a:latin typeface="Arial"/>
              </a:rPr>
              <a:t>no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352544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EEF2FA"/>
          </a:solidFill>
          <a:ln w="17780">
            <a:solidFill>
              <a:srgbClr val="2E5496"/>
            </a:solidFill>
          </a:ln>
          <a:effectLst/>
        </p:spPr>
        <p:txBody>
          <a:bodyPr wrap="square" tIns="18288" bIns="18288" rtlCol="0" anchor="ctr"/>
          <a:lstStyle/>
          <a:p>
            <a:pPr algn="ctr"/>
            <a:r>
              <a:rPr sz="1100" b="0">
                <a:solidFill>
                  <a:srgbClr val="1F3864"/>
                </a:solidFill>
                <a:latin typeface="Arial"/>
              </a:rPr>
              <a:t>Is it a notification or fan-out, or a high-volume stream?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4352544"/>
            <a:ext cx="4663440" cy="5486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17780">
            <a:solidFill>
              <a:srgbClr val="14284D"/>
            </a:solidFill>
          </a:ln>
          <a:effectLst/>
        </p:spPr>
        <p:txBody>
          <a:bodyPr wrap="square" tIns="18288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Eventing and streaming</a:t>
            </a:r>
          </a:p>
          <a:p>
            <a:pPr algn="ctr"/>
            <a:r>
              <a:rPr sz="950" b="0">
                <a:solidFill>
                  <a:srgbClr val="D6E0F5"/>
                </a:solidFill>
                <a:latin typeface="Arial"/>
              </a:rPr>
              <a:t>SFINT11 to SFINT15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303520" y="4626864"/>
            <a:ext cx="1645920" cy="0"/>
          </a:xfrm>
          <a:prstGeom prst="line">
            <a:avLst/>
          </a:prstGeom>
          <a:ln w="25400">
            <a:solidFill>
              <a:srgbClr val="8A97A8"/>
            </a:solidFill>
            <a:tailEnd type="triangle" w="med" len="med"/>
          </a:ln>
        </p:spPr>
      </p:cxnSp>
      <p:sp>
        <p:nvSpPr>
          <p:cNvPr id="31" name="TextBox 30"/>
          <p:cNvSpPr txBox="1"/>
          <p:nvPr/>
        </p:nvSpPr>
        <p:spPr>
          <a:xfrm>
            <a:off x="5349240" y="4352544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5A6675"/>
                </a:solidFill>
                <a:latin typeface="Arial"/>
              </a:rPr>
              <a:t>yes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926080" y="4901183"/>
            <a:ext cx="0" cy="274321"/>
          </a:xfrm>
          <a:prstGeom prst="line">
            <a:avLst/>
          </a:prstGeom>
          <a:ln w="25400">
            <a:solidFill>
              <a:srgbClr val="9AA6B5"/>
            </a:solidFill>
            <a:tailEnd type="triangle" w="med" len="med"/>
          </a:ln>
        </p:spPr>
      </p:cxnSp>
      <p:sp>
        <p:nvSpPr>
          <p:cNvPr id="33" name="TextBox 32"/>
          <p:cNvSpPr txBox="1"/>
          <p:nvPr/>
        </p:nvSpPr>
        <p:spPr>
          <a:xfrm>
            <a:off x="3035808" y="4946904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A828F"/>
                </a:solidFill>
                <a:latin typeface="Arial"/>
              </a:rPr>
              <a:t>no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175504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EEF2FA"/>
          </a:solidFill>
          <a:ln w="17780">
            <a:solidFill>
              <a:srgbClr val="2E5496"/>
            </a:solidFill>
          </a:ln>
          <a:effectLst/>
        </p:spPr>
        <p:txBody>
          <a:bodyPr wrap="square" tIns="18288" bIns="18288" rtlCol="0" anchor="ctr"/>
          <a:lstStyle/>
          <a:p>
            <a:pPr algn="ctr"/>
            <a:r>
              <a:rPr sz="1100" b="0">
                <a:solidFill>
                  <a:srgbClr val="1F3864"/>
                </a:solidFill>
                <a:latin typeface="Arial"/>
              </a:rPr>
              <a:t>Does it need guaranteed delivery, decoupling or load levelling?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49440" y="5175504"/>
            <a:ext cx="4663440" cy="5486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17780">
            <a:solidFill>
              <a:srgbClr val="14284D"/>
            </a:solidFill>
          </a:ln>
          <a:effectLst/>
        </p:spPr>
        <p:txBody>
          <a:bodyPr wrap="square" tIns="18288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Asynchronous messaging</a:t>
            </a:r>
          </a:p>
          <a:p>
            <a:pPr algn="ctr"/>
            <a:r>
              <a:rPr sz="950" b="0">
                <a:solidFill>
                  <a:srgbClr val="D6E0F5"/>
                </a:solidFill>
                <a:latin typeface="Arial"/>
              </a:rPr>
              <a:t>SFINT5 to SFINT10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303520" y="5449824"/>
            <a:ext cx="1645920" cy="0"/>
          </a:xfrm>
          <a:prstGeom prst="line">
            <a:avLst/>
          </a:prstGeom>
          <a:ln w="25400">
            <a:solidFill>
              <a:srgbClr val="8A97A8"/>
            </a:solidFill>
            <a:tailEnd type="triangle" w="med" len="med"/>
          </a:ln>
        </p:spPr>
      </p:cxnSp>
      <p:sp>
        <p:nvSpPr>
          <p:cNvPr id="37" name="TextBox 36"/>
          <p:cNvSpPr txBox="1"/>
          <p:nvPr/>
        </p:nvSpPr>
        <p:spPr>
          <a:xfrm>
            <a:off x="5349240" y="5175504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5A6675"/>
                </a:solidFill>
                <a:latin typeface="Arial"/>
              </a:rPr>
              <a:t>yes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926080" y="5724144"/>
            <a:ext cx="0" cy="329184"/>
          </a:xfrm>
          <a:prstGeom prst="line">
            <a:avLst/>
          </a:prstGeom>
          <a:ln w="25400">
            <a:solidFill>
              <a:srgbClr val="9AA6B5"/>
            </a:solidFill>
            <a:tailEnd type="triangle" w="med" len="med"/>
          </a:ln>
        </p:spPr>
      </p:cxnSp>
      <p:sp>
        <p:nvSpPr>
          <p:cNvPr id="39" name="TextBox 38"/>
          <p:cNvSpPr txBox="1"/>
          <p:nvPr/>
        </p:nvSpPr>
        <p:spPr>
          <a:xfrm>
            <a:off x="3035808" y="5797296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A828F"/>
                </a:solidFill>
                <a:latin typeface="Arial"/>
              </a:rPr>
              <a:t>no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6053328"/>
            <a:ext cx="4754880" cy="566928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17780">
            <a:solidFill>
              <a:srgbClr val="14284D"/>
            </a:solidFill>
          </a:ln>
          <a:effectLst/>
        </p:spPr>
        <p:txBody>
          <a:bodyPr wrap="square" tIns="18288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Transformation and routing</a:t>
            </a:r>
          </a:p>
          <a:p>
            <a:pPr algn="ctr"/>
            <a:r>
              <a:rPr sz="900" b="0">
                <a:solidFill>
                  <a:srgbClr val="D6E0F5"/>
                </a:solidFill>
                <a:latin typeface="Arial"/>
              </a:rPr>
              <a:t>SFINT24 to SFINT25  ·  a supporting concern within another flow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Sync request-reply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576035" y="357032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436173" y="3570329"/>
            <a:ext cx="1143744" cy="0"/>
          </a:xfrm>
          <a:prstGeom prst="line">
            <a:avLst/>
          </a:prstGeom>
          <a:ln w="26806">
            <a:solidFill>
              <a:srgbClr val="8A97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95383" y="306994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1F4F8"/>
          </a:solidFill>
          <a:ln w="25019">
            <a:solidFill>
              <a:srgbClr val="7C8BA0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33414F"/>
                </a:solidFill>
                <a:latin typeface="Arial"/>
              </a:rPr>
              <a:t>Consumer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5521" y="306994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DCE7F5"/>
          </a:solidFill>
          <a:ln w="25019">
            <a:solidFill>
              <a:srgbClr val="2E549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1F3864"/>
                </a:solidFill>
                <a:latin typeface="Arial"/>
              </a:rPr>
              <a:t>APIM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15659" y="3069941"/>
            <a:ext cx="2680651" cy="1000776"/>
          </a:xfrm>
          <a:prstGeom prst="roundRect">
            <a:avLst>
              <a:gd name="adj" fmla="val 16071"/>
            </a:avLst>
          </a:prstGeom>
          <a:solidFill>
            <a:srgbClr val="FBF1DA"/>
          </a:solidFill>
          <a:ln w="25019">
            <a:solidFill>
              <a:srgbClr val="B7791F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1758" b="1" i="0">
                <a:solidFill>
                  <a:srgbClr val="7A4F12"/>
                </a:solidFill>
                <a:latin typeface="Arial"/>
              </a:rPr>
              <a:t>Function</a:t>
            </a:r>
          </a:p>
          <a:p>
            <a:pPr algn="ctr"/>
            <a:r>
              <a:rPr sz="1336" b="0" i="0">
                <a:solidFill>
                  <a:srgbClr val="7A4F12"/>
                </a:solidFill>
                <a:latin typeface="Arial"/>
              </a:rPr>
              <a:t>compute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0627" y="328439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0765" y="3284393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7" b="0" i="0">
                <a:solidFill>
                  <a:srgbClr val="5A6675"/>
                </a:solidFill>
                <a:latin typeface="Arial"/>
              </a:rPr>
              <a:t>invoke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8567" y="4669397"/>
            <a:ext cx="2194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77" b="0" i="1">
                <a:solidFill>
                  <a:srgbClr val="7A828F"/>
                </a:solidFill>
                <a:latin typeface="Arial"/>
              </a:rPr>
              <a:t>Caller blocks for a short, bounded response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5207" y="2651760"/>
            <a:ext cx="4389120" cy="1828800"/>
          </a:xfrm>
          <a:prstGeom prst="roundRect">
            <a:avLst>
              <a:gd name="adj" fmla="val 16000"/>
            </a:avLst>
          </a:prstGeom>
          <a:solidFill>
            <a:srgbClr val="DCE7F5"/>
          </a:solidFill>
          <a:ln w="54864">
            <a:solidFill>
              <a:srgbClr val="2E549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3744" b="0" i="0">
                <a:solidFill>
                  <a:srgbClr val="1F3864"/>
                </a:solidFill>
                <a:latin typeface="Arial"/>
              </a:rPr>
              <a:t>APIM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T2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5207" y="2651760"/>
            <a:ext cx="4389120" cy="1828800"/>
          </a:xfrm>
          <a:prstGeom prst="roundRect">
            <a:avLst>
              <a:gd name="adj" fmla="val 16000"/>
            </a:avLst>
          </a:prstGeom>
          <a:solidFill>
            <a:srgbClr val="DCE7F5"/>
          </a:solidFill>
          <a:ln w="54864">
            <a:solidFill>
              <a:srgbClr val="2E5496"/>
            </a:solidFill>
          </a:ln>
          <a:effectLst/>
        </p:spPr>
        <p:txBody>
          <a:bodyPr wrap="square" lIns="27432" tIns="9144" rIns="27432" bIns="9144" rtlCol="0" anchor="ctr"/>
          <a:lstStyle/>
          <a:p>
            <a:pPr algn="ctr"/>
            <a:r>
              <a:rPr sz="3744" b="0" i="0">
                <a:solidFill>
                  <a:srgbClr val="1F3864"/>
                </a:solidFill>
                <a:latin typeface="Arial"/>
              </a:rPr>
              <a:t>APIM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1976</Words>
  <Application>Microsoft Office PowerPoint</Application>
  <PresentationFormat>Widescreen</PresentationFormat>
  <Paragraphs>664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Puneet Kumar</cp:lastModifiedBy>
  <cp:revision>4</cp:revision>
  <dcterms:created xsi:type="dcterms:W3CDTF">2013-01-27T09:14:16Z</dcterms:created>
  <dcterms:modified xsi:type="dcterms:W3CDTF">2026-09-07T16:52:34Z</dcterms:modified>
  <cp:category/>
</cp:coreProperties>
</file>