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Greenfield APIM build. Five decisions: reference architecture and edge, hosting model, ingress, egress, HA/DR.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APIM is the single control point for external APIs. Front Door is the only public surface; APIM sits private behind Private Link and aligns to the SIF layering.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Hosting model is Premium classic, managed gateway, VNet injection, Internal mode. Self-hosted gateway is an add-on for on-prem and data-residency backends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Single WAF at the edge, APIM for identity and quota. App Gateway only by exception. Palo Alto deliberately out of the HTTPS ingress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Routing intent removes per-spoke UDR management. Palo Alto inspects north-south egress and east-west. PaaS never hairpins through the hub or the internet.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units means 2 zones. Warm standby is billed as a full unit 24/7, so the cheapest credible DR is rebuild-on-demand from IaC plus backups, validated by a quarterly drill.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234440" y="1463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API MANAGEMENT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188720" y="178308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Architecture</a:t>
            </a:r>
            <a:endParaRPr lang="en-US" sz="4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Build-Out Design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1546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D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 APIM deployment — edge, hosting, ingress, egress and resilience decisions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406908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13293F"/>
          </a:solidFill>
          <a:ln w="12700">
            <a:solidFill>
              <a:srgbClr val="2E567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4128" y="4206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4553712"/>
            <a:ext cx="1563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2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017520" y="406908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13293F"/>
          </a:solidFill>
          <a:ln w="12700">
            <a:solidFill>
              <a:srgbClr val="2E567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18688" y="4206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218688" y="4553712"/>
            <a:ext cx="1563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2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212080" y="406908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13293F"/>
          </a:solidFill>
          <a:ln w="12700">
            <a:solidFill>
              <a:srgbClr val="2E567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13248" y="4206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413248" y="4553712"/>
            <a:ext cx="1563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12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406640" y="406908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13293F"/>
          </a:solidFill>
          <a:ln w="12700">
            <a:solidFill>
              <a:srgbClr val="2E567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07808" y="4206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607808" y="4553712"/>
            <a:ext cx="1563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12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601200" y="406908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13293F"/>
          </a:solidFill>
          <a:ln w="12700">
            <a:solidFill>
              <a:srgbClr val="2E567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802368" y="4206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9802368" y="4553712"/>
            <a:ext cx="1563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&amp; DR</a:t>
            </a:r>
            <a:endParaRPr lang="en-US" sz="12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75488" cy="475488"/>
          </a:xfrm>
          <a:prstGeom prst="ellipse">
            <a:avLst/>
          </a:prstGeom>
          <a:solidFill>
            <a:srgbClr val="2FA8C9"/>
          </a:solidFill>
          <a:ln w="12700">
            <a:solidFill>
              <a:srgbClr val="2FA8C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10896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ARCHITECTURE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53035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APIM in the Integration Landscape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996696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policy-enforced front door for every external API. APIM itself holds no public endpoint.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1874520" cy="2194560"/>
          </a:xfrm>
          <a:prstGeom prst="roundRect">
            <a:avLst>
              <a:gd name="adj" fmla="val 2927"/>
            </a:avLst>
          </a:prstGeom>
          <a:solidFill>
            <a:srgbClr val="13293F"/>
          </a:solidFill>
          <a:ln w="12700">
            <a:solidFill>
              <a:srgbClr val="2E567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7512" y="1563624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9D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1828800"/>
            <a:ext cx="1545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&amp; internal callers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67512" y="2350008"/>
            <a:ext cx="15453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 / B2B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&amp; web apps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LOB apps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SaaS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926080" y="1417320"/>
            <a:ext cx="2423160" cy="2194560"/>
          </a:xfrm>
          <a:prstGeom prst="roundRect">
            <a:avLst>
              <a:gd name="adj" fmla="val 2500"/>
            </a:avLst>
          </a:prstGeom>
          <a:solidFill>
            <a:srgbClr val="13293F"/>
          </a:solidFill>
          <a:ln w="12700">
            <a:solidFill>
              <a:srgbClr val="2E567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090672" y="1563624"/>
            <a:ext cx="2093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— PUBLIC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3090672" y="1828800"/>
            <a:ext cx="2093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Front Door Premium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090672" y="2350008"/>
            <a:ext cx="20939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WAF: managed DRS + bot rules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protection, TLS 1.2 / 1.3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anycast + caching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public entry point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897880" y="1417320"/>
            <a:ext cx="2560320" cy="2194560"/>
          </a:xfrm>
          <a:prstGeom prst="roundRect">
            <a:avLst>
              <a:gd name="adj" fmla="val 2500"/>
            </a:avLst>
          </a:prstGeom>
          <a:solidFill>
            <a:srgbClr val="13293F"/>
          </a:solidFill>
          <a:ln w="12700">
            <a:solidFill>
              <a:srgbClr val="2E567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62472" y="1563624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2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— PRIVATE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6062472" y="1828800"/>
            <a:ext cx="2231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APIM Premium · internal VNet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062472" y="2350008"/>
            <a:ext cx="22311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/ JWT validation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Products, versions, revisions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Quota, throttle, schema checks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/ response shaping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06840" y="1417320"/>
            <a:ext cx="2679192" cy="2194560"/>
          </a:xfrm>
          <a:prstGeom prst="roundRect">
            <a:avLst>
              <a:gd name="adj" fmla="val 2500"/>
            </a:avLst>
          </a:prstGeom>
          <a:solidFill>
            <a:srgbClr val="13293F"/>
          </a:solidFill>
          <a:ln w="12700">
            <a:solidFill>
              <a:srgbClr val="2E567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71432" y="1563624"/>
            <a:ext cx="2350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3FB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BACKENDS — PRIVATE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9171432" y="1828800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of record &amp; services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9171432" y="2350008"/>
            <a:ext cx="23500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 / Container Apps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Logic Apps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PaaS via Private Endpoint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via ExpressRoute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487168" y="2514600"/>
            <a:ext cx="329184" cy="0"/>
          </a:xfrm>
          <a:prstGeom prst="line">
            <a:avLst/>
          </a:prstGeom>
          <a:noFill/>
          <a:ln w="25400">
            <a:solidFill>
              <a:srgbClr val="2FA8C9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2286000" y="19659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2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458968" y="2514600"/>
            <a:ext cx="329184" cy="0"/>
          </a:xfrm>
          <a:prstGeom prst="line">
            <a:avLst/>
          </a:prstGeom>
          <a:noFill/>
          <a:ln w="25400">
            <a:solidFill>
              <a:srgbClr val="2FA8C9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5257800" y="19659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2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</a:t>
            </a:r>
            <a:endParaRPr lang="en-US" sz="80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2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8567928" y="2514600"/>
            <a:ext cx="329184" cy="0"/>
          </a:xfrm>
          <a:prstGeom prst="line">
            <a:avLst/>
          </a:prstGeom>
          <a:noFill/>
          <a:ln w="25400">
            <a:solidFill>
              <a:srgbClr val="2FA8C9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8366760" y="19659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2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VNet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3840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2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 ALIGNMENT — API LAYERING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02920" y="4114800"/>
            <a:ext cx="3544824" cy="1143000"/>
          </a:xfrm>
          <a:prstGeom prst="roundRect">
            <a:avLst>
              <a:gd name="adj" fmla="val 4800"/>
            </a:avLst>
          </a:prstGeom>
          <a:solidFill>
            <a:srgbClr val="1A354D"/>
          </a:solidFill>
          <a:ln w="12700">
            <a:solidFill>
              <a:srgbClr val="2E567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67512" y="4251960"/>
            <a:ext cx="3215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APIs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67512" y="4544568"/>
            <a:ext cx="3215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Channel-facing. Published as APIM products with subscriptions and per-consumer quotas.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322064" y="4114800"/>
            <a:ext cx="3544824" cy="1143000"/>
          </a:xfrm>
          <a:prstGeom prst="roundRect">
            <a:avLst>
              <a:gd name="adj" fmla="val 4800"/>
            </a:avLst>
          </a:prstGeom>
          <a:solidFill>
            <a:srgbClr val="1A354D"/>
          </a:solidFill>
          <a:ln w="12700">
            <a:solidFill>
              <a:srgbClr val="2E567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486656" y="4251960"/>
            <a:ext cx="3215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APIs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4486656" y="4544568"/>
            <a:ext cx="3215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in Logic Apps / Functions. Reachable only inside the VNet, never from the edge.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141208" y="4114800"/>
            <a:ext cx="3544824" cy="1143000"/>
          </a:xfrm>
          <a:prstGeom prst="roundRect">
            <a:avLst>
              <a:gd name="adj" fmla="val 4800"/>
            </a:avLst>
          </a:prstGeom>
          <a:solidFill>
            <a:srgbClr val="1A354D"/>
          </a:solidFill>
          <a:ln w="12700">
            <a:solidFill>
              <a:srgbClr val="2E567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305800" y="4251960"/>
            <a:ext cx="3215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FB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APIs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8305800" y="4544568"/>
            <a:ext cx="3215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of record. Private endpoints only; never exposed directly to consumers.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02920" y="5532120"/>
            <a:ext cx="11183112" cy="566928"/>
          </a:xfrm>
          <a:prstGeom prst="roundRect">
            <a:avLst>
              <a:gd name="adj" fmla="val 9677"/>
            </a:avLst>
          </a:prstGeom>
          <a:solidFill>
            <a:srgbClr val="112C42"/>
          </a:solidFill>
          <a:ln w="12700">
            <a:solidFill>
              <a:srgbClr val="2FA8C9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13232" y="553212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DECISION  </a:t>
            </a:r>
            <a:pPr indent="0" marL="0">
              <a:buNone/>
            </a:pPr>
            <a:r>
              <a:rPr lang="en-US" sz="11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Door Premium (WAF + DDoS) → Private Link → APIM internal. No public IP on APIM. Application Gateway added only where per-app L7 rules or mTLS are required.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75488" cy="475488"/>
          </a:xfrm>
          <a:prstGeom prst="ellipse">
            <a:avLst/>
          </a:prstGeom>
          <a:solidFill>
            <a:srgbClr val="2FA8C9"/>
          </a:solidFill>
          <a:ln w="12700">
            <a:solidFill>
              <a:srgbClr val="2FA8C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10896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APIM HOSTING MODEL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53035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Managed, VNet-Injected or Self-Hosted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996696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model = Premium (classic), managed gateway, VNet injection in Internal mode. Self-hosted gateway is a hybrid add-on.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3544824" cy="3657600"/>
          </a:xfrm>
          <a:prstGeom prst="roundRect">
            <a:avLst>
              <a:gd name="adj" fmla="val 1548"/>
            </a:avLst>
          </a:prstGeom>
          <a:solidFill>
            <a:srgbClr val="13293F"/>
          </a:solidFill>
          <a:ln w="12700">
            <a:solidFill>
              <a:srgbClr val="E0705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58191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9D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6416" y="1563624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E0705E"/>
          </a:solidFill>
          <a:ln w="12700">
            <a:solidFill>
              <a:srgbClr val="E0705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66416" y="1563624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0B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SUFFICIENT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1920240"/>
            <a:ext cx="317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E07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+ Private Endpoint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2350008"/>
            <a:ext cx="3179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20" kern="0" dirty="0">
                <a:solidFill>
                  <a:srgbClr val="9D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MODEL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2551176"/>
            <a:ext cx="317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multi-tenant gateway · External mode · inbound Private Endpoint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026664"/>
            <a:ext cx="317906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stays on the Microsoft network — no VNet presence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private link only; outbound leaves via public egress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reach private or on-premises backends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5800" y="4297680"/>
            <a:ext cx="3179064" cy="658368"/>
          </a:xfrm>
          <a:prstGeom prst="roundRect">
            <a:avLst>
              <a:gd name="adj" fmla="val 8333"/>
            </a:avLst>
          </a:prstGeom>
          <a:solidFill>
            <a:srgbClr val="1A354D"/>
          </a:solidFill>
          <a:ln w="12700">
            <a:solidFill>
              <a:srgbClr val="1A354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297680"/>
            <a:ext cx="2904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— no inspected egress, no private backend reach.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22064" y="1417320"/>
            <a:ext cx="3544824" cy="3657600"/>
          </a:xfrm>
          <a:prstGeom prst="roundRect">
            <a:avLst>
              <a:gd name="adj" fmla="val 1548"/>
            </a:avLst>
          </a:prstGeom>
          <a:solidFill>
            <a:srgbClr val="13293F"/>
          </a:solidFill>
          <a:ln w="25400">
            <a:solidFill>
              <a:srgbClr val="3FBF8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04944" y="158191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9D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385560" y="1563624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3FBF8F"/>
          </a:solidFill>
          <a:ln w="12700">
            <a:solidFill>
              <a:srgbClr val="3FBF8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85560" y="1563624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0B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MODEL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4504944" y="1920240"/>
            <a:ext cx="317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3FB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VNet Injection — Internal mode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504944" y="2350008"/>
            <a:ext cx="3179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20" kern="0" dirty="0">
                <a:solidFill>
                  <a:srgbClr val="9D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MODEL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4504944" y="2551176"/>
            <a:ext cx="317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gateway injected into the VNet · Internal mode · stv2 · Premium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504944" y="3026664"/>
            <a:ext cx="317906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NICs in a dedicated /24 subnet, ILB only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 gateway endpoint — Front Door reaches it over Private Link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reach to PaaS, spokes and on-prem; full UDR control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04944" y="4297680"/>
            <a:ext cx="3179064" cy="658368"/>
          </a:xfrm>
          <a:prstGeom prst="roundRect">
            <a:avLst>
              <a:gd name="adj" fmla="val 8333"/>
            </a:avLst>
          </a:prstGeom>
          <a:solidFill>
            <a:srgbClr val="1A354D"/>
          </a:solidFill>
          <a:ln w="12700">
            <a:solidFill>
              <a:srgbClr val="1A354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42104" y="4297680"/>
            <a:ext cx="2904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for all external and internal API traffic.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141208" y="1417320"/>
            <a:ext cx="3544824" cy="3657600"/>
          </a:xfrm>
          <a:prstGeom prst="roundRect">
            <a:avLst>
              <a:gd name="adj" fmla="val 1548"/>
            </a:avLst>
          </a:prstGeom>
          <a:solidFill>
            <a:srgbClr val="13293F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324088" y="158191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9D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C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0204704" y="1563624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204704" y="1563624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0B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ADD-ON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8324088" y="1920240"/>
            <a:ext cx="317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Gateway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324088" y="2350008"/>
            <a:ext cx="3179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20" kern="0" dirty="0">
                <a:solidFill>
                  <a:srgbClr val="9D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MODEL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8324088" y="2551176"/>
            <a:ext cx="317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container on AKS / on-prem · control plane stays in Azure APIM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8324088" y="3026664"/>
            <a:ext cx="317906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data plane next to the backend; removes hairpin round-trips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regulated traffic inside its own boundary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as one logical APIM instance and policy set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324088" y="4297680"/>
            <a:ext cx="3179064" cy="658368"/>
          </a:xfrm>
          <a:prstGeom prst="roundRect">
            <a:avLst>
              <a:gd name="adj" fmla="val 8333"/>
            </a:avLst>
          </a:prstGeom>
          <a:solidFill>
            <a:srgbClr val="1A354D"/>
          </a:solidFill>
          <a:ln w="12700">
            <a:solidFill>
              <a:srgbClr val="1A354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461248" y="4297680"/>
            <a:ext cx="2904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only for data-residency or latency-bound on-prem backends.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502920" y="52303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2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PREREQUISITES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02920" y="5486400"/>
            <a:ext cx="2658618" cy="749808"/>
          </a:xfrm>
          <a:prstGeom prst="roundRect">
            <a:avLst>
              <a:gd name="adj" fmla="val 7317"/>
            </a:avLst>
          </a:prstGeom>
          <a:solidFill>
            <a:srgbClr val="1A354D"/>
          </a:solidFill>
          <a:ln w="12700">
            <a:solidFill>
              <a:srgbClr val="1A354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67512" y="5486400"/>
            <a:ext cx="232943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/24 subnet per region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344418" y="5486400"/>
            <a:ext cx="2658618" cy="749808"/>
          </a:xfrm>
          <a:prstGeom prst="roundRect">
            <a:avLst>
              <a:gd name="adj" fmla="val 7317"/>
            </a:avLst>
          </a:prstGeom>
          <a:solidFill>
            <a:srgbClr val="1A354D"/>
          </a:solidFill>
          <a:ln w="12700">
            <a:solidFill>
              <a:srgbClr val="1A354D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509010" y="5486400"/>
            <a:ext cx="232943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NSG: 3443 ApiManagement, 6390 LB, 443 Storage / SQL / KV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185916" y="5486400"/>
            <a:ext cx="2658618" cy="749808"/>
          </a:xfrm>
          <a:prstGeom prst="roundRect">
            <a:avLst>
              <a:gd name="adj" fmla="val 7317"/>
            </a:avLst>
          </a:prstGeom>
          <a:solidFill>
            <a:srgbClr val="1A354D"/>
          </a:solidFill>
          <a:ln w="12700">
            <a:solidFill>
              <a:srgbClr val="1A354D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350508" y="5486400"/>
            <a:ext cx="232943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DNS zone azure-api.net → ILB IP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9027414" y="5486400"/>
            <a:ext cx="2658618" cy="749808"/>
          </a:xfrm>
          <a:prstGeom prst="roundRect">
            <a:avLst>
              <a:gd name="adj" fmla="val 7317"/>
            </a:avLst>
          </a:prstGeom>
          <a:solidFill>
            <a:srgbClr val="1A354D"/>
          </a:solidFill>
          <a:ln w="12700">
            <a:solidFill>
              <a:srgbClr val="1A354D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192006" y="5486400"/>
            <a:ext cx="232943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stv2 platform · Premium tier · zone-redundant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75488" cy="475488"/>
          </a:xfrm>
          <a:prstGeom prst="ellipse">
            <a:avLst/>
          </a:prstGeom>
          <a:solidFill>
            <a:srgbClr val="2FA8C9"/>
          </a:solidFill>
          <a:ln w="12700">
            <a:solidFill>
              <a:srgbClr val="2FA8C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10896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 INGRESS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53035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Ingress &amp; WAF Sufficiency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996696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L7 inspection point at the edge; every layer below adds identity and control, not a second WAF.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11183112" cy="1097280"/>
          </a:xfrm>
          <a:prstGeom prst="roundRect">
            <a:avLst>
              <a:gd name="adj" fmla="val 5000"/>
            </a:avLst>
          </a:prstGeom>
          <a:solidFill>
            <a:srgbClr val="1A354D"/>
          </a:solidFill>
          <a:ln w="12700">
            <a:solidFill>
              <a:srgbClr val="1A354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14447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2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REQUEST FLOW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13232" y="1728216"/>
            <a:ext cx="1365069" cy="548640"/>
          </a:xfrm>
          <a:prstGeom prst="roundRect">
            <a:avLst>
              <a:gd name="adj" fmla="val 10000"/>
            </a:avLst>
          </a:prstGeom>
          <a:solidFill>
            <a:srgbClr val="13293F"/>
          </a:solidFill>
          <a:ln w="12700">
            <a:solidFill>
              <a:srgbClr val="2E567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1810512"/>
            <a:ext cx="12919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2020824"/>
            <a:ext cx="12919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9D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caller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096589" y="2002536"/>
            <a:ext cx="164592" cy="0"/>
          </a:xfrm>
          <a:prstGeom prst="line">
            <a:avLst/>
          </a:prstGeom>
          <a:noFill/>
          <a:ln w="22225">
            <a:solidFill>
              <a:srgbClr val="2FA8C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279469" y="1728216"/>
            <a:ext cx="1365069" cy="548640"/>
          </a:xfrm>
          <a:prstGeom prst="roundRect">
            <a:avLst>
              <a:gd name="adj" fmla="val 10000"/>
            </a:avLst>
          </a:prstGeom>
          <a:solidFill>
            <a:srgbClr val="13293F"/>
          </a:solidFill>
          <a:ln w="12700">
            <a:solidFill>
              <a:srgbClr val="2E567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316045" y="1810512"/>
            <a:ext cx="12919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DNS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2316045" y="2020824"/>
            <a:ext cx="12919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9D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CNAME → AFD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662825" y="2002536"/>
            <a:ext cx="164592" cy="0"/>
          </a:xfrm>
          <a:prstGeom prst="line">
            <a:avLst/>
          </a:prstGeom>
          <a:noFill/>
          <a:ln w="22225">
            <a:solidFill>
              <a:srgbClr val="2FA8C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845705" y="1728216"/>
            <a:ext cx="1365069" cy="548640"/>
          </a:xfrm>
          <a:prstGeom prst="roundRect">
            <a:avLst>
              <a:gd name="adj" fmla="val 10000"/>
            </a:avLst>
          </a:prstGeom>
          <a:solidFill>
            <a:srgbClr val="13293F"/>
          </a:solidFill>
          <a:ln w="25400">
            <a:solidFill>
              <a:srgbClr val="F2A65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882281" y="1810512"/>
            <a:ext cx="12919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DOOR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3882281" y="2020824"/>
            <a:ext cx="12919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9D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· TLS · DDoS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229062" y="2002536"/>
            <a:ext cx="164592" cy="0"/>
          </a:xfrm>
          <a:prstGeom prst="line">
            <a:avLst/>
          </a:prstGeom>
          <a:noFill/>
          <a:ln w="22225">
            <a:solidFill>
              <a:srgbClr val="2FA8C9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411942" y="1728216"/>
            <a:ext cx="1365069" cy="548640"/>
          </a:xfrm>
          <a:prstGeom prst="roundRect">
            <a:avLst>
              <a:gd name="adj" fmla="val 10000"/>
            </a:avLst>
          </a:prstGeom>
          <a:solidFill>
            <a:srgbClr val="13293F"/>
          </a:solidFill>
          <a:ln w="12700">
            <a:solidFill>
              <a:srgbClr val="2E567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48518" y="1810512"/>
            <a:ext cx="12919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LINK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5448518" y="2020824"/>
            <a:ext cx="12919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9D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 inbound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795298" y="2002536"/>
            <a:ext cx="164592" cy="0"/>
          </a:xfrm>
          <a:prstGeom prst="line">
            <a:avLst/>
          </a:prstGeom>
          <a:noFill/>
          <a:ln w="22225">
            <a:solidFill>
              <a:srgbClr val="2FA8C9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978178" y="1728216"/>
            <a:ext cx="1365069" cy="548640"/>
          </a:xfrm>
          <a:prstGeom prst="roundRect">
            <a:avLst>
              <a:gd name="adj" fmla="val 10000"/>
            </a:avLst>
          </a:prstGeom>
          <a:solidFill>
            <a:srgbClr val="13293F"/>
          </a:solidFill>
          <a:ln w="12700">
            <a:solidFill>
              <a:srgbClr val="2E567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014754" y="1810512"/>
            <a:ext cx="12919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GW WAF v2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7014754" y="2020824"/>
            <a:ext cx="12919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9D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optional, internal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8361535" y="2002536"/>
            <a:ext cx="164592" cy="0"/>
          </a:xfrm>
          <a:prstGeom prst="line">
            <a:avLst/>
          </a:prstGeom>
          <a:noFill/>
          <a:ln w="22225">
            <a:solidFill>
              <a:srgbClr val="2FA8C9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544415" y="1728216"/>
            <a:ext cx="1365069" cy="548640"/>
          </a:xfrm>
          <a:prstGeom prst="roundRect">
            <a:avLst>
              <a:gd name="adj" fmla="val 10000"/>
            </a:avLst>
          </a:prstGeom>
          <a:solidFill>
            <a:srgbClr val="13293F"/>
          </a:solidFill>
          <a:ln w="25400">
            <a:solidFill>
              <a:srgbClr val="3FBF8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580991" y="1810512"/>
            <a:ext cx="12919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FB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APIM PREMIUM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8580991" y="2020824"/>
            <a:ext cx="12919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9D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authN · quota · schema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9927771" y="2002536"/>
            <a:ext cx="164592" cy="0"/>
          </a:xfrm>
          <a:prstGeom prst="line">
            <a:avLst/>
          </a:prstGeom>
          <a:noFill/>
          <a:ln w="22225">
            <a:solidFill>
              <a:srgbClr val="2FA8C9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10110651" y="1728216"/>
            <a:ext cx="1365069" cy="548640"/>
          </a:xfrm>
          <a:prstGeom prst="roundRect">
            <a:avLst>
              <a:gd name="adj" fmla="val 10000"/>
            </a:avLst>
          </a:prstGeom>
          <a:solidFill>
            <a:srgbClr val="13293F"/>
          </a:solidFill>
          <a:ln w="12700">
            <a:solidFill>
              <a:srgbClr val="2E567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147227" y="1810512"/>
            <a:ext cx="12919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10147227" y="2020824"/>
            <a:ext cx="12919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9D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endpoint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02920" y="2606040"/>
            <a:ext cx="3544824" cy="1463040"/>
          </a:xfrm>
          <a:prstGeom prst="roundRect">
            <a:avLst>
              <a:gd name="adj" fmla="val 3750"/>
            </a:avLst>
          </a:prstGeom>
          <a:solidFill>
            <a:srgbClr val="13293F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85800" y="2752344"/>
            <a:ext cx="221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Door Premium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2813304" y="2752344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813304" y="2752344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0B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WAF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685800" y="3136392"/>
            <a:ext cx="3179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DRS 2.1 + bot protection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termination, DDoS, rate limiting, geo-filter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public entry point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322064" y="2606040"/>
            <a:ext cx="3544824" cy="1463040"/>
          </a:xfrm>
          <a:prstGeom prst="roundRect">
            <a:avLst>
              <a:gd name="adj" fmla="val 3750"/>
            </a:avLst>
          </a:prstGeom>
          <a:solidFill>
            <a:srgbClr val="13293F"/>
          </a:solidFill>
          <a:ln w="12700">
            <a:solidFill>
              <a:srgbClr val="2FA8C9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504944" y="2752344"/>
            <a:ext cx="221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Gateway WAF v2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632448" y="2752344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2FA8C9"/>
          </a:solidFill>
          <a:ln w="12700">
            <a:solidFill>
              <a:srgbClr val="2FA8C9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632448" y="2752344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0B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</a:t>
            </a:r>
            <a:endParaRPr lang="en-US" sz="850" dirty="0"/>
          </a:p>
        </p:txBody>
      </p:sp>
      <p:sp>
        <p:nvSpPr>
          <p:cNvPr id="45" name="Text 43"/>
          <p:cNvSpPr txBox="1"/>
          <p:nvPr/>
        </p:nvSpPr>
        <p:spPr>
          <a:xfrm>
            <a:off x="4504944" y="3136392"/>
            <a:ext cx="3179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only, never internet-facing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for per-app L7 rules, mTLS or path rewrite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WAF to tune — by exception only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141208" y="2606040"/>
            <a:ext cx="3544824" cy="1463040"/>
          </a:xfrm>
          <a:prstGeom prst="roundRect">
            <a:avLst>
              <a:gd name="adj" fmla="val 3750"/>
            </a:avLst>
          </a:prstGeom>
          <a:solidFill>
            <a:srgbClr val="13293F"/>
          </a:solidFill>
          <a:ln w="12700">
            <a:solidFill>
              <a:srgbClr val="3FBF8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324088" y="2752344"/>
            <a:ext cx="221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FB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APIM Premium — Internal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10451592" y="2752344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3FBF8F"/>
          </a:solidFill>
          <a:ln w="12700">
            <a:solidFill>
              <a:srgbClr val="3FBF8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10451592" y="2752344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0B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</a:t>
            </a:r>
            <a:endParaRPr lang="en-US" sz="850" dirty="0"/>
          </a:p>
        </p:txBody>
      </p:sp>
      <p:sp>
        <p:nvSpPr>
          <p:cNvPr id="50" name="Text 48"/>
          <p:cNvSpPr txBox="1"/>
          <p:nvPr/>
        </p:nvSpPr>
        <p:spPr>
          <a:xfrm>
            <a:off x="8324088" y="3136392"/>
            <a:ext cx="3179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/ OAuth2 validation + subscription keys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Quotas, throttling, JSON / XML schema checks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to backends over the private network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02920" y="4251960"/>
            <a:ext cx="5454396" cy="1325880"/>
          </a:xfrm>
          <a:prstGeom prst="roundRect">
            <a:avLst>
              <a:gd name="adj" fmla="val 4138"/>
            </a:avLst>
          </a:prstGeom>
          <a:solidFill>
            <a:srgbClr val="13293F"/>
          </a:solidFill>
          <a:ln w="12700">
            <a:solidFill>
              <a:srgbClr val="E0705E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85800" y="439826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E07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PALO ALTO POSITIONING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685800" y="4690872"/>
            <a:ext cx="50886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inline for public HTTPS ingress — TLS is already terminated at Front Door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NGFW here would re-terminate and duplicate L7 inspection for no gain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owns egress, east-west and non-HTTP flows instead (slide 4)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231636" y="4251960"/>
            <a:ext cx="5454396" cy="1325880"/>
          </a:xfrm>
          <a:prstGeom prst="roundRect">
            <a:avLst>
              <a:gd name="adj" fmla="val 4138"/>
            </a:avLst>
          </a:prstGeom>
          <a:solidFill>
            <a:srgbClr val="13293F"/>
          </a:solidFill>
          <a:ln w="12700">
            <a:solidFill>
              <a:srgbClr val="2E5675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414516" y="439826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2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SUFFICIENCY &amp; EXCEPTIONS</a:t>
            </a:r>
            <a:endParaRPr lang="en-US" sz="950" dirty="0"/>
          </a:p>
        </p:txBody>
      </p:sp>
      <p:sp>
        <p:nvSpPr>
          <p:cNvPr id="56" name="Text 54"/>
          <p:cNvSpPr txBox="1"/>
          <p:nvPr/>
        </p:nvSpPr>
        <p:spPr>
          <a:xfrm>
            <a:off x="6414516" y="4690872"/>
            <a:ext cx="50886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mode by default; Detection only for a time-boxed pilot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with per-rule, per-URI exclusions — never a global rule disable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exception carries owner, justification, expiry and CAB record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+ APIM diagnostics → Log Analytics and Sentinel alerting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02920" y="5760720"/>
            <a:ext cx="11183112" cy="566928"/>
          </a:xfrm>
          <a:prstGeom prst="roundRect">
            <a:avLst>
              <a:gd name="adj" fmla="val 9677"/>
            </a:avLst>
          </a:prstGeom>
          <a:solidFill>
            <a:srgbClr val="112C42"/>
          </a:solidFill>
          <a:ln w="12700">
            <a:solidFill>
              <a:srgbClr val="2FA8C9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713232" y="576072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 DECISION  </a:t>
            </a:r>
            <a:pPr indent="0" marL="0">
              <a:buNone/>
            </a:pPr>
            <a:r>
              <a:rPr lang="en-US" sz="11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Door Premium WAF covers OWASP top-10 and bot protection for external APIs. Application Gateway WAF is an exception-only second layer, never a default.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75488" cy="475488"/>
          </a:xfrm>
          <a:prstGeom prst="ellipse">
            <a:avLst/>
          </a:prstGeom>
          <a:solidFill>
            <a:srgbClr val="2FA8C9"/>
          </a:solidFill>
          <a:ln w="12700">
            <a:solidFill>
              <a:srgbClr val="2FA8C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10896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 EGRESS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53035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Inspected Egress via Virtual WAN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996696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intent forces internet and private traffic through the NGFW; Azure PaaS stays on private endpoints.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11183112" cy="1097280"/>
          </a:xfrm>
          <a:prstGeom prst="roundRect">
            <a:avLst>
              <a:gd name="adj" fmla="val 5000"/>
            </a:avLst>
          </a:prstGeom>
          <a:solidFill>
            <a:srgbClr val="1A354D"/>
          </a:solidFill>
          <a:ln w="12700">
            <a:solidFill>
              <a:srgbClr val="1A354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14447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2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REQUEST FLOW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13232" y="1728216"/>
            <a:ext cx="1626108" cy="548640"/>
          </a:xfrm>
          <a:prstGeom prst="roundRect">
            <a:avLst>
              <a:gd name="adj" fmla="val 10000"/>
            </a:avLst>
          </a:prstGeom>
          <a:solidFill>
            <a:srgbClr val="13293F"/>
          </a:solidFill>
          <a:ln w="12700">
            <a:solidFill>
              <a:srgbClr val="2E567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1810512"/>
            <a:ext cx="15529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APIM GATEWAY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2020824"/>
            <a:ext cx="1552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9D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 subnet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357628" y="2002536"/>
            <a:ext cx="164592" cy="0"/>
          </a:xfrm>
          <a:prstGeom prst="line">
            <a:avLst/>
          </a:prstGeom>
          <a:noFill/>
          <a:ln w="22225">
            <a:solidFill>
              <a:srgbClr val="2FA8C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540508" y="1728216"/>
            <a:ext cx="1626108" cy="548640"/>
          </a:xfrm>
          <a:prstGeom prst="roundRect">
            <a:avLst>
              <a:gd name="adj" fmla="val 10000"/>
            </a:avLst>
          </a:prstGeom>
          <a:solidFill>
            <a:srgbClr val="13293F"/>
          </a:solidFill>
          <a:ln w="12700">
            <a:solidFill>
              <a:srgbClr val="2E567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577084" y="1810512"/>
            <a:ext cx="15529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UDR 0.0.0.0/0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2577084" y="2020824"/>
            <a:ext cx="1552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9D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secured hub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184904" y="2002536"/>
            <a:ext cx="164592" cy="0"/>
          </a:xfrm>
          <a:prstGeom prst="line">
            <a:avLst/>
          </a:prstGeom>
          <a:noFill/>
          <a:ln w="22225">
            <a:solidFill>
              <a:srgbClr val="2FA8C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367784" y="1728216"/>
            <a:ext cx="1626108" cy="548640"/>
          </a:xfrm>
          <a:prstGeom prst="roundRect">
            <a:avLst>
              <a:gd name="adj" fmla="val 10000"/>
            </a:avLst>
          </a:prstGeom>
          <a:solidFill>
            <a:srgbClr val="13293F"/>
          </a:solidFill>
          <a:ln w="12700">
            <a:solidFill>
              <a:srgbClr val="2E567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04360" y="1810512"/>
            <a:ext cx="15529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vWAN HUB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4404360" y="2020824"/>
            <a:ext cx="1552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9D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intent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012180" y="2002536"/>
            <a:ext cx="164592" cy="0"/>
          </a:xfrm>
          <a:prstGeom prst="line">
            <a:avLst/>
          </a:prstGeom>
          <a:noFill/>
          <a:ln w="22225">
            <a:solidFill>
              <a:srgbClr val="2FA8C9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195060" y="1728216"/>
            <a:ext cx="1626108" cy="548640"/>
          </a:xfrm>
          <a:prstGeom prst="roundRect">
            <a:avLst>
              <a:gd name="adj" fmla="val 10000"/>
            </a:avLst>
          </a:prstGeom>
          <a:solidFill>
            <a:srgbClr val="13293F"/>
          </a:solidFill>
          <a:ln w="25400">
            <a:solidFill>
              <a:srgbClr val="F2A65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31636" y="1810512"/>
            <a:ext cx="15529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PALO ALTO NGFW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6231636" y="2020824"/>
            <a:ext cx="1552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9D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proxy · FQDN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7839456" y="2002536"/>
            <a:ext cx="164592" cy="0"/>
          </a:xfrm>
          <a:prstGeom prst="line">
            <a:avLst/>
          </a:prstGeom>
          <a:noFill/>
          <a:ln w="22225">
            <a:solidFill>
              <a:srgbClr val="2FA8C9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022336" y="1728216"/>
            <a:ext cx="1626108" cy="548640"/>
          </a:xfrm>
          <a:prstGeom prst="roundRect">
            <a:avLst>
              <a:gd name="adj" fmla="val 10000"/>
            </a:avLst>
          </a:prstGeom>
          <a:solidFill>
            <a:srgbClr val="13293F"/>
          </a:solidFill>
          <a:ln w="12700">
            <a:solidFill>
              <a:srgbClr val="2E567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058912" y="1810512"/>
            <a:ext cx="15529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SNAT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8058912" y="2020824"/>
            <a:ext cx="1552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9D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egress IP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9666732" y="2002536"/>
            <a:ext cx="164592" cy="0"/>
          </a:xfrm>
          <a:prstGeom prst="line">
            <a:avLst/>
          </a:prstGeom>
          <a:noFill/>
          <a:ln w="22225">
            <a:solidFill>
              <a:srgbClr val="2FA8C9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849612" y="1728216"/>
            <a:ext cx="1626108" cy="548640"/>
          </a:xfrm>
          <a:prstGeom prst="roundRect">
            <a:avLst>
              <a:gd name="adj" fmla="val 10000"/>
            </a:avLst>
          </a:prstGeom>
          <a:solidFill>
            <a:srgbClr val="13293F"/>
          </a:solidFill>
          <a:ln w="12700">
            <a:solidFill>
              <a:srgbClr val="2E567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886188" y="1810512"/>
            <a:ext cx="15529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/ SaaS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9886188" y="2020824"/>
            <a:ext cx="1552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9D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allow-listed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02920" y="2606040"/>
            <a:ext cx="3544824" cy="1508760"/>
          </a:xfrm>
          <a:prstGeom prst="roundRect">
            <a:avLst>
              <a:gd name="adj" fmla="val 3636"/>
            </a:avLst>
          </a:prstGeom>
          <a:solidFill>
            <a:srgbClr val="13293F"/>
          </a:solidFill>
          <a:ln w="12700">
            <a:solidFill>
              <a:srgbClr val="2E567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5800" y="2752344"/>
            <a:ext cx="3179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9D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 — APIM VNET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685800" y="3008376"/>
            <a:ext cx="3179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 gateway subnet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85800" y="3337560"/>
            <a:ext cx="3179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UDR 0.0.0.0/0 → secured hub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 IP, no NAT gateway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endpoints off — private endpoints only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322064" y="2606040"/>
            <a:ext cx="3544824" cy="1508760"/>
          </a:xfrm>
          <a:prstGeom prst="roundRect">
            <a:avLst>
              <a:gd name="adj" fmla="val 3636"/>
            </a:avLst>
          </a:prstGeom>
          <a:solidFill>
            <a:srgbClr val="13293F"/>
          </a:solidFill>
          <a:ln w="25400">
            <a:solidFill>
              <a:srgbClr val="2FA8C9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504944" y="2752344"/>
            <a:ext cx="3179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2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WAN SECURED HUB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4504944" y="3008376"/>
            <a:ext cx="3179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intent: Internet + Private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4504944" y="3337560"/>
            <a:ext cx="3179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Palo Alto Cloud NGFW (SaaS) or VM-Series in the hub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forward proxy, FQDN allow-list, App-ID policy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routing policy — no per-spoke UDR sprawl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141208" y="2606040"/>
            <a:ext cx="3544824" cy="1508760"/>
          </a:xfrm>
          <a:prstGeom prst="roundRect">
            <a:avLst>
              <a:gd name="adj" fmla="val 3636"/>
            </a:avLst>
          </a:prstGeom>
          <a:solidFill>
            <a:srgbClr val="13293F"/>
          </a:solidFill>
          <a:ln w="12700">
            <a:solidFill>
              <a:srgbClr val="2E5675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324088" y="2752344"/>
            <a:ext cx="3179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3FB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DESTINATIONS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8324088" y="3008376"/>
            <a:ext cx="3179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 by default, allow by exception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8324088" y="3337560"/>
            <a:ext cx="3179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/ SaaS APIs over allow-listed FQDNs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 systems via ExpressRoute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PaaS via Private Endpoint — never hairpins the hub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02920" y="4297680"/>
            <a:ext cx="5454396" cy="1234440"/>
          </a:xfrm>
          <a:prstGeom prst="roundRect">
            <a:avLst>
              <a:gd name="adj" fmla="val 4444"/>
            </a:avLst>
          </a:prstGeom>
          <a:solidFill>
            <a:srgbClr val="1A354D"/>
          </a:solidFill>
          <a:ln w="12700">
            <a:solidFill>
              <a:srgbClr val="1A354D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67512" y="44348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2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DESIGN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667512" y="4718304"/>
            <a:ext cx="51252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DNS zones linked to the hub and all spokes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Private Resolver bridges on-prem ↔ Azure resolution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Split-horizon: the public API FQDN resolves to the ILB inside the VNet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231636" y="4297680"/>
            <a:ext cx="5454396" cy="1234440"/>
          </a:xfrm>
          <a:prstGeom prst="roundRect">
            <a:avLst>
              <a:gd name="adj" fmla="val 4444"/>
            </a:avLst>
          </a:prstGeom>
          <a:solidFill>
            <a:srgbClr val="1A354D"/>
          </a:solidFill>
          <a:ln w="12700">
            <a:solidFill>
              <a:srgbClr val="1A354D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396228" y="44348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2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 CONTROLS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6396228" y="4718304"/>
            <a:ext cx="51252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 FQDNs approved and recorded per API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Certificate-pinning bypasses logged with an expiry date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APIM's own outbound dependencies exempted from TLS inspection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02920" y="5715000"/>
            <a:ext cx="11183112" cy="566928"/>
          </a:xfrm>
          <a:prstGeom prst="roundRect">
            <a:avLst>
              <a:gd name="adj" fmla="val 9677"/>
            </a:avLst>
          </a:prstGeom>
          <a:solidFill>
            <a:srgbClr val="112C42"/>
          </a:solidFill>
          <a:ln w="12700">
            <a:solidFill>
              <a:srgbClr val="2FA8C9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13232" y="571500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 DECISION  </a:t>
            </a:r>
            <a:pPr indent="0" marL="0">
              <a:buNone/>
            </a:pPr>
            <a:r>
              <a:rPr lang="en-US" sz="11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WAN routing intent with Palo Alto in the secured hub; private endpoints for all Azure PaaS so only genuine third-party traffic leaves the estate.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75488" cy="475488"/>
          </a:xfrm>
          <a:prstGeom prst="ellipse">
            <a:avLst/>
          </a:prstGeom>
          <a:solidFill>
            <a:srgbClr val="2FA8C9"/>
          </a:solidFill>
          <a:ln w="12700">
            <a:solidFill>
              <a:srgbClr val="2FA8C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10896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 &amp; DISASTER RECOVERY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53035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Redundancy Now, Lowest-Cost DR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996696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units across 2 zones in the primary region. Secondary-region cost is a straight trade against RTO.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5454396" cy="1783080"/>
          </a:xfrm>
          <a:prstGeom prst="roundRect">
            <a:avLst>
              <a:gd name="adj" fmla="val 3077"/>
            </a:avLst>
          </a:prstGeom>
          <a:solidFill>
            <a:srgbClr val="13293F"/>
          </a:solidFill>
          <a:ln w="25400">
            <a:solidFill>
              <a:srgbClr val="3FBF8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813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3FB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REGION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22876" y="1463040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3FBF8F"/>
          </a:solidFill>
          <a:ln w="12700">
            <a:solidFill>
              <a:srgbClr val="3FBF8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22876" y="146304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0B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1755648"/>
            <a:ext cx="50886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APIM Premium · 2 units · zone-redundant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103120"/>
            <a:ext cx="1143000" cy="274320"/>
          </a:xfrm>
          <a:prstGeom prst="roundRect">
            <a:avLst>
              <a:gd name="adj" fmla="val 43333"/>
            </a:avLst>
          </a:prstGeom>
          <a:solidFill>
            <a:srgbClr val="1F4A66"/>
          </a:solidFill>
          <a:ln w="12700">
            <a:solidFill>
              <a:srgbClr val="1F4A6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21031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965960" y="2103120"/>
            <a:ext cx="1143000" cy="274320"/>
          </a:xfrm>
          <a:prstGeom prst="roundRect">
            <a:avLst>
              <a:gd name="adj" fmla="val 43333"/>
            </a:avLst>
          </a:prstGeom>
          <a:solidFill>
            <a:srgbClr val="1F4A66"/>
          </a:solidFill>
          <a:ln w="12700">
            <a:solidFill>
              <a:srgbClr val="1F4A6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965960" y="21031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2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2487168"/>
            <a:ext cx="50886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units = 2 zones — unit count sets how many zones you can span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loss is absorbed in-region: no failover, no DNS change, RTO 0 / RPO 0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units in-region for load before adding a second region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31636" y="1325880"/>
            <a:ext cx="5454396" cy="1783080"/>
          </a:xfrm>
          <a:prstGeom prst="roundRect">
            <a:avLst>
              <a:gd name="adj" fmla="val 3077"/>
            </a:avLst>
          </a:prstGeom>
          <a:solidFill>
            <a:srgbClr val="13293F"/>
          </a:solidFill>
          <a:ln w="12700">
            <a:solidFill>
              <a:srgbClr val="E0705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14516" y="148132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E07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REALITY — A WARM STANDBY IS BILLED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414516" y="1755648"/>
            <a:ext cx="50886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cold or paused APIM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14516" y="2121408"/>
            <a:ext cx="50886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secondary region is added as scale units — you choose the unit count and pay per unit-hour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idle gateway unit costs the same as a busy one; the multi-region add-on is billed 24/7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DR spend is driven by the RTO you commit to, not by traffic volume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3291840"/>
            <a:ext cx="3544824" cy="2011680"/>
          </a:xfrm>
          <a:prstGeom prst="roundRect">
            <a:avLst>
              <a:gd name="adj" fmla="val 2727"/>
            </a:avLst>
          </a:prstGeom>
          <a:solidFill>
            <a:srgbClr val="13293F"/>
          </a:solidFill>
          <a:ln w="25400">
            <a:solidFill>
              <a:srgbClr val="3FBF8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3438144"/>
            <a:ext cx="2127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FB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Rebuild on demand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2694432" y="3438144"/>
            <a:ext cx="1170432" cy="237744"/>
          </a:xfrm>
          <a:prstGeom prst="roundRect">
            <a:avLst>
              <a:gd name="adj" fmla="val 50000"/>
            </a:avLst>
          </a:prstGeom>
          <a:solidFill>
            <a:srgbClr val="3FBF8F"/>
          </a:solidFill>
          <a:ln w="12700">
            <a:solidFill>
              <a:srgbClr val="3FBF8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694432" y="3438144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0B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COST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3785616"/>
            <a:ext cx="3179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i="1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cost: none — storage + pipeline only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4096512"/>
            <a:ext cx="31790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runs in DR: VNet, subnets, NSG/UDR, Private DNS and Key Vault certs pre-staged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Bicep / Terraform + APIOps in Azure DevOps rebuild the instance; nightly backup to GRS storage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 hours (provision Premium, restore config, repoint Front Door) — backups expire after 30 days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322064" y="3291840"/>
            <a:ext cx="3544824" cy="2011680"/>
          </a:xfrm>
          <a:prstGeom prst="roundRect">
            <a:avLst>
              <a:gd name="adj" fmla="val 2727"/>
            </a:avLst>
          </a:prstGeom>
          <a:solidFill>
            <a:srgbClr val="13293F"/>
          </a:solidFill>
          <a:ln w="12700">
            <a:solidFill>
              <a:srgbClr val="2FA8C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04944" y="3438144"/>
            <a:ext cx="2127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Pre-staged shell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513576" y="3438144"/>
            <a:ext cx="1170432" cy="237744"/>
          </a:xfrm>
          <a:prstGeom prst="roundRect">
            <a:avLst>
              <a:gd name="adj" fmla="val 50000"/>
            </a:avLst>
          </a:prstGeom>
          <a:solidFill>
            <a:srgbClr val="2FA8C9"/>
          </a:solidFill>
          <a:ln w="12700">
            <a:solidFill>
              <a:srgbClr val="2FA8C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13576" y="3438144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0B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GROUND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4504944" y="3785616"/>
            <a:ext cx="3179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i="1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cost: a Developer-tier placeholder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504944" y="4096512"/>
            <a:ext cx="31790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instance exists and holds config, custom domain and VNet wiring; no production capacity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Upgraded to Premium at invocation — restore requires the target tier to match the source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 roughly an hour, most of it the tier change; must be drilled to be credible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141208" y="3291840"/>
            <a:ext cx="3544824" cy="2011680"/>
          </a:xfrm>
          <a:prstGeom prst="roundRect">
            <a:avLst>
              <a:gd name="adj" fmla="val 2727"/>
            </a:avLst>
          </a:prstGeom>
          <a:solidFill>
            <a:srgbClr val="13293F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324088" y="3438144"/>
            <a:ext cx="2127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Warm standby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10332720" y="3438144"/>
            <a:ext cx="1170432" cy="237744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332720" y="3438144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0B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FASTEST, DEAREST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8324088" y="3785616"/>
            <a:ext cx="3179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i="1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cost: +1 Premium unit, 24/7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324088" y="4096512"/>
            <a:ext cx="31790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 add-on: gateway config syncs automatically, typically within seconds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Door priority routing shifts traffic on probe failure — RTO minutes, RPO near zero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to active/active by switching Front Door to weighted routing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02920" y="5468112"/>
            <a:ext cx="11183112" cy="822960"/>
          </a:xfrm>
          <a:prstGeom prst="roundRect">
            <a:avLst>
              <a:gd name="adj" fmla="val 6667"/>
            </a:avLst>
          </a:prstGeom>
          <a:solidFill>
            <a:srgbClr val="112C42"/>
          </a:solidFill>
          <a:ln w="12700">
            <a:solidFill>
              <a:srgbClr val="2FA8C9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13232" y="546811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RECOMMENDATION  </a:t>
            </a:r>
            <a:pPr indent="0" marL="0">
              <a:buNone/>
            </a:pPr>
            <a:r>
              <a:rPr lang="en-US" sz="11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option 1 while the business RTO tolerance is measured in hours — nothing runs in the DR region, so DR costs storage and pipeline time only. Re-price against option 3 only if an RTO under one hour is mandated. Any option converts to active/active later by adding units to the second region.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2026-09-21T17:06:55Z</dcterms:created>
  <dcterms:modified xsi:type="dcterms:W3CDTF">2026-09-21T17:06:55Z</dcterms:modified>
</cp:coreProperties>
</file>