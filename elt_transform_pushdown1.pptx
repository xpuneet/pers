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903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33172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F2F1EE"/>
          </a:solidFill>
          <a:ln w="15875">
            <a:solidFill>
              <a:srgbClr val="8C8A83"/>
            </a:solidFill>
            <a:prstDash val="solid"/>
          </a:ln>
          <a:effectLst>
            <a:outerShdw blurRad="50800" dist="127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02920" y="2331720"/>
            <a:ext cx="192024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3A36"/>
                </a:solidFill>
              </a:rPr>
              <a:t>Sources</a:t>
            </a:r>
            <a:endParaRPr lang="en-US" sz="15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C8A83"/>
                </a:solidFill>
              </a:rPr>
              <a:t>multi-system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88920" y="233172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EFEDFB"/>
          </a:solidFill>
          <a:ln w="15875">
            <a:solidFill>
              <a:srgbClr val="6B5DD3"/>
            </a:solidFill>
            <a:prstDash val="solid"/>
          </a:ln>
          <a:effectLst>
            <a:outerShdw blurRad="50800" dist="127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2788920" y="2331720"/>
            <a:ext cx="192024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C3489"/>
                </a:solidFill>
              </a:rPr>
              <a:t>Orchestrator</a:t>
            </a:r>
            <a:endParaRPr lang="en-US" sz="15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5DD3"/>
                </a:solidFill>
              </a:rPr>
              <a:t>extract &amp; stage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74920" y="233172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E6F4EE"/>
          </a:solidFill>
          <a:ln w="15875">
            <a:solidFill>
              <a:srgbClr val="2E8B6B"/>
            </a:solidFill>
            <a:prstDash val="solid"/>
          </a:ln>
          <a:effectLst>
            <a:outerShdw blurRad="50800" dist="127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 txBox="1"/>
          <p:nvPr/>
        </p:nvSpPr>
        <p:spPr>
          <a:xfrm>
            <a:off x="5074920" y="2331720"/>
            <a:ext cx="192024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6E56"/>
                </a:solidFill>
              </a:rPr>
              <a:t>Stage</a:t>
            </a:r>
            <a:endParaRPr lang="en-US" sz="15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E8B6B"/>
                </a:solidFill>
              </a:rPr>
              <a:t>ADLS Gen2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60920" y="233172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FBEEDC"/>
          </a:solidFill>
          <a:ln w="15875">
            <a:solidFill>
              <a:srgbClr val="B5842F"/>
            </a:solidFill>
            <a:prstDash val="solid"/>
          </a:ln>
          <a:effectLst>
            <a:outerShdw blurRad="50800" dist="127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7360920" y="2331720"/>
            <a:ext cx="192024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33806"/>
                </a:solidFill>
              </a:rPr>
              <a:t>Snowpipe</a:t>
            </a:r>
            <a:endParaRPr lang="en-US" sz="15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B5842F"/>
                </a:solidFill>
              </a:rPr>
              <a:t>auto-ingest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646920" y="233172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E9F1FB"/>
          </a:solidFill>
          <a:ln w="15875">
            <a:solidFill>
              <a:srgbClr val="3F7FCB"/>
            </a:solidFill>
            <a:prstDash val="solid"/>
          </a:ln>
          <a:effectLst>
            <a:outerShdw blurRad="50800" dist="127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 txBox="1"/>
          <p:nvPr/>
        </p:nvSpPr>
        <p:spPr>
          <a:xfrm>
            <a:off x="9646920" y="2331720"/>
            <a:ext cx="192024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3F6B"/>
                </a:solidFill>
              </a:rPr>
              <a:t>Snowflake</a:t>
            </a:r>
            <a:endParaRPr lang="en-US" sz="15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F7FCB"/>
                </a:solidFill>
              </a:rPr>
              <a:t>transform pushdown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372600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F7FCB"/>
                </a:solidFill>
              </a:rPr>
              <a:t>off operational sync path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59736" y="2857500"/>
            <a:ext cx="292608" cy="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745736" y="2857500"/>
            <a:ext cx="292608" cy="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7031736" y="2857500"/>
            <a:ext cx="292608" cy="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9317736" y="2857500"/>
            <a:ext cx="292608" cy="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502920" y="10515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C2A"/>
                </a:solidFill>
              </a:rPr>
              <a:t>Pattern — ELT with Transformation Pushdown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F5E5A"/>
                </a:solidFill>
              </a:rPr>
              <a:t>Orchestrator does extract-and-stage only; Snowpipe auto-ingests from the stage; all transformation runs inside Snowflake.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41605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5E5A"/>
                </a:solidFill>
              </a:rPr>
              <a:t>Transformation runs inside Snowflake  ·  not in transit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55480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F7FCB"/>
                </a:solidFill>
              </a:rPr>
              <a:t>off operational sync path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233172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F2F1EE"/>
          </a:solidFill>
          <a:ln w="15875">
            <a:solidFill>
              <a:srgbClr val="8C8A83"/>
            </a:solidFill>
            <a:prstDash val="solid"/>
          </a:ln>
          <a:effectLst>
            <a:outerShdw blurRad="50800" dist="127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502920" y="2331720"/>
            <a:ext cx="192024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3B3A36"/>
                </a:solidFill>
              </a:rPr>
              <a:t>Source</a:t>
            </a:r>
            <a:endParaRPr lang="en-US" sz="15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8C8A83"/>
                </a:solidFill>
              </a:rPr>
              <a:t>system of record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88920" y="233172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EFEDFB"/>
          </a:solidFill>
          <a:ln w="15875">
            <a:solidFill>
              <a:srgbClr val="6B5DD3"/>
            </a:solidFill>
            <a:prstDash val="solid"/>
          </a:ln>
          <a:effectLst>
            <a:outerShdw blurRad="50800" dist="127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2788920" y="2331720"/>
            <a:ext cx="192024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3C3489"/>
                </a:solidFill>
              </a:rPr>
              <a:t>Scheduled Extractor</a:t>
            </a:r>
            <a:endParaRPr lang="en-US" sz="15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B5DD3"/>
                </a:solidFill>
              </a:rPr>
              <a:t>Function / Logic App / ADF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74920" y="233172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E6F4EE"/>
          </a:solidFill>
          <a:ln w="15875">
            <a:solidFill>
              <a:srgbClr val="2E8B6B"/>
            </a:solidFill>
            <a:prstDash val="solid"/>
          </a:ln>
          <a:effectLst>
            <a:outerShdw blurRad="50800" dist="127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5074920" y="2331720"/>
            <a:ext cx="192024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6E56"/>
                </a:solidFill>
              </a:rPr>
              <a:t>Stage</a:t>
            </a:r>
            <a:endParaRPr lang="en-US" sz="15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2E8B6B"/>
                </a:solidFill>
              </a:rPr>
              <a:t>ADLS Gen2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60920" y="233172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FBEEDC"/>
          </a:solidFill>
          <a:ln w="15875">
            <a:solidFill>
              <a:srgbClr val="B5842F"/>
            </a:solidFill>
            <a:prstDash val="solid"/>
          </a:ln>
          <a:effectLst>
            <a:outerShdw blurRad="50800" dist="127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7360920" y="2331720"/>
            <a:ext cx="192024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633806"/>
                </a:solidFill>
              </a:rPr>
              <a:t>COPY INTO / Snowpipe</a:t>
            </a:r>
            <a:endParaRPr lang="en-US" sz="15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B5842F"/>
                </a:solidFill>
              </a:rPr>
              <a:t>bulk load / auto-ingest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829800" y="233172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E9F1FB"/>
          </a:solidFill>
          <a:ln w="15875">
            <a:solidFill>
              <a:srgbClr val="3F7FCB"/>
            </a:solidFill>
            <a:prstDash val="solid"/>
          </a:ln>
          <a:effectLst>
            <a:outerShdw blurRad="50800" dist="127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9829800" y="2331720"/>
            <a:ext cx="192024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23F6B"/>
                </a:solidFill>
              </a:rPr>
              <a:t>Snowflake</a:t>
            </a:r>
            <a:endParaRPr lang="en-US" sz="15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3F7FCB"/>
                </a:solidFill>
              </a:rPr>
              <a:t>raw schema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459736" y="2857500"/>
            <a:ext cx="292608" cy="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745736" y="2857500"/>
            <a:ext cx="292608" cy="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7031736" y="2857500"/>
            <a:ext cx="292608" cy="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9317736" y="2857500"/>
            <a:ext cx="475488" cy="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502920" y="10515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C2A"/>
                </a:solidFill>
              </a:rPr>
              <a:t>Pattern — Scheduled Batch Ingestion (watermark / CDC)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F5E5A"/>
                </a:solidFill>
              </a:rPr>
              <a:t>Extractor is an implementation choice, selected in the build phase by extraction complexity — the staged hand-off contract is the invariant.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41605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5E5A"/>
                </a:solidFill>
              </a:rPr>
              <a:t>Managed identity to source &amp; stage  ·  watermark / CDC state persisted (durable, externalised)  ·  Snowflake is the load target only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</Words>
  <Application>Microsoft Office PowerPoint</Application>
  <PresentationFormat>Widescreen</PresentationFormat>
  <Paragraphs>30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Kumar, Puneet (Cognizant)</cp:lastModifiedBy>
  <cp:revision>2</cp:revision>
  <dcterms:created xsi:type="dcterms:W3CDTF">2026-09-10T17:59:19Z</dcterms:created>
  <dcterms:modified xsi:type="dcterms:W3CDTF">2026-09-10T18:01:08Z</dcterms:modified>
</cp:coreProperties>
</file>