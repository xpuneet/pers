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8" r:id="rId13"/>
    <p:sldId id="269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6" r:id="rId22"/>
    <p:sldId id="292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3T21:01:44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eet Kumar - Chaucer" userId="S::puneet.kumar@chaucergroup.com::090bd223-6cda-4aec-ba5f-32ca554a1dde" providerId="AD" clId="Web-{00000000-0000-0000-0000-000000000000}"/>
    <pc:docChg chg="modSld">
      <pc:chgData name="Puneet Kumar - Chaucer" userId="S::puneet.kumar@chaucergroup.com::090bd223-6cda-4aec-ba5f-32ca554a1dde" providerId="AD" clId="Web-{00000000-0000-0000-0000-000000000000}" dt="2026-10-03T21:01:43.271" v="2" actId="20577"/>
      <pc:docMkLst>
        <pc:docMk/>
      </pc:docMkLst>
      <pc:sldChg chg="modSp">
        <pc:chgData name="Puneet Kumar - Chaucer" userId="S::puneet.kumar@chaucergroup.com::090bd223-6cda-4aec-ba5f-32ca554a1dde" providerId="AD" clId="Web-{00000000-0000-0000-0000-000000000000}" dt="2026-10-03T21:01:43.271" v="2" actId="20577"/>
        <pc:sldMkLst>
          <pc:docMk/>
          <pc:sldMk cId="0" sldId="295"/>
        </pc:sldMkLst>
        <pc:spChg chg="mod">
          <ac:chgData name="Puneet Kumar - Chaucer" userId="S::puneet.kumar@chaucergroup.com::090bd223-6cda-4aec-ba5f-32ca554a1dde" providerId="AD" clId="Web-{00000000-0000-0000-0000-000000000000}" dt="2026-10-03T21:01:43.271" v="2" actId="20577"/>
          <ac:spMkLst>
            <pc:docMk/>
            <pc:sldMk cId="0" sldId="295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00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the full evaluation panel a single reference architecture before drilling into access models and security in later slides.
Mermaid diagram code (portable source of truth):
graph TD
  A[Consumers: Web/Mobile/Partner/Internal] --&gt; B[Edge: Front Door + WAF]
  B --&gt; C[Azure API Management: Gateway/Policies/Dev Portal]
  C --&gt; D[Backends: AKS/Core Banking/SaaS]
  E[Entra ID] --- C
  F[Key Vault] --- C
Draw.io: recreate using the swimlane structure above — one vertical/horizontal swimlane per layer, standard Azure stencil shapes, arrows following the connections shown. 4 horizontal swimlanes top-to-bottom (Consumers, Edge Security, APIM, Backends), Entra ID and Key Vault as side-attached shapes connected to the APIM lane.
Visio: use the Azure / Cloud template stencil set; map one Visio shape per box on this slide, grouped by layer as swimlanes, with directional connectors matching the arrows shown.
PowerPoint editable layout: this slide IS the shape-by-shape layout — every box and arrow is a native, ungrouped PowerPoint shape (no image) and can be repositioned, relabeled, or restyled directly.
Azure icon mapping: Front Door icon, WAF icon, API Management icon, AKS icon, Entra ID icon, Key Vault icon — all from the official Azure Architecture Icons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governance is built into the process, not bolted on afterward — directly answers the RFP's lifecycle governance requirement.
Mermaid diagram code (portable source of truth):
graph LR
  A[Design] --&gt; B[Develop] --&gt; C[Test] --&gt; D[Publish] --&gt; E[Version] --&gt; F[Monitor] --&gt; G[Retire]
  F -.feedback.-&gt; A
Draw.io: recreate using the swimlane structure above — one vertical/horizontal swimlane per layer, standard Azure stencil shapes, arrows following the connections shown. Single horizontal swimlane of 7 process boxes with a dashed feedback connector from Monitor back to Design.
Visio: use the Azure / Cloud template stencil set; map one Visio shape per box on this slide, grouped by layer as swimlanes, with directional connectors matching the arrows shown.
PowerPoint editable layout: this slide IS the shape-by-shape layout — every box and arrow is a native, ungrouped PowerPoint shape (no image) and can be repositioned, relabeled, or restyled directly.
Azure icon mapping: API Management, Azure DevOps, Azure Monitor icons placed above the relevant stage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Answer the RFP's internal API access requirement directly and show enforced network isolation.
Mermaid diagram code (portable source of truth):
graph LR
  A[Internal Applications] --&gt; B[APIM - Internal VNet Mode]
  B --&gt; C[Internal Microservices]
  D[Entra ID] --&gt; B
Draw.io: recreate using the swimlane structure above — one vertical/horizontal swimlane per layer, standard Azure stencil shapes, arrows following the connections shown. Single horizontal lane: app -&gt; APIM -&gt; microservices, with Entra ID box above APIM connected downward.
Visio: use the Azure / Cloud template stencil set; map one Visio shape per box on this slide, grouped by layer as swimlanes, with directional connectors matching the arrows shown.
PowerPoint editable layout: this slide IS the shape-by-shape layout — every box and arrow is a native, ungrouped PowerPoint shape (no image) and can be repositioned, relabeled, or restyled directly.
Azure icon mapping: App Service icon, API Management (internal) icon, AKS icon, Entra ID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Demonstrate defense-in-depth for internet-facing APIs — directly supports the security scoring criteria.
Mermaid diagram code (portable source of truth):
graph LR
  A[Public Clients] --&gt; B[Front Door + WAF] --&gt; C[APIM External Gateway] --&gt; D[Backend via Private Link]
Draw.io: recreate using the swimlane structure above — one vertical/horizontal swimlane per layer, standard Azure stencil shapes, arrows following the connections shown. Four-box horizontal chain with annotation labels beneath the connectors describing the control enforced at each hop.
Visio: use the Azure / Cloud template stencil set; map one Visio shape per box on this slide, grouped by layer as swimlanes, with directional connectors matching the arrows shown.
PowerPoint editable layout: this slide IS the shape-by-shape layout — every box and arrow is a native, ungrouped PowerPoint shape (no image) and can be repositioned, relabeled, or restyled directly.
Azure icon mapping: Front Door, WAF, API Management, Private Link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frame the security section before diving into OAuth/JWT/Entra/Key Vault mechanics. RFP scoring impact: this slide is the anchor for the Security Architecture scoring section — evaluators often look for a strategy statement before implementation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security architects a precise, step-numbered OAuth flow to validate against their own standards.
Mermaid diagram code (portable source of truth):
sequenceDiagram
  Client-&gt;&gt;EntraID: Request access token
  EntraID--&gt;&gt;Client: Issue token
  Client-&gt;&gt;APIM: Call API with bearer token
  APIM-&gt;&gt;APIM: Validate token &amp; claims
  APIM-&gt;&gt;Backend: Forward request
Draw.io: recreate as a left-to-right sequence using standard Azure stencils, one shape per step matching the numbered boxes shown. Five sequential boxes left-to-right, numbered 1-5, arrows between each.
Visio: use the Azure template stencil set; one Visio shape per numbered step, connectors in the same left-to-right order.
PowerPoint editable layout: every numbered box and arrow on this slide is a native, ungrouped shape — reposition or relabel directly, no image.
Azure icon mapping: Microsoft Entra ID icon, API Management icon, generic client/app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a concrete answer to the JWT validation requirement with the specific claims checked.
Mermaid diagram code (portable source of truth):
graph LR
  A[Incoming JWT] --&gt; B[APIM validate-jwt Policy]
  B --&gt; C[Backend Service]
  B --&gt; D[Check: Signature/JWKS]
  B --&gt; E[Check: Issuer/Audience]
  B --&gt; F[Check: Expiry/NBF]
  B --&gt; G[Check: Claims/Scopes]
Draw.io: recreate as a left-to-right sequence using standard Azure stencils, one shape per step matching the numbered boxes shown. Main horizontal chain plus four validation-check boxes fanning below the APIM policy box.
Visio: use the Azure template stencil set; one Visio shape per numbered step, connectors in the same left-to-right order.
PowerPoint editable layout: every numbered box and arrow on this slide is a native, ungrouped shape — reposition or relabel directly, no image.
Azure icon mapping: API Management policy icon, Entra ID (JWKS) icon, lock/shield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Entra ID as the identity hub for both consumer-facing and operational access — a common evaluator question.
Mermaid diagram code (portable source of truth):
graph TD
  A[Microsoft Entra ID] --- B[App Registrations]
  A --- C[Managed Identity to Key Vault]
  A --- D[Conditional Access for Admins]
  A --- E[Token Issuance OAuth/OIDC]
Draw.io: recreate as a left-to-right sequence using standard Azure stencils, one shape per step matching the numbered boxes shown. Central Entra ID box with four spoke boxes connected by simple lines (hub-and-spoke).
Visio: use the Azure template stencil set; one Visio shape per numbered step, connectors in the same left-to-right order.
PowerPoint editable layout: every numbered box and arrow on this slide is a native, ungrouped shape — reposition or relabel directly, no image.
Azure icon mapping: Microsoft Entra ID icon at hub; App Registration, Managed Identity, Conditional Access icons at spokes.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Directly answers the RFP's secrets/certificate management requirement and reinforces the 'Why Key Vault' decision.
Mermaid diagram code (portable source of truth):
graph LR
  A[Azure Key Vault] --&gt; B[APIM Managed Identity] --&gt; C[Named Values / Certificates in APIM]
  A --&gt; D[Backend Keys]
  A --&gt; E[TLS Certs]
  A --&gt; F[Partner Secrets]
  A --&gt; G[Signing Keys]
Draw.io: recreate as a left-to-right sequence using standard Azure stencils, one shape per step matching the numbered boxes shown. Main horizontal chain, four secret-type boxes fanning beneath Key Vault.
Visio: use the Azure template stencil set; one Visio shape per numbered step, connectors in the same left-to-right order.
PowerPoint editable layout: every numbered box and arrow on this slide is a native, ungrouped shape — reposition or relabel directly, no image.
Azure icon mapping: Key Vault icon, Managed Identity icon, Certificate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close the security section with the unifying principle (Zero Trust) that ties OAuth, JWT, Entra ID, and Key Vault together. RFP scoring impact: security architects on the panel typically look for this framing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governance is a small, empowered function backed by automated enforcement rather than a bureaucratic gate.
Mermaid diagram code (portable source of truth):
graph TD
  A[API Governance Board] --- B[Naming &amp; Design Standards]
  A --- C[Security Policy Baseline]
  A --- D[Lifecycle &amp; Versioning Rules]
  A --- E[Onboarding &amp; Product Catalog]
Draw.io: recreate as a hub-and-spoke diagram — central governance board shape with spoke shapes for each function, connected by simple lines. Central board box, four spoke boxes, radial connectors.
Visio: use a basic flowchart/org-chart stencil; one shape per spoke, radial connectors to the hub.
PowerPoint editable layout: hub and spoke boxes are native ungrouped shapes — no image.
Azure icon mapping: Azure Policy icon, API Management (Products) icon, generic governance/committee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unified observability across gateway, edge, and backend — a frequent evaluator concern for hybrid platforms.
Mermaid diagram code (portable source of truth):
graph LR
  A[APIM Gateway Metrics] --&gt; D[Azure Monitor / Log Analytics]
  B[Application Insights] --&gt; D
  C[Front Door / WAF] --&gt; D
  D --&gt; E[Dashboards &amp; Workbooks]
Draw.io: recreate as a left-to-right pipeline using standard Azure stencils matching the boxes shown. Three source boxes on the left converging into a central Azure Monitor box, then out to a dashboards box on the right.
Visio: use the Azure template stencil set with matching shapes and connector order.
PowerPoint editable layout: every box and arrow is a native ungrouped shape — no image.
Azure icon mapping: Azure Monitor, Application Insights, Log Analytics, Front Door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Directly support the 'Why APIOps' architecture decision with a concrete pipeline diagram.
Mermaid diagram code (portable source of truth):
graph LR
  A[Git Repo] --&gt; B[Pull Request + Review] --&gt; C[CI Build + Policy Lint] --&gt; D[Automated Tests] --&gt; E[CD Release to APIM]
Draw.io: recreate as a left-to-right pipeline using standard Azure DevOps / Git stencils matching the boxes shown. Five sequential boxes numbered 1-5 with arrows.
Visio: use the Azure DevOps template stencil set with matching shapes and connector order.
PowerPoint editable layout: every box and arrow is a native ungrouped shape — no image.
Azure icon mapping: Azure Repos, Azure Pipelines (build/release), API Management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a simple, defensible environment model that maps directly to change-management expectations in regulated banking IT.
Mermaid diagram code (portable source of truth):
graph LR
  A[Dev] --&gt; B[Test/QA] --&gt; C[UAT] --&gt; D[Production]
Draw.io: recreate as a left-to-right pipeline using standard Azure DevOps / Git stencils matching the boxes shown. Four sequential environment boxes with arrows; annotate each with its promotion gate.
Visio: use the Azure DevOps template stencil set with matching shapes and connector order.
PowerPoint editable layout: every box and arrow is a native ungrouped shape — no image.
Azure icon mapping: API Management (x4 instances/workspaces), Azure Pipelines environments 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7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0464" y="40493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Model: Internal and External, Security Boundary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3912" y="73802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boundary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01192" y="1017932"/>
            <a:ext cx="0" cy="3029486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238152" y="40450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crossed only at the edge, by external traffic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0839" y="1438253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consumer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client / partner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52251" y="1327225"/>
            <a:ext cx="2114824" cy="785129"/>
          </a:xfrm>
          <a:prstGeom prst="roundRect">
            <a:avLst>
              <a:gd name="adj" fmla="val 9317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termination, OWASP rules,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IP policy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3545" y="1723755"/>
            <a:ext cx="52870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873429" y="1866505"/>
            <a:ext cx="2719060" cy="1665424"/>
          </a:xfrm>
          <a:prstGeom prst="roundRect">
            <a:avLst>
              <a:gd name="adj" fmla="val 4392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VNet mode — one instance, no public endpoint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calls: OAuth 2.0 token validated at the gateway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calls: Entra ID client credentials flow validated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67076" y="1779269"/>
            <a:ext cx="521153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8229" y="1779269"/>
            <a:ext cx="0" cy="60272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488229" y="2381994"/>
            <a:ext cx="385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909377" y="14200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52251" y="3024372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application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inside the VNet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4958" y="3309873"/>
            <a:ext cx="6420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5306958" y="3024372"/>
            <a:ext cx="0" cy="285501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306958" y="3024372"/>
            <a:ext cx="566471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486412" y="3291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no edge 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96724" y="2270965"/>
            <a:ext cx="2114824" cy="864434"/>
          </a:xfrm>
          <a:prstGeom prst="roundRect">
            <a:avLst>
              <a:gd name="adj" fmla="val 8462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integration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Private Endpoint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2489" y="2699217"/>
            <a:ext cx="60423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10839" y="4769102"/>
            <a:ext cx="10800710" cy="1260964"/>
          </a:xfrm>
          <a:prstGeom prst="roundRect">
            <a:avLst>
              <a:gd name="adj" fmla="val 8702"/>
            </a:avLst>
          </a:prstGeom>
          <a:solidFill>
            <a:srgbClr val="FFFFFF">
              <a:alpha val="0"/>
            </a:srgbClr>
          </a:solidFill>
          <a:ln w="15875">
            <a:solidFill>
              <a:srgbClr val="9AA3B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737427" y="486192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every layer, inside the boundary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024488" y="3500207"/>
            <a:ext cx="1208471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232959" y="3500207"/>
            <a:ext cx="2265883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 flipH="1">
            <a:off x="6024488" y="3135400"/>
            <a:ext cx="4229649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 flipH="1">
            <a:off x="9498842" y="3135400"/>
            <a:ext cx="755294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40487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for every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14842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for every layer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5158" y="58247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 consumers: approval process, then runtime flow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84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Approval process (one-time)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5158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cannot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OAuth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91410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83006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8090" y="1935785"/>
            <a:ext cx="24688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8497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9300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31659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4791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586570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/ API key,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8990" y="2422246"/>
            <a:ext cx="0" cy="74706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311189" y="266730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approved, at runtime: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796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Runtime ingress flow (every call)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5158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32558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570732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0F2A5C"/>
          </a:solidFill>
          <a:ln w="15875">
            <a:solidFill>
              <a:srgbClr val="0F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19902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58077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 gateway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cert / key (not JWT)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07247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45422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Private Link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486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 as an OAuth consumer, but APIM validates a client certificate (mTLS) or API key instead of a JWT.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825142" y="1011875"/>
            <a:ext cx="3433389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flipH="1">
            <a:off x="5634899" y="1011875"/>
            <a:ext cx="47622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33718" y="1011875"/>
            <a:ext cx="291876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779362" y="1011875"/>
            <a:ext cx="2649931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flipH="1">
            <a:off x="4321454" y="2338487"/>
            <a:ext cx="576072" cy="656173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flipH="1">
            <a:off x="2170786" y="2338487"/>
            <a:ext cx="2073859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11856" y="2338487"/>
            <a:ext cx="860268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72271" y="2317090"/>
            <a:ext cx="2557760" cy="834481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449848" y="2515149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40947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540947" y="5127224"/>
            <a:ext cx="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87043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787043" y="5127224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713488" y="3650833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713488" y="5041636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8103" y="377099"/>
            <a:ext cx="2734422" cy="634776"/>
          </a:xfrm>
          <a:prstGeom prst="roundRect">
            <a:avLst>
              <a:gd name="adj" fmla="val 21608"/>
            </a:avLst>
          </a:prstGeom>
          <a:solidFill>
            <a:srgbClr val="1F2761"/>
          </a:solidFill>
          <a:ln>
            <a:solidFill>
              <a:srgbClr val="1F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Instance (Premium)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the Platform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7111" y="1532534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Groups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(Admins, Claims-Team,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Partner-XYZ-ReadOnly)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7581" y="2994660"/>
            <a:ext cx="2281245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(mapped from Entra ID,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accounts)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9" y="3151571"/>
            <a:ext cx="1897197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Claims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5341" y="3151571"/>
            <a:ext cx="290340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Partner and Broker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15259" y="3151571"/>
            <a:ext cx="218139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Policy 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208" y="4321272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Broker,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Core Systems)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9389" y="4321272"/>
            <a:ext cx="2135307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Market,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Partner)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3368" y="4406859"/>
            <a:ext cx="1920240" cy="634776"/>
          </a:xfrm>
          <a:prstGeom prst="roundRect">
            <a:avLst>
              <a:gd name="adj" fmla="val 17286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Internal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293" y="5647883"/>
            <a:ext cx="2142988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per consuming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or partner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65032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99159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792" y="1071220"/>
            <a:ext cx="11087649" cy="4195724"/>
          </a:xfrm>
          <a:prstGeom prst="roundRect">
            <a:avLst>
              <a:gd name="adj" fmla="val 2615"/>
            </a:avLst>
          </a:prstGeom>
          <a:solidFill>
            <a:srgbClr val="FFFFFF">
              <a:alpha val="0"/>
            </a:srgbClr>
          </a:solidFill>
          <a:ln w="15875">
            <a:solidFill>
              <a:srgbClr val="A0A0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4291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values</a:t>
            </a:r>
            <a:endParaRPr lang="en-US" sz="1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4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and secrets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92784" y="2122780"/>
            <a:ext cx="2515332" cy="1251356"/>
          </a:xfrm>
          <a:prstGeom prst="roundRect">
            <a:avLst>
              <a:gd name="adj" fmla="val 5846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4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APIs + policy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12864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4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membership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41357" y="2122780"/>
            <a:ext cx="1337584" cy="1251356"/>
          </a:xfrm>
          <a:prstGeom prst="roundRect">
            <a:avLst>
              <a:gd name="adj" fmla="val 5846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4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803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297509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811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317590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by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36608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9346082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6243" y="3374136"/>
            <a:ext cx="0" cy="588874"/>
          </a:xfrm>
          <a:prstGeom prst="line">
            <a:avLst/>
          </a:prstGeom>
          <a:noFill/>
          <a:ln w="12700">
            <a:solidFill>
              <a:srgbClr val="A33B62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24534" y="3963010"/>
            <a:ext cx="2851831" cy="883310"/>
          </a:xfrm>
          <a:prstGeom prst="roundRect">
            <a:avLst>
              <a:gd name="adj" fmla="val 8282"/>
            </a:avLst>
          </a:prstGeom>
          <a:solidFill>
            <a:srgbClr val="FBE9EF"/>
          </a:solidFill>
          <a:ln w="15875">
            <a:solidFill>
              <a:srgbClr val="A33B6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5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dirty="0">
                <a:solidFill>
                  <a:srgbClr val="7A2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only, enforces nothing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" y="5455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Products, Groups  enforce anything. Tags help people find things; they are not a security control.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7931" y="8503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APIOps: configuration as code, promoted through environments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17931" y="1847088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change APIs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3971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A5C"/>
          </a:solidFill>
          <a:ln w="15875">
            <a:solidFill>
              <a:srgbClr val="0F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repository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(APIs, policies, products)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77483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-&gt; UAT -&gt; Prod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config promoted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each environment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30995" y="1847088"/>
            <a:ext cx="1911096" cy="1463040"/>
          </a:xfrm>
          <a:prstGeom prst="roundRect">
            <a:avLst>
              <a:gd name="adj" fmla="val 5000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deploy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55291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578151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08803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531663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62315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17931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process: 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user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/ market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46888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2468880" y="740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328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394960" y="740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23544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38988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never traverses the Palo Alto. Front Door WAF inspects; APIM accepts traffic only from the Front Door Private Link origin.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on-prem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peering / ExpressRoute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66090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246888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policy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266090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35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traffic stays private and does not go through the Palo Alto. Every internal call is still authenticated and policy-checked at APIM.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/ 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430682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468880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0.0.0.0/0 UDR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BECEC"/>
          </a:solidFill>
          <a:ln w="15875">
            <a:solidFill>
              <a:srgbClr val="B5525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1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7A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+ URL filter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94960" y="430682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394960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SaaS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Salesforce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817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UDR (0.0.0.0/0 to the Palo Alto internal LB) forces all outbound data-plane traffic through the firewall. Secrets stay in Key Vault.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595274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2468880" y="5678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backend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/ PaaS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5952744"/>
            <a:ext cx="914400" cy="0"/>
          </a:xfrm>
          <a:prstGeom prst="line">
            <a:avLst/>
          </a:prstGeom>
          <a:noFill/>
          <a:ln w="19050">
            <a:solidFill>
              <a:srgbClr val="B5525A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5394960" y="5678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5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/32 UDR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BECEC"/>
          </a:solidFill>
          <a:ln w="15875">
            <a:solidFill>
              <a:srgbClr val="B5525A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1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(optional)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7A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policy needs it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3276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traffic never leaves Azure, so it does not need the firewall; NSG + Private Link secure it. Force to firewall only if policy demands.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D4F0752-1C7E-D46A-6755-42C211F242A8}"/>
              </a:ext>
            </a:extLst>
          </p:cNvPr>
          <p:cNvSpPr/>
          <p:nvPr/>
        </p:nvSpPr>
        <p:spPr>
          <a:xfrm>
            <a:off x="9457640" y="2935224"/>
            <a:ext cx="2023160" cy="336499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Azure APIM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governed gateway sits between every consumer and every backend — internal, external, or partner.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625535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96596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9544" y="196596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26864" y="196596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196596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44184" y="196596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System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61504" y="1965960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15688" y="2788920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8625535" cy="960120"/>
          </a:xfrm>
          <a:prstGeom prst="roundRect">
            <a:avLst>
              <a:gd name="adj" fmla="val 5714"/>
            </a:avLst>
          </a:prstGeom>
          <a:solidFill>
            <a:srgbClr val="0FB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9992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Security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136392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7FBFA"/>
          </a:solidFill>
          <a:ln w="15875">
            <a:solidFill>
              <a:srgbClr val="0FB5AE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9544" y="313639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3136392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7FBFA"/>
          </a:solidFill>
          <a:ln w="15875">
            <a:solidFill>
              <a:srgbClr val="0FB5AE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84064" y="313639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3136392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7FBFA"/>
          </a:solidFill>
          <a:ln w="15875">
            <a:solidFill>
              <a:srgbClr val="0FB5AE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58584" y="313639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Public Endpoints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5688" y="3959352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920" y="4169664"/>
            <a:ext cx="8625535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16966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4306824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9544" y="4306824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4306824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26864" y="4306824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4306824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44184" y="4306824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4306824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461504" y="4306824"/>
            <a:ext cx="1170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APIs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5688" y="5129784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2920" y="5340096"/>
            <a:ext cx="8625535" cy="960120"/>
          </a:xfrm>
          <a:prstGeom prst="roundRect">
            <a:avLst>
              <a:gd name="adj" fmla="val 5714"/>
            </a:avLst>
          </a:prstGeom>
          <a:solidFill>
            <a:srgbClr val="4A55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0080" y="534009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54680" y="5477256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9544" y="547725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5477256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84064" y="547725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5477256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58584" y="547725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 APIs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646920" y="3346704"/>
            <a:ext cx="1669084" cy="960120"/>
          </a:xfrm>
          <a:prstGeom prst="roundRect">
            <a:avLst>
              <a:gd name="adj" fmla="val 5714"/>
            </a:avLst>
          </a:prstGeom>
          <a:solidFill>
            <a:schemeClr val="accent5">
              <a:lumMod val="40000"/>
              <a:lumOff val="60000"/>
            </a:schemeClr>
          </a:solidFill>
          <a:ln w="15875">
            <a:solidFill>
              <a:schemeClr val="tx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393326" y="3355848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OAuth 2.0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68408" y="4997196"/>
            <a:ext cx="1630375" cy="960120"/>
          </a:xfrm>
          <a:prstGeom prst="roundRect">
            <a:avLst>
              <a:gd name="adj" fmla="val 5714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635718" y="5031486"/>
            <a:ext cx="16491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Certificates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Lifecycle Management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moves through the same governed lifecycle, from design to retirement, with no manual hand-offs.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4420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44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02509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02509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1009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85873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8329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30598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3059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59098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13962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76418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58688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5868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87188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42052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4508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586777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86777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15277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70141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32597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214866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21486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43366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698230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60686" y="3200400"/>
            <a:ext cx="210769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842955" y="224028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842955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71455" y="27432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326319" y="274320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11580" y="4206240"/>
            <a:ext cx="9768535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78"/>
                </a:solidFill>
              </a:rPr>
              <a:t>Feedback loop: usage analytics inform the next design cycle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API Access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consumers reach services only through APIM's internal VNet mode — no direct backend access.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1945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Applications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60604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703320" y="21945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58184" y="21945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(Internal VNet Mode)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60604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03720" y="21945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58584" y="21945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Microservices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356616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58184" y="356616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(client credentials)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017520"/>
            <a:ext cx="0" cy="54864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rule:  </a:t>
            </a: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service is reachable except through the APIM gateway; network security groups block all other paths.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 Access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consumers are inspected, authenticated, and rate-limited before ever reaching a backend service.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9072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194560"/>
            <a:ext cx="2480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Clients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93644" y="260604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67964" y="2194560"/>
            <a:ext cx="259072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2828" y="2194560"/>
            <a:ext cx="2480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+ WAF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58688" y="260604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33008" y="2194560"/>
            <a:ext cx="2590724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87872" y="2194560"/>
            <a:ext cx="2480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(External)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23731" y="260604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098051" y="2194560"/>
            <a:ext cx="259072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2915" y="2194560"/>
            <a:ext cx="2480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via Private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76524" y="3154680"/>
            <a:ext cx="2956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+ OWASP rules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41568" y="3154680"/>
            <a:ext cx="2956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rate limiting + IP policies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6611" y="3154680"/>
            <a:ext cx="2956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 on backend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Security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426464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enforced in layers at the API gateway — never assumed at the backend — consistent with Zero Trust principles.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556434" cy="3566160"/>
          </a:xfrm>
          <a:prstGeom prst="roundRect">
            <a:avLst>
              <a:gd name="adj" fmla="val 286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61097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apim_rfp/icon_cache/FaUserShield_1E2761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518" y="27724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83280"/>
            <a:ext cx="2190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Identity-First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" y="3931920"/>
            <a:ext cx="21540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authenticated via Entra ID and OAuth 2.0 before it reaches a policy or backend.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79394" y="2331720"/>
            <a:ext cx="2556434" cy="3566160"/>
          </a:xfrm>
          <a:prstGeom prst="roundRect">
            <a:avLst>
              <a:gd name="adj" fmla="val 286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337571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apim_rfp/icon_cache/FaShieldAlt_1E2761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992" y="27724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2274" y="3383280"/>
            <a:ext cx="2190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0562" y="3931920"/>
            <a:ext cx="21540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mTLS, IP filtering, and rate limiting are layered at the edge and gateway, not relied on individually.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5868" y="2331720"/>
            <a:ext cx="2556434" cy="3566160"/>
          </a:xfrm>
          <a:prstGeom prst="roundRect">
            <a:avLst>
              <a:gd name="adj" fmla="val 286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214044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apim_rfp/icon_cache/FaKey_1E2761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465" y="27724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8748" y="3383280"/>
            <a:ext cx="2190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Secrets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57036" y="3931920"/>
            <a:ext cx="21540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stores certificates and secrets; APIM never holds credentials in plain policy XML.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32341" y="2331720"/>
            <a:ext cx="2556434" cy="3566160"/>
          </a:xfrm>
          <a:prstGeom prst="roundRect">
            <a:avLst>
              <a:gd name="adj" fmla="val 286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0090518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apim_rfp/icon_cache/FaSearch_1E2761_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6939" y="277246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5221" y="3383280"/>
            <a:ext cx="2190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Verification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33509" y="3931920"/>
            <a:ext cx="21540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inspected and logged — trust is never implicit, even for internal traffic.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 2.0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and authorization code flows are enforced at the gateway using tokens issued by Entra ID.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487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3714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3714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07894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62758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&amp; issues token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3854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58688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58688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12868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67732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bearer token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78828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63661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63661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17841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72705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validates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claims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83801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568635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68635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22815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777679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forwarded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backend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7490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78"/>
                </a:solidFill>
              </a:rPr>
              <a:t>Backend never sees or validates raw credentials — only a pre-verified, policy-enforced token.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Validation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validates signature, issuer, audience, and expiry on every request using a validate-jwt policy — before any backend call.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10312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(Bearer JWT)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2514600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validate-jwt Policy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2514600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03720" y="210312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58584" y="21031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3474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83864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(JWKS from Entra ID)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3474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46904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&amp; Audience match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9000" y="43434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83864" y="434340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(exp) &amp; not-before (nbf)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43434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46904" y="434340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claims / scopes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0" cy="45720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53035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78"/>
                </a:solidFill>
              </a:rPr>
              <a:t>On failure: request is rejected with 401 at the gateway — never reaches the backend.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APIM + Entra ID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is the single identity provider for both API consumers and platform administrators.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63240" y="2331720"/>
            <a:ext cx="1752448" cy="1234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flipV="1">
            <a:off x="3063240" y="3566160"/>
            <a:ext cx="1752448" cy="141732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 flipV="1">
            <a:off x="7376008" y="2331720"/>
            <a:ext cx="1752448" cy="1234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76008" y="3566160"/>
            <a:ext cx="1752448" cy="141732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15688" y="31089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70552" y="310896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57784" y="192024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 apps)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" y="457200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(APIM to Key Vault)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28455" y="192024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83319" y="192024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/ DevOps)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28455" y="457200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83319" y="457200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(OAuth 2.0 / OIDC)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and Certificates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is the single source of truth for every secret, certificate, and key APIM depends 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1945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651760"/>
            <a:ext cx="914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6052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15384" y="21945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Managed Identity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2651760"/>
            <a:ext cx="914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818120" y="2194560"/>
            <a:ext cx="38706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72984" y="2194560"/>
            <a:ext cx="37609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Values &amp; TLS Certificates in APIM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2613584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" y="3657600"/>
            <a:ext cx="250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keys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9384" y="3657600"/>
            <a:ext cx="2613584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54248" y="3657600"/>
            <a:ext cx="250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mTLS certificates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5848" y="3657600"/>
            <a:ext cx="2613584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50712" y="3657600"/>
            <a:ext cx="250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client secrets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92311" y="3657600"/>
            <a:ext cx="2613584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5875">
            <a:solidFill>
              <a:srgbClr val="F5A623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47175" y="3657600"/>
            <a:ext cx="250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keys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78"/>
                </a:solidFill>
              </a:rPr>
              <a:t>Automatic certificate rotation — no manual redeploy required when secrets expire.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API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426464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 — applied consistently whether a call originates inside or outside Chaucer's 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40509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apim_rfp/icon_cache/FaNetworkWired_1E2761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930" y="27724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8328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" y="3931920"/>
            <a:ext cx="311292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authenticated and authorized regardless of network origin — internal traffic is not implicitly trusted.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233172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775808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apim_rfp/icon_cache/FaLock_1E2761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27724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1098" y="338328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39386" y="3931920"/>
            <a:ext cx="311292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subscriptions, and scopes grant only the minimum access each consumer needs.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3517" y="233172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7F9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611106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apim_rfp/icon_cache/FaExclamationTriangle_1E2761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7527" y="27724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6397" y="338328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74685" y="3931920"/>
            <a:ext cx="311292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rate limiting, and anomaly alerting limit blast radius if a credential is compromised.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Governance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governance board sets standards; automation enforces them so governance never slows delivery.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54680" y="2304288"/>
            <a:ext cx="1569568" cy="1261872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flipV="1">
            <a:off x="3154680" y="3566160"/>
            <a:ext cx="1569568" cy="1435608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 flipV="1">
            <a:off x="7467448" y="2304288"/>
            <a:ext cx="1569568" cy="1261872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67448" y="3566160"/>
            <a:ext cx="1569568" cy="1435608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24248" y="31089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79112" y="31089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Governance 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57784" y="192024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&amp; Design Standards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" y="46177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37015" y="19202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91879" y="192024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Versioning Rules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37015" y="46177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091879" y="46177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Product Catalog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gateway, policy, and backend call feeds a single Azure Monitor pane — no blind spots across environments.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19456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31546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7784" y="411480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/ WAF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2578607"/>
            <a:ext cx="768096" cy="914399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11880" y="3538728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 flipV="1">
            <a:off x="3611880" y="3675886"/>
            <a:ext cx="768096" cy="82296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34840" y="301752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9704" y="301752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/ Log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352044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83880" y="3017520"/>
            <a:ext cx="3504895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38744" y="3017520"/>
            <a:ext cx="33951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Workbooks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B65C7863-E3E7-86F5-41B5-060D7A927875}"/>
              </a:ext>
            </a:extLst>
          </p:cNvPr>
          <p:cNvSpPr/>
          <p:nvPr/>
        </p:nvSpPr>
        <p:spPr>
          <a:xfrm>
            <a:off x="543560" y="52933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A8E302B-9BC1-568E-1D3A-131010DD5FBB}"/>
              </a:ext>
            </a:extLst>
          </p:cNvPr>
          <p:cNvSpPr/>
          <p:nvPr/>
        </p:nvSpPr>
        <p:spPr>
          <a:xfrm>
            <a:off x="598424" y="529336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0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6EF8BCDB-C7F2-4053-F246-E350C74659F7}"/>
              </a:ext>
            </a:extLst>
          </p:cNvPr>
          <p:cNvSpPr/>
          <p:nvPr/>
        </p:nvSpPr>
        <p:spPr>
          <a:xfrm flipV="1">
            <a:off x="3652520" y="3877053"/>
            <a:ext cx="782320" cy="1866397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APIM CI/CD Model (APIOps)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APIM configuration change is version-controlled, reviewed, and deployed automatically — never edited by hand in production.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487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(APIM config as code)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3714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3714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07894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62758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854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58688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58688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12868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67732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Policy Lint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78828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63661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63661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17841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72705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(contract/security)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83801" y="2880360"/>
            <a:ext cx="33901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568635" y="18745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68635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22815" y="237744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777679" y="237744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Release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APIM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7490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78"/>
                </a:solidFill>
              </a:rPr>
              <a:t>APIOps treats API definitions, policies, and products as code — the same rigor as application software.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Promotion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promoted the same way through every environment — no environment is a special case.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90724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" y="2377440"/>
            <a:ext cx="2480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93644" y="288036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67964" y="2377440"/>
            <a:ext cx="2590724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2828" y="2377440"/>
            <a:ext cx="2480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5"/>
                </a:solidFill>
                <a:latin typeface="Calibri"/>
                <a:ea typeface="Calibri"/>
                <a:cs typeface="Calibri"/>
              </a:rPr>
              <a:t>SIT</a:t>
            </a:r>
            <a:endParaRPr lang="en-US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58688" y="288036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33008" y="2377440"/>
            <a:ext cx="2590724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87872" y="2377440"/>
            <a:ext cx="2480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sign-off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23731" y="2880360"/>
            <a:ext cx="2743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098051" y="2377440"/>
            <a:ext cx="2590724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2915" y="2377440"/>
            <a:ext cx="2480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+ change window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45175" y="6492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 Group  |  Azure API Management RFP Response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2152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0464" y="40493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Model: Internal and External, Security Boundary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3912" y="73802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boundary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01192" y="1017932"/>
            <a:ext cx="0" cy="3029486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238152" y="40450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crossed only at the edge, by external traffic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0839" y="1438253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consumer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client / partner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52251" y="1327225"/>
            <a:ext cx="2114824" cy="785129"/>
          </a:xfrm>
          <a:prstGeom prst="roundRect">
            <a:avLst>
              <a:gd name="adj" fmla="val 9317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termination, OWASP rules,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IP policy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3545" y="1723755"/>
            <a:ext cx="52870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873429" y="1866505"/>
            <a:ext cx="2719060" cy="1665424"/>
          </a:xfrm>
          <a:prstGeom prst="roundRect">
            <a:avLst>
              <a:gd name="adj" fmla="val 4392"/>
            </a:avLst>
          </a:prstGeom>
          <a:solidFill>
            <a:srgbClr val="EEEBFB"/>
          </a:solidFill>
          <a:ln w="15875">
            <a:solidFill>
              <a:srgbClr val="6A5AAE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VNet mode — one instance, no public endpoint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calls: OAuth 2.0 token validated at the gateway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calls: Entra ID client credentials flow validated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67076" y="1779269"/>
            <a:ext cx="521153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8229" y="1779269"/>
            <a:ext cx="0" cy="60272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488229" y="2381994"/>
            <a:ext cx="385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909377" y="14200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96724" y="1073446"/>
            <a:ext cx="2114825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application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inside the VNet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346348" y="185226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no edge 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96724" y="2270965"/>
            <a:ext cx="2114824" cy="864434"/>
          </a:xfrm>
          <a:prstGeom prst="roundRect">
            <a:avLst>
              <a:gd name="adj" fmla="val 8462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integration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Private Endpoint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2489" y="2699217"/>
            <a:ext cx="60423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10839" y="4769102"/>
            <a:ext cx="10800710" cy="1260964"/>
          </a:xfrm>
          <a:prstGeom prst="roundRect">
            <a:avLst>
              <a:gd name="adj" fmla="val 8702"/>
            </a:avLst>
          </a:prstGeom>
          <a:solidFill>
            <a:srgbClr val="FFFFFF">
              <a:alpha val="0"/>
            </a:srgbClr>
          </a:solidFill>
          <a:ln w="15875">
            <a:solidFill>
              <a:srgbClr val="9AA3B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737427" y="486192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every layer, inside the boundary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024488" y="3500207"/>
            <a:ext cx="1208471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232959" y="3500207"/>
            <a:ext cx="2265883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 flipH="1">
            <a:off x="6024488" y="3135400"/>
            <a:ext cx="4229649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 flipH="1">
            <a:off x="9498842" y="3135400"/>
            <a:ext cx="755294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40487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for every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14842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for every layer</a:t>
            </a:r>
            <a:endParaRPr lang="en-US" sz="14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395C9A6-FFB5-049C-B360-B30A210900CE}"/>
              </a:ext>
            </a:extLst>
          </p:cNvPr>
          <p:cNvCxnSpPr>
            <a:stCxn id="14" idx="2"/>
          </p:cNvCxnSpPr>
          <p:nvPr/>
        </p:nvCxnSpPr>
        <p:spPr>
          <a:xfrm rot="5400000">
            <a:off x="9149372" y="1079635"/>
            <a:ext cx="547882" cy="16616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5158" y="58247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 consumers: approval process, then runtime flow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84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Approval process (one-time)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5158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cannot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OAuth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91410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83006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8090" y="1935785"/>
            <a:ext cx="24688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8497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EEBFB"/>
          </a:solidFill>
          <a:ln w="15875">
            <a:solidFill>
              <a:srgbClr val="6A5AAE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9300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31659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4791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586570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/ API key,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796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Runtime ingress flow (every call)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5158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32558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570732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0F2A5C"/>
          </a:solidFill>
          <a:ln w="15875">
            <a:solidFill>
              <a:srgbClr val="0F2A5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19902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58077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 gateway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cert / key (not JWT)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07247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45422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Private Link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486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 as an OAuth consumer, but APIM validates a client certificate (mTLS) or API key instead of a JWT.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H="1">
            <a:off x="5634899" y="1011875"/>
            <a:ext cx="47622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33718" y="1011875"/>
            <a:ext cx="291876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779362" y="1011875"/>
            <a:ext cx="2649931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flipH="1">
            <a:off x="4321454" y="2338487"/>
            <a:ext cx="576072" cy="656173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11856" y="2338487"/>
            <a:ext cx="860268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72271" y="2317090"/>
            <a:ext cx="2557760" cy="834481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449848" y="2515149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7043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787043" y="5127224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713488" y="3650833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713488" y="5041636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8103" y="377099"/>
            <a:ext cx="2734422" cy="634776"/>
          </a:xfrm>
          <a:prstGeom prst="roundRect">
            <a:avLst>
              <a:gd name="adj" fmla="val 21608"/>
            </a:avLst>
          </a:prstGeom>
          <a:solidFill>
            <a:srgbClr val="1F2761"/>
          </a:solidFill>
          <a:ln>
            <a:solidFill>
              <a:srgbClr val="1F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Instance (Premium)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the Platform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7111" y="1532534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Groups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(Admins, Claims-Team,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Partner-XYZ-ReadOnly)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7581" y="2994660"/>
            <a:ext cx="2281245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(mapped from Entra ID,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accounts)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5341" y="3151571"/>
            <a:ext cx="290340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Partner and Broker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15259" y="3151571"/>
            <a:ext cx="218139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Policy Admin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9389" y="4321272"/>
            <a:ext cx="2135307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Market,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Partner)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3368" y="4406859"/>
            <a:ext cx="1920240" cy="634776"/>
          </a:xfrm>
          <a:prstGeom prst="roundRect">
            <a:avLst>
              <a:gd name="adj" fmla="val 17286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Internal Only)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65032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99159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7931" y="8503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APIOps: configuration as code, promoted through environments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17931" y="1847088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change APIs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3971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A5C"/>
          </a:solidFill>
          <a:ln w="15875">
            <a:solidFill>
              <a:srgbClr val="0F2A5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repository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(APIs, policies, products)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77483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-&gt; SIT-&gt; UAT -&gt; Prod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config promoted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each environment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30995" y="1847088"/>
            <a:ext cx="1911096" cy="1463040"/>
          </a:xfrm>
          <a:prstGeom prst="roundRect">
            <a:avLst>
              <a:gd name="adj" fmla="val 5000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deploy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55291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578151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08803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531663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62315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17931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process: 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 — APIM Service 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5.2 Logical Architecture Overview: logical components and how a request flows between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421" y="1631852"/>
            <a:ext cx="8567224" cy="664698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Platform + domain teams define APIs, products,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5781" y="2591972"/>
            <a:ext cx="2511083" cy="664698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0E3F6E"/>
                </a:solidFill>
                <a:latin typeface="Calibri"/>
              </a:rPr>
              <a:t>Developer portal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Microsoft-managed website</a:t>
            </a:r>
          </a:p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auto-generated, customisable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5418" y="2444261"/>
            <a:ext cx="2215661" cy="443132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Entra ID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Internal, corporate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25418" y="2710140"/>
            <a:ext cx="2215661" cy="443132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Entra ID B2B guest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External partner, own credentials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431323" y="2296550"/>
            <a:ext cx="147710" cy="273265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686864" y="2665827"/>
            <a:ext cx="694241" cy="221566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686864" y="2931707"/>
            <a:ext cx="694241" cy="10339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75781" y="3847513"/>
            <a:ext cx="1181686" cy="472674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Internal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5178" y="3847513"/>
            <a:ext cx="1181686" cy="472674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partner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developer (B2B guest)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5781" y="4807633"/>
            <a:ext cx="3101926" cy="664698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0F6E56"/>
                </a:solidFill>
                <a:latin typeface="Calibri"/>
              </a:rPr>
              <a:t>APIM gateway (data plane)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Runtime authN/authZ, rate limits,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policy enforcement on every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2406" y="4807633"/>
            <a:ext cx="1698673" cy="664698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0F6E56"/>
                </a:solidFill>
                <a:latin typeface="Calibri"/>
              </a:rPr>
              <a:t>Backend services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77707" y="5139983"/>
            <a:ext cx="620385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66624" y="4320188"/>
            <a:ext cx="0" cy="465289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22166" y="4320188"/>
            <a:ext cx="73855" cy="465289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66624" y="3271441"/>
            <a:ext cx="295422" cy="576072"/>
          </a:xfrm>
          <a:prstGeom prst="line">
            <a:avLst/>
          </a:prstGeom>
          <a:ln w="1778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800600" y="3271441"/>
            <a:ext cx="295421" cy="576072"/>
          </a:xfrm>
          <a:prstGeom prst="line">
            <a:avLst/>
          </a:prstGeom>
          <a:ln w="1778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0" y="852133714"/>
            <a:ext cx="12191695" cy="27432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100" b="0" i="1">
                <a:solidFill>
                  <a:srgbClr val="5A6B7D"/>
                </a:solidFill>
                <a:latin typeface="Calibri"/>
              </a:rPr>
              <a:t>The portal publishes and mediates discovery and subscription; the gateway enforces every call at runtime.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3a — API Access Model and Security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5.3: internal and external paths converging on the same internal-mode gateway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54249" y="1843186"/>
            <a:ext cx="0" cy="284098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201018098"/>
            <a:ext cx="3657600" cy="27432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Internet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3237298"/>
            <a:ext cx="4572000" cy="27432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crossed only at the edge, by external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484" y="2229916"/>
            <a:ext cx="1784908" cy="535472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External consumer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public client / partner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82393" y="2497653"/>
            <a:ext cx="1383304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2991" y="2125797"/>
            <a:ext cx="2082393" cy="743711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0E3F6E"/>
                </a:solidFill>
                <a:latin typeface="Calibri"/>
              </a:rPr>
              <a:t>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TLS termination, OWASP rules,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rate limiting, IP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2991" y="3717340"/>
            <a:ext cx="1784908" cy="535472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Internal application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already inside the VNet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2211" y="2676143"/>
            <a:ext cx="2528620" cy="1487423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2032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500" b="1" i="0">
                <a:solidFill>
                  <a:srgbClr val="4B3F8A"/>
                </a:solidFill>
                <a:latin typeface="Calibri"/>
              </a:rPr>
              <a:t>Azure API Management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Internal VNet mode — one instance, no public endpoint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External calls: OAuth 2.0 token validated at the gateway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Internal calls: Entra ID client credentials flow validated first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85385" y="2445593"/>
            <a:ext cx="937077" cy="676778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0" y="2200168"/>
            <a:ext cx="1338681" cy="223113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B3261E"/>
                </a:solidFill>
                <a:latin typeface="Calibri"/>
              </a:rPr>
              <a:t>Private Link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387900" y="3717340"/>
            <a:ext cx="1234562" cy="26773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1972" y="3776837"/>
            <a:ext cx="1636166" cy="223113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direct, no edge 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0172" y="3010814"/>
            <a:ext cx="2082393" cy="818083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0F6E56"/>
                </a:solidFill>
                <a:latin typeface="Calibri"/>
              </a:rPr>
              <a:t>Backend services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Functions, integration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services, Private Endpoint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0831" y="3419856"/>
            <a:ext cx="639593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7484" y="5353507"/>
            <a:ext cx="10635081" cy="11899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9AA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t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76506098"/>
            <a:ext cx="5486400" cy="27432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200" b="1" i="0">
                <a:solidFill>
                  <a:srgbClr val="5A6B7D"/>
                </a:solidFill>
                <a:latin typeface="Calibri"/>
              </a:rPr>
              <a:t>Shared across every layer, inside the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5769985"/>
            <a:ext cx="2826105" cy="669340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3347" y="5769985"/>
            <a:ext cx="2826105" cy="669340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875324" y="4163567"/>
            <a:ext cx="1041197" cy="1591544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296400" y="3828897"/>
            <a:ext cx="594969" cy="1926214"/>
          </a:xfrm>
          <a:prstGeom prst="line">
            <a:avLst/>
          </a:prstGeom>
          <a:ln w="17780">
            <a:solidFill>
              <a:srgbClr val="C9A4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3b — Ingress Flow (High-Level Azure APIM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6.1 Ingress flow: request path from external consumer to backend, with Private Link labelled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281" y="1506443"/>
            <a:ext cx="2687116" cy="509137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651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132040"/>
                </a:solidFill>
                <a:latin typeface="Calibri"/>
              </a:rPr>
              <a:t>External consumer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67840" y="2015581"/>
            <a:ext cx="0" cy="502067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79980" y="2086295"/>
            <a:ext cx="1131417" cy="2121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1.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500" b="1" i="0">
                <a:solidFill>
                  <a:srgbClr val="0E3F6E"/>
                </a:solidFill>
                <a:latin typeface="Calibri"/>
              </a:rPr>
              <a:t>Edge security</a:t>
            </a:r>
          </a:p>
          <a:p>
            <a:pPr algn="ctr"/>
            <a:r>
              <a:rPr sz="1100" b="0" i="0">
                <a:solidFill>
                  <a:srgbClr val="0E3F6E"/>
                </a:solidFill>
                <a:latin typeface="Calibri"/>
              </a:rPr>
              <a:t>Azure 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TLS, DDoS, bot protection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1398" y="3033857"/>
            <a:ext cx="890991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82112" y="2602504"/>
            <a:ext cx="848563" cy="169712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5A6B7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5841" y="3146999"/>
            <a:ext cx="1272844" cy="183855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050" b="1" i="0" dirty="0">
                <a:solidFill>
                  <a:srgbClr val="B3261E"/>
                </a:solidFill>
                <a:latin typeface="Calibri"/>
              </a:rPr>
              <a:t>Private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848" y="3302568"/>
            <a:ext cx="1414272" cy="155569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00" b="0" i="0" dirty="0">
                <a:solidFill>
                  <a:srgbClr val="B3261E"/>
                </a:solidFill>
                <a:latin typeface="Calibri"/>
              </a:rPr>
              <a:t>(Private Endpoint)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0675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500" b="1" i="0">
                <a:solidFill>
                  <a:srgbClr val="4B3F8A"/>
                </a:solidFill>
                <a:latin typeface="Calibri"/>
              </a:rPr>
              <a:t>Azure API Management</a:t>
            </a:r>
          </a:p>
          <a:p>
            <a:pPr algn="ctr"/>
            <a:r>
              <a:rPr sz="1100" b="0" i="0">
                <a:solidFill>
                  <a:srgbClr val="4B3F8A"/>
                </a:solidFill>
                <a:latin typeface="Calibri"/>
              </a:rPr>
              <a:t>Internal gateway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Auth, policy, routing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17792" y="3033857"/>
            <a:ext cx="395996" cy="0"/>
          </a:xfrm>
          <a:prstGeom prst="line">
            <a:avLst/>
          </a:prstGeom>
          <a:ln w="17780">
            <a:solidFill>
              <a:srgbClr val="5A6B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8505" y="2602504"/>
            <a:ext cx="707136" cy="169712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100" b="1" i="0">
                <a:solidFill>
                  <a:srgbClr val="5A6B7D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2073" y="2531790"/>
            <a:ext cx="2687116" cy="1004133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651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500" b="1" i="0">
                <a:solidFill>
                  <a:srgbClr val="0F6E56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Functions and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integration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" y="3967276"/>
            <a:ext cx="9404908" cy="12728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9AA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136" y="4235988"/>
            <a:ext cx="2828544" cy="2121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200" b="1" i="0">
                <a:solidFill>
                  <a:srgbClr val="5A6B7D"/>
                </a:solidFill>
                <a:latin typeface="Calibri"/>
              </a:rPr>
              <a:t>Shared across every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77" y="4412772"/>
            <a:ext cx="2969971" cy="671779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633" y="4412772"/>
            <a:ext cx="2969971" cy="671779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400" b="1" i="0">
                <a:solidFill>
                  <a:srgbClr val="8A6A1F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2191695" cy="45720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2600" b="1" i="0">
                <a:solidFill>
                  <a:srgbClr val="132040"/>
                </a:solidFill>
                <a:latin typeface="Calibri"/>
              </a:rPr>
              <a:t>Figure 10 — Which Flows Use the Palo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1300" b="0" i="1">
                <a:solidFill>
                  <a:srgbClr val="5A6B7D"/>
                </a:solidFill>
                <a:latin typeface="Calibri"/>
              </a:rPr>
              <a:t>Section 6.3 Topology and the guiding principle: outbound-only inspection; UDR terminology removed for Premium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21487999"/>
            <a:ext cx="10972800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Calibri"/>
              </a:rPr>
              <a:t>Inbound (no firewall)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" y="1625803"/>
            <a:ext cx="1382572" cy="460857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/</a:t>
            </a:r>
          </a:p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partner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13001" y="1856231"/>
            <a:ext cx="230429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24523" y="1717974"/>
            <a:ext cx="691286" cy="115214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50" b="0" i="0">
                <a:solidFill>
                  <a:srgbClr val="0F6E56"/>
                </a:solidFill>
                <a:latin typeface="Calibri"/>
              </a:rPr>
              <a:t>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6252" y="1545153"/>
            <a:ext cx="1613001" cy="576072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0E3F6E"/>
                </a:solidFill>
                <a:latin typeface="Calibri"/>
              </a:rPr>
              <a:t>Front Door + WAF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edge inspection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29253" y="1873514"/>
            <a:ext cx="195865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63817" y="1729496"/>
            <a:ext cx="633679" cy="103692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00" b="0" i="0">
                <a:solidFill>
                  <a:srgbClr val="0F6E56"/>
                </a:solidFill>
                <a:latin typeface="Calibri"/>
              </a:rPr>
              <a:t>Private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8147" y="1545153"/>
            <a:ext cx="1958644" cy="576072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4B3F8A"/>
                </a:solidFill>
                <a:latin typeface="Calibri"/>
              </a:rPr>
              <a:t>APIM internal-mode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gateway (spoke)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36792" y="1873514"/>
            <a:ext cx="195864" cy="0"/>
          </a:xfrm>
          <a:prstGeom prst="line">
            <a:avLst/>
          </a:prstGeom>
          <a:ln w="1778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4828" y="1545153"/>
            <a:ext cx="1180947" cy="576072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651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0E3F6E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204" y="1637324"/>
            <a:ext cx="2649931" cy="345643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Internal / on-prem callers reach APIM directly over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the private network, also without the firewall.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7519999"/>
            <a:ext cx="10972800" cy="3200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300" b="1" i="0">
                <a:solidFill>
                  <a:srgbClr val="B98A3E"/>
                </a:solidFill>
                <a:latin typeface="Calibri"/>
              </a:rPr>
              <a:t>Outbound to external third party (uses the firewall)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8147" y="3238804"/>
            <a:ext cx="1958644" cy="460857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6510">
            <a:solidFill>
              <a:srgbClr val="6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4B3F8A"/>
                </a:solidFill>
                <a:latin typeface="Calibri"/>
              </a:rPr>
              <a:t>APIM / backend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outbound call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36792" y="3469233"/>
            <a:ext cx="668243" cy="0"/>
          </a:xfrm>
          <a:prstGeom prst="line">
            <a:avLst/>
          </a:prstGeom>
          <a:ln w="17780">
            <a:solidFill>
              <a:srgbClr val="B9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28963" y="3319454"/>
            <a:ext cx="806500" cy="115214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50" b="1" i="0">
                <a:solidFill>
                  <a:srgbClr val="B98A3E"/>
                </a:solidFill>
                <a:latin typeface="Calibri"/>
              </a:rPr>
              <a:t>egress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8078" y="3238804"/>
            <a:ext cx="1411376" cy="460857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651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300" b="1" i="0">
                <a:solidFill>
                  <a:srgbClr val="8A6A1F"/>
                </a:solidFill>
                <a:latin typeface="Calibri"/>
              </a:rPr>
              <a:t>Palo Alto</a:t>
            </a:r>
          </a:p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NVA or Cloud NGFW, egress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39454" y="3469233"/>
            <a:ext cx="380208" cy="0"/>
          </a:xfrm>
          <a:prstGeom prst="line">
            <a:avLst/>
          </a:prstGeom>
          <a:ln w="17780">
            <a:solidFill>
              <a:srgbClr val="B9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97062" y="3319454"/>
            <a:ext cx="633679" cy="115214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sz="950" b="0" i="0">
                <a:solidFill>
                  <a:srgbClr val="B98A3E"/>
                </a:solidFill>
                <a:latin typeface="Calibri"/>
              </a:rPr>
              <a:t>inspected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705" y="3238804"/>
            <a:ext cx="1411376" cy="460857"/>
          </a:xfrm>
          <a:prstGeom prst="roundRect">
            <a:avLst>
              <a:gd name="adj" fmla="val 10000"/>
            </a:avLst>
          </a:prstGeom>
          <a:solidFill>
            <a:srgbClr val="EDECEA"/>
          </a:solidFill>
          <a:ln w="1524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External third party</a:t>
            </a:r>
          </a:p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SaaS API outside Azure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08576" y="3699662"/>
            <a:ext cx="2649931" cy="426293"/>
          </a:xfrm>
          <a:prstGeom prst="line">
            <a:avLst/>
          </a:prstGeom>
          <a:ln w="17780">
            <a:solidFill>
              <a:srgbClr val="6B5F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28078" y="3930091"/>
            <a:ext cx="1411376" cy="391728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240">
            <a:solidFill>
              <a:srgbClr val="6B5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150" b="1" i="0">
                <a:solidFill>
                  <a:srgbClr val="4B3F8A"/>
                </a:solidFill>
                <a:latin typeface="Calibri"/>
              </a:rPr>
              <a:t>Azure control plane</a:t>
            </a:r>
          </a:p>
          <a:p>
            <a:pPr algn="ctr"/>
            <a:r>
              <a:rPr sz="900" b="0" i="0">
                <a:solidFill>
                  <a:srgbClr val="5A6B7D"/>
                </a:solidFill>
                <a:latin typeface="Calibri"/>
              </a:rPr>
              <a:t>service tag, bypasses firewall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9883" y="4010741"/>
            <a:ext cx="2649931" cy="288036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APIM to private/internal backends stays on the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private network, also bypassing the firewall.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f81c8-e39b-4405-bcc1-3e407ba7283f">
      <Terms xmlns="http://schemas.microsoft.com/office/infopath/2007/PartnerControls"/>
    </lcf76f155ced4ddcb4097134ff3c332f>
    <TaxCatchAll xmlns="de42048b-ec37-4ba8-8c7d-cce609e5a1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02D86F343BD43911FD1ECE89E1A90" ma:contentTypeVersion="16" ma:contentTypeDescription="Create a new document." ma:contentTypeScope="" ma:versionID="8f538629485a383281b2d1038e3d32e9">
  <xsd:schema xmlns:xsd="http://www.w3.org/2001/XMLSchema" xmlns:xs="http://www.w3.org/2001/XMLSchema" xmlns:p="http://schemas.microsoft.com/office/2006/metadata/properties" xmlns:ns2="fb3f81c8-e39b-4405-bcc1-3e407ba7283f" xmlns:ns3="de42048b-ec37-4ba8-8c7d-cce609e5a17c" targetNamespace="http://schemas.microsoft.com/office/2006/metadata/properties" ma:root="true" ma:fieldsID="7770fb56b414f1dd5a021295642aef5f" ns2:_="" ns3:_="">
    <xsd:import namespace="fb3f81c8-e39b-4405-bcc1-3e407ba7283f"/>
    <xsd:import namespace="de42048b-ec37-4ba8-8c7d-cce609e5a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f81c8-e39b-4405-bcc1-3e407ba728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3dc6bb4-515a-48b9-9df5-06b9cdb163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2048b-ec37-4ba8-8c7d-cce609e5a17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c5ceb05-ac89-4e37-8be6-f389aa604244}" ma:internalName="TaxCatchAll" ma:showField="CatchAllData" ma:web="de42048b-ec37-4ba8-8c7d-cce609e5a1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D4B518-AAE0-495A-B86F-91CE9666EA15}">
  <ds:schemaRefs>
    <ds:schemaRef ds:uri="http://schemas.microsoft.com/office/2006/metadata/properties"/>
    <ds:schemaRef ds:uri="http://schemas.microsoft.com/office/infopath/2007/PartnerControls"/>
    <ds:schemaRef ds:uri="fb3f81c8-e39b-4405-bcc1-3e407ba7283f"/>
    <ds:schemaRef ds:uri="de42048b-ec37-4ba8-8c7d-cce609e5a17c"/>
  </ds:schemaRefs>
</ds:datastoreItem>
</file>

<file path=customXml/itemProps2.xml><?xml version="1.0" encoding="utf-8"?>
<ds:datastoreItem xmlns:ds="http://schemas.openxmlformats.org/officeDocument/2006/customXml" ds:itemID="{46FD4625-EF5B-4622-A784-FA7FF80DF6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C8CE23-7E1B-4F2E-8B58-A03B2DA80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3f81c8-e39b-4405-bcc1-3e407ba7283f"/>
    <ds:schemaRef ds:uri="de42048b-ec37-4ba8-8c7d-cce609e5a1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5028</Words>
  <Application>Microsoft Office PowerPoint</Application>
  <PresentationFormat>Widescreen</PresentationFormat>
  <Paragraphs>567</Paragraphs>
  <Slides>28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Puneet Kumar - Chaucer</cp:lastModifiedBy>
  <cp:revision>4</cp:revision>
  <dcterms:created xsi:type="dcterms:W3CDTF">2026-10-01T09:09:28Z</dcterms:created>
  <dcterms:modified xsi:type="dcterms:W3CDTF">2026-10-03T21:01:53Z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034dab-5829-4c7a-a87e-18a6fc150b18_Enabled">
    <vt:lpwstr>true</vt:lpwstr>
  </property>
  <property fmtid="{D5CDD505-2E9C-101B-9397-08002B2CF9AE}" pid="3" name="MSIP_Label_66034dab-5829-4c7a-a87e-18a6fc150b18_SetDate">
    <vt:lpwstr>2026-10-01T10:36:07Z</vt:lpwstr>
  </property>
  <property fmtid="{D5CDD505-2E9C-101B-9397-08002B2CF9AE}" pid="4" name="MSIP_Label_66034dab-5829-4c7a-a87e-18a6fc150b18_Method">
    <vt:lpwstr>Standard</vt:lpwstr>
  </property>
  <property fmtid="{D5CDD505-2E9C-101B-9397-08002B2CF9AE}" pid="5" name="MSIP_Label_66034dab-5829-4c7a-a87e-18a6fc150b18_Name">
    <vt:lpwstr>Internal</vt:lpwstr>
  </property>
  <property fmtid="{D5CDD505-2E9C-101B-9397-08002B2CF9AE}" pid="6" name="MSIP_Label_66034dab-5829-4c7a-a87e-18a6fc150b18_SiteId">
    <vt:lpwstr>7c2d3141-755f-485a-aaae-ca6b3055ca0c</vt:lpwstr>
  </property>
  <property fmtid="{D5CDD505-2E9C-101B-9397-08002B2CF9AE}" pid="7" name="MSIP_Label_66034dab-5829-4c7a-a87e-18a6fc150b18_ActionId">
    <vt:lpwstr>a013a08c-c3e9-4465-bbe5-e0b7c01fdc28</vt:lpwstr>
  </property>
  <property fmtid="{D5CDD505-2E9C-101B-9397-08002B2CF9AE}" pid="8" name="MSIP_Label_66034dab-5829-4c7a-a87e-18a6fc150b18_ContentBits">
    <vt:lpwstr>0</vt:lpwstr>
  </property>
  <property fmtid="{D5CDD505-2E9C-101B-9397-08002B2CF9AE}" pid="9" name="MSIP_Label_66034dab-5829-4c7a-a87e-18a6fc150b18_Tag">
    <vt:lpwstr>10, 3, 0, 1</vt:lpwstr>
  </property>
  <property fmtid="{D5CDD505-2E9C-101B-9397-08002B2CF9AE}" pid="10" name="ContentTypeId">
    <vt:lpwstr>0x010100B6902D86F343BD43911FD1ECE89E1A90</vt:lpwstr>
  </property>
  <property fmtid="{D5CDD505-2E9C-101B-9397-08002B2CF9AE}" pid="11" name="MediaServiceImageTags">
    <vt:lpwstr/>
  </property>
</Properties>
</file>