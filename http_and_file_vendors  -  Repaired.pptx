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102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818888"/>
            <a:ext cx="4572000" cy="3246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2000" y="4818888"/>
            <a:ext cx="4572000" cy="3246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92608" y="54864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0891B2"/>
                </a:solidFill>
              </a:rPr>
              <a:t>HOME REPAIR INTEGRATION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92608" y="896112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HTTP and File Vendors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 the New Architecture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92608" y="233172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</a:rPr>
              <a:t>Vendor 1 (HTTP / Service Bus) and Vendor 2 (file / SFTP) both converge on one shared platform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92608" y="2926080"/>
            <a:ext cx="2468880" cy="822960"/>
          </a:xfrm>
          <a:prstGeom prst="rect">
            <a:avLst/>
          </a:prstGeom>
          <a:solidFill>
            <a:srgbClr val="0D1F35"/>
          </a:solidFill>
          <a:ln w="9525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92608" y="2926080"/>
            <a:ext cx="24688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02336" y="3035808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Vendor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3291840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HTTP + Service Bus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44368" y="2926080"/>
            <a:ext cx="2468880" cy="822960"/>
          </a:xfrm>
          <a:prstGeom prst="rect">
            <a:avLst/>
          </a:prstGeom>
          <a:solidFill>
            <a:srgbClr val="0D1F35"/>
          </a:solidFill>
          <a:ln w="9525">
            <a:solidFill>
              <a:srgbClr val="D9770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944368" y="2926080"/>
            <a:ext cx="24688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054096" y="3035808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</a:rPr>
              <a:t>Vendor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54096" y="3291840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File + SFTP, batch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96128" y="2926080"/>
            <a:ext cx="2468880" cy="822960"/>
          </a:xfrm>
          <a:prstGeom prst="rect">
            <a:avLst/>
          </a:prstGeom>
          <a:solidFill>
            <a:srgbClr val="0D1F35"/>
          </a:solidFill>
          <a:ln w="9525">
            <a:solidFill>
              <a:srgbClr val="0596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596128" y="2926080"/>
            <a:ext cx="24688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705856" y="3035808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E7B7"/>
                </a:solidFill>
              </a:rPr>
              <a:t>New model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05856" y="3291840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one platform, two thin adapters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92608" y="482803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Based on your uploaded VENDOR1 and Vendor2 process flows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Today — two vendors, two completely separate pipelines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From your diagrams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8521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7B"/>
                </a:solidFill>
              </a:rPr>
              <a:t>Vendor 1 — HTTP / Service Bus (real-time)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00584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10896" y="886968"/>
            <a:ext cx="93268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10896" y="1024128"/>
            <a:ext cx="93268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HTTP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1280160" y="1097280"/>
            <a:ext cx="146304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417320" y="1065276"/>
            <a:ext cx="9144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426464" y="841248"/>
            <a:ext cx="118872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463040" y="886968"/>
            <a:ext cx="111556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Service Bus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63040" y="1024128"/>
            <a:ext cx="111556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msg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2615184" y="1097280"/>
            <a:ext cx="146304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52344" y="1065276"/>
            <a:ext cx="9144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761488" y="841248"/>
            <a:ext cx="1371600" cy="512064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807208" y="877824"/>
            <a:ext cx="537667" cy="118872"/>
          </a:xfrm>
          <a:prstGeom prst="roundRect">
            <a:avLst>
              <a:gd name="adj" fmla="val 2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807208" y="877824"/>
            <a:ext cx="53766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BESPOKE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2798064" y="1005840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Consumer LA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98064" y="1143000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per vendor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4133088" y="1097280"/>
            <a:ext cx="146304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270248" y="1065276"/>
            <a:ext cx="9144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279392" y="841248"/>
            <a:ext cx="1371600" cy="512064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325112" y="877824"/>
            <a:ext cx="537667" cy="118872"/>
          </a:xfrm>
          <a:prstGeom prst="roundRect">
            <a:avLst>
              <a:gd name="adj" fmla="val 2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325112" y="877824"/>
            <a:ext cx="53766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BESPOKE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4315968" y="1005840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Child LA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315968" y="1143000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per msg type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5650992" y="1097280"/>
            <a:ext cx="146304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5788152" y="1065276"/>
            <a:ext cx="9144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5797296" y="841248"/>
            <a:ext cx="1188720" cy="512064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5833872" y="886968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Dataverse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986016" y="1097280"/>
            <a:ext cx="146304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7123176" y="1065276"/>
            <a:ext cx="9144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7132320" y="841248"/>
            <a:ext cx="1371600" cy="512064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178040" y="877824"/>
            <a:ext cx="537667" cy="118872"/>
          </a:xfrm>
          <a:prstGeom prst="roundRect">
            <a:avLst>
              <a:gd name="adj" fmla="val 2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7178040" y="877824"/>
            <a:ext cx="53766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BESPOKE</a:t>
            </a:r>
            <a:endParaRPr lang="en-US" sz="550" dirty="0"/>
          </a:p>
        </p:txBody>
      </p:sp>
      <p:sp>
        <p:nvSpPr>
          <p:cNvPr id="37" name="Text 35"/>
          <p:cNvSpPr/>
          <p:nvPr/>
        </p:nvSpPr>
        <p:spPr>
          <a:xfrm>
            <a:off x="7168896" y="1005840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WO Issue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168896" y="1143000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per vendor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74320" y="151790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</a:rPr>
              <a:t>Vendor 2 — File / SFTP (batch, polling)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1773936"/>
            <a:ext cx="100584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310896" y="1819656"/>
            <a:ext cx="93268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2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10896" y="1956816"/>
            <a:ext cx="93268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XML file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1280160" y="2029968"/>
            <a:ext cx="146304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1417320" y="1997964"/>
            <a:ext cx="9144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1426464" y="1773936"/>
            <a:ext cx="118872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1463040" y="1819656"/>
            <a:ext cx="111556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SFTP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463040" y="1956816"/>
            <a:ext cx="111556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60 min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2615184" y="2029968"/>
            <a:ext cx="146304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2752344" y="1997964"/>
            <a:ext cx="9144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2761488" y="1773936"/>
            <a:ext cx="1371600" cy="512064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2807208" y="1810512"/>
            <a:ext cx="537667" cy="118872"/>
          </a:xfrm>
          <a:prstGeom prst="roundRect">
            <a:avLst>
              <a:gd name="adj" fmla="val 2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2807208" y="1810512"/>
            <a:ext cx="53766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BESPOKE</a:t>
            </a:r>
            <a:endParaRPr lang="en-US" sz="550" dirty="0"/>
          </a:p>
        </p:txBody>
      </p:sp>
      <p:sp>
        <p:nvSpPr>
          <p:cNvPr id="53" name="Text 51"/>
          <p:cNvSpPr/>
          <p:nvPr/>
        </p:nvSpPr>
        <p:spPr>
          <a:xfrm>
            <a:off x="2798064" y="1938528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Poll + pick file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2798064" y="2075688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per vendor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4133088" y="2029968"/>
            <a:ext cx="146304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4270248" y="1997964"/>
            <a:ext cx="9144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4279392" y="1773936"/>
            <a:ext cx="1371600" cy="512064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4325112" y="1810512"/>
            <a:ext cx="537667" cy="118872"/>
          </a:xfrm>
          <a:prstGeom prst="roundRect">
            <a:avLst>
              <a:gd name="adj" fmla="val 2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4325112" y="1810512"/>
            <a:ext cx="53766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BESPOKE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4315968" y="1938528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Parse XML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315968" y="2075688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per vendor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5650992" y="2029968"/>
            <a:ext cx="146304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5788152" y="1997964"/>
            <a:ext cx="9144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5797296" y="1773936"/>
            <a:ext cx="1188720" cy="512064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5833872" y="1819656"/>
            <a:ext cx="1115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Dataverse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986016" y="2029968"/>
            <a:ext cx="146304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7123176" y="1997964"/>
            <a:ext cx="9144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6"/>
          <p:cNvSpPr/>
          <p:nvPr/>
        </p:nvSpPr>
        <p:spPr>
          <a:xfrm>
            <a:off x="7132320" y="1773936"/>
            <a:ext cx="1371600" cy="512064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9" name="Shape 67"/>
          <p:cNvSpPr/>
          <p:nvPr/>
        </p:nvSpPr>
        <p:spPr>
          <a:xfrm>
            <a:off x="7178040" y="1810512"/>
            <a:ext cx="537667" cy="118872"/>
          </a:xfrm>
          <a:prstGeom prst="roundRect">
            <a:avLst>
              <a:gd name="adj" fmla="val 2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/>
          <p:nvPr/>
        </p:nvSpPr>
        <p:spPr>
          <a:xfrm>
            <a:off x="7178040" y="1810512"/>
            <a:ext cx="53766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BESPOKE</a:t>
            </a:r>
            <a:endParaRPr lang="en-US" sz="550" dirty="0"/>
          </a:p>
        </p:txBody>
      </p:sp>
      <p:sp>
        <p:nvSpPr>
          <p:cNvPr id="71" name="Text 69"/>
          <p:cNvSpPr/>
          <p:nvPr/>
        </p:nvSpPr>
        <p:spPr>
          <a:xfrm>
            <a:off x="7168896" y="1938528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Drop back file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7168896" y="2075688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per vendor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274320" y="2505456"/>
            <a:ext cx="8595360" cy="2340864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274320" y="2505456"/>
            <a:ext cx="73152" cy="2340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73"/>
          <p:cNvSpPr/>
          <p:nvPr/>
        </p:nvSpPr>
        <p:spPr>
          <a:xfrm>
            <a:off x="457200" y="259689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</a:rPr>
              <a:t>Why this does not scale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457200" y="2926080"/>
            <a:ext cx="8229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•  </a:t>
            </a:r>
            <a:r>
              <a:rPr lang="en-US" sz="900" dirty="0">
                <a:solidFill>
                  <a:srgbClr val="1E293B"/>
                </a:solidFill>
              </a:rPr>
              <a:t>Every vendor brings its own full pipeline — Vendor 1 has Logic Apps, Vendor 2 has file pollers and parsers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7200" y="3227832"/>
            <a:ext cx="8229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•  </a:t>
            </a:r>
            <a:r>
              <a:rPr lang="en-US" sz="900" dirty="0">
                <a:solidFill>
                  <a:srgbClr val="1E293B"/>
                </a:solidFill>
              </a:rPr>
              <a:t>Nothing is shared between them: the HTTP path and the file path are built and maintained completely separately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57200" y="3529584"/>
            <a:ext cx="8229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•  </a:t>
            </a:r>
            <a:r>
              <a:rPr lang="en-US" sz="900" dirty="0">
                <a:solidFill>
                  <a:srgbClr val="1E293B"/>
                </a:solidFill>
              </a:rPr>
              <a:t>Each new vendor = a new bespoke chain in whatever style that vendor uses (HTTP, file, email, ...)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57200" y="3831336"/>
            <a:ext cx="8229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•  </a:t>
            </a:r>
            <a:r>
              <a:rPr lang="en-US" sz="900" dirty="0">
                <a:solidFill>
                  <a:srgbClr val="1E293B"/>
                </a:solidFill>
              </a:rPr>
              <a:t>At 50+ vendors this is dozens of independent pipelines, each a place for failures to hide with no common monitoring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57200" y="4133088"/>
            <a:ext cx="8229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•  </a:t>
            </a:r>
            <a:r>
              <a:rPr lang="en-US" sz="900" dirty="0">
                <a:solidFill>
                  <a:srgbClr val="1E293B"/>
                </a:solidFill>
              </a:rPr>
              <a:t>Vendor 2's file polling adds a 60-minute lag, and the batch parser is brittle to any change in the vendor's XML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457200" y="4434840"/>
            <a:ext cx="8229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•  </a:t>
            </a:r>
            <a:r>
              <a:rPr lang="en-US" sz="900" dirty="0">
                <a:solidFill>
                  <a:srgbClr val="1E293B"/>
                </a:solidFill>
              </a:rPr>
              <a:t>There is no single contract — each integration is a one-off, so knowledge and effort do not carry from one vendor to the next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New model — both vendors converge on one shared platform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The channel differs only at the edge. Behind a thin adapter, both vendors use the identical path.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097280" cy="566928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10896" y="1051560"/>
            <a:ext cx="102412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10896" y="1188720"/>
            <a:ext cx="102412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HTTP / Service Bus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1371600" y="1289304"/>
            <a:ext cx="164592" cy="0"/>
          </a:xfrm>
          <a:prstGeom prst="line">
            <a:avLst/>
          </a:prstGeom>
          <a:noFill/>
          <a:ln w="1651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527048" y="1257300"/>
            <a:ext cx="9144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536192" y="1005840"/>
            <a:ext cx="1371600" cy="566928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581912" y="1042416"/>
            <a:ext cx="537667" cy="118872"/>
          </a:xfrm>
          <a:prstGeom prst="roundRect">
            <a:avLst>
              <a:gd name="adj" fmla="val 2307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581912" y="1042416"/>
            <a:ext cx="53766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ADAPTER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1572768" y="1170432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HTTP adapter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572768" y="1307592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thin edge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274320" y="1828800"/>
            <a:ext cx="1097280" cy="566928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10896" y="1874520"/>
            <a:ext cx="102412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10896" y="2011680"/>
            <a:ext cx="102412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File / SFTP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1371600" y="2112264"/>
            <a:ext cx="164592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527048" y="2080260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1536192" y="1828800"/>
            <a:ext cx="1371600" cy="566928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581912" y="1865376"/>
            <a:ext cx="537667" cy="118872"/>
          </a:xfrm>
          <a:prstGeom prst="roundRect">
            <a:avLst>
              <a:gd name="adj" fmla="val 2307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581912" y="1865376"/>
            <a:ext cx="53766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ADAPTER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1572768" y="1993392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File adapter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572768" y="2130552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parse / drop XML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2907792" y="1289304"/>
            <a:ext cx="4572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364992" y="1289304"/>
            <a:ext cx="0" cy="50292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2907792" y="2112264"/>
            <a:ext cx="4572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3364992" y="2112264"/>
            <a:ext cx="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3364992" y="1700784"/>
            <a:ext cx="292608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3648456" y="1668780"/>
            <a:ext cx="9144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3657600" y="1417320"/>
            <a:ext cx="1371600" cy="566928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3703320" y="1453896"/>
            <a:ext cx="479146" cy="118872"/>
          </a:xfrm>
          <a:prstGeom prst="roundRect">
            <a:avLst>
              <a:gd name="adj" fmla="val 2307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3703320" y="1453896"/>
            <a:ext cx="47914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SHARED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3694176" y="1581912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Work Order API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694176" y="1719072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one contract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5029200" y="1700784"/>
            <a:ext cx="164592" cy="0"/>
          </a:xfrm>
          <a:prstGeom prst="line">
            <a:avLst/>
          </a:prstGeom>
          <a:noFill/>
          <a:ln w="1651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5184648" y="1668780"/>
            <a:ext cx="9144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5193792" y="1417320"/>
            <a:ext cx="1371600" cy="566928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5239512" y="1453896"/>
            <a:ext cx="479146" cy="118872"/>
          </a:xfrm>
          <a:prstGeom prst="roundRect">
            <a:avLst>
              <a:gd name="adj" fmla="val 2307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5239512" y="1453896"/>
            <a:ext cx="47914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SHARED</a:t>
            </a:r>
            <a:endParaRPr lang="en-US" sz="550" dirty="0"/>
          </a:p>
        </p:txBody>
      </p:sp>
      <p:sp>
        <p:nvSpPr>
          <p:cNvPr id="41" name="Text 39"/>
          <p:cNvSpPr/>
          <p:nvPr/>
        </p:nvSpPr>
        <p:spPr>
          <a:xfrm>
            <a:off x="5230368" y="1581912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Receiver + SB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230368" y="1719072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+ shared handler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6565392" y="1700784"/>
            <a:ext cx="164592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6720840" y="1668780"/>
            <a:ext cx="9144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6729984" y="1417320"/>
            <a:ext cx="1280160" cy="566928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6766560" y="1463040"/>
            <a:ext cx="120700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Dataverse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766560" y="1600200"/>
            <a:ext cx="120700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+ Cloud Flow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274320" y="2670048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Outbound — same WO Issuer and resolver, channel chosen per vendor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320" y="2926080"/>
            <a:ext cx="1280160" cy="512064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310896" y="2971800"/>
            <a:ext cx="120700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Dataverse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10896" y="3108960"/>
            <a:ext cx="120700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entity change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1554480" y="3182112"/>
            <a:ext cx="146304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1691640" y="3150108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1700784" y="2926080"/>
            <a:ext cx="1188720" cy="512064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1746504" y="2962656"/>
            <a:ext cx="479146" cy="118872"/>
          </a:xfrm>
          <a:prstGeom prst="roundRect">
            <a:avLst>
              <a:gd name="adj" fmla="val 2307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1746504" y="2962656"/>
            <a:ext cx="47914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SHARED</a:t>
            </a:r>
            <a:endParaRPr lang="en-US" sz="550" dirty="0"/>
          </a:p>
        </p:txBody>
      </p:sp>
      <p:sp>
        <p:nvSpPr>
          <p:cNvPr id="57" name="Text 55"/>
          <p:cNvSpPr/>
          <p:nvPr/>
        </p:nvSpPr>
        <p:spPr>
          <a:xfrm>
            <a:off x="1737360" y="3090672"/>
            <a:ext cx="111556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WO Issuer FA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737360" y="3227832"/>
            <a:ext cx="111556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build WO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2889504" y="3182112"/>
            <a:ext cx="146304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3026664" y="3150108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3035808" y="2926080"/>
            <a:ext cx="1371600" cy="512064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3081528" y="2962656"/>
            <a:ext cx="479146" cy="118872"/>
          </a:xfrm>
          <a:prstGeom prst="roundRect">
            <a:avLst>
              <a:gd name="adj" fmla="val 2307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3081528" y="2962656"/>
            <a:ext cx="47914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CONFIG</a:t>
            </a:r>
            <a:endParaRPr lang="en-US" sz="550" dirty="0"/>
          </a:p>
        </p:txBody>
      </p:sp>
      <p:sp>
        <p:nvSpPr>
          <p:cNvPr id="64" name="Text 62"/>
          <p:cNvSpPr/>
          <p:nvPr/>
        </p:nvSpPr>
        <p:spPr>
          <a:xfrm>
            <a:off x="3072384" y="3090672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resolver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072384" y="3227832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channel + format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4407408" y="3182112"/>
            <a:ext cx="146304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4544568" y="3150108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6"/>
          <p:cNvSpPr/>
          <p:nvPr/>
        </p:nvSpPr>
        <p:spPr>
          <a:xfrm>
            <a:off x="4572000" y="2706624"/>
            <a:ext cx="1463040" cy="45720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/>
          <p:nvPr/>
        </p:nvSpPr>
        <p:spPr>
          <a:xfrm>
            <a:off x="4608576" y="2752344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HTTP adapter → Vendor 1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572000" y="3200400"/>
            <a:ext cx="1463040" cy="45720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1" name="Text 69"/>
          <p:cNvSpPr/>
          <p:nvPr/>
        </p:nvSpPr>
        <p:spPr>
          <a:xfrm>
            <a:off x="4608576" y="324612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File adapter → Vendor 2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553712" y="3182112"/>
            <a:ext cx="18288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4553712" y="2935224"/>
            <a:ext cx="36576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4553712" y="3182112"/>
            <a:ext cx="18288" cy="246888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3"/>
          <p:cNvSpPr/>
          <p:nvPr/>
        </p:nvSpPr>
        <p:spPr>
          <a:xfrm>
            <a:off x="4553712" y="3429000"/>
            <a:ext cx="36576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4"/>
          <p:cNvSpPr/>
          <p:nvPr/>
        </p:nvSpPr>
        <p:spPr>
          <a:xfrm>
            <a:off x="6309360" y="2706624"/>
            <a:ext cx="12801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7" name="Text 75"/>
          <p:cNvSpPr/>
          <p:nvPr/>
        </p:nvSpPr>
        <p:spPr>
          <a:xfrm>
            <a:off x="6345936" y="2752344"/>
            <a:ext cx="120700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1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6345936" y="2889504"/>
            <a:ext cx="120700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HTTP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6309360" y="3200400"/>
            <a:ext cx="12801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0" name="Text 78"/>
          <p:cNvSpPr/>
          <p:nvPr/>
        </p:nvSpPr>
        <p:spPr>
          <a:xfrm>
            <a:off x="6345936" y="3246120"/>
            <a:ext cx="120700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2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6345936" y="3383280"/>
            <a:ext cx="120700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file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6035040" y="2935224"/>
            <a:ext cx="274320" cy="0"/>
          </a:xfrm>
          <a:prstGeom prst="line">
            <a:avLst/>
          </a:prstGeom>
          <a:noFill/>
          <a:ln w="1651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1"/>
          <p:cNvSpPr/>
          <p:nvPr/>
        </p:nvSpPr>
        <p:spPr>
          <a:xfrm>
            <a:off x="6300216" y="2903220"/>
            <a:ext cx="9144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Shape 82"/>
          <p:cNvSpPr/>
          <p:nvPr/>
        </p:nvSpPr>
        <p:spPr>
          <a:xfrm>
            <a:off x="6035040" y="3429000"/>
            <a:ext cx="274320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3"/>
          <p:cNvSpPr/>
          <p:nvPr/>
        </p:nvSpPr>
        <p:spPr>
          <a:xfrm>
            <a:off x="6300216" y="3396996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Shape 84"/>
          <p:cNvSpPr/>
          <p:nvPr/>
        </p:nvSpPr>
        <p:spPr>
          <a:xfrm>
            <a:off x="274320" y="3621024"/>
            <a:ext cx="8595360" cy="1225296"/>
          </a:xfrm>
          <a:prstGeom prst="rect">
            <a:avLst/>
          </a:prstGeom>
          <a:solidFill>
            <a:srgbClr val="ECFDF5"/>
          </a:solidFill>
          <a:ln w="9525">
            <a:solidFill>
              <a:srgbClr val="0596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7" name="Shape 85"/>
          <p:cNvSpPr/>
          <p:nvPr/>
        </p:nvSpPr>
        <p:spPr>
          <a:xfrm>
            <a:off x="274320" y="3621024"/>
            <a:ext cx="73152" cy="12252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Text 86"/>
          <p:cNvSpPr/>
          <p:nvPr/>
        </p:nvSpPr>
        <p:spPr>
          <a:xfrm>
            <a:off x="457200" y="369417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4E3B"/>
                </a:solidFill>
              </a:rPr>
              <a:t>The convergence is the whole point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457200" y="396849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</a:rPr>
              <a:t>v  </a:t>
            </a:r>
            <a:r>
              <a:rPr lang="en-US" sz="850" dirty="0">
                <a:solidFill>
                  <a:srgbClr val="1E293B"/>
                </a:solidFill>
              </a:rPr>
              <a:t>Vendor 1's HTTP and Vendor 2's files meet at the Work Order API — from there inward, one identical shared path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457200" y="41833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</a:rPr>
              <a:t>v  </a:t>
            </a:r>
            <a:r>
              <a:rPr lang="en-US" sz="850" dirty="0">
                <a:solidFill>
                  <a:srgbClr val="1E293B"/>
                </a:solidFill>
              </a:rPr>
              <a:t>The only per-vendor code is the thin edge adapter (translate the channel); everything else is shared and reused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457200" y="439826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</a:rPr>
              <a:t>v  </a:t>
            </a:r>
            <a:r>
              <a:rPr lang="en-US" sz="850" dirty="0">
                <a:solidFill>
                  <a:srgbClr val="1E293B"/>
                </a:solidFill>
              </a:rPr>
              <a:t>Vendor 2 keeps dropping XML files exactly as today — nothing changes on the vendor's side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457200" y="46131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</a:rPr>
              <a:t>v  </a:t>
            </a:r>
            <a:r>
              <a:rPr lang="en-US" sz="850" dirty="0">
                <a:solidFill>
                  <a:srgbClr val="1E293B"/>
                </a:solidFill>
              </a:rPr>
              <a:t>Adding vendor 3, 4, ... 50 reuses the same platform; only a small adapter (if a new channel) and a resolver row are added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65F7B"/>
          </a:solidFill>
          <a:ln w="12700">
            <a:solidFill>
              <a:srgbClr val="065F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Option 1 — how each vendor flows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7B"/>
                </a:solidFill>
              </a:rPr>
              <a:t>Vendor 1 (HTTP) inbound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786384"/>
            <a:ext cx="109728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10896" y="832104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371600" y="1014984"/>
            <a:ext cx="128016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490472" y="982980"/>
            <a:ext cx="9144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499616" y="786384"/>
            <a:ext cx="13716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536192" y="832104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WO API / Update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871216" y="1014984"/>
            <a:ext cx="128016" cy="0"/>
          </a:xfrm>
          <a:prstGeom prst="line">
            <a:avLst/>
          </a:prstGeom>
          <a:noFill/>
          <a:ln w="1651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990088" y="982980"/>
            <a:ext cx="9144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999232" y="786384"/>
            <a:ext cx="1554480" cy="45720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035808" y="832104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Receiver + SB + handler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53712" y="1014984"/>
            <a:ext cx="128016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672584" y="982980"/>
            <a:ext cx="9144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681728" y="786384"/>
            <a:ext cx="1188720" cy="457200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718304" y="832104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Dataverse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035040" y="78638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65F7B"/>
                </a:solidFill>
              </a:rPr>
              <a:t>No Service Bus consumer LA, no child LA — gone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" y="137160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Vendor 2 (file) inbound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1591056"/>
            <a:ext cx="109728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10896" y="1636776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SFTP file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371600" y="1819656"/>
            <a:ext cx="128016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1490472" y="1787652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1499616" y="1591056"/>
            <a:ext cx="1371600" cy="45720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545336" y="1627632"/>
            <a:ext cx="537667" cy="118872"/>
          </a:xfrm>
          <a:prstGeom prst="roundRect">
            <a:avLst>
              <a:gd name="adj" fmla="val 2307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545336" y="1627632"/>
            <a:ext cx="53766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ADAPTER</a:t>
            </a:r>
            <a:endParaRPr lang="en-US" sz="550" dirty="0"/>
          </a:p>
        </p:txBody>
      </p:sp>
      <p:sp>
        <p:nvSpPr>
          <p:cNvPr id="28" name="Text 26"/>
          <p:cNvSpPr/>
          <p:nvPr/>
        </p:nvSpPr>
        <p:spPr>
          <a:xfrm>
            <a:off x="1536192" y="1755648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File adapter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536192" y="1892808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parse XML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871216" y="1819656"/>
            <a:ext cx="128016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990088" y="1787652"/>
            <a:ext cx="9144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2999232" y="1591056"/>
            <a:ext cx="155448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3035808" y="1636776"/>
            <a:ext cx="148132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WO API / Update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035808" y="1773936"/>
            <a:ext cx="148132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same API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4553712" y="1819656"/>
            <a:ext cx="128016" cy="0"/>
          </a:xfrm>
          <a:prstGeom prst="line">
            <a:avLst/>
          </a:prstGeom>
          <a:noFill/>
          <a:ln w="1651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4672584" y="1787652"/>
            <a:ext cx="9144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4681728" y="1591056"/>
            <a:ext cx="1188720" cy="45720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4718304" y="1636776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handler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870448" y="1819656"/>
            <a:ext cx="128016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5989320" y="1787652"/>
            <a:ext cx="9144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5998464" y="1591056"/>
            <a:ext cx="1097280" cy="457200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6035040" y="1636776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Dataverse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223760" y="159105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2400E"/>
                </a:solidFill>
              </a:rPr>
              <a:t>Parser shrinks to one adapter step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74320" y="219456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Outbound — shared for both, channel chosen by resolver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2414016"/>
            <a:ext cx="1188720" cy="457200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310896" y="2459736"/>
            <a:ext cx="111556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Dataverse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10896" y="2596896"/>
            <a:ext cx="111556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change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1463040" y="2642616"/>
            <a:ext cx="128016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1581912" y="2610612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1591056" y="2414016"/>
            <a:ext cx="1188720" cy="45720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1627632" y="2459736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WO Issuer FA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779776" y="2642616"/>
            <a:ext cx="128016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2898648" y="2610612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2907792" y="2414016"/>
            <a:ext cx="1371600" cy="45720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2953512" y="2450592"/>
            <a:ext cx="479146" cy="118872"/>
          </a:xfrm>
          <a:prstGeom prst="roundRect">
            <a:avLst>
              <a:gd name="adj" fmla="val 2307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2953512" y="2450592"/>
            <a:ext cx="47914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CONFIG</a:t>
            </a:r>
            <a:endParaRPr lang="en-US" sz="550" dirty="0"/>
          </a:p>
        </p:txBody>
      </p:sp>
      <p:sp>
        <p:nvSpPr>
          <p:cNvPr id="57" name="Text 55"/>
          <p:cNvSpPr/>
          <p:nvPr/>
        </p:nvSpPr>
        <p:spPr>
          <a:xfrm>
            <a:off x="2944368" y="2578608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resolver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2944368" y="2715768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channel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4279392" y="2642616"/>
            <a:ext cx="128016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4398264" y="2610612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4407408" y="2240280"/>
            <a:ext cx="1554480" cy="384048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/>
          <p:nvPr/>
        </p:nvSpPr>
        <p:spPr>
          <a:xfrm>
            <a:off x="4443984" y="228600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HTTP adapter → V1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407408" y="2670048"/>
            <a:ext cx="1554480" cy="384048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4443984" y="2715768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File adapter → V2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389120" y="2642616"/>
            <a:ext cx="18288" cy="0"/>
          </a:xfrm>
          <a:prstGeom prst="line">
            <a:avLst/>
          </a:prstGeom>
          <a:noFill/>
          <a:ln w="1397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4389120" y="2642616"/>
            <a:ext cx="18288" cy="219456"/>
          </a:xfrm>
          <a:prstGeom prst="line">
            <a:avLst/>
          </a:prstGeom>
          <a:noFill/>
          <a:ln w="1397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6126480" y="2240280"/>
            <a:ext cx="118872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6163056" y="2286000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1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126480" y="2670048"/>
            <a:ext cx="118872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/>
          <p:nvPr/>
        </p:nvSpPr>
        <p:spPr>
          <a:xfrm>
            <a:off x="6163056" y="2715768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2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961888" y="2432304"/>
            <a:ext cx="164592" cy="0"/>
          </a:xfrm>
          <a:prstGeom prst="line">
            <a:avLst/>
          </a:prstGeom>
          <a:noFill/>
          <a:ln w="1651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6117336" y="2400300"/>
            <a:ext cx="9144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5961888" y="2862072"/>
            <a:ext cx="164592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6117336" y="2830068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3"/>
          <p:cNvSpPr/>
          <p:nvPr/>
        </p:nvSpPr>
        <p:spPr>
          <a:xfrm>
            <a:off x="274320" y="3291840"/>
            <a:ext cx="8595360" cy="155448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6" name="Text 74"/>
          <p:cNvSpPr/>
          <p:nvPr/>
        </p:nvSpPr>
        <p:spPr>
          <a:xfrm>
            <a:off x="457200" y="336499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7B"/>
                </a:solidFill>
              </a:rPr>
              <a:t>Option 1 summary for both vendors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57200" y="363931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</a:rPr>
              <a:t>v  </a:t>
            </a:r>
            <a:r>
              <a:rPr lang="en-US" sz="850" dirty="0">
                <a:solidFill>
                  <a:srgbClr val="1E293B"/>
                </a:solidFill>
              </a:rPr>
              <a:t>HTTP vendor: calls the Work Order API directly — the bespoke Service Bus consumer and child Logic Apps disappear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57200" y="387248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</a:rPr>
              <a:t>v  </a:t>
            </a:r>
            <a:r>
              <a:rPr lang="en-US" sz="850" dirty="0">
                <a:solidFill>
                  <a:srgbClr val="1E293B"/>
                </a:solidFill>
              </a:rPr>
              <a:t>File vendor: a thin file adapter parses the XML and calls the same Work Order API — the bespoke poller and parser collapse to one adapter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457200" y="410565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</a:rPr>
              <a:t>v  </a:t>
            </a:r>
            <a:r>
              <a:rPr lang="en-US" sz="850" dirty="0">
                <a:solidFill>
                  <a:srgbClr val="1E293B"/>
                </a:solidFill>
              </a:rPr>
              <a:t>Both share the receiver, Service Bus buffer, handler, Dataverse, and Cloud Flow — built once, reused for every vendor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457200" y="433882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</a:rPr>
              <a:t>v  </a:t>
            </a:r>
            <a:r>
              <a:rPr lang="en-US" sz="850" dirty="0">
                <a:solidFill>
                  <a:srgbClr val="1E293B"/>
                </a:solidFill>
              </a:rPr>
              <a:t>Outbound is one shared WO Issuer + resolver; the resolver picks HTTP for Vendor 1 and file for Vendor 2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457200" y="457200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</a:rPr>
              <a:t>v  </a:t>
            </a:r>
            <a:r>
              <a:rPr lang="en-US" sz="850" dirty="0">
                <a:solidFill>
                  <a:srgbClr val="1E293B"/>
                </a:solidFill>
              </a:rPr>
              <a:t>Onboarding a new vendor: reuse an existing adapter if the channel exists, or add one thin adapter if it is new — plus a resolver row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Option 2 — how each vendor flows (event-driven)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Same edge adapters as Option 1. Behind them, the write publishes events and outbound is event-triggered.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89611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8A"/>
                </a:solidFill>
              </a:rPr>
              <a:t>Inbound — both channels become commands, then fan out as events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1097280" cy="45720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10896" y="1161288"/>
            <a:ext cx="102412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10896" y="1298448"/>
            <a:ext cx="102412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HTTP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1097280" cy="45720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10896" y="1673352"/>
            <a:ext cx="102412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2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10896" y="1810512"/>
            <a:ext cx="102412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file adapter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371600" y="1344168"/>
            <a:ext cx="27432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645920" y="1344168"/>
            <a:ext cx="0" cy="51206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371600" y="1856232"/>
            <a:ext cx="27432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645920" y="1600200"/>
            <a:ext cx="274320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911096" y="1568196"/>
            <a:ext cx="9144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920240" y="1371600"/>
            <a:ext cx="128016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956816" y="1417320"/>
            <a:ext cx="120700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WO API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956816" y="1554480"/>
            <a:ext cx="120700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one contract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3200400" y="1600200"/>
            <a:ext cx="128016" cy="0"/>
          </a:xfrm>
          <a:prstGeom prst="line">
            <a:avLst/>
          </a:prstGeom>
          <a:noFill/>
          <a:ln w="1651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319272" y="1568196"/>
            <a:ext cx="9144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328416" y="1371600"/>
            <a:ext cx="1371600" cy="45720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364992" y="1417320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Command + handler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64992" y="1554480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write status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4700016" y="1600200"/>
            <a:ext cx="128016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818888" y="1568196"/>
            <a:ext cx="9144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828032" y="1371600"/>
            <a:ext cx="1097280" cy="457200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864608" y="141732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Dataverse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925312" y="1600200"/>
            <a:ext cx="128016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044184" y="1568196"/>
            <a:ext cx="9144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053328" y="1371600"/>
            <a:ext cx="128016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6099048" y="1408176"/>
            <a:ext cx="420624" cy="118872"/>
          </a:xfrm>
          <a:prstGeom prst="roundRect">
            <a:avLst>
              <a:gd name="adj" fmla="val 2307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099048" y="1408176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EVENT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6089904" y="1536192"/>
            <a:ext cx="120700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Event Grid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089904" y="1673352"/>
            <a:ext cx="120700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StatusChanged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7333488" y="1600200"/>
            <a:ext cx="128016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7452360" y="1568196"/>
            <a:ext cx="9144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461504" y="1371600"/>
            <a:ext cx="13716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7498080" y="1417320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CRM, audit, BI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498080" y="1554480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subscribers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274320" y="22128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8A"/>
                </a:solidFill>
              </a:rPr>
              <a:t>Outbound — event-triggered, Durable Functions delivers via each vendor's adapter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2432304"/>
            <a:ext cx="128016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320040" y="2468880"/>
            <a:ext cx="420624" cy="118872"/>
          </a:xfrm>
          <a:prstGeom prst="roundRect">
            <a:avLst>
              <a:gd name="adj" fmla="val 2307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320040" y="2468880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EVENT</a:t>
            </a:r>
            <a:endParaRPr lang="en-US" sz="550" dirty="0"/>
          </a:p>
        </p:txBody>
      </p:sp>
      <p:sp>
        <p:nvSpPr>
          <p:cNvPr id="45" name="Text 43"/>
          <p:cNvSpPr/>
          <p:nvPr/>
        </p:nvSpPr>
        <p:spPr>
          <a:xfrm>
            <a:off x="310896" y="2596896"/>
            <a:ext cx="120700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RepairAssigned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10896" y="2734056"/>
            <a:ext cx="120700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event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1554480" y="2660904"/>
            <a:ext cx="128016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1673352" y="2628900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1682496" y="2432304"/>
            <a:ext cx="1463040" cy="45720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1719072" y="2478024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WO Issuer + resolver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145536" y="2660904"/>
            <a:ext cx="128016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3264408" y="2628900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3273552" y="2432304"/>
            <a:ext cx="13716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3319272" y="2468880"/>
            <a:ext cx="245059" cy="118872"/>
          </a:xfrm>
          <a:prstGeom prst="roundRect">
            <a:avLst>
              <a:gd name="adj" fmla="val 23077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3319272" y="2468880"/>
            <a:ext cx="245059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DF</a:t>
            </a:r>
            <a:endParaRPr lang="en-US" sz="550" dirty="0"/>
          </a:p>
        </p:txBody>
      </p:sp>
      <p:sp>
        <p:nvSpPr>
          <p:cNvPr id="56" name="Text 54"/>
          <p:cNvSpPr/>
          <p:nvPr/>
        </p:nvSpPr>
        <p:spPr>
          <a:xfrm>
            <a:off x="3310128" y="2596896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Durable fan-out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310128" y="2734056"/>
            <a:ext cx="12984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per-branch retry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4645152" y="2660904"/>
            <a:ext cx="128016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4764024" y="2628900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4773168" y="2249424"/>
            <a:ext cx="1554480" cy="384048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4809744" y="2295144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HTTP adapter → V1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773168" y="2688336"/>
            <a:ext cx="1554480" cy="384048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4809744" y="2734056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File adapter → V2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754880" y="2660904"/>
            <a:ext cx="18288" cy="0"/>
          </a:xfrm>
          <a:prstGeom prst="line">
            <a:avLst/>
          </a:prstGeom>
          <a:noFill/>
          <a:ln w="1397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4754880" y="2660904"/>
            <a:ext cx="18288" cy="228600"/>
          </a:xfrm>
          <a:prstGeom prst="line">
            <a:avLst/>
          </a:prstGeom>
          <a:noFill/>
          <a:ln w="1397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6492240" y="2249424"/>
            <a:ext cx="118872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6528816" y="2295144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1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492240" y="2688336"/>
            <a:ext cx="118872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/>
          <p:nvPr/>
        </p:nvSpPr>
        <p:spPr>
          <a:xfrm>
            <a:off x="6528816" y="2734056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Vendor 2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327648" y="2441448"/>
            <a:ext cx="164592" cy="0"/>
          </a:xfrm>
          <a:prstGeom prst="line">
            <a:avLst/>
          </a:prstGeom>
          <a:noFill/>
          <a:ln w="1651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6483096" y="2409444"/>
            <a:ext cx="9144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6327648" y="2880360"/>
            <a:ext cx="164592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6483096" y="2848356"/>
            <a:ext cx="914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274320" y="3310128"/>
            <a:ext cx="8595360" cy="1536192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blurRad="63500" dist="254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5" name="Text 73"/>
          <p:cNvSpPr/>
          <p:nvPr/>
        </p:nvSpPr>
        <p:spPr>
          <a:xfrm>
            <a:off x="457200" y="338328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</a:rPr>
              <a:t>Option 2 summary for both vendors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57200" y="365760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v  </a:t>
            </a:r>
            <a:r>
              <a:rPr lang="en-US" sz="850" dirty="0">
                <a:solidFill>
                  <a:srgbClr val="1E293B"/>
                </a:solidFill>
              </a:rPr>
              <a:t>Same edge adapters as Option 1 — HTTP for Vendor 1, file parse/drop for Vendor 2, nothing changes for the vendors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457200" y="389077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v  </a:t>
            </a:r>
            <a:r>
              <a:rPr lang="en-US" sz="850" dirty="0">
                <a:solidFill>
                  <a:srgbClr val="1E293B"/>
                </a:solidFill>
              </a:rPr>
              <a:t>Each status update becomes a command, handled once, then a StatusChanged event fans out to CRM, audit, and analytics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57200" y="412394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v  </a:t>
            </a:r>
            <a:r>
              <a:rPr lang="en-US" sz="850" dirty="0">
                <a:solidFill>
                  <a:srgbClr val="1E293B"/>
                </a:solidFill>
              </a:rPr>
              <a:t>Outbound is triggered by events and delivered by Durable Functions with per-branch retry — a slow file vendor never blocks an HTTP one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457200" y="435711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v  </a:t>
            </a:r>
            <a:r>
              <a:rPr lang="en-US" sz="850" dirty="0">
                <a:solidFill>
                  <a:srgbClr val="1E293B"/>
                </a:solidFill>
              </a:rPr>
              <a:t>Event replay covers both: if Vendor 2's file batch or Vendor 1's webhook failed, replay from Event Grid — no manual rebuild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457200" y="459028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v  </a:t>
            </a:r>
            <a:r>
              <a:rPr lang="en-US" sz="850" dirty="0">
                <a:solidFill>
                  <a:srgbClr val="1E293B"/>
                </a:solidFill>
              </a:rPr>
              <a:t>New consumers (SLA dashboard, BI) subscribe to the same events with no change to either vendor's path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Summary — both vendors, both options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03504"/>
            <a:ext cx="2011680" cy="3657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84048" y="6035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Aspect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0" y="603504"/>
            <a:ext cx="2148840" cy="365760"/>
          </a:xfrm>
          <a:prstGeom prst="rect">
            <a:avLst/>
          </a:prstGeom>
          <a:solidFill>
            <a:srgbClr val="065F7B"/>
          </a:solidFill>
          <a:ln w="12700">
            <a:solidFill>
              <a:srgbClr val="065F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395728" y="603504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Vendor 1 (HTTP)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434840" y="603504"/>
            <a:ext cx="2148840" cy="36576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44568" y="603504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Vendor 2 (file)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0" y="603504"/>
            <a:ext cx="228600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693408" y="60350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 the new model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969264"/>
            <a:ext cx="201168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84048" y="969264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</a:rPr>
              <a:t>Channel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86000" y="969264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395728" y="969264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D3EE"/>
                </a:solidFill>
              </a:rPr>
              <a:t>HTTP to Service Bus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434840" y="969264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544568" y="969264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BBF24"/>
                </a:solidFill>
              </a:rPr>
              <a:t>XML file on SFTP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583680" y="969264"/>
            <a:ext cx="228600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693408" y="96926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E7B7"/>
                </a:solidFill>
              </a:rPr>
              <a:t>Unchanged — vendor keeps its channel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4320" y="1481328"/>
            <a:ext cx="201168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84048" y="1481328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</a:rPr>
              <a:t>Today's custom code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286000" y="1481328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2395728" y="1481328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D3EE"/>
                </a:solidFill>
              </a:rPr>
              <a:t>Consumer LA + child LA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434840" y="1481328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544568" y="1481328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BBF24"/>
                </a:solidFill>
              </a:rPr>
              <a:t>File poller + XML parser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583680" y="1481328"/>
            <a:ext cx="228600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693408" y="148132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E7B7"/>
                </a:solidFill>
              </a:rPr>
              <a:t>Replaced by one thin edge adapter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74320" y="1993392"/>
            <a:ext cx="201168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84048" y="1993392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</a:rPr>
              <a:t>Entry point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286000" y="1993392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2395728" y="1993392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D3EE"/>
                </a:solidFill>
              </a:rPr>
              <a:t>Raw Service Bus message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34840" y="1993392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544568" y="1993392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BBF24"/>
                </a:solidFill>
              </a:rPr>
              <a:t>Polled file pickup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583680" y="1993392"/>
            <a:ext cx="228600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693408" y="199339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E7B7"/>
                </a:solidFill>
              </a:rPr>
              <a:t>Same Work Order API for both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4320" y="2505456"/>
            <a:ext cx="201168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384048" y="2505456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</a:rPr>
              <a:t>Inbound latency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286000" y="2505456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2395728" y="2505456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D3EE"/>
                </a:solidFill>
              </a:rPr>
              <a:t>Real-time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434840" y="2505456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4544568" y="2505456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BBF24"/>
                </a:solidFill>
              </a:rPr>
              <a:t>60-min polling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583680" y="2505456"/>
            <a:ext cx="228600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693408" y="250545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E7B7"/>
                </a:solidFill>
              </a:rPr>
              <a:t>File-arrived trigger, near real-time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3017520"/>
            <a:ext cx="201168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384048" y="3017520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</a:rPr>
              <a:t>Write to Dataverse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286000" y="3017520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2395728" y="3017520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D3EE"/>
                </a:solidFill>
              </a:rPr>
              <a:t>Per-vendor handler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434840" y="3017520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4544568" y="3017520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BBF24"/>
                </a:solidFill>
              </a:rPr>
              <a:t>Per-vendor parser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583680" y="3017520"/>
            <a:ext cx="228600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6693408" y="301752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E7B7"/>
                </a:solidFill>
              </a:rPr>
              <a:t>One shared handler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74320" y="3529584"/>
            <a:ext cx="201168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384048" y="3529584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</a:rPr>
              <a:t>Outbound delivery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286000" y="3529584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2395728" y="3529584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D3EE"/>
                </a:solidFill>
              </a:rPr>
              <a:t>Per-vendor issue logic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434840" y="3529584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4544568" y="3529584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BBF24"/>
                </a:solidFill>
              </a:rPr>
              <a:t>Per-vendor file drop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583680" y="3529584"/>
            <a:ext cx="228600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6693408" y="352958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E7B7"/>
                </a:solidFill>
              </a:rPr>
              <a:t>Shared issuer + resolver row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4041648"/>
            <a:ext cx="201168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384048" y="4041648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</a:rPr>
              <a:t>Option 2 adds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286000" y="4041648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2395728" y="4041648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D3EE"/>
                </a:solidFill>
              </a:rPr>
              <a:t>—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434840" y="4041648"/>
            <a:ext cx="214884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4544568" y="4041648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BBF24"/>
                </a:solidFill>
              </a:rPr>
              <a:t>—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583680" y="4041648"/>
            <a:ext cx="2286000" cy="512064"/>
          </a:xfrm>
          <a:prstGeom prst="rect">
            <a:avLst/>
          </a:prstGeom>
          <a:solidFill>
            <a:srgbClr val="0D1F35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6693408" y="404164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E7B7"/>
                </a:solidFill>
              </a:rPr>
              <a:t>Events, replay, per-branch retry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74320" y="4626864"/>
            <a:ext cx="8595360" cy="310896"/>
          </a:xfrm>
          <a:prstGeom prst="rect">
            <a:avLst/>
          </a:prstGeom>
          <a:solidFill>
            <a:srgbClr val="0D2818"/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/>
          <p:nvPr/>
        </p:nvSpPr>
        <p:spPr>
          <a:xfrm>
            <a:off x="420624" y="4626864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E7B7"/>
                </a:solidFill>
              </a:rPr>
              <a:t>Bottom line: HTTP and file vendors differ only at the edge adapter. Behind it, one shared platform serves every vendor.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1097</Words>
  <Application>Microsoft Office PowerPoint</Application>
  <PresentationFormat>On-screen Show (16:9)</PresentationFormat>
  <Paragraphs>199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 and File Vendors in the New Architecture</dc:title>
  <dc:subject>PptxGenJS Presentation</dc:subject>
  <dc:creator>PptxGenJS</dc:creator>
  <cp:lastModifiedBy>Kumar, Puneet (Cognizant)</cp:lastModifiedBy>
  <cp:revision>2</cp:revision>
  <dcterms:created xsi:type="dcterms:W3CDTF">2026-06-02T18:06:21Z</dcterms:created>
  <dcterms:modified xsi:type="dcterms:W3CDTF">2026-06-02T19:58:34Z</dcterms:modified>
</cp:coreProperties>
</file>