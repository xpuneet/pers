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20464" y="404937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 Model: Internal and External, Security Boundary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603912" y="738021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boundary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01192" y="1017932"/>
            <a:ext cx="0" cy="3029486"/>
          </a:xfrm>
          <a:prstGeom prst="line">
            <a:avLst/>
          </a:prstGeom>
          <a:noFill/>
          <a:ln w="22225">
            <a:solidFill>
              <a:srgbClr val="C0392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238152" y="404507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crossed only at the edge, by external traffic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0839" y="1438253"/>
            <a:ext cx="1812707" cy="563072"/>
          </a:xfrm>
          <a:prstGeom prst="roundRect">
            <a:avLst>
              <a:gd name="adj" fmla="val 12992"/>
            </a:avLst>
          </a:prstGeom>
          <a:solidFill>
            <a:srgbClr val="F1EEE7"/>
          </a:solidFill>
          <a:ln w="15875">
            <a:solidFill>
              <a:srgbClr val="A8A19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consumer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client / partner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52251" y="1327225"/>
            <a:ext cx="2114824" cy="785129"/>
          </a:xfrm>
          <a:prstGeom prst="roundRect">
            <a:avLst>
              <a:gd name="adj" fmla="val 9317"/>
            </a:avLst>
          </a:prstGeom>
          <a:solidFill>
            <a:srgbClr val="E6F0FA"/>
          </a:solidFill>
          <a:ln w="15875">
            <a:solidFill>
              <a:srgbClr val="3D6FA8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Door + WAF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termination, OWASP rules,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limiting, IP policy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23545" y="1723755"/>
            <a:ext cx="528706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3429" y="1866505"/>
            <a:ext cx="2719060" cy="1665424"/>
          </a:xfrm>
          <a:prstGeom prst="roundRect">
            <a:avLst>
              <a:gd name="adj" fmla="val 4392"/>
            </a:avLst>
          </a:prstGeom>
          <a:solidFill>
            <a:srgbClr val="EEEBFB"/>
          </a:solidFill>
          <a:ln w="15875">
            <a:solidFill>
              <a:srgbClr val="6A5AA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API Management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VNet mode — one instance, no public endpoint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calls: OAuth 2.0 token validated at the gateway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calls: Entra ID client credentials flow validated first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67076" y="1779269"/>
            <a:ext cx="521153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8229" y="1779269"/>
            <a:ext cx="0" cy="602725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8229" y="2381994"/>
            <a:ext cx="3852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909377" y="14200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Link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52251" y="3024372"/>
            <a:ext cx="1812707" cy="563072"/>
          </a:xfrm>
          <a:prstGeom prst="roundRect">
            <a:avLst>
              <a:gd name="adj" fmla="val 12992"/>
            </a:avLst>
          </a:prstGeom>
          <a:solidFill>
            <a:srgbClr val="F1EEE7"/>
          </a:solidFill>
          <a:ln w="15875">
            <a:solidFill>
              <a:srgbClr val="A8A19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application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inside the VNet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4958" y="3309873"/>
            <a:ext cx="6420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5306958" y="3024372"/>
            <a:ext cx="0" cy="285501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6958" y="3024372"/>
            <a:ext cx="566471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486412" y="3291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direct, no edge hop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96724" y="2270965"/>
            <a:ext cx="2114824" cy="864434"/>
          </a:xfrm>
          <a:prstGeom prst="roundRect">
            <a:avLst>
              <a:gd name="adj" fmla="val 8462"/>
            </a:avLst>
          </a:prstGeom>
          <a:solidFill>
            <a:srgbClr val="E3F3EC"/>
          </a:solidFill>
          <a:ln w="15875">
            <a:solidFill>
              <a:srgbClr val="2E7D5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services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Functions, integration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services, Private Endpoint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92489" y="2699217"/>
            <a:ext cx="604236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0839" y="4769102"/>
            <a:ext cx="10800710" cy="1260964"/>
          </a:xfrm>
          <a:prstGeom prst="roundRect">
            <a:avLst>
              <a:gd name="adj" fmla="val 8702"/>
            </a:avLst>
          </a:prstGeom>
          <a:solidFill>
            <a:srgbClr val="FFFFFF">
              <a:alpha val="0"/>
            </a:srgbClr>
          </a:solidFill>
          <a:ln w="15875">
            <a:solidFill>
              <a:srgbClr val="9AA3BA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737427" y="4861929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across every layer, inside the boundary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flipH="1">
            <a:off x="6024488" y="3500207"/>
            <a:ext cx="1208471" cy="1713008"/>
          </a:xfrm>
          <a:prstGeom prst="line">
            <a:avLst/>
          </a:prstGeom>
          <a:noFill/>
          <a:ln w="15875">
            <a:solidFill>
              <a:srgbClr val="C8A06A"/>
            </a:solidFill>
            <a:prstDash val="sysDash"/>
          </a:ln>
        </p:spPr>
      </p:sp>
      <p:sp>
        <p:nvSpPr>
          <p:cNvPr id="24" name="Shape 22"/>
          <p:cNvSpPr/>
          <p:nvPr/>
        </p:nvSpPr>
        <p:spPr>
          <a:xfrm>
            <a:off x="7232959" y="3500207"/>
            <a:ext cx="2265883" cy="1713008"/>
          </a:xfrm>
          <a:prstGeom prst="line">
            <a:avLst/>
          </a:prstGeom>
          <a:noFill/>
          <a:ln w="15875">
            <a:solidFill>
              <a:srgbClr val="C8A06A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 flipH="1">
            <a:off x="6024488" y="3135400"/>
            <a:ext cx="4229649" cy="2077815"/>
          </a:xfrm>
          <a:prstGeom prst="line">
            <a:avLst/>
          </a:prstGeom>
          <a:noFill/>
          <a:ln w="15875">
            <a:solidFill>
              <a:srgbClr val="C8A06A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 flipH="1">
            <a:off x="9498842" y="3135400"/>
            <a:ext cx="755294" cy="2077815"/>
          </a:xfrm>
          <a:prstGeom prst="line">
            <a:avLst/>
          </a:prstGeom>
          <a:noFill/>
          <a:ln w="15875">
            <a:solidFill>
              <a:srgbClr val="C8A06A"/>
            </a:solidFill>
            <a:prstDash val="sysDash"/>
          </a:ln>
        </p:spPr>
      </p:sp>
      <p:sp>
        <p:nvSpPr>
          <p:cNvPr id="27" name="Text 25"/>
          <p:cNvSpPr/>
          <p:nvPr/>
        </p:nvSpPr>
        <p:spPr>
          <a:xfrm>
            <a:off x="4740487" y="5213215"/>
            <a:ext cx="2568001" cy="705823"/>
          </a:xfrm>
          <a:prstGeom prst="roundRect">
            <a:avLst>
              <a:gd name="adj" fmla="val 10364"/>
            </a:avLst>
          </a:prstGeom>
          <a:solidFill>
            <a:srgbClr val="F8ECDA"/>
          </a:solidFill>
          <a:ln w="15875">
            <a:solidFill>
              <a:srgbClr val="B07A3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Entra ID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for every layer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14842" y="5213215"/>
            <a:ext cx="2568001" cy="705823"/>
          </a:xfrm>
          <a:prstGeom prst="roundRect">
            <a:avLst>
              <a:gd name="adj" fmla="val 10364"/>
            </a:avLst>
          </a:prstGeom>
          <a:solidFill>
            <a:srgbClr val="F8ECDA"/>
          </a:solidFill>
          <a:ln w="15875">
            <a:solidFill>
              <a:srgbClr val="B07A3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Key Vault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for every layer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5158" y="582473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Non-OAuth consumers: approval process, then runtime flow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384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Approval process (one-time)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5158" y="1484071"/>
            <a:ext cx="2016252" cy="903427"/>
          </a:xfrm>
          <a:prstGeom prst="roundRect">
            <a:avLst>
              <a:gd name="adj" fmla="val 8097"/>
            </a:avLst>
          </a:prstGeom>
          <a:solidFill>
            <a:srgbClr val="F1EEE7"/>
          </a:solidFill>
          <a:ln w="15875">
            <a:solidFill>
              <a:srgbClr val="A8A19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cannot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OAuth 2.0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91410" y="1935785"/>
            <a:ext cx="23865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830068" y="1484071"/>
            <a:ext cx="2008022" cy="903427"/>
          </a:xfrm>
          <a:prstGeom prst="roundRect">
            <a:avLst>
              <a:gd name="adj" fmla="val 8097"/>
            </a:avLst>
          </a:prstGeom>
          <a:solidFill>
            <a:srgbClr val="E6F0FA"/>
          </a:solidFill>
          <a:ln w="15875">
            <a:solidFill>
              <a:srgbClr val="3D6FA8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raised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38090" y="1935785"/>
            <a:ext cx="24688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084978" y="1484071"/>
            <a:ext cx="2008022" cy="903427"/>
          </a:xfrm>
          <a:prstGeom prst="roundRect">
            <a:avLst>
              <a:gd name="adj" fmla="val 8097"/>
            </a:avLst>
          </a:prstGeom>
          <a:solidFill>
            <a:srgbClr val="EEEBFB"/>
          </a:solidFill>
          <a:ln w="15875">
            <a:solidFill>
              <a:srgbClr val="6A5AA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93001" y="1935785"/>
            <a:ext cx="23865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331659" y="1484071"/>
            <a:ext cx="2016252" cy="903427"/>
          </a:xfrm>
          <a:prstGeom prst="roundRect">
            <a:avLst>
              <a:gd name="adj" fmla="val 8097"/>
            </a:avLst>
          </a:prstGeom>
          <a:solidFill>
            <a:srgbClr val="F8ECDA"/>
          </a:solidFill>
          <a:ln w="15875">
            <a:solidFill>
              <a:srgbClr val="B07A3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47911" y="1935785"/>
            <a:ext cx="23865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586570" y="1484071"/>
            <a:ext cx="2016252" cy="903427"/>
          </a:xfrm>
          <a:prstGeom prst="roundRect">
            <a:avLst>
              <a:gd name="adj" fmla="val 8097"/>
            </a:avLst>
          </a:prstGeom>
          <a:solidFill>
            <a:srgbClr val="E3F3EC"/>
          </a:solidFill>
          <a:ln w="15875">
            <a:solidFill>
              <a:srgbClr val="2E7D5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/ API key,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time-boxed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8990" y="2422246"/>
            <a:ext cx="0" cy="747065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311189" y="266730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approved, at runtime: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37962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Runtime ingress flow (every call)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5158" y="3777386"/>
            <a:ext cx="2057400" cy="972922"/>
          </a:xfrm>
          <a:prstGeom prst="roundRect">
            <a:avLst>
              <a:gd name="adj" fmla="val 7519"/>
            </a:avLst>
          </a:prstGeom>
          <a:solidFill>
            <a:srgbClr val="F1EEE7"/>
          </a:solidFill>
          <a:ln w="15875">
            <a:solidFill>
              <a:srgbClr val="A8A19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Non-OAuth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32558" y="4263847"/>
            <a:ext cx="938174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570732" y="3777386"/>
            <a:ext cx="2049170" cy="972922"/>
          </a:xfrm>
          <a:prstGeom prst="roundRect">
            <a:avLst>
              <a:gd name="adj" fmla="val 7519"/>
            </a:avLst>
          </a:prstGeom>
          <a:solidFill>
            <a:srgbClr val="0F2A5C"/>
          </a:solidFill>
          <a:ln w="15875">
            <a:solidFill>
              <a:srgbClr val="0F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Door + WAF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6D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TLS, WAF, DDoS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19902" y="4263847"/>
            <a:ext cx="938174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558077" y="3777386"/>
            <a:ext cx="2049170" cy="972922"/>
          </a:xfrm>
          <a:prstGeom prst="roundRect">
            <a:avLst>
              <a:gd name="adj" fmla="val 7519"/>
            </a:avLst>
          </a:prstGeom>
          <a:solidFill>
            <a:srgbClr val="E6F0FA"/>
          </a:solidFill>
          <a:ln w="15875">
            <a:solidFill>
              <a:srgbClr val="3D6FA8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APIM internal gateway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cert / key (not JWT)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07247" y="4263847"/>
            <a:ext cx="938174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545422" y="3777386"/>
            <a:ext cx="2057400" cy="972922"/>
          </a:xfrm>
          <a:prstGeom prst="roundRect">
            <a:avLst>
              <a:gd name="adj" fmla="val 7519"/>
            </a:avLst>
          </a:prstGeom>
          <a:solidFill>
            <a:srgbClr val="E3F3EC"/>
          </a:solidFill>
          <a:ln w="15875">
            <a:solidFill>
              <a:srgbClr val="2E7D5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Private Link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06486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path as an OAuth consumer, but APIM validates a client certificate (mTLS) or API key instead of a JWT.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1825142" y="1011875"/>
            <a:ext cx="3433389" cy="213969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 flipH="1">
            <a:off x="5634899" y="1011875"/>
            <a:ext cx="476220" cy="520659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6433718" y="1011875"/>
            <a:ext cx="291876" cy="213969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779362" y="1011875"/>
            <a:ext cx="2649931" cy="213969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4321454" y="2338487"/>
            <a:ext cx="576072" cy="656173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2170786" y="2338487"/>
            <a:ext cx="2073859" cy="813084"/>
          </a:xfrm>
          <a:prstGeom prst="line">
            <a:avLst/>
          </a:prstGeom>
          <a:noFill/>
          <a:ln w="15875">
            <a:solidFill>
              <a:srgbClr val="5B6B8C"/>
            </a:solidFill>
            <a:prstDash val="dash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11856" y="2338487"/>
            <a:ext cx="860268" cy="813084"/>
          </a:xfrm>
          <a:prstGeom prst="line">
            <a:avLst/>
          </a:prstGeom>
          <a:noFill/>
          <a:ln w="15875">
            <a:solidFill>
              <a:srgbClr val="5B6B8C"/>
            </a:solidFill>
            <a:prstDash val="dash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72271" y="2317090"/>
            <a:ext cx="2557760" cy="834481"/>
          </a:xfrm>
          <a:prstGeom prst="line">
            <a:avLst/>
          </a:prstGeom>
          <a:noFill/>
          <a:ln w="15875">
            <a:solidFill>
              <a:srgbClr val="5B6B8C"/>
            </a:solidFill>
            <a:prstDash val="dash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449848" y="2515149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scope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40947" y="3650833"/>
            <a:ext cx="0" cy="670438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540947" y="5127224"/>
            <a:ext cx="0" cy="520659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787043" y="3650833"/>
            <a:ext cx="0" cy="670438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787043" y="5127224"/>
            <a:ext cx="0" cy="670438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713488" y="3650833"/>
            <a:ext cx="0" cy="75602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713488" y="5041636"/>
            <a:ext cx="0" cy="75602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028103" y="377099"/>
            <a:ext cx="2734422" cy="634776"/>
          </a:xfrm>
          <a:prstGeom prst="roundRect">
            <a:avLst>
              <a:gd name="adj" fmla="val 21608"/>
            </a:avLst>
          </a:prstGeom>
          <a:solidFill>
            <a:srgbClr val="1F2761"/>
          </a:solidFill>
          <a:ln>
            <a:solidFill>
              <a:srgbClr val="1F276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APIM Instance (Premium)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by the Platform team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37111" y="1532534"/>
            <a:ext cx="2235159" cy="805952"/>
          </a:xfrm>
          <a:prstGeom prst="roundRect">
            <a:avLst>
              <a:gd name="adj" fmla="val 13615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 Groups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(Admins, Claims-Team,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Partner-XYZ-ReadOnly)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77581" y="2994660"/>
            <a:ext cx="2281245" cy="805952"/>
          </a:xfrm>
          <a:prstGeom prst="roundRect">
            <a:avLst>
              <a:gd name="adj" fmla="val 13615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(mapped from Entra ID,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local accounts)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6189" y="3151571"/>
            <a:ext cx="1897197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Workspace: Claims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35341" y="3151571"/>
            <a:ext cx="2903403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Workspace: Partner and Broker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15259" y="3151571"/>
            <a:ext cx="2181393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Workspace: Policy Admin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7208" y="4321272"/>
            <a:ext cx="2235159" cy="805952"/>
          </a:xfrm>
          <a:prstGeom prst="roundRect">
            <a:avLst>
              <a:gd name="adj" fmla="val 13615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External Broker,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Core Systems)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19389" y="4321272"/>
            <a:ext cx="2135307" cy="805952"/>
          </a:xfrm>
          <a:prstGeom prst="roundRect">
            <a:avLst>
              <a:gd name="adj" fmla="val 13615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External Market,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Partner)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53368" y="4406859"/>
            <a:ext cx="1920240" cy="634776"/>
          </a:xfrm>
          <a:prstGeom prst="roundRect">
            <a:avLst>
              <a:gd name="adj" fmla="val 17286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Internal Only)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3293" y="5647883"/>
            <a:ext cx="2142988" cy="805952"/>
          </a:xfrm>
          <a:prstGeom prst="roundRect">
            <a:avLst>
              <a:gd name="adj" fmla="val 13615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per consuming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or partner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65032" y="5797662"/>
            <a:ext cx="1436340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99159" y="5797662"/>
            <a:ext cx="1436340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7792" y="1071220"/>
            <a:ext cx="11087649" cy="4195724"/>
          </a:xfrm>
          <a:prstGeom prst="roundRect">
            <a:avLst>
              <a:gd name="adj" fmla="val 2615"/>
            </a:avLst>
          </a:prstGeom>
          <a:solidFill>
            <a:srgbClr val="FFFFFF">
              <a:alpha val="0"/>
            </a:srgbClr>
          </a:solidFill>
          <a:ln w="15875">
            <a:solidFill>
              <a:srgbClr val="A0A0A0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830641" y="1270559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workspace per domain team owns everything inside this box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4291" y="2122780"/>
            <a:ext cx="2523744" cy="1251356"/>
          </a:xfrm>
          <a:prstGeom prst="roundRect">
            <a:avLst>
              <a:gd name="adj" fmla="val 5846"/>
            </a:avLst>
          </a:prstGeom>
          <a:solidFill>
            <a:srgbClr val="F8ECDA"/>
          </a:solidFill>
          <a:ln w="15875">
            <a:solidFill>
              <a:srgbClr val="B07A3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values</a:t>
            </a:r>
            <a:endParaRPr lang="en-US" sz="18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and secrets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92784" y="2122780"/>
            <a:ext cx="2515332" cy="1251356"/>
          </a:xfrm>
          <a:prstGeom prst="roundRect">
            <a:avLst>
              <a:gd name="adj" fmla="val 5846"/>
            </a:avLst>
          </a:prstGeom>
          <a:solidFill>
            <a:srgbClr val="EEEBFB"/>
          </a:solidFill>
          <a:ln w="15875">
            <a:solidFill>
              <a:srgbClr val="6A5AA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8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APIs + policy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12864" y="2122780"/>
            <a:ext cx="2523744" cy="1251356"/>
          </a:xfrm>
          <a:prstGeom prst="roundRect">
            <a:avLst>
              <a:gd name="adj" fmla="val 5846"/>
            </a:avLst>
          </a:prstGeom>
          <a:solidFill>
            <a:srgbClr val="E6F0FA"/>
          </a:solidFill>
          <a:ln w="15875">
            <a:solidFill>
              <a:srgbClr val="3D6FA8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</a:t>
            </a:r>
            <a:endParaRPr lang="en-US" sz="18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 membership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41357" y="2122780"/>
            <a:ext cx="1337584" cy="1251356"/>
          </a:xfrm>
          <a:prstGeom prst="roundRect">
            <a:avLst>
              <a:gd name="adj" fmla="val 5846"/>
            </a:avLst>
          </a:prstGeom>
          <a:solidFill>
            <a:srgbClr val="F1EEE7"/>
          </a:solidFill>
          <a:ln w="15875">
            <a:solidFill>
              <a:srgbClr val="A8A19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6B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8035" y="2743200"/>
            <a:ext cx="504749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297509" y="2322119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8115" y="2743200"/>
            <a:ext cx="504749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6317590" y="2322119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 by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436608" y="2743200"/>
            <a:ext cx="504749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9346082" y="2322119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6243" y="3374136"/>
            <a:ext cx="0" cy="588874"/>
          </a:xfrm>
          <a:prstGeom prst="line">
            <a:avLst/>
          </a:prstGeom>
          <a:noFill/>
          <a:ln w="12700">
            <a:solidFill>
              <a:srgbClr val="A33B6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724534" y="3963010"/>
            <a:ext cx="2851831" cy="883310"/>
          </a:xfrm>
          <a:prstGeom prst="roundRect">
            <a:avLst>
              <a:gd name="adj" fmla="val 8282"/>
            </a:avLst>
          </a:prstGeom>
          <a:solidFill>
            <a:srgbClr val="FBE9EF"/>
          </a:solidFill>
          <a:ln w="15875">
            <a:solidFill>
              <a:srgbClr val="A33B62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5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7A2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only, enforces nothing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" y="545576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Products, Groups and Workspaces enforce anything. Tags help people find things; they are not a security control.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7931" y="8503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APIOps: configuration as code, promoted through environments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17931" y="1847088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E6F0FA"/>
          </a:solidFill>
          <a:ln w="15875">
            <a:solidFill>
              <a:srgbClr val="3D6FA8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change APIs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423971" y="1847088"/>
            <a:ext cx="2084832" cy="1463040"/>
          </a:xfrm>
          <a:prstGeom prst="roundRect">
            <a:avLst>
              <a:gd name="adj" fmla="val 5000"/>
            </a:avLst>
          </a:prstGeom>
          <a:solidFill>
            <a:srgbClr val="0F2A5C"/>
          </a:solidFill>
          <a:ln w="15875">
            <a:solidFill>
              <a:srgbClr val="0F2A5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repository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6D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6D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(APIs, policies, products)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77483" y="1847088"/>
            <a:ext cx="2084832" cy="1463040"/>
          </a:xfrm>
          <a:prstGeom prst="roundRect">
            <a:avLst>
              <a:gd name="adj" fmla="val 5000"/>
            </a:avLst>
          </a:prstGeom>
          <a:solidFill>
            <a:srgbClr val="E3F3EC"/>
          </a:solidFill>
          <a:ln w="15875">
            <a:solidFill>
              <a:srgbClr val="2E7D5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-&gt; UAT -&gt; Prod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config promoted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each environment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30995" y="1847088"/>
            <a:ext cx="1911096" cy="1463040"/>
          </a:xfrm>
          <a:prstGeom prst="roundRect">
            <a:avLst>
              <a:gd name="adj" fmla="val 5000"/>
            </a:avLst>
          </a:prstGeom>
          <a:solidFill>
            <a:srgbClr val="F8ECDA"/>
          </a:solidFill>
          <a:ln w="15875">
            <a:solidFill>
              <a:srgbClr val="B07A3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approval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to deploy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55291" y="2578608"/>
            <a:ext cx="8686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578151" y="2203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08803" y="2578608"/>
            <a:ext cx="8686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531663" y="2203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62315" y="2578608"/>
            <a:ext cx="8686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817931" y="3931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process:  </a:t>
            </a:r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made in Dev, reviewed via pull request, automated validation runs, merged on approval, then the same approved config is deployed through Dev, UAT and Production. No direct Production changes; secrets never committed to source control.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1: external inbound, through Front Door and Private Link (no firewall on inbound)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1EEE7"/>
          </a:solidFill>
          <a:ln w="15875">
            <a:solidFill>
              <a:srgbClr val="A8A19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user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B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/ market system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468880" y="1014984"/>
            <a:ext cx="9144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2468880" y="740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383280" y="7315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6F0FA"/>
          </a:solidFill>
          <a:ln w="15875">
            <a:solidFill>
              <a:srgbClr val="3D6FA8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Door + WAF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TLS, WAF, DDoS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0" y="1014984"/>
            <a:ext cx="9144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5394960" y="740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Link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09360" y="7315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EEBFB"/>
          </a:solidFill>
          <a:ln w="15875">
            <a:solidFill>
              <a:srgbClr val="6A5AA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APIM internal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endpoint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21040" y="1014984"/>
            <a:ext cx="9144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235440" y="7315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3F3EC"/>
          </a:solidFill>
          <a:ln w="15875">
            <a:solidFill>
              <a:srgbClr val="2E7D5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38988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never traverses the Palo Alto. Front Door WAF inspects; APIM accepts traffic only from the Front Door Private Link origin.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920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2: internal inbound, direct to APIM over the private network (no firewall)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37744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6F0FA"/>
          </a:solidFill>
          <a:ln w="15875">
            <a:solidFill>
              <a:srgbClr val="3D6FA8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/ on-prem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VNet peering / ExpressRoute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2660904"/>
            <a:ext cx="9144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468880" y="23865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37744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EEBFB"/>
          </a:solidFill>
          <a:ln w="15875">
            <a:solidFill>
              <a:srgbClr val="6A5AA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APIM internal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+ policy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94960" y="2660904"/>
            <a:ext cx="9144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309360" y="237744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3F3EC"/>
          </a:solidFill>
          <a:ln w="15875">
            <a:solidFill>
              <a:srgbClr val="2E7D5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035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traffic stays private and does not go through the Palo Alto. Every internal call is still authenticated and policy-checked at APIM.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566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3: outbound to a third party, forced through the firewall for egress inspection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EEBFB"/>
          </a:solidFill>
          <a:ln w="15875">
            <a:solidFill>
              <a:srgbClr val="6A5AA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APIM / backend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68880" y="4306824"/>
            <a:ext cx="9144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2468880" y="4032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0.0.0.0/0 UDR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402336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BECEC"/>
          </a:solidFill>
          <a:ln w="15875">
            <a:solidFill>
              <a:srgbClr val="B5525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B1F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Alto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7A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egress + URL filter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94960" y="4306824"/>
            <a:ext cx="9144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394960" y="4032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402336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1EEE7"/>
          </a:solidFill>
          <a:ln w="15875">
            <a:solidFill>
              <a:srgbClr val="A8A19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/ SaaS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B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Salesforce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6817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UDR (0.0.0.0/0 to the Palo Alto internal LB) forces all outbound data-plane traffic through the firewall. Secrets stay in Key Vault.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212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4: APIM to private backends, stays on the private network (no firewall by default)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566928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EEBFB"/>
          </a:solidFill>
          <a:ln w="15875">
            <a:solidFill>
              <a:srgbClr val="6A5AA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APIM internal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468880" y="5952744"/>
            <a:ext cx="9144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2468880" y="5678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Endpoint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83280" y="566928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3F3EC"/>
          </a:solidFill>
          <a:ln w="15875">
            <a:solidFill>
              <a:srgbClr val="2E7D5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backend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/ PaaS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94960" y="5952744"/>
            <a:ext cx="914400" cy="0"/>
          </a:xfrm>
          <a:prstGeom prst="line">
            <a:avLst/>
          </a:prstGeom>
          <a:noFill/>
          <a:ln w="19050">
            <a:solidFill>
              <a:srgbClr val="B5525A"/>
            </a:solidFill>
            <a:prstDash val="dash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394960" y="5678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55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/32 UDR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566928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BECEC"/>
          </a:solidFill>
          <a:ln w="15875">
            <a:solidFill>
              <a:srgbClr val="B5525A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B1F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Alto (optional)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7A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if policy needs it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3276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East-west traffic never leaves Azure, so it does not need the firewall; NSG + Private Link secure it. Force to firewall only if policy demands.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2026-10-01T09:09:28Z</dcterms:created>
  <dcterms:modified xsi:type="dcterms:W3CDTF">2026-10-01T09:09:28Z</dcterms:modified>
</cp:coreProperties>
</file>