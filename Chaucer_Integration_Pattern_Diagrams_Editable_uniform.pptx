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000">
                <a:solidFill>
                  <a:srgbClr val="1F3864"/>
                </a:solidFill>
                <a:latin typeface="Aptos"/>
              </a:rPr>
              <a:t>Integration Pattern Diagrams</a:t>
            </a:r>
          </a:p>
          <a:p>
            <a:r>
              <a:rPr sz="1800">
                <a:solidFill>
                  <a:srgbClr val="55606E"/>
                </a:solidFill>
                <a:latin typeface="Aptos"/>
              </a:rPr>
              <a:t>Chaucer Systems Integration Framework  ·  editable source (Sections 7 and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26C"/>
                </a:solidFill>
                <a:latin typeface="Aptos"/>
              </a:rPr>
              <a:t>One labelled slide per pattern. Every box, arrow and label is a native shape, so you can edit text, recolour, or restructure any diagram directly and re-export.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749039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 w="15875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7307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External actor /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749039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 w="15875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37307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Gateway / APIM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749039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D9EFE6"/>
          </a:solidFill>
          <a:ln w="15875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7307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Messaging /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FBEBCB"/>
          </a:solidFill>
          <a:ln w="15875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4165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Compute / 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434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8E1F6"/>
          </a:solidFill>
          <a:ln w="15875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4165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Orchestration /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434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4EEF9"/>
          </a:solidFill>
          <a:ln w="15875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4165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Data platform /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</a:t>
            </a:r>
            <a:r>
              <a:rPr b="0" sz="2000">
                <a:solidFill>
                  <a:srgbClr val="55606E"/>
                </a:solidFill>
                <a:latin typeface="Aptos"/>
              </a:rPr>
              <a:t>   Managed API facade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broker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Backend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policy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invoke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</a:t>
            </a:r>
            <a:r>
              <a:rPr b="0" sz="2000">
                <a:solidFill>
                  <a:srgbClr val="55606E"/>
                </a:solidFill>
                <a:latin typeface="Aptos"/>
              </a:rPr>
              <a:t>   API composition / aggregation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aggregator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5143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aggregate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61045" y="2423160"/>
            <a:ext cx="784098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30134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1045" y="3611880"/>
            <a:ext cx="784098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252853" y="4059935"/>
            <a:ext cx="2658618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59202" y="4224527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SFINT3</a:t>
            </a:r>
            <a:r>
              <a:rPr b="0" sz="2000">
                <a:solidFill>
                  <a:srgbClr val="55606E"/>
                </a:solidFill>
                <a:latin typeface="Aptos"/>
              </a:rPr>
              <a:t>   Protocol / format mediation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Modern 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 / 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translate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Legacy SOAP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backend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REST / JSON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SOAP / XML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SFINT5</a:t>
            </a:r>
            <a:r>
              <a:rPr b="0" sz="2000">
                <a:solidFill>
                  <a:srgbClr val="55606E"/>
                </a:solidFill>
                <a:latin typeface="Aptos"/>
              </a:rPr>
              <a:t>   Queue-based load levelling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256946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Internal producer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writes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39" y="375818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External party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2734" y="375818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external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consumer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Backend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dequeue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process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5534" y="3017520"/>
            <a:ext cx="2584094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44621" y="302209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017520"/>
            <a:ext cx="457200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81174" y="3483864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optional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5534" y="420624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81174" y="391363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submit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802428" y="3611880"/>
            <a:ext cx="457200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8068" y="361645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SFINT6</a:t>
            </a:r>
            <a:r>
              <a:rPr b="0" sz="2000">
                <a:solidFill>
                  <a:srgbClr val="55606E"/>
                </a:solidFill>
                <a:latin typeface="Aptos"/>
              </a:rPr>
              <a:t>   Competing consumers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Worker 1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Worker 2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Worker 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compete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SFINT7</a:t>
            </a:r>
            <a:r>
              <a:rPr b="0" sz="2000">
                <a:solidFill>
                  <a:srgbClr val="55606E"/>
                </a:solidFill>
                <a:latin typeface="Aptos"/>
              </a:rPr>
              <a:t>   Asynchronous request-reply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202 +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+ backend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process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082403" y="2706624"/>
            <a:ext cx="0" cy="45720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106549" y="2706624"/>
            <a:ext cx="7975854" cy="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6549" y="2706624"/>
            <a:ext cx="0" cy="457200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2876" y="2487168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A93A0"/>
                </a:solidFill>
                <a:latin typeface="Aptos"/>
              </a:rPr>
              <a:t>callback /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SFINT8</a:t>
            </a:r>
            <a:r>
              <a:rPr b="0" sz="2000">
                <a:solidFill>
                  <a:srgbClr val="55606E"/>
                </a:solidFill>
                <a:latin typeface="Aptos"/>
              </a:rPr>
              <a:t>   Claim-check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Queue: reference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Consumer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7" name="Can 6"/>
          <p:cNvSpPr/>
          <p:nvPr/>
        </p:nvSpPr>
        <p:spPr>
          <a:xfrm>
            <a:off x="5157216" y="375818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Blob store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payload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86912" y="301752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9104" y="2688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31736" y="301752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3928" y="2688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reference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9652" y="3465576"/>
            <a:ext cx="2607564" cy="740664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30474" y="356158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8A93A0"/>
                </a:solidFill>
                <a:latin typeface="Aptos"/>
              </a:rPr>
              <a:t>store payload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031736" y="3465576"/>
            <a:ext cx="2607564" cy="740664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12557" y="356158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8A93A0"/>
                </a:solidFill>
                <a:latin typeface="Aptos"/>
              </a:rPr>
              <a:t>fetch payload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SFINT9</a:t>
            </a:r>
            <a:r>
              <a:rPr b="0" sz="2000">
                <a:solidFill>
                  <a:srgbClr val="55606E"/>
                </a:solidFill>
                <a:latin typeface="Aptos"/>
              </a:rPr>
              <a:t>   Reliable messaging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sessions, dedup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Idempotent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of 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deliver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apply once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SFINT10</a:t>
            </a:r>
            <a:r>
              <a:rPr b="0" sz="2000">
                <a:solidFill>
                  <a:srgbClr val="55606E"/>
                </a:solidFill>
                <a:latin typeface="Aptos"/>
              </a:rPr>
              <a:t>   Scheduled / timed trigger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Schedule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recurrence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 / Function / WebJob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scheduled 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 / Service 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Target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fires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Use only where there is no event to react 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SFINT11</a:t>
            </a:r>
            <a:r>
              <a:rPr b="0" sz="2000">
                <a:solidFill>
                  <a:srgbClr val="55606E"/>
                </a:solidFill>
                <a:latin typeface="Aptos"/>
              </a:rPr>
              <a:t>   Publish / subscribe fan-out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Publisher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Topic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Finance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Doc gen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Analytics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subscription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publish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subscriptions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SFINT12</a:t>
            </a:r>
            <a:r>
              <a:rPr b="0" sz="2000">
                <a:solidFill>
                  <a:srgbClr val="55606E"/>
                </a:solidFill>
                <a:latin typeface="Aptos"/>
              </a:rPr>
              <a:t>   Discrete event notification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e.g. Blob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Handler 1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75818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Handler 2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Logic 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emits event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031736" y="3017520"/>
            <a:ext cx="1670304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3928" y="302209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routes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1736" y="3611880"/>
            <a:ext cx="1670304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SFINT13</a:t>
            </a:r>
            <a:r>
              <a:rPr b="0" sz="2000">
                <a:solidFill>
                  <a:srgbClr val="55606E"/>
                </a:solidFill>
                <a:latin typeface="Aptos"/>
              </a:rPr>
              <a:t>   Inbound webhook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Partner / SaaS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Network Edge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WAF / Front Door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 / Service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process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HTTPS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verify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SFINT14</a:t>
            </a:r>
            <a:r>
              <a:rPr b="0" sz="2000">
                <a:solidFill>
                  <a:srgbClr val="55606E"/>
                </a:solidFill>
                <a:latin typeface="Aptos"/>
              </a:rPr>
              <a:t>   Outbound webhook / notification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Event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Event Grid / Logic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External subscriber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event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push (HTTPS)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SFINT15</a:t>
            </a:r>
            <a:r>
              <a:rPr b="0" sz="2000">
                <a:solidFill>
                  <a:srgbClr val="55606E"/>
                </a:solidFill>
                <a:latin typeface="Aptos"/>
              </a:rPr>
              <a:t>   Stream / telemetry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Feeds / producers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Hubs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partitioned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Processor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Functions / 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landing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stream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offload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SFINT16</a:t>
            </a:r>
            <a:r>
              <a:rPr b="0" sz="2000">
                <a:solidFill>
                  <a:srgbClr val="55606E"/>
                </a:solidFill>
                <a:latin typeface="Aptos"/>
              </a:rPr>
              <a:t>   Stateful process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Orchestrator Layer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Durable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 to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Service Bus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async 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coordinates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SFINT17</a:t>
            </a:r>
            <a:r>
              <a:rPr b="0" sz="2000">
                <a:solidFill>
                  <a:srgbClr val="55606E"/>
                </a:solidFill>
                <a:latin typeface="Aptos"/>
              </a:rPr>
              <a:t>   Process with compensation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Bind policy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System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Post to finance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step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step 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39300" y="4059935"/>
            <a:ext cx="0" cy="457201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49652" y="4517136"/>
            <a:ext cx="7089648" cy="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49652" y="4059935"/>
            <a:ext cx="0" cy="457201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22876" y="4553712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A93A0"/>
                </a:solidFill>
                <a:latin typeface="Aptos"/>
              </a:rPr>
              <a:t>compensate (void bind) on failure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SFINT18</a:t>
            </a:r>
            <a:r>
              <a:rPr b="0" sz="2000">
                <a:solidFill>
                  <a:srgbClr val="55606E"/>
                </a:solidFill>
                <a:latin typeface="Aptos"/>
              </a:rPr>
              <a:t>   Human-in-the-loop /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Approver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Teams /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Continue / reject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 approval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decision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SFINT19</a:t>
            </a:r>
            <a:r>
              <a:rPr b="0" sz="2000">
                <a:solidFill>
                  <a:srgbClr val="55606E"/>
                </a:solidFill>
                <a:latin typeface="Aptos"/>
              </a:rPr>
              <a:t>   Event-driven file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Partner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via SFTP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Blob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landing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blob-created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+ Function parse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Service Bus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records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drop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on arrival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orchestrate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send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A file is a transport; react on arrival; decompose into messages.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SFINT20</a:t>
            </a:r>
            <a:r>
              <a:rPr b="0" sz="2000">
                <a:solidFill>
                  <a:srgbClr val="55606E"/>
                </a:solidFill>
                <a:latin typeface="Aptos"/>
              </a:rPr>
              <a:t>   File generation and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Records / 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render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SFTP / Blob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Partner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collects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collect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format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write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deliver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SFINT21</a:t>
            </a:r>
            <a:r>
              <a:rPr b="0" sz="2000">
                <a:solidFill>
                  <a:srgbClr val="55606E"/>
                </a:solidFill>
                <a:latin typeface="Aptos"/>
              </a:rPr>
              <a:t>   Canonical data model and message translator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Broker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EDI / XML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Coverholder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bordereaux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9289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Bureau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ACORD / CDR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Translator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Canonical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5143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Policy sys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5143" y="375818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Claims sys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canonical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61045" y="3017520"/>
            <a:ext cx="784098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30134" y="302209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distribute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1045" y="3611880"/>
            <a:ext cx="784098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43809" y="2423160"/>
            <a:ext cx="784097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12897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43809" y="3611880"/>
            <a:ext cx="784097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One translator per format; internal systems see only the canonical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SFINT22</a:t>
            </a:r>
            <a:r>
              <a:rPr b="0" sz="2000">
                <a:solidFill>
                  <a:srgbClr val="55606E"/>
                </a:solidFill>
                <a:latin typeface="Aptos"/>
              </a:rPr>
              <a:t>   Content-based routing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Router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SB / Event Grid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Motor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LOB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Property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LOB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Casualty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LOB 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message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route by content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SFDEINT1</a:t>
            </a:r>
            <a:r>
              <a:rPr b="0" sz="2000">
                <a:solidFill>
                  <a:srgbClr val="55606E"/>
                </a:solidFill>
                <a:latin typeface="Aptos"/>
              </a:rPr>
              <a:t>   Streaming ingestion (Function + Snowpipe Streaming API)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Event 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Event Hub / 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Azure 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Streaming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Snowpipe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Streaming API</a:t>
            </a:r>
          </a:p>
        </p:txBody>
      </p:sp>
      <p:sp>
        <p:nvSpPr>
          <p:cNvPr id="7" name="Can 6"/>
          <p:cNvSpPr/>
          <p:nvPr/>
        </p:nvSpPr>
        <p:spPr>
          <a:xfrm>
            <a:off x="9145143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raw schema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SFDEINT2</a:t>
            </a:r>
            <a:r>
              <a:rPr b="0" sz="2000">
                <a:solidFill>
                  <a:srgbClr val="55606E"/>
                </a:solidFill>
                <a:latin typeface="Aptos"/>
              </a:rPr>
              <a:t>   Streaming ingestion via Kafka Connect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topic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Kafka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topic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Kafka Connect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Snowflake sink</a:t>
            </a:r>
          </a:p>
        </p:txBody>
      </p:sp>
      <p:sp>
        <p:nvSpPr>
          <p:cNvPr id="7" name="Can 6"/>
          <p:cNvSpPr/>
          <p:nvPr/>
        </p:nvSpPr>
        <p:spPr>
          <a:xfrm>
            <a:off x="9145143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raw schema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SFDEINT3</a:t>
            </a:r>
            <a:r>
              <a:rPr b="0" sz="2000">
                <a:solidFill>
                  <a:srgbClr val="55606E"/>
                </a:solidFill>
                <a:latin typeface="Aptos"/>
              </a:rPr>
              <a:t>   File ingestion (Snowpipe auto-ingest)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file drop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Landing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Gen2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BlobCreated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Snowpipe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COPY INTO</a:t>
            </a:r>
          </a:p>
        </p:txBody>
      </p:sp>
      <p:sp>
        <p:nvSpPr>
          <p:cNvPr id="8" name="Can 7"/>
          <p:cNvSpPr/>
          <p:nvPr/>
        </p:nvSpPr>
        <p:spPr>
          <a:xfrm>
            <a:off x="9513417" y="3163824"/>
            <a:ext cx="1669694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raw schema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notify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trigger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load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SFDEINT4</a:t>
            </a:r>
            <a:r>
              <a:rPr b="0" sz="2000">
                <a:solidFill>
                  <a:srgbClr val="55606E"/>
                </a:solidFill>
                <a:latin typeface="Aptos"/>
              </a:rPr>
              <a:t>   Scheduled batch: CDC / watermark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system of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Scheduled Extractor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Function / Logic App / ADF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Stage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Gen2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COPY INTO / Snowpipe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bulk load</a:t>
            </a:r>
          </a:p>
        </p:txBody>
      </p:sp>
      <p:sp>
        <p:nvSpPr>
          <p:cNvPr id="8" name="Can 7"/>
          <p:cNvSpPr/>
          <p:nvPr/>
        </p:nvSpPr>
        <p:spPr>
          <a:xfrm>
            <a:off x="9513417" y="3163824"/>
            <a:ext cx="1669694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raw schema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extract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load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Managed identity to source and stage  ·  watermark / CDC state persisted  ·  Snowflake is the load target only.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SFDEINT5</a:t>
            </a:r>
            <a:r>
              <a:rPr b="0" sz="2000">
                <a:solidFill>
                  <a:srgbClr val="55606E"/>
                </a:solidFill>
                <a:latin typeface="Aptos"/>
              </a:rPr>
              <a:t>   Staged multi-source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multi-system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Orchestrator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extract &amp;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Stage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Gen2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Snowpipe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auto-ingest</a:t>
            </a:r>
          </a:p>
        </p:txBody>
      </p:sp>
      <p:sp>
        <p:nvSpPr>
          <p:cNvPr id="8" name="Can 7"/>
          <p:cNvSpPr/>
          <p:nvPr/>
        </p:nvSpPr>
        <p:spPr>
          <a:xfrm>
            <a:off x="9513417" y="3163824"/>
            <a:ext cx="1669694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transform pushdown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load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Transformation runs inside Snowflake, not in transit.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SFDEINT6</a:t>
            </a:r>
            <a:r>
              <a:rPr b="0" sz="2000">
                <a:solidFill>
                  <a:srgbClr val="55606E"/>
                </a:solidFill>
                <a:latin typeface="Aptos"/>
              </a:rPr>
              <a:t>   Governed API import (write)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 Management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governed write</a:t>
            </a:r>
          </a:p>
        </p:txBody>
      </p:sp>
      <p:sp>
        <p:nvSpPr>
          <p:cNvPr id="6" name="Can 5"/>
          <p:cNvSpPr/>
          <p:nvPr/>
        </p:nvSpPr>
        <p:spPr>
          <a:xfrm>
            <a:off x="8702040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controlled path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write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land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SFDEINT7</a:t>
            </a:r>
            <a:r>
              <a:rPr b="0" sz="2000">
                <a:solidFill>
                  <a:srgbClr val="55606E"/>
                </a:solidFill>
                <a:latin typeface="Aptos"/>
              </a:rPr>
              <a:t>   Consume platform data via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Serving Function / cache</a:t>
            </a:r>
          </a:p>
        </p:txBody>
      </p:sp>
      <p:sp>
        <p:nvSpPr>
          <p:cNvPr id="7" name="Can 6"/>
          <p:cNvSpPr/>
          <p:nvPr/>
        </p:nvSpPr>
        <p:spPr>
          <a:xfrm>
            <a:off x="9145143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curated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483864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043809" y="3758184"/>
            <a:ext cx="784097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12897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02426" y="3483864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71515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702426" y="3758184"/>
            <a:ext cx="784099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61045" y="3483864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3013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query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361045" y="3758184"/>
            <a:ext cx="784098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SFDEINT8</a:t>
            </a:r>
            <a:r>
              <a:rPr b="0" sz="2000">
                <a:solidFill>
                  <a:srgbClr val="55606E"/>
                </a:solidFill>
                <a:latin typeface="Aptos"/>
              </a:rPr>
              <a:t>   Scheduled data export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n 3"/>
          <p:cNvSpPr/>
          <p:nvPr/>
        </p:nvSpPr>
        <p:spPr>
          <a:xfrm>
            <a:off x="1169289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export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ADLS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Parquet /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Orchestration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Event Grid /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Downstream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any consumer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unload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notify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trigger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082403" y="2706624"/>
            <a:ext cx="0" cy="45720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765167" y="2706624"/>
            <a:ext cx="5317236" cy="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65167" y="2706624"/>
            <a:ext cx="0" cy="457200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52185" y="2487168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A93A0"/>
                </a:solidFill>
                <a:latin typeface="Aptos"/>
              </a:rPr>
              <a:t>reads files (pull)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Blob / ADLS is the hand-off  ·  analytical and eventually-consistent  ·  the warehouse never writes into a live operational system.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SFDEINT9</a:t>
            </a:r>
            <a:r>
              <a:rPr b="0" sz="2000">
                <a:solidFill>
                  <a:srgbClr val="55606E"/>
                </a:solidFill>
                <a:latin typeface="Aptos"/>
              </a:rPr>
              <a:t>   Data serving store (bulk unload)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n 3"/>
          <p:cNvSpPr/>
          <p:nvPr/>
        </p:nvSpPr>
        <p:spPr>
          <a:xfrm>
            <a:off x="1612392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</p:txBody>
      </p:sp>
      <p:sp>
        <p:nvSpPr>
          <p:cNvPr id="5" name="Can 4"/>
          <p:cNvSpPr/>
          <p:nvPr/>
        </p:nvSpPr>
        <p:spPr>
          <a:xfrm>
            <a:off x="5157216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Serving store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/ Blob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Framework services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bulk unload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The store is the contract. The platform stays off the live path.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SFDEINT9b</a:t>
            </a:r>
            <a:r>
              <a:rPr b="0" sz="2000">
                <a:solidFill>
                  <a:srgbClr val="55606E"/>
                </a:solidFill>
                <a:latin typeface="Aptos"/>
              </a:rPr>
              <a:t>   Serve curated data (synchronous request / response)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analytical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System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SQL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query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Synchronous request / response  ·  JSON payload  ·  warehouse sits in the request path, reserve for low-QPS or front with a serving store.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