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93776"/>
          </a:xfrm>
          <a:prstGeom prst="rect">
            <a:avLst/>
          </a:prstGeom>
          <a:solidFill>
            <a:srgbClr val="0C2D52"/>
          </a:solidFill>
          <a:ln w="12700">
            <a:solidFill>
              <a:srgbClr val="0C2D5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73152" cy="493776"/>
          </a:xfrm>
          <a:prstGeom prst="rect">
            <a:avLst/>
          </a:prstGeom>
          <a:solidFill>
            <a:srgbClr val="378ADD"/>
          </a:solidFill>
          <a:ln w="12700">
            <a:solidFill>
              <a:srgbClr val="378AD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37744" y="0"/>
            <a:ext cx="676656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Work order issue flow — both options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040880" y="0"/>
            <a:ext cx="192024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B5D4F4"/>
                </a:solidFill>
              </a:rPr>
              <a:t>Outbound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274320" y="566928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25A75"/>
                </a:solidFill>
              </a:rPr>
              <a:t>Same trigger and same destination. The difference is how the work order travels in between.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74320" y="950976"/>
            <a:ext cx="8595360" cy="292608"/>
          </a:xfrm>
          <a:prstGeom prst="rect">
            <a:avLst/>
          </a:prstGeom>
          <a:solidFill>
            <a:srgbClr val="185FA5"/>
          </a:solidFill>
          <a:ln w="12700">
            <a:solidFill>
              <a:srgbClr val="185FA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02336" y="950976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Option 1 — API hub: direct, sequential issue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74320" y="1371600"/>
            <a:ext cx="1572768" cy="841248"/>
          </a:xfrm>
          <a:prstGeom prst="rect">
            <a:avLst/>
          </a:prstGeom>
          <a:solidFill>
            <a:srgbClr val="FFFFFF"/>
          </a:solidFill>
          <a:ln w="9525">
            <a:solidFill>
              <a:srgbClr val="185FA5"/>
            </a:solidFill>
            <a:prstDash val="solid"/>
          </a:ln>
          <a:effectLst>
            <a:outerShdw sx="100000" sy="100000" kx="0" ky="0" algn="bl" rotWithShape="0" blurRad="63500" dist="25400" dir="7200000">
              <a:srgbClr val="000000">
                <a:alpha val="7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47472" y="1435608"/>
            <a:ext cx="621792" cy="137160"/>
          </a:xfrm>
          <a:prstGeom prst="roundRect">
            <a:avLst>
              <a:gd name="adj" fmla="val 16667"/>
            </a:avLst>
          </a:prstGeom>
          <a:solidFill>
            <a:srgbClr val="0C2D52"/>
          </a:solidFill>
          <a:ln w="12700">
            <a:solidFill>
              <a:srgbClr val="0C2D5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7472" y="1435608"/>
            <a:ext cx="62179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FFFFFF"/>
                </a:solidFill>
              </a:rPr>
              <a:t>L3 Persist</a:t>
            </a:r>
            <a:endParaRPr lang="en-US" sz="550" dirty="0"/>
          </a:p>
        </p:txBody>
      </p:sp>
      <p:sp>
        <p:nvSpPr>
          <p:cNvPr id="12" name="Text 10"/>
          <p:cNvSpPr/>
          <p:nvPr/>
        </p:nvSpPr>
        <p:spPr>
          <a:xfrm>
            <a:off x="347472" y="1609344"/>
            <a:ext cx="142646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C2D52"/>
                </a:solidFill>
              </a:rPr>
              <a:t>Dataverse change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347472" y="1810512"/>
            <a:ext cx="1426464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425A75"/>
                </a:solidFill>
              </a:rPr>
              <a:t>entity updated</a:t>
            </a:r>
            <a:endParaRPr lang="en-US" sz="750" dirty="0"/>
          </a:p>
        </p:txBody>
      </p:sp>
      <p:sp>
        <p:nvSpPr>
          <p:cNvPr id="14" name="Shape 12"/>
          <p:cNvSpPr/>
          <p:nvPr/>
        </p:nvSpPr>
        <p:spPr>
          <a:xfrm>
            <a:off x="1847088" y="1792224"/>
            <a:ext cx="182880" cy="0"/>
          </a:xfrm>
          <a:prstGeom prst="line">
            <a:avLst/>
          </a:prstGeom>
          <a:noFill/>
          <a:ln w="19050">
            <a:solidFill>
              <a:srgbClr val="185FA5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2029968" y="1371600"/>
            <a:ext cx="1572768" cy="841248"/>
          </a:xfrm>
          <a:prstGeom prst="rect">
            <a:avLst/>
          </a:prstGeom>
          <a:solidFill>
            <a:srgbClr val="FFFFFF"/>
          </a:solidFill>
          <a:ln w="9525">
            <a:solidFill>
              <a:srgbClr val="185FA5"/>
            </a:solidFill>
            <a:prstDash val="solid"/>
          </a:ln>
          <a:effectLst>
            <a:outerShdw sx="100000" sy="100000" kx="0" ky="0" algn="bl" rotWithShape="0" blurRad="63500" dist="25400" dir="7200000">
              <a:srgbClr val="000000">
                <a:alpha val="7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2103120" y="1435608"/>
            <a:ext cx="479146" cy="137160"/>
          </a:xfrm>
          <a:prstGeom prst="roundRect">
            <a:avLst>
              <a:gd name="adj" fmla="val 16667"/>
            </a:avLst>
          </a:prstGeom>
          <a:solidFill>
            <a:srgbClr val="0C2D52"/>
          </a:solidFill>
          <a:ln w="12700">
            <a:solidFill>
              <a:srgbClr val="0C2D5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103120" y="1435608"/>
            <a:ext cx="47914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FFFFFF"/>
                </a:solidFill>
              </a:rPr>
              <a:t>L2 Orch</a:t>
            </a:r>
            <a:endParaRPr lang="en-US" sz="550" dirty="0"/>
          </a:p>
        </p:txBody>
      </p:sp>
      <p:sp>
        <p:nvSpPr>
          <p:cNvPr id="18" name="Text 16"/>
          <p:cNvSpPr/>
          <p:nvPr/>
        </p:nvSpPr>
        <p:spPr>
          <a:xfrm>
            <a:off x="2103120" y="1609344"/>
            <a:ext cx="142646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C2D52"/>
                </a:solidFill>
              </a:rPr>
              <a:t>WO Issuer FA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2103120" y="1810512"/>
            <a:ext cx="1426464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425A75"/>
                </a:solidFill>
              </a:rPr>
              <a:t>build work order</a:t>
            </a:r>
            <a:endParaRPr lang="en-US" sz="750" dirty="0"/>
          </a:p>
        </p:txBody>
      </p:sp>
      <p:sp>
        <p:nvSpPr>
          <p:cNvPr id="20" name="Shape 18"/>
          <p:cNvSpPr/>
          <p:nvPr/>
        </p:nvSpPr>
        <p:spPr>
          <a:xfrm>
            <a:off x="3602736" y="1792224"/>
            <a:ext cx="182880" cy="0"/>
          </a:xfrm>
          <a:prstGeom prst="line">
            <a:avLst/>
          </a:prstGeom>
          <a:noFill/>
          <a:ln w="19050">
            <a:solidFill>
              <a:srgbClr val="185FA5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3785616" y="1371600"/>
            <a:ext cx="1572768" cy="841248"/>
          </a:xfrm>
          <a:prstGeom prst="rect">
            <a:avLst/>
          </a:prstGeom>
          <a:solidFill>
            <a:srgbClr val="FFFFFF"/>
          </a:solidFill>
          <a:ln w="9525">
            <a:solidFill>
              <a:srgbClr val="185FA5"/>
            </a:solidFill>
            <a:prstDash val="solid"/>
          </a:ln>
          <a:effectLst>
            <a:outerShdw sx="100000" sy="100000" kx="0" ky="0" algn="bl" rotWithShape="0" blurRad="63500" dist="25400" dir="7200000">
              <a:srgbClr val="000000">
                <a:alpha val="7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858768" y="1435608"/>
            <a:ext cx="479146" cy="137160"/>
          </a:xfrm>
          <a:prstGeom prst="roundRect">
            <a:avLst>
              <a:gd name="adj" fmla="val 16667"/>
            </a:avLst>
          </a:prstGeom>
          <a:solidFill>
            <a:srgbClr val="0C2D52"/>
          </a:solidFill>
          <a:ln w="12700">
            <a:solidFill>
              <a:srgbClr val="0C2D5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858768" y="1435608"/>
            <a:ext cx="47914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FFFFFF"/>
                </a:solidFill>
              </a:rPr>
              <a:t>L2 Orch</a:t>
            </a:r>
            <a:endParaRPr lang="en-US" sz="550" dirty="0"/>
          </a:p>
        </p:txBody>
      </p:sp>
      <p:sp>
        <p:nvSpPr>
          <p:cNvPr id="24" name="Text 22"/>
          <p:cNvSpPr/>
          <p:nvPr/>
        </p:nvSpPr>
        <p:spPr>
          <a:xfrm>
            <a:off x="3858768" y="1609344"/>
            <a:ext cx="142646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C2D52"/>
                </a:solidFill>
              </a:rPr>
              <a:t>Vendor resolver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3858768" y="1810512"/>
            <a:ext cx="1426464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425A75"/>
                </a:solidFill>
              </a:rPr>
              <a:t>channel + format</a:t>
            </a:r>
            <a:endParaRPr lang="en-US" sz="750" dirty="0"/>
          </a:p>
        </p:txBody>
      </p:sp>
      <p:sp>
        <p:nvSpPr>
          <p:cNvPr id="26" name="Shape 24"/>
          <p:cNvSpPr/>
          <p:nvPr/>
        </p:nvSpPr>
        <p:spPr>
          <a:xfrm>
            <a:off x="5358384" y="1792224"/>
            <a:ext cx="182880" cy="0"/>
          </a:xfrm>
          <a:prstGeom prst="line">
            <a:avLst/>
          </a:prstGeom>
          <a:noFill/>
          <a:ln w="19050">
            <a:solidFill>
              <a:srgbClr val="185FA5"/>
            </a:solidFill>
            <a:prstDash val="solid"/>
            <a:tailEnd type="triangle"/>
          </a:ln>
        </p:spPr>
      </p:sp>
      <p:sp>
        <p:nvSpPr>
          <p:cNvPr id="27" name="Shape 25"/>
          <p:cNvSpPr/>
          <p:nvPr/>
        </p:nvSpPr>
        <p:spPr>
          <a:xfrm>
            <a:off x="5541264" y="1371600"/>
            <a:ext cx="1572768" cy="841248"/>
          </a:xfrm>
          <a:prstGeom prst="rect">
            <a:avLst/>
          </a:prstGeom>
          <a:solidFill>
            <a:srgbClr val="FFFFFF"/>
          </a:solidFill>
          <a:ln w="9525">
            <a:solidFill>
              <a:srgbClr val="185FA5"/>
            </a:solidFill>
            <a:prstDash val="solid"/>
          </a:ln>
          <a:effectLst>
            <a:outerShdw sx="100000" sy="100000" kx="0" ky="0" algn="bl" rotWithShape="0" blurRad="63500" dist="25400" dir="7200000">
              <a:srgbClr val="000000">
                <a:alpha val="7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5614416" y="1435608"/>
            <a:ext cx="621792" cy="137160"/>
          </a:xfrm>
          <a:prstGeom prst="roundRect">
            <a:avLst>
              <a:gd name="adj" fmla="val 16667"/>
            </a:avLst>
          </a:prstGeom>
          <a:solidFill>
            <a:srgbClr val="0C2D52"/>
          </a:solidFill>
          <a:ln w="12700">
            <a:solidFill>
              <a:srgbClr val="0C2D52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614416" y="1435608"/>
            <a:ext cx="62179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FFFFFF"/>
                </a:solidFill>
              </a:rPr>
              <a:t>L4 Deliver</a:t>
            </a:r>
            <a:endParaRPr lang="en-US" sz="550" dirty="0"/>
          </a:p>
        </p:txBody>
      </p:sp>
      <p:sp>
        <p:nvSpPr>
          <p:cNvPr id="30" name="Text 28"/>
          <p:cNvSpPr/>
          <p:nvPr/>
        </p:nvSpPr>
        <p:spPr>
          <a:xfrm>
            <a:off x="5614416" y="1609344"/>
            <a:ext cx="142646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C2D52"/>
                </a:solidFill>
              </a:rPr>
              <a:t>Adapter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5614416" y="1810512"/>
            <a:ext cx="1426464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425A75"/>
                </a:solidFill>
              </a:rPr>
              <a:t>format + push</a:t>
            </a:r>
            <a:endParaRPr lang="en-US" sz="750" dirty="0"/>
          </a:p>
        </p:txBody>
      </p:sp>
      <p:sp>
        <p:nvSpPr>
          <p:cNvPr id="32" name="Shape 30"/>
          <p:cNvSpPr/>
          <p:nvPr/>
        </p:nvSpPr>
        <p:spPr>
          <a:xfrm>
            <a:off x="7114032" y="1792224"/>
            <a:ext cx="182880" cy="0"/>
          </a:xfrm>
          <a:prstGeom prst="line">
            <a:avLst/>
          </a:prstGeom>
          <a:noFill/>
          <a:ln w="19050">
            <a:solidFill>
              <a:srgbClr val="185FA5"/>
            </a:solidFill>
            <a:prstDash val="solid"/>
            <a:tailEnd type="triangle"/>
          </a:ln>
        </p:spPr>
      </p:sp>
      <p:sp>
        <p:nvSpPr>
          <p:cNvPr id="33" name="Shape 31"/>
          <p:cNvSpPr/>
          <p:nvPr/>
        </p:nvSpPr>
        <p:spPr>
          <a:xfrm>
            <a:off x="7296912" y="1371600"/>
            <a:ext cx="1572768" cy="841248"/>
          </a:xfrm>
          <a:prstGeom prst="rect">
            <a:avLst/>
          </a:prstGeom>
          <a:solidFill>
            <a:srgbClr val="FFFFFF"/>
          </a:solidFill>
          <a:ln w="9525">
            <a:solidFill>
              <a:srgbClr val="185FA5"/>
            </a:solidFill>
            <a:prstDash val="solid"/>
          </a:ln>
          <a:effectLst>
            <a:outerShdw sx="100000" sy="100000" kx="0" ky="0" algn="bl" rotWithShape="0" blurRad="63500" dist="25400" dir="7200000">
              <a:srgbClr val="000000">
                <a:alpha val="7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7370064" y="1435608"/>
            <a:ext cx="526694" cy="137160"/>
          </a:xfrm>
          <a:prstGeom prst="roundRect">
            <a:avLst>
              <a:gd name="adj" fmla="val 16667"/>
            </a:avLst>
          </a:prstGeom>
          <a:solidFill>
            <a:srgbClr val="0C2D52"/>
          </a:solidFill>
          <a:ln w="12700">
            <a:solidFill>
              <a:srgbClr val="0C2D52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370064" y="1435608"/>
            <a:ext cx="52669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FFFFFF"/>
                </a:solidFill>
              </a:rPr>
              <a:t>external</a:t>
            </a:r>
            <a:endParaRPr lang="en-US" sz="550" dirty="0"/>
          </a:p>
        </p:txBody>
      </p:sp>
      <p:sp>
        <p:nvSpPr>
          <p:cNvPr id="36" name="Text 34"/>
          <p:cNvSpPr/>
          <p:nvPr/>
        </p:nvSpPr>
        <p:spPr>
          <a:xfrm>
            <a:off x="7370064" y="1609344"/>
            <a:ext cx="142646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C2D52"/>
                </a:solidFill>
              </a:rPr>
              <a:t>Vendor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7370064" y="1810512"/>
            <a:ext cx="1426464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425A75"/>
                </a:solidFill>
              </a:rPr>
              <a:t>receives WO</a:t>
            </a:r>
            <a:endParaRPr lang="en-US" sz="750" dirty="0"/>
          </a:p>
        </p:txBody>
      </p:sp>
      <p:sp>
        <p:nvSpPr>
          <p:cNvPr id="38" name="Text 36"/>
          <p:cNvSpPr/>
          <p:nvPr/>
        </p:nvSpPr>
        <p:spPr>
          <a:xfrm>
            <a:off x="402336" y="2267712"/>
            <a:ext cx="8412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425A75"/>
                </a:solidFill>
              </a:rPr>
              <a:t>One call after another — simple to follow. A slow vendor holds the chain; no built-in replay.</a:t>
            </a:r>
            <a:endParaRPr lang="en-US" sz="800" dirty="0"/>
          </a:p>
        </p:txBody>
      </p:sp>
      <p:sp>
        <p:nvSpPr>
          <p:cNvPr id="39" name="Shape 37"/>
          <p:cNvSpPr/>
          <p:nvPr/>
        </p:nvSpPr>
        <p:spPr>
          <a:xfrm>
            <a:off x="274320" y="2688336"/>
            <a:ext cx="8595360" cy="292608"/>
          </a:xfrm>
          <a:prstGeom prst="rect">
            <a:avLst/>
          </a:prstGeom>
          <a:solidFill>
            <a:srgbClr val="0C2D52"/>
          </a:solidFill>
          <a:ln w="12700">
            <a:solidFill>
              <a:srgbClr val="0C2D52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02336" y="2688336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Option 2 — event-driven: event-triggered, parallel-capable issue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274320" y="3108960"/>
            <a:ext cx="1572768" cy="841248"/>
          </a:xfrm>
          <a:prstGeom prst="rect">
            <a:avLst/>
          </a:prstGeom>
          <a:solidFill>
            <a:srgbClr val="FFFFFF"/>
          </a:solidFill>
          <a:ln w="9525">
            <a:solidFill>
              <a:srgbClr val="185FA5"/>
            </a:solidFill>
            <a:prstDash val="solid"/>
          </a:ln>
          <a:effectLst>
            <a:outerShdw sx="100000" sy="100000" kx="0" ky="0" algn="bl" rotWithShape="0" blurRad="63500" dist="25400" dir="7200000">
              <a:srgbClr val="000000">
                <a:alpha val="7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347472" y="3172968"/>
            <a:ext cx="384048" cy="137160"/>
          </a:xfrm>
          <a:prstGeom prst="roundRect">
            <a:avLst>
              <a:gd name="adj" fmla="val 16667"/>
            </a:avLst>
          </a:prstGeom>
          <a:solidFill>
            <a:srgbClr val="0C2D52"/>
          </a:solidFill>
          <a:ln w="12700">
            <a:solidFill>
              <a:srgbClr val="0C2D52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347472" y="3172968"/>
            <a:ext cx="38404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FFFFFF"/>
                </a:solidFill>
              </a:rPr>
              <a:t>Event</a:t>
            </a:r>
            <a:endParaRPr lang="en-US" sz="550" dirty="0"/>
          </a:p>
        </p:txBody>
      </p:sp>
      <p:sp>
        <p:nvSpPr>
          <p:cNvPr id="44" name="Text 42"/>
          <p:cNvSpPr/>
          <p:nvPr/>
        </p:nvSpPr>
        <p:spPr>
          <a:xfrm>
            <a:off x="347472" y="3346704"/>
            <a:ext cx="142646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C2D52"/>
                </a:solidFill>
              </a:rPr>
              <a:t>RepairAssigned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347472" y="3547872"/>
            <a:ext cx="1426464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425A75"/>
                </a:solidFill>
              </a:rPr>
              <a:t>event raised</a:t>
            </a:r>
            <a:endParaRPr lang="en-US" sz="750" dirty="0"/>
          </a:p>
        </p:txBody>
      </p:sp>
      <p:sp>
        <p:nvSpPr>
          <p:cNvPr id="46" name="Shape 44"/>
          <p:cNvSpPr/>
          <p:nvPr/>
        </p:nvSpPr>
        <p:spPr>
          <a:xfrm>
            <a:off x="1847088" y="3529584"/>
            <a:ext cx="182880" cy="0"/>
          </a:xfrm>
          <a:prstGeom prst="line">
            <a:avLst/>
          </a:prstGeom>
          <a:noFill/>
          <a:ln w="19050">
            <a:solidFill>
              <a:srgbClr val="185FA5"/>
            </a:solidFill>
            <a:prstDash val="solid"/>
            <a:tailEnd type="triangle"/>
          </a:ln>
        </p:spPr>
      </p:sp>
      <p:sp>
        <p:nvSpPr>
          <p:cNvPr id="47" name="Shape 45"/>
          <p:cNvSpPr/>
          <p:nvPr/>
        </p:nvSpPr>
        <p:spPr>
          <a:xfrm>
            <a:off x="2029968" y="3108960"/>
            <a:ext cx="1572768" cy="841248"/>
          </a:xfrm>
          <a:prstGeom prst="rect">
            <a:avLst/>
          </a:prstGeom>
          <a:solidFill>
            <a:srgbClr val="FFFFFF"/>
          </a:solidFill>
          <a:ln w="9525">
            <a:solidFill>
              <a:srgbClr val="185FA5"/>
            </a:solidFill>
            <a:prstDash val="solid"/>
          </a:ln>
          <a:effectLst>
            <a:outerShdw sx="100000" sy="100000" kx="0" ky="0" algn="bl" rotWithShape="0" blurRad="63500" dist="25400" dir="7200000">
              <a:srgbClr val="000000">
                <a:alpha val="7000"/>
              </a:srgbClr>
            </a:outerShdw>
          </a:effectLst>
        </p:spPr>
      </p:sp>
      <p:sp>
        <p:nvSpPr>
          <p:cNvPr id="48" name="Shape 46"/>
          <p:cNvSpPr/>
          <p:nvPr/>
        </p:nvSpPr>
        <p:spPr>
          <a:xfrm>
            <a:off x="2103120" y="3172968"/>
            <a:ext cx="479146" cy="137160"/>
          </a:xfrm>
          <a:prstGeom prst="roundRect">
            <a:avLst>
              <a:gd name="adj" fmla="val 16667"/>
            </a:avLst>
          </a:prstGeom>
          <a:solidFill>
            <a:srgbClr val="0C2D52"/>
          </a:solidFill>
          <a:ln w="12700">
            <a:solidFill>
              <a:srgbClr val="0C2D52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2103120" y="3172968"/>
            <a:ext cx="47914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FFFFFF"/>
                </a:solidFill>
              </a:rPr>
              <a:t>L2 Orch</a:t>
            </a:r>
            <a:endParaRPr lang="en-US" sz="550" dirty="0"/>
          </a:p>
        </p:txBody>
      </p:sp>
      <p:sp>
        <p:nvSpPr>
          <p:cNvPr id="50" name="Text 48"/>
          <p:cNvSpPr/>
          <p:nvPr/>
        </p:nvSpPr>
        <p:spPr>
          <a:xfrm>
            <a:off x="2103120" y="3346704"/>
            <a:ext cx="142646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C2D52"/>
                </a:solidFill>
              </a:rPr>
              <a:t>WO Issuer FA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2103120" y="3547872"/>
            <a:ext cx="1426464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425A75"/>
                </a:solidFill>
              </a:rPr>
              <a:t>build work order</a:t>
            </a:r>
            <a:endParaRPr lang="en-US" sz="750" dirty="0"/>
          </a:p>
        </p:txBody>
      </p:sp>
      <p:sp>
        <p:nvSpPr>
          <p:cNvPr id="52" name="Shape 50"/>
          <p:cNvSpPr/>
          <p:nvPr/>
        </p:nvSpPr>
        <p:spPr>
          <a:xfrm>
            <a:off x="3602736" y="3529584"/>
            <a:ext cx="182880" cy="0"/>
          </a:xfrm>
          <a:prstGeom prst="line">
            <a:avLst/>
          </a:prstGeom>
          <a:noFill/>
          <a:ln w="19050">
            <a:solidFill>
              <a:srgbClr val="185FA5"/>
            </a:solidFill>
            <a:prstDash val="solid"/>
            <a:tailEnd type="triangle"/>
          </a:ln>
        </p:spPr>
      </p:sp>
      <p:sp>
        <p:nvSpPr>
          <p:cNvPr id="53" name="Shape 51"/>
          <p:cNvSpPr/>
          <p:nvPr/>
        </p:nvSpPr>
        <p:spPr>
          <a:xfrm>
            <a:off x="3785616" y="3108960"/>
            <a:ext cx="1572768" cy="841248"/>
          </a:xfrm>
          <a:prstGeom prst="rect">
            <a:avLst/>
          </a:prstGeom>
          <a:solidFill>
            <a:srgbClr val="FFFFFF"/>
          </a:solidFill>
          <a:ln w="9525">
            <a:solidFill>
              <a:srgbClr val="185FA5"/>
            </a:solidFill>
            <a:prstDash val="solid"/>
          </a:ln>
          <a:effectLst>
            <a:outerShdw sx="100000" sy="100000" kx="0" ky="0" algn="bl" rotWithShape="0" blurRad="63500" dist="25400" dir="7200000">
              <a:srgbClr val="000000">
                <a:alpha val="7000"/>
              </a:srgbClr>
            </a:outerShdw>
          </a:effectLst>
        </p:spPr>
      </p:sp>
      <p:sp>
        <p:nvSpPr>
          <p:cNvPr id="54" name="Shape 52"/>
          <p:cNvSpPr/>
          <p:nvPr/>
        </p:nvSpPr>
        <p:spPr>
          <a:xfrm>
            <a:off x="3858768" y="3172968"/>
            <a:ext cx="479146" cy="137160"/>
          </a:xfrm>
          <a:prstGeom prst="roundRect">
            <a:avLst>
              <a:gd name="adj" fmla="val 16667"/>
            </a:avLst>
          </a:prstGeom>
          <a:solidFill>
            <a:srgbClr val="0C2D52"/>
          </a:solidFill>
          <a:ln w="12700">
            <a:solidFill>
              <a:srgbClr val="0C2D52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3858768" y="3172968"/>
            <a:ext cx="47914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FFFFFF"/>
                </a:solidFill>
              </a:rPr>
              <a:t>L2 Orch</a:t>
            </a:r>
            <a:endParaRPr lang="en-US" sz="550" dirty="0"/>
          </a:p>
        </p:txBody>
      </p:sp>
      <p:sp>
        <p:nvSpPr>
          <p:cNvPr id="56" name="Text 54"/>
          <p:cNvSpPr/>
          <p:nvPr/>
        </p:nvSpPr>
        <p:spPr>
          <a:xfrm>
            <a:off x="3858768" y="3346704"/>
            <a:ext cx="142646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C2D52"/>
                </a:solidFill>
              </a:rPr>
              <a:t>Vendor resolver</a:t>
            </a:r>
            <a:endParaRPr lang="en-US" sz="900" dirty="0"/>
          </a:p>
        </p:txBody>
      </p:sp>
      <p:sp>
        <p:nvSpPr>
          <p:cNvPr id="57" name="Text 55"/>
          <p:cNvSpPr/>
          <p:nvPr/>
        </p:nvSpPr>
        <p:spPr>
          <a:xfrm>
            <a:off x="3858768" y="3547872"/>
            <a:ext cx="1426464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425A75"/>
                </a:solidFill>
              </a:rPr>
              <a:t>channel + format</a:t>
            </a:r>
            <a:endParaRPr lang="en-US" sz="750" dirty="0"/>
          </a:p>
        </p:txBody>
      </p:sp>
      <p:sp>
        <p:nvSpPr>
          <p:cNvPr id="58" name="Shape 56"/>
          <p:cNvSpPr/>
          <p:nvPr/>
        </p:nvSpPr>
        <p:spPr>
          <a:xfrm>
            <a:off x="5358384" y="3529584"/>
            <a:ext cx="182880" cy="0"/>
          </a:xfrm>
          <a:prstGeom prst="line">
            <a:avLst/>
          </a:prstGeom>
          <a:noFill/>
          <a:ln w="19050">
            <a:solidFill>
              <a:srgbClr val="185FA5"/>
            </a:solidFill>
            <a:prstDash val="solid"/>
            <a:tailEnd type="triangle"/>
          </a:ln>
        </p:spPr>
      </p:sp>
      <p:sp>
        <p:nvSpPr>
          <p:cNvPr id="59" name="Shape 57"/>
          <p:cNvSpPr/>
          <p:nvPr/>
        </p:nvSpPr>
        <p:spPr>
          <a:xfrm>
            <a:off x="5541264" y="3108960"/>
            <a:ext cx="1572768" cy="841248"/>
          </a:xfrm>
          <a:prstGeom prst="rect">
            <a:avLst/>
          </a:prstGeom>
          <a:solidFill>
            <a:srgbClr val="FFFFFF"/>
          </a:solidFill>
          <a:ln w="9525">
            <a:solidFill>
              <a:srgbClr val="185FA5"/>
            </a:solidFill>
            <a:prstDash val="solid"/>
          </a:ln>
          <a:effectLst>
            <a:outerShdw sx="100000" sy="100000" kx="0" ky="0" algn="bl" rotWithShape="0" blurRad="63500" dist="25400" dir="7200000">
              <a:srgbClr val="000000">
                <a:alpha val="7000"/>
              </a:srgbClr>
            </a:outerShdw>
          </a:effectLst>
        </p:spPr>
      </p:sp>
      <p:sp>
        <p:nvSpPr>
          <p:cNvPr id="60" name="Shape 58"/>
          <p:cNvSpPr/>
          <p:nvPr/>
        </p:nvSpPr>
        <p:spPr>
          <a:xfrm>
            <a:off x="5614416" y="3172968"/>
            <a:ext cx="479146" cy="137160"/>
          </a:xfrm>
          <a:prstGeom prst="roundRect">
            <a:avLst>
              <a:gd name="adj" fmla="val 16667"/>
            </a:avLst>
          </a:prstGeom>
          <a:solidFill>
            <a:srgbClr val="0C2D52"/>
          </a:solidFill>
          <a:ln w="12700">
            <a:solidFill>
              <a:srgbClr val="0C2D52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5614416" y="3172968"/>
            <a:ext cx="47914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FFFFFF"/>
                </a:solidFill>
              </a:rPr>
              <a:t>L2 Orch</a:t>
            </a:r>
            <a:endParaRPr lang="en-US" sz="550" dirty="0"/>
          </a:p>
        </p:txBody>
      </p:sp>
      <p:sp>
        <p:nvSpPr>
          <p:cNvPr id="62" name="Text 60"/>
          <p:cNvSpPr/>
          <p:nvPr/>
        </p:nvSpPr>
        <p:spPr>
          <a:xfrm>
            <a:off x="5614416" y="3346704"/>
            <a:ext cx="142646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C2D52"/>
                </a:solidFill>
              </a:rPr>
              <a:t>Durable fan-out</a:t>
            </a:r>
            <a:endParaRPr lang="en-US" sz="900" dirty="0"/>
          </a:p>
        </p:txBody>
      </p:sp>
      <p:sp>
        <p:nvSpPr>
          <p:cNvPr id="63" name="Text 61"/>
          <p:cNvSpPr/>
          <p:nvPr/>
        </p:nvSpPr>
        <p:spPr>
          <a:xfrm>
            <a:off x="5614416" y="3547872"/>
            <a:ext cx="1426464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425A75"/>
                </a:solidFill>
              </a:rPr>
              <a:t>retry per branch</a:t>
            </a:r>
            <a:endParaRPr lang="en-US" sz="750" dirty="0"/>
          </a:p>
        </p:txBody>
      </p:sp>
      <p:sp>
        <p:nvSpPr>
          <p:cNvPr id="64" name="Shape 62"/>
          <p:cNvSpPr/>
          <p:nvPr/>
        </p:nvSpPr>
        <p:spPr>
          <a:xfrm>
            <a:off x="7114032" y="3529584"/>
            <a:ext cx="182880" cy="0"/>
          </a:xfrm>
          <a:prstGeom prst="line">
            <a:avLst/>
          </a:prstGeom>
          <a:noFill/>
          <a:ln w="19050">
            <a:solidFill>
              <a:srgbClr val="185FA5"/>
            </a:solidFill>
            <a:prstDash val="solid"/>
            <a:tailEnd type="triangle"/>
          </a:ln>
        </p:spPr>
      </p:sp>
      <p:sp>
        <p:nvSpPr>
          <p:cNvPr id="65" name="Shape 63"/>
          <p:cNvSpPr/>
          <p:nvPr/>
        </p:nvSpPr>
        <p:spPr>
          <a:xfrm>
            <a:off x="7296912" y="3108960"/>
            <a:ext cx="1572768" cy="841248"/>
          </a:xfrm>
          <a:prstGeom prst="rect">
            <a:avLst/>
          </a:prstGeom>
          <a:solidFill>
            <a:srgbClr val="FFFFFF"/>
          </a:solidFill>
          <a:ln w="9525">
            <a:solidFill>
              <a:srgbClr val="185FA5"/>
            </a:solidFill>
            <a:prstDash val="solid"/>
          </a:ln>
          <a:effectLst>
            <a:outerShdw sx="100000" sy="100000" kx="0" ky="0" algn="bl" rotWithShape="0" blurRad="63500" dist="25400" dir="7200000">
              <a:srgbClr val="000000">
                <a:alpha val="7000"/>
              </a:srgbClr>
            </a:outerShdw>
          </a:effectLst>
        </p:spPr>
      </p:sp>
      <p:sp>
        <p:nvSpPr>
          <p:cNvPr id="66" name="Shape 64"/>
          <p:cNvSpPr/>
          <p:nvPr/>
        </p:nvSpPr>
        <p:spPr>
          <a:xfrm>
            <a:off x="7370064" y="3172968"/>
            <a:ext cx="621792" cy="137160"/>
          </a:xfrm>
          <a:prstGeom prst="roundRect">
            <a:avLst>
              <a:gd name="adj" fmla="val 16667"/>
            </a:avLst>
          </a:prstGeom>
          <a:solidFill>
            <a:srgbClr val="0C2D52"/>
          </a:solidFill>
          <a:ln w="12700">
            <a:solidFill>
              <a:srgbClr val="0C2D52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7370064" y="3172968"/>
            <a:ext cx="62179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FFFFFF"/>
                </a:solidFill>
              </a:rPr>
              <a:t>L4 Deliver</a:t>
            </a:r>
            <a:endParaRPr lang="en-US" sz="550" dirty="0"/>
          </a:p>
        </p:txBody>
      </p:sp>
      <p:sp>
        <p:nvSpPr>
          <p:cNvPr id="68" name="Text 66"/>
          <p:cNvSpPr/>
          <p:nvPr/>
        </p:nvSpPr>
        <p:spPr>
          <a:xfrm>
            <a:off x="7370064" y="3346704"/>
            <a:ext cx="142646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C2D52"/>
                </a:solidFill>
              </a:rPr>
              <a:t>Adapter → vendor</a:t>
            </a:r>
            <a:endParaRPr lang="en-US" sz="900" dirty="0"/>
          </a:p>
        </p:txBody>
      </p:sp>
      <p:sp>
        <p:nvSpPr>
          <p:cNvPr id="69" name="Text 67"/>
          <p:cNvSpPr/>
          <p:nvPr/>
        </p:nvSpPr>
        <p:spPr>
          <a:xfrm>
            <a:off x="7370064" y="3547872"/>
            <a:ext cx="1426464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425A75"/>
                </a:solidFill>
              </a:rPr>
              <a:t>deliver to one vendor</a:t>
            </a:r>
            <a:endParaRPr lang="en-US" sz="750" dirty="0"/>
          </a:p>
        </p:txBody>
      </p:sp>
      <p:sp>
        <p:nvSpPr>
          <p:cNvPr id="70" name="Text 68"/>
          <p:cNvSpPr/>
          <p:nvPr/>
        </p:nvSpPr>
        <p:spPr>
          <a:xfrm>
            <a:off x="402336" y="4005072"/>
            <a:ext cx="8412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425A75"/>
                </a:solidFill>
              </a:rPr>
              <a:t>Triggered by an event, delivered with per-branch retry, and replayable — one vendor down never blocks others.</a:t>
            </a:r>
            <a:endParaRPr lang="en-US" sz="800" dirty="0"/>
          </a:p>
        </p:txBody>
      </p:sp>
      <p:sp>
        <p:nvSpPr>
          <p:cNvPr id="71" name="Shape 69"/>
          <p:cNvSpPr/>
          <p:nvPr/>
        </p:nvSpPr>
        <p:spPr>
          <a:xfrm>
            <a:off x="274320" y="4443984"/>
            <a:ext cx="8595360" cy="457200"/>
          </a:xfrm>
          <a:prstGeom prst="rect">
            <a:avLst/>
          </a:prstGeom>
          <a:solidFill>
            <a:srgbClr val="E6F1FB"/>
          </a:solidFill>
          <a:ln w="9525">
            <a:solidFill>
              <a:srgbClr val="185FA5"/>
            </a:solidFill>
            <a:prstDash val="solid"/>
          </a:ln>
          <a:effectLst>
            <a:outerShdw sx="100000" sy="100000" kx="0" ky="0" algn="bl" rotWithShape="0" blurRad="63500" dist="25400" dir="7200000">
              <a:srgbClr val="000000">
                <a:alpha val="7000"/>
              </a:srgbClr>
            </a:outerShdw>
          </a:effectLst>
        </p:spPr>
      </p:sp>
      <p:sp>
        <p:nvSpPr>
          <p:cNvPr id="72" name="Text 70"/>
          <p:cNvSpPr/>
          <p:nvPr/>
        </p:nvSpPr>
        <p:spPr>
          <a:xfrm>
            <a:off x="420624" y="4443984"/>
            <a:ext cx="8321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C2D52"/>
                </a:solidFill>
              </a:rPr>
              <a:t>Shared by both:  </a:t>
            </a:r>
            <a:pPr indent="0" marL="0">
              <a:buNone/>
            </a:pPr>
            <a:r>
              <a:rPr lang="en-US" sz="900" dirty="0">
                <a:solidFill>
                  <a:srgbClr val="0F2540"/>
                </a:solidFill>
              </a:rPr>
              <a:t>one work order always goes to one vendor. The issuer and resolver are identical; only the delivery mechanism differs — a direct call (Option 1) versus an event-triggered, retry-per-branch fan-out (Option 2).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93776"/>
          </a:xfrm>
          <a:prstGeom prst="rect">
            <a:avLst/>
          </a:prstGeom>
          <a:solidFill>
            <a:srgbClr val="0C2D52"/>
          </a:solidFill>
          <a:ln w="12700">
            <a:solidFill>
              <a:srgbClr val="0C2D5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73152" cy="493776"/>
          </a:xfrm>
          <a:prstGeom prst="rect">
            <a:avLst/>
          </a:prstGeom>
          <a:solidFill>
            <a:srgbClr val="378ADD"/>
          </a:solidFill>
          <a:ln w="12700">
            <a:solidFill>
              <a:srgbClr val="378AD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37744" y="0"/>
            <a:ext cx="676656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Architecture principles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274320" y="566928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25A75"/>
                </a:solidFill>
              </a:rPr>
              <a:t>The rules that hold across both options — they are what make the platform scale to 50+ vendors.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74320" y="914400"/>
            <a:ext cx="8595360" cy="841248"/>
          </a:xfrm>
          <a:prstGeom prst="rect">
            <a:avLst/>
          </a:prstGeom>
          <a:solidFill>
            <a:srgbClr val="0C2D52"/>
          </a:solidFill>
          <a:ln w="12700">
            <a:solidFill>
              <a:srgbClr val="0C2D52"/>
            </a:solidFill>
            <a:prstDash val="solid"/>
          </a:ln>
          <a:effectLst>
            <a:outerShdw sx="100000" sy="100000" kx="0" ky="0" algn="bl" rotWithShape="0" blurRad="63500" dist="25400" dir="7200000">
              <a:srgbClr val="000000">
                <a:alpha val="7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914400"/>
            <a:ext cx="73152" cy="841248"/>
          </a:xfrm>
          <a:prstGeom prst="rect">
            <a:avLst/>
          </a:prstGeom>
          <a:solidFill>
            <a:srgbClr val="378ADD"/>
          </a:solidFill>
          <a:ln w="12700">
            <a:solidFill>
              <a:srgbClr val="378AD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75488" y="987552"/>
            <a:ext cx="8229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Operation-centric, not vendor-centric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75488" y="1316736"/>
            <a:ext cx="822960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DCE8F5"/>
                </a:solidFill>
              </a:rPr>
              <a:t>The platform is built around what happens — create a repair, issue a work order, update status — not around who the vendor is. Vendors are configuration behind a shared operation, never bespoke pipelines.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74320" y="1883664"/>
            <a:ext cx="2715768" cy="1335024"/>
          </a:xfrm>
          <a:prstGeom prst="rect">
            <a:avLst/>
          </a:prstGeom>
          <a:solidFill>
            <a:srgbClr val="EFF6FF"/>
          </a:solidFill>
          <a:ln w="9525">
            <a:solidFill>
              <a:srgbClr val="85B7EB"/>
            </a:solidFill>
            <a:prstDash val="solid"/>
          </a:ln>
          <a:effectLst>
            <a:outerShdw sx="100000" sy="100000" kx="0" ky="0" algn="bl" rotWithShape="0" blurRad="63500" dist="25400" dir="7200000">
              <a:srgbClr val="000000">
                <a:alpha val="7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74320" y="1883664"/>
            <a:ext cx="2715768" cy="54864"/>
          </a:xfrm>
          <a:prstGeom prst="rect">
            <a:avLst/>
          </a:prstGeom>
          <a:solidFill>
            <a:srgbClr val="185FA5"/>
          </a:solidFill>
          <a:ln w="12700">
            <a:solidFill>
              <a:srgbClr val="185FA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02336" y="1993392"/>
            <a:ext cx="2468880" cy="201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0C2D52"/>
                </a:solidFill>
              </a:rPr>
              <a:t>Contract first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402336" y="2212848"/>
            <a:ext cx="2468880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00" i="1" dirty="0">
                <a:solidFill>
                  <a:srgbClr val="185FA5"/>
                </a:solidFill>
              </a:rPr>
              <a:t>Here is our form — fill it in our way.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402336" y="2523744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0F2540"/>
                </a:solidFill>
              </a:rPr>
              <a:t>We publish one fixed request format. Every vendor matches it, so we stop writing a custom translator for each one.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3172968" y="1883664"/>
            <a:ext cx="2715768" cy="1335024"/>
          </a:xfrm>
          <a:prstGeom prst="rect">
            <a:avLst/>
          </a:prstGeom>
          <a:solidFill>
            <a:srgbClr val="EFF6FF"/>
          </a:solidFill>
          <a:ln w="9525">
            <a:solidFill>
              <a:srgbClr val="85B7EB"/>
            </a:solidFill>
            <a:prstDash val="solid"/>
          </a:ln>
          <a:effectLst>
            <a:outerShdw sx="100000" sy="100000" kx="0" ky="0" algn="bl" rotWithShape="0" blurRad="63500" dist="25400" dir="7200000">
              <a:srgbClr val="000000">
                <a:alpha val="7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172968" y="1883664"/>
            <a:ext cx="2715768" cy="54864"/>
          </a:xfrm>
          <a:prstGeom prst="rect">
            <a:avLst/>
          </a:prstGeom>
          <a:solidFill>
            <a:srgbClr val="185FA5"/>
          </a:solidFill>
          <a:ln w="12700">
            <a:solidFill>
              <a:srgbClr val="185FA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300984" y="1993392"/>
            <a:ext cx="2468880" cy="201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0C2D52"/>
                </a:solidFill>
              </a:rPr>
              <a:t>Shared core, thin edges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3300984" y="2212848"/>
            <a:ext cx="2468880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00" i="1" dirty="0">
                <a:solidFill>
                  <a:srgbClr val="185FA5"/>
                </a:solidFill>
              </a:rPr>
              <a:t>One engine in the middle, a small plug per vendor.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3300984" y="2523744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0F2540"/>
                </a:solidFill>
              </a:rPr>
              <a:t>The real work is built once and reused. Only a tiny vendor-specific piece (their format and address) sits at the edge.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6071616" y="1883664"/>
            <a:ext cx="2715768" cy="1335024"/>
          </a:xfrm>
          <a:prstGeom prst="rect">
            <a:avLst/>
          </a:prstGeom>
          <a:solidFill>
            <a:srgbClr val="EFF6FF"/>
          </a:solidFill>
          <a:ln w="9525">
            <a:solidFill>
              <a:srgbClr val="85B7EB"/>
            </a:solidFill>
            <a:prstDash val="solid"/>
          </a:ln>
          <a:effectLst>
            <a:outerShdw sx="100000" sy="100000" kx="0" ky="0" algn="bl" rotWithShape="0" blurRad="63500" dist="25400" dir="7200000">
              <a:srgbClr val="000000">
                <a:alpha val="7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071616" y="1883664"/>
            <a:ext cx="2715768" cy="54864"/>
          </a:xfrm>
          <a:prstGeom prst="rect">
            <a:avLst/>
          </a:prstGeom>
          <a:solidFill>
            <a:srgbClr val="185FA5"/>
          </a:solidFill>
          <a:ln w="12700">
            <a:solidFill>
              <a:srgbClr val="185FA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199632" y="1993392"/>
            <a:ext cx="2468880" cy="201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0C2D52"/>
                </a:solidFill>
              </a:rPr>
              <a:t>One operation, one path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6199632" y="2212848"/>
            <a:ext cx="2468880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00" i="1" dirty="0">
                <a:solidFill>
                  <a:srgbClr val="185FA5"/>
                </a:solidFill>
              </a:rPr>
              <a:t>All roads merge once you are through the door.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6199632" y="2523744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0F2540"/>
                </a:solidFill>
              </a:rPr>
              <a:t>However a vendor arrives — web, file, email — the request follows the same internal route. One path to secure and watch.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274320" y="3346704"/>
            <a:ext cx="2715768" cy="1335024"/>
          </a:xfrm>
          <a:prstGeom prst="rect">
            <a:avLst/>
          </a:prstGeom>
          <a:solidFill>
            <a:srgbClr val="EFF6FF"/>
          </a:solidFill>
          <a:ln w="9525">
            <a:solidFill>
              <a:srgbClr val="85B7EB"/>
            </a:solidFill>
            <a:prstDash val="solid"/>
          </a:ln>
          <a:effectLst>
            <a:outerShdw sx="100000" sy="100000" kx="0" ky="0" algn="bl" rotWithShape="0" blurRad="63500" dist="25400" dir="7200000">
              <a:srgbClr val="000000">
                <a:alpha val="7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274320" y="3346704"/>
            <a:ext cx="2715768" cy="54864"/>
          </a:xfrm>
          <a:prstGeom prst="rect">
            <a:avLst/>
          </a:prstGeom>
          <a:solidFill>
            <a:srgbClr val="185FA5"/>
          </a:solidFill>
          <a:ln w="12700">
            <a:solidFill>
              <a:srgbClr val="185FA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02336" y="3456432"/>
            <a:ext cx="2468880" cy="201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0C2D52"/>
                </a:solidFill>
              </a:rPr>
              <a:t>Config over code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402336" y="3675888"/>
            <a:ext cx="2468880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00" i="1" dirty="0">
                <a:solidFill>
                  <a:srgbClr val="185FA5"/>
                </a:solidFill>
              </a:rPr>
              <a:t>Adding a vendor is a form, not a project.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402336" y="3986784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0F2540"/>
                </a:solidFill>
              </a:rPr>
              <a:t>Onboarding is filling in settings and credentials, not building and deploying new software. The 51st vendor is easy.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3172968" y="3346704"/>
            <a:ext cx="2715768" cy="1335024"/>
          </a:xfrm>
          <a:prstGeom prst="rect">
            <a:avLst/>
          </a:prstGeom>
          <a:solidFill>
            <a:srgbClr val="EFF6FF"/>
          </a:solidFill>
          <a:ln w="9525">
            <a:solidFill>
              <a:srgbClr val="85B7EB"/>
            </a:solidFill>
            <a:prstDash val="solid"/>
          </a:ln>
          <a:effectLst>
            <a:outerShdw sx="100000" sy="100000" kx="0" ky="0" algn="bl" rotWithShape="0" blurRad="63500" dist="25400" dir="7200000">
              <a:srgbClr val="000000">
                <a:alpha val="7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3172968" y="3346704"/>
            <a:ext cx="2715768" cy="54864"/>
          </a:xfrm>
          <a:prstGeom prst="rect">
            <a:avLst/>
          </a:prstGeom>
          <a:solidFill>
            <a:srgbClr val="185FA5"/>
          </a:solidFill>
          <a:ln w="12700">
            <a:solidFill>
              <a:srgbClr val="185FA5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300984" y="3456432"/>
            <a:ext cx="2468880" cy="201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0C2D52"/>
                </a:solidFill>
              </a:rPr>
              <a:t>One source of truth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3300984" y="3675888"/>
            <a:ext cx="2468880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00" i="1" dirty="0">
                <a:solidFill>
                  <a:srgbClr val="185FA5"/>
                </a:solidFill>
              </a:rPr>
              <a:t>Shortcuts never pretend to be the real answer.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3300984" y="3986784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0F2540"/>
                </a:solidFill>
              </a:rPr>
              <a:t>Dataverse holds the official record. Fast cached copies speed reads but are never treated as authoritative.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6071616" y="3346704"/>
            <a:ext cx="2715768" cy="1335024"/>
          </a:xfrm>
          <a:prstGeom prst="rect">
            <a:avLst/>
          </a:prstGeom>
          <a:solidFill>
            <a:srgbClr val="EFF6FF"/>
          </a:solidFill>
          <a:ln w="9525">
            <a:solidFill>
              <a:srgbClr val="85B7EB"/>
            </a:solidFill>
            <a:prstDash val="solid"/>
          </a:ln>
          <a:effectLst>
            <a:outerShdw sx="100000" sy="100000" kx="0" ky="0" algn="bl" rotWithShape="0" blurRad="63500" dist="25400" dir="7200000">
              <a:srgbClr val="000000">
                <a:alpha val="7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6071616" y="3346704"/>
            <a:ext cx="2715768" cy="54864"/>
          </a:xfrm>
          <a:prstGeom prst="rect">
            <a:avLst/>
          </a:prstGeom>
          <a:solidFill>
            <a:srgbClr val="185FA5"/>
          </a:solidFill>
          <a:ln w="12700">
            <a:solidFill>
              <a:srgbClr val="185FA5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199632" y="3456432"/>
            <a:ext cx="2468880" cy="201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0C2D52"/>
                </a:solidFill>
              </a:rPr>
              <a:t>See everything in one place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6199632" y="3675888"/>
            <a:ext cx="2468880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00" i="1" dirty="0">
                <a:solidFill>
                  <a:srgbClr val="185FA5"/>
                </a:solidFill>
              </a:rPr>
              <a:t>One window, not fifty places to check.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6199632" y="3986784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0F2540"/>
                </a:solidFill>
              </a:rPr>
              <a:t>Because every operation crosses one front door, logs, metrics, and failures show up in a single dashboard for all vendors.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93776"/>
          </a:xfrm>
          <a:prstGeom prst="rect">
            <a:avLst/>
          </a:prstGeom>
          <a:solidFill>
            <a:srgbClr val="0C2D52"/>
          </a:solidFill>
          <a:ln w="12700">
            <a:solidFill>
              <a:srgbClr val="0C2D5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73152" cy="493776"/>
          </a:xfrm>
          <a:prstGeom prst="rect">
            <a:avLst/>
          </a:prstGeom>
          <a:solidFill>
            <a:srgbClr val="378ADD"/>
          </a:solidFill>
          <a:ln w="12700">
            <a:solidFill>
              <a:srgbClr val="378AD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37744" y="0"/>
            <a:ext cx="676656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Observability and resilience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274320" y="566928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25A75"/>
                </a:solidFill>
              </a:rPr>
              <a:t>How we see what is happening, and how the platform keeps working when something fails.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74320" y="914400"/>
            <a:ext cx="4206240" cy="310896"/>
          </a:xfrm>
          <a:prstGeom prst="rect">
            <a:avLst/>
          </a:prstGeom>
          <a:solidFill>
            <a:srgbClr val="185FA5"/>
          </a:solidFill>
          <a:ln w="12700">
            <a:solidFill>
              <a:srgbClr val="185FA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02336" y="914400"/>
            <a:ext cx="40233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Observability stack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274320" y="1298448"/>
            <a:ext cx="4206240" cy="749808"/>
          </a:xfrm>
          <a:prstGeom prst="rect">
            <a:avLst/>
          </a:prstGeom>
          <a:solidFill>
            <a:srgbClr val="EFF6FF"/>
          </a:solidFill>
          <a:ln w="9525">
            <a:solidFill>
              <a:srgbClr val="85B7EB"/>
            </a:solidFill>
            <a:prstDash val="solid"/>
          </a:ln>
          <a:effectLst>
            <a:outerShdw sx="100000" sy="100000" kx="0" ky="0" algn="bl" rotWithShape="0" blurRad="63500" dist="25400" dir="7200000">
              <a:srgbClr val="000000">
                <a:alpha val="7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74320" y="1298448"/>
            <a:ext cx="64008" cy="749808"/>
          </a:xfrm>
          <a:prstGeom prst="rect">
            <a:avLst/>
          </a:prstGeom>
          <a:solidFill>
            <a:srgbClr val="185FA5"/>
          </a:solidFill>
          <a:ln w="12700">
            <a:solidFill>
              <a:srgbClr val="185FA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38912" y="1371600"/>
            <a:ext cx="3931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D52"/>
                </a:solidFill>
              </a:rPr>
              <a:t>APIM analytics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38912" y="1591056"/>
            <a:ext cx="3931920" cy="4206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0F2540"/>
                </a:solidFill>
              </a:rPr>
              <a:t>Who called what, how often, success vs error — seen right at the front door.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274320" y="2139696"/>
            <a:ext cx="4206240" cy="749808"/>
          </a:xfrm>
          <a:prstGeom prst="rect">
            <a:avLst/>
          </a:prstGeom>
          <a:solidFill>
            <a:srgbClr val="EFF6FF"/>
          </a:solidFill>
          <a:ln w="9525">
            <a:solidFill>
              <a:srgbClr val="85B7EB"/>
            </a:solidFill>
            <a:prstDash val="solid"/>
          </a:ln>
          <a:effectLst>
            <a:outerShdw sx="100000" sy="100000" kx="0" ky="0" algn="bl" rotWithShape="0" blurRad="63500" dist="25400" dir="7200000">
              <a:srgbClr val="000000">
                <a:alpha val="7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74320" y="2139696"/>
            <a:ext cx="64008" cy="749808"/>
          </a:xfrm>
          <a:prstGeom prst="rect">
            <a:avLst/>
          </a:prstGeom>
          <a:solidFill>
            <a:srgbClr val="185FA5"/>
          </a:solidFill>
          <a:ln w="12700">
            <a:solidFill>
              <a:srgbClr val="185FA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38912" y="2212848"/>
            <a:ext cx="3931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D52"/>
                </a:solidFill>
              </a:rPr>
              <a:t>Application Insights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38912" y="2432304"/>
            <a:ext cx="3931920" cy="4206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0F2540"/>
                </a:solidFill>
              </a:rPr>
              <a:t>Traces one request end to end across the receiver, handler, and adapters.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274320" y="2980944"/>
            <a:ext cx="4206240" cy="749808"/>
          </a:xfrm>
          <a:prstGeom prst="rect">
            <a:avLst/>
          </a:prstGeom>
          <a:solidFill>
            <a:srgbClr val="EFF6FF"/>
          </a:solidFill>
          <a:ln w="9525">
            <a:solidFill>
              <a:srgbClr val="85B7EB"/>
            </a:solidFill>
            <a:prstDash val="solid"/>
          </a:ln>
          <a:effectLst>
            <a:outerShdw sx="100000" sy="100000" kx="0" ky="0" algn="bl" rotWithShape="0" blurRad="63500" dist="25400" dir="7200000">
              <a:srgbClr val="000000">
                <a:alpha val="7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274320" y="2980944"/>
            <a:ext cx="64008" cy="749808"/>
          </a:xfrm>
          <a:prstGeom prst="rect">
            <a:avLst/>
          </a:prstGeom>
          <a:solidFill>
            <a:srgbClr val="185FA5"/>
          </a:solidFill>
          <a:ln w="12700">
            <a:solidFill>
              <a:srgbClr val="185FA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38912" y="3054096"/>
            <a:ext cx="3931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D52"/>
                </a:solidFill>
              </a:rPr>
              <a:t>Log Analytics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38912" y="3273552"/>
            <a:ext cx="3931920" cy="4206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0F2540"/>
                </a:solidFill>
              </a:rPr>
              <a:t>One place to search every log with queries, across all vendors at once.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274320" y="3822192"/>
            <a:ext cx="4206240" cy="749808"/>
          </a:xfrm>
          <a:prstGeom prst="rect">
            <a:avLst/>
          </a:prstGeom>
          <a:solidFill>
            <a:srgbClr val="EFF6FF"/>
          </a:solidFill>
          <a:ln w="9525">
            <a:solidFill>
              <a:srgbClr val="85B7EB"/>
            </a:solidFill>
            <a:prstDash val="solid"/>
          </a:ln>
          <a:effectLst>
            <a:outerShdw sx="100000" sy="100000" kx="0" ky="0" algn="bl" rotWithShape="0" blurRad="63500" dist="25400" dir="7200000">
              <a:srgbClr val="000000">
                <a:alpha val="7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274320" y="3822192"/>
            <a:ext cx="64008" cy="749808"/>
          </a:xfrm>
          <a:prstGeom prst="rect">
            <a:avLst/>
          </a:prstGeom>
          <a:solidFill>
            <a:srgbClr val="185FA5"/>
          </a:solidFill>
          <a:ln w="12700">
            <a:solidFill>
              <a:srgbClr val="185FA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38912" y="3895344"/>
            <a:ext cx="3931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D52"/>
                </a:solidFill>
              </a:rPr>
              <a:t>Azure Monitor + alerts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38912" y="4114800"/>
            <a:ext cx="3931920" cy="4206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0F2540"/>
                </a:solidFill>
              </a:rPr>
              <a:t>Dashboards and automatic alerts — queue backing up, error spike, dead-letters.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4663440" y="914400"/>
            <a:ext cx="4206240" cy="310896"/>
          </a:xfrm>
          <a:prstGeom prst="rect">
            <a:avLst/>
          </a:prstGeom>
          <a:solidFill>
            <a:srgbClr val="0C2D52"/>
          </a:solidFill>
          <a:ln w="12700">
            <a:solidFill>
              <a:srgbClr val="0C2D5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791456" y="914400"/>
            <a:ext cx="40233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Resilience patterns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4663440" y="1298448"/>
            <a:ext cx="4206240" cy="502920"/>
          </a:xfrm>
          <a:prstGeom prst="rect">
            <a:avLst/>
          </a:prstGeom>
          <a:solidFill>
            <a:srgbClr val="F2F6FB"/>
          </a:solidFill>
          <a:ln w="7620">
            <a:solidFill>
              <a:srgbClr val="85B7EB"/>
            </a:solidFill>
            <a:prstDash val="solid"/>
          </a:ln>
          <a:effectLst>
            <a:outerShdw sx="100000" sy="100000" kx="0" ky="0" algn="bl" rotWithShape="0" blurRad="63500" dist="25400" dir="7200000">
              <a:srgbClr val="000000">
                <a:alpha val="7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4791456" y="1298448"/>
            <a:ext cx="396849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30" b="1" dirty="0">
                <a:solidFill>
                  <a:srgbClr val="0C2D52"/>
                </a:solidFill>
              </a:rPr>
              <a:t>Buffer + 202  </a:t>
            </a:r>
            <a:pPr indent="0" marL="0">
              <a:buNone/>
            </a:pPr>
            <a:r>
              <a:rPr lang="en-US" sz="830" dirty="0">
                <a:solidFill>
                  <a:srgbClr val="0F2540"/>
                </a:solidFill>
              </a:rPr>
              <a:t>— accept, queue, reply at once — a downstream slow-down never blocks the vendor.</a:t>
            </a:r>
            <a:endParaRPr lang="en-US" sz="830" dirty="0"/>
          </a:p>
        </p:txBody>
      </p:sp>
      <p:sp>
        <p:nvSpPr>
          <p:cNvPr id="28" name="Shape 26"/>
          <p:cNvSpPr/>
          <p:nvPr/>
        </p:nvSpPr>
        <p:spPr>
          <a:xfrm>
            <a:off x="4663440" y="1860804"/>
            <a:ext cx="4206240" cy="502920"/>
          </a:xfrm>
          <a:prstGeom prst="rect">
            <a:avLst/>
          </a:prstGeom>
          <a:solidFill>
            <a:srgbClr val="F2F6FB"/>
          </a:solidFill>
          <a:ln w="7620">
            <a:solidFill>
              <a:srgbClr val="85B7EB"/>
            </a:solidFill>
            <a:prstDash val="solid"/>
          </a:ln>
          <a:effectLst>
            <a:outerShdw sx="100000" sy="100000" kx="0" ky="0" algn="bl" rotWithShape="0" blurRad="63500" dist="25400" dir="7200000">
              <a:srgbClr val="000000">
                <a:alpha val="7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4791456" y="1860804"/>
            <a:ext cx="396849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30" b="1" dirty="0">
                <a:solidFill>
                  <a:srgbClr val="0C2D52"/>
                </a:solidFill>
              </a:rPr>
              <a:t>Retry with backoff  </a:t>
            </a:r>
            <a:pPr indent="0" marL="0">
              <a:buNone/>
            </a:pPr>
            <a:r>
              <a:rPr lang="en-US" sz="830" dirty="0">
                <a:solidFill>
                  <a:srgbClr val="0F2540"/>
                </a:solidFill>
              </a:rPr>
              <a:t>— a failed write retries automatically, waiting longer each time before giving up.</a:t>
            </a:r>
            <a:endParaRPr lang="en-US" sz="830" dirty="0"/>
          </a:p>
        </p:txBody>
      </p:sp>
      <p:sp>
        <p:nvSpPr>
          <p:cNvPr id="30" name="Shape 28"/>
          <p:cNvSpPr/>
          <p:nvPr/>
        </p:nvSpPr>
        <p:spPr>
          <a:xfrm>
            <a:off x="4663440" y="2423160"/>
            <a:ext cx="4206240" cy="502920"/>
          </a:xfrm>
          <a:prstGeom prst="rect">
            <a:avLst/>
          </a:prstGeom>
          <a:solidFill>
            <a:srgbClr val="F2F6FB"/>
          </a:solidFill>
          <a:ln w="7620">
            <a:solidFill>
              <a:srgbClr val="85B7EB"/>
            </a:solidFill>
            <a:prstDash val="solid"/>
          </a:ln>
          <a:effectLst>
            <a:outerShdw sx="100000" sy="100000" kx="0" ky="0" algn="bl" rotWithShape="0" blurRad="63500" dist="25400" dir="7200000">
              <a:srgbClr val="000000">
                <a:alpha val="7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4791456" y="2423160"/>
            <a:ext cx="396849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30" b="1" dirty="0">
                <a:solidFill>
                  <a:srgbClr val="0C2D52"/>
                </a:solidFill>
              </a:rPr>
              <a:t>Dead-letter queue  </a:t>
            </a:r>
            <a:pPr indent="0" marL="0">
              <a:buNone/>
            </a:pPr>
            <a:r>
              <a:rPr lang="en-US" sz="830" dirty="0">
                <a:solidFill>
                  <a:srgbClr val="0F2540"/>
                </a:solidFill>
              </a:rPr>
              <a:t>— anything that keeps failing is parked safely for review, never silently lost.</a:t>
            </a:r>
            <a:endParaRPr lang="en-US" sz="830" dirty="0"/>
          </a:p>
        </p:txBody>
      </p:sp>
      <p:sp>
        <p:nvSpPr>
          <p:cNvPr id="32" name="Shape 30"/>
          <p:cNvSpPr/>
          <p:nvPr/>
        </p:nvSpPr>
        <p:spPr>
          <a:xfrm>
            <a:off x="4663440" y="2985516"/>
            <a:ext cx="4206240" cy="502920"/>
          </a:xfrm>
          <a:prstGeom prst="rect">
            <a:avLst/>
          </a:prstGeom>
          <a:solidFill>
            <a:srgbClr val="F2F6FB"/>
          </a:solidFill>
          <a:ln w="7620">
            <a:solidFill>
              <a:srgbClr val="85B7EB"/>
            </a:solidFill>
            <a:prstDash val="solid"/>
          </a:ln>
          <a:effectLst>
            <a:outerShdw sx="100000" sy="100000" kx="0" ky="0" algn="bl" rotWithShape="0" blurRad="63500" dist="25400" dir="7200000">
              <a:srgbClr val="000000">
                <a:alpha val="7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4791456" y="2985516"/>
            <a:ext cx="396849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30" b="1" dirty="0">
                <a:solidFill>
                  <a:srgbClr val="0C2D52"/>
                </a:solidFill>
              </a:rPr>
              <a:t>Idempotency keys  </a:t>
            </a:r>
            <a:pPr indent="0" marL="0">
              <a:buNone/>
            </a:pPr>
            <a:r>
              <a:rPr lang="en-US" sz="830" dirty="0">
                <a:solidFill>
                  <a:srgbClr val="0F2540"/>
                </a:solidFill>
              </a:rPr>
              <a:t>— the same message arriving twice is processed once — no duplicate work orders.</a:t>
            </a:r>
            <a:endParaRPr lang="en-US" sz="830" dirty="0"/>
          </a:p>
        </p:txBody>
      </p:sp>
      <p:sp>
        <p:nvSpPr>
          <p:cNvPr id="34" name="Shape 32"/>
          <p:cNvSpPr/>
          <p:nvPr/>
        </p:nvSpPr>
        <p:spPr>
          <a:xfrm>
            <a:off x="4663440" y="3547872"/>
            <a:ext cx="4206240" cy="502920"/>
          </a:xfrm>
          <a:prstGeom prst="rect">
            <a:avLst/>
          </a:prstGeom>
          <a:solidFill>
            <a:srgbClr val="F2F6FB"/>
          </a:solidFill>
          <a:ln w="7620">
            <a:solidFill>
              <a:srgbClr val="85B7EB"/>
            </a:solidFill>
            <a:prstDash val="solid"/>
          </a:ln>
          <a:effectLst>
            <a:outerShdw sx="100000" sy="100000" kx="0" ky="0" algn="bl" rotWithShape="0" blurRad="63500" dist="25400" dir="7200000">
              <a:srgbClr val="000000">
                <a:alpha val="7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4791456" y="3547872"/>
            <a:ext cx="396849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30" b="1" dirty="0">
                <a:solidFill>
                  <a:srgbClr val="0C2D52"/>
                </a:solidFill>
              </a:rPr>
              <a:t>Per-branch isolation  </a:t>
            </a:r>
            <a:pPr indent="0" marL="0">
              <a:buNone/>
            </a:pPr>
            <a:r>
              <a:rPr lang="en-US" sz="830" dirty="0">
                <a:solidFill>
                  <a:srgbClr val="0F2540"/>
                </a:solidFill>
              </a:rPr>
              <a:t>— each vendor delivery retries on its own; one vendor down never stalls others.</a:t>
            </a:r>
            <a:endParaRPr lang="en-US" sz="830" dirty="0"/>
          </a:p>
        </p:txBody>
      </p:sp>
      <p:sp>
        <p:nvSpPr>
          <p:cNvPr id="36" name="Shape 34"/>
          <p:cNvSpPr/>
          <p:nvPr/>
        </p:nvSpPr>
        <p:spPr>
          <a:xfrm>
            <a:off x="4663440" y="4110228"/>
            <a:ext cx="4206240" cy="502920"/>
          </a:xfrm>
          <a:prstGeom prst="rect">
            <a:avLst/>
          </a:prstGeom>
          <a:solidFill>
            <a:srgbClr val="F2F6FB"/>
          </a:solidFill>
          <a:ln w="7620">
            <a:solidFill>
              <a:srgbClr val="85B7EB"/>
            </a:solidFill>
            <a:prstDash val="solid"/>
          </a:ln>
          <a:effectLst>
            <a:outerShdw sx="100000" sy="100000" kx="0" ky="0" algn="bl" rotWithShape="0" blurRad="63500" dist="25400" dir="7200000">
              <a:srgbClr val="000000">
                <a:alpha val="7000"/>
              </a:srgbClr>
            </a:outerShdw>
          </a:effectLst>
        </p:spPr>
      </p:sp>
      <p:sp>
        <p:nvSpPr>
          <p:cNvPr id="37" name="Text 35"/>
          <p:cNvSpPr/>
          <p:nvPr/>
        </p:nvSpPr>
        <p:spPr>
          <a:xfrm>
            <a:off x="4791456" y="4110228"/>
            <a:ext cx="396849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30" b="1" dirty="0">
                <a:solidFill>
                  <a:srgbClr val="0C2D52"/>
                </a:solidFill>
              </a:rPr>
              <a:t>Event replay (Option 2)  </a:t>
            </a:r>
            <a:pPr indent="0" marL="0">
              <a:buNone/>
            </a:pPr>
            <a:r>
              <a:rPr lang="en-US" sz="830" dirty="0">
                <a:solidFill>
                  <a:srgbClr val="0F2540"/>
                </a:solidFill>
              </a:rPr>
              <a:t>— re-run missed work orders for an offline vendor from any point in time.</a:t>
            </a:r>
            <a:endParaRPr lang="en-US" sz="83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93776"/>
          </a:xfrm>
          <a:prstGeom prst="rect">
            <a:avLst/>
          </a:prstGeom>
          <a:solidFill>
            <a:srgbClr val="0C2D52"/>
          </a:solidFill>
          <a:ln w="12700">
            <a:solidFill>
              <a:srgbClr val="0C2D5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73152" cy="493776"/>
          </a:xfrm>
          <a:prstGeom prst="rect">
            <a:avLst/>
          </a:prstGeom>
          <a:solidFill>
            <a:srgbClr val="378ADD"/>
          </a:solidFill>
          <a:ln w="12700">
            <a:solidFill>
              <a:srgbClr val="378AD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37744" y="0"/>
            <a:ext cx="676656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Option 1 — API-first solution overview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040880" y="0"/>
            <a:ext cx="192024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B5D4F4"/>
                </a:solidFill>
              </a:rPr>
              <a:t>at a glance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274320" y="603504"/>
            <a:ext cx="8595360" cy="457200"/>
          </a:xfrm>
          <a:prstGeom prst="rect">
            <a:avLst/>
          </a:prstGeom>
          <a:solidFill>
            <a:srgbClr val="0C2D52"/>
          </a:solidFill>
          <a:ln w="12700">
            <a:solidFill>
              <a:srgbClr val="0C2D52"/>
            </a:solidFill>
            <a:prstDash val="solid"/>
          </a:ln>
          <a:effectLst>
            <a:outerShdw sx="100000" sy="100000" kx="0" ky="0" algn="bl" rotWithShape="0" blurRad="63500" dist="25400" dir="7200000">
              <a:srgbClr val="000000">
                <a:alpha val="7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603504"/>
            <a:ext cx="73152" cy="457200"/>
          </a:xfrm>
          <a:prstGeom prst="rect">
            <a:avLst/>
          </a:prstGeom>
          <a:solidFill>
            <a:srgbClr val="378ADD"/>
          </a:solidFill>
          <a:ln w="12700">
            <a:solidFill>
              <a:srgbClr val="378AD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603504"/>
            <a:ext cx="8321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One governed API front door for every vendor.  </a:t>
            </a:r>
            <a:pPr indent="0" marL="0">
              <a:buNone/>
            </a:pPr>
            <a:r>
              <a:rPr lang="en-US" sz="1100" dirty="0">
                <a:solidFill>
                  <a:srgbClr val="DCE8F5"/>
                </a:solidFill>
              </a:rPr>
              <a:t>Build two core APIs once; onboard 50+ vendors as configuration, not code.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74320" y="1170432"/>
            <a:ext cx="2029968" cy="1225296"/>
          </a:xfrm>
          <a:prstGeom prst="rect">
            <a:avLst/>
          </a:prstGeom>
          <a:solidFill>
            <a:srgbClr val="EFF6FF"/>
          </a:solidFill>
          <a:ln w="9525">
            <a:solidFill>
              <a:srgbClr val="85B7EB"/>
            </a:solidFill>
            <a:prstDash val="solid"/>
          </a:ln>
          <a:effectLst>
            <a:outerShdw sx="100000" sy="100000" kx="0" ky="0" algn="bl" rotWithShape="0" blurRad="63500" dist="25400" dir="7200000">
              <a:srgbClr val="000000">
                <a:alpha val="7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74320" y="1170432"/>
            <a:ext cx="2029968" cy="54864"/>
          </a:xfrm>
          <a:prstGeom prst="rect">
            <a:avLst/>
          </a:prstGeom>
          <a:solidFill>
            <a:srgbClr val="185FA5"/>
          </a:solidFill>
          <a:ln w="12700">
            <a:solidFill>
              <a:srgbClr val="185FA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84048" y="1298448"/>
            <a:ext cx="237744" cy="237744"/>
          </a:xfrm>
          <a:prstGeom prst="ellipse">
            <a:avLst/>
          </a:prstGeom>
          <a:solidFill>
            <a:srgbClr val="185FA5"/>
          </a:solidFill>
          <a:ln w="12700">
            <a:solidFill>
              <a:srgbClr val="185FA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84048" y="1298448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1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94944" y="1298448"/>
            <a:ext cx="149961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C2D52"/>
                </a:solidFill>
              </a:rPr>
              <a:t>Two core APIs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384048" y="1682496"/>
            <a:ext cx="1810512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0F2540"/>
                </a:solidFill>
              </a:rPr>
              <a:t>Repair API and Work Order API, published through APIM. The contract is the model — vendors conform to it.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2441448" y="1170432"/>
            <a:ext cx="2029968" cy="1225296"/>
          </a:xfrm>
          <a:prstGeom prst="rect">
            <a:avLst/>
          </a:prstGeom>
          <a:solidFill>
            <a:srgbClr val="EFF6FF"/>
          </a:solidFill>
          <a:ln w="9525">
            <a:solidFill>
              <a:srgbClr val="85B7EB"/>
            </a:solidFill>
            <a:prstDash val="solid"/>
          </a:ln>
          <a:effectLst>
            <a:outerShdw sx="100000" sy="100000" kx="0" ky="0" algn="bl" rotWithShape="0" blurRad="63500" dist="25400" dir="7200000">
              <a:srgbClr val="000000">
                <a:alpha val="7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2441448" y="1170432"/>
            <a:ext cx="2029968" cy="54864"/>
          </a:xfrm>
          <a:prstGeom prst="rect">
            <a:avLst/>
          </a:prstGeom>
          <a:solidFill>
            <a:srgbClr val="185FA5"/>
          </a:solidFill>
          <a:ln w="12700">
            <a:solidFill>
              <a:srgbClr val="185FA5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551176" y="1298448"/>
            <a:ext cx="237744" cy="237744"/>
          </a:xfrm>
          <a:prstGeom prst="ellipse">
            <a:avLst/>
          </a:prstGeom>
          <a:solidFill>
            <a:srgbClr val="185FA5"/>
          </a:solidFill>
          <a:ln w="12700">
            <a:solidFill>
              <a:srgbClr val="185FA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551176" y="1298448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2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2862072" y="1298448"/>
            <a:ext cx="149961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C2D52"/>
                </a:solidFill>
              </a:rPr>
              <a:t>Durable write path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2551176" y="1682496"/>
            <a:ext cx="1810512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0F2540"/>
                </a:solidFill>
              </a:rPr>
              <a:t>Receiver returns 202 and queues to Service Bus; a shared handler writes to Dataverse with retry and dead-letter.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4608576" y="1170432"/>
            <a:ext cx="2029968" cy="1225296"/>
          </a:xfrm>
          <a:prstGeom prst="rect">
            <a:avLst/>
          </a:prstGeom>
          <a:solidFill>
            <a:srgbClr val="EFF6FF"/>
          </a:solidFill>
          <a:ln w="9525">
            <a:solidFill>
              <a:srgbClr val="85B7EB"/>
            </a:solidFill>
            <a:prstDash val="solid"/>
          </a:ln>
          <a:effectLst>
            <a:outerShdw sx="100000" sy="100000" kx="0" ky="0" algn="bl" rotWithShape="0" blurRad="63500" dist="25400" dir="7200000">
              <a:srgbClr val="000000">
                <a:alpha val="7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608576" y="1170432"/>
            <a:ext cx="2029968" cy="54864"/>
          </a:xfrm>
          <a:prstGeom prst="rect">
            <a:avLst/>
          </a:prstGeom>
          <a:solidFill>
            <a:srgbClr val="185FA5"/>
          </a:solidFill>
          <a:ln w="12700">
            <a:solidFill>
              <a:srgbClr val="185FA5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718304" y="1298448"/>
            <a:ext cx="237744" cy="237744"/>
          </a:xfrm>
          <a:prstGeom prst="ellipse">
            <a:avLst/>
          </a:prstGeom>
          <a:solidFill>
            <a:srgbClr val="185FA5"/>
          </a:solidFill>
          <a:ln w="12700">
            <a:solidFill>
              <a:srgbClr val="185FA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718304" y="1298448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3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5029200" y="1298448"/>
            <a:ext cx="149961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C2D52"/>
                </a:solidFill>
              </a:rPr>
              <a:t>Per-channel adapters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4718304" y="1682496"/>
            <a:ext cx="1810512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0F2540"/>
                </a:solidFill>
              </a:rPr>
              <a:t>A thin adapter per channel (HTTP, file, email) delivers work orders out. Vendor specifics are a resolver row.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6775704" y="1170432"/>
            <a:ext cx="2029968" cy="1225296"/>
          </a:xfrm>
          <a:prstGeom prst="rect">
            <a:avLst/>
          </a:prstGeom>
          <a:solidFill>
            <a:srgbClr val="EFF6FF"/>
          </a:solidFill>
          <a:ln w="9525">
            <a:solidFill>
              <a:srgbClr val="85B7EB"/>
            </a:solidFill>
            <a:prstDash val="solid"/>
          </a:ln>
          <a:effectLst>
            <a:outerShdw sx="100000" sy="100000" kx="0" ky="0" algn="bl" rotWithShape="0" blurRad="63500" dist="25400" dir="7200000">
              <a:srgbClr val="000000">
                <a:alpha val="7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6775704" y="1170432"/>
            <a:ext cx="2029968" cy="54864"/>
          </a:xfrm>
          <a:prstGeom prst="rect">
            <a:avLst/>
          </a:prstGeom>
          <a:solidFill>
            <a:srgbClr val="185FA5"/>
          </a:solidFill>
          <a:ln w="12700">
            <a:solidFill>
              <a:srgbClr val="185FA5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885432" y="1298448"/>
            <a:ext cx="237744" cy="237744"/>
          </a:xfrm>
          <a:prstGeom prst="ellipse">
            <a:avLst/>
          </a:prstGeom>
          <a:solidFill>
            <a:srgbClr val="185FA5"/>
          </a:solidFill>
          <a:ln w="12700">
            <a:solidFill>
              <a:srgbClr val="185FA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885432" y="1298448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4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7196328" y="1298448"/>
            <a:ext cx="149961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C2D52"/>
                </a:solidFill>
              </a:rPr>
              <a:t>Self-service onboarding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6885432" y="1682496"/>
            <a:ext cx="1810512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0F2540"/>
                </a:solidFill>
              </a:rPr>
              <a:t>Vendors get keys and the spec via the portal. Adding one is a config entry, not a new pipeline.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274320" y="2542032"/>
            <a:ext cx="4206240" cy="292608"/>
          </a:xfrm>
          <a:prstGeom prst="rect">
            <a:avLst/>
          </a:prstGeom>
          <a:solidFill>
            <a:srgbClr val="425A75"/>
          </a:solidFill>
          <a:ln w="12700">
            <a:solidFill>
              <a:srgbClr val="425A75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02336" y="2542032"/>
            <a:ext cx="4023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Replaces today's fragility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274320" y="2834640"/>
            <a:ext cx="4206240" cy="1517904"/>
          </a:xfrm>
          <a:prstGeom prst="rect">
            <a:avLst/>
          </a:prstGeom>
          <a:solidFill>
            <a:srgbClr val="F2F6FB"/>
          </a:solidFill>
          <a:ln w="9525">
            <a:solidFill>
              <a:srgbClr val="85B7EB"/>
            </a:solidFill>
            <a:prstDash val="solid"/>
          </a:ln>
          <a:effectLst>
            <a:outerShdw sx="100000" sy="100000" kx="0" ky="0" algn="bl" rotWithShape="0" blurRad="63500" dist="25400" dir="7200000">
              <a:srgbClr val="000000">
                <a:alpha val="7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420624" y="2962656"/>
            <a:ext cx="39319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425A75"/>
                </a:solidFill>
              </a:rPr>
              <a:t>•  </a:t>
            </a:r>
            <a:pPr indent="0" marL="0">
              <a:buNone/>
            </a:pPr>
            <a:r>
              <a:rPr lang="en-US" sz="900" dirty="0">
                <a:solidFill>
                  <a:srgbClr val="0F2540"/>
                </a:solidFill>
              </a:rPr>
              <a:t>Per-vendor Logic Apps and bespoke pipelines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420624" y="3291840"/>
            <a:ext cx="39319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425A75"/>
                </a:solidFill>
              </a:rPr>
              <a:t>•  </a:t>
            </a:r>
            <a:pPr indent="0" marL="0">
              <a:buNone/>
            </a:pPr>
            <a:r>
              <a:rPr lang="en-US" sz="900" dirty="0">
                <a:solidFill>
                  <a:srgbClr val="0F2540"/>
                </a:solidFill>
              </a:rPr>
              <a:t>Raw Service Bus messages with no shared contract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420624" y="3621024"/>
            <a:ext cx="39319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425A75"/>
                </a:solidFill>
              </a:rPr>
              <a:t>•  </a:t>
            </a:r>
            <a:pPr indent="0" marL="0">
              <a:buNone/>
            </a:pPr>
            <a:r>
              <a:rPr lang="en-US" sz="900" dirty="0">
                <a:solidFill>
                  <a:srgbClr val="0F2540"/>
                </a:solidFill>
              </a:rPr>
              <a:t>60-minute file polling and brittle XML parsers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420624" y="3950208"/>
            <a:ext cx="39319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425A75"/>
                </a:solidFill>
              </a:rPr>
              <a:t>•  </a:t>
            </a:r>
            <a:pPr indent="0" marL="0">
              <a:buNone/>
            </a:pPr>
            <a:r>
              <a:rPr lang="en-US" sz="900" dirty="0">
                <a:solidFill>
                  <a:srgbClr val="0F2540"/>
                </a:solidFill>
              </a:rPr>
              <a:t>No unified retry, dead-letter, or observability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4663440" y="2542032"/>
            <a:ext cx="4206240" cy="292608"/>
          </a:xfrm>
          <a:prstGeom prst="rect">
            <a:avLst/>
          </a:prstGeom>
          <a:solidFill>
            <a:srgbClr val="185FA5"/>
          </a:solidFill>
          <a:ln w="12700">
            <a:solidFill>
              <a:srgbClr val="185FA5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791456" y="2542032"/>
            <a:ext cx="4023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What you get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4663440" y="2834640"/>
            <a:ext cx="4206240" cy="1517904"/>
          </a:xfrm>
          <a:prstGeom prst="rect">
            <a:avLst/>
          </a:prstGeom>
          <a:solidFill>
            <a:srgbClr val="E6F1FB"/>
          </a:solidFill>
          <a:ln w="9525">
            <a:solidFill>
              <a:srgbClr val="185FA5"/>
            </a:solidFill>
            <a:prstDash val="solid"/>
          </a:ln>
          <a:effectLst>
            <a:outerShdw sx="100000" sy="100000" kx="0" ky="0" algn="bl" rotWithShape="0" blurRad="63500" dist="25400" dir="7200000">
              <a:srgbClr val="000000">
                <a:alpha val="7000"/>
              </a:srgbClr>
            </a:outerShdw>
          </a:effectLst>
        </p:spPr>
      </p:sp>
      <p:sp>
        <p:nvSpPr>
          <p:cNvPr id="43" name="Text 41"/>
          <p:cNvSpPr/>
          <p:nvPr/>
        </p:nvSpPr>
        <p:spPr>
          <a:xfrm>
            <a:off x="4809744" y="2962656"/>
            <a:ext cx="39319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85FA5"/>
                </a:solidFill>
              </a:rPr>
              <a:t>✓  </a:t>
            </a:r>
            <a:pPr indent="0" marL="0">
              <a:buNone/>
            </a:pPr>
            <a:r>
              <a:rPr lang="en-US" sz="900" dirty="0">
                <a:solidFill>
                  <a:srgbClr val="0F2540"/>
                </a:solidFill>
              </a:rPr>
              <a:t>Fast, low-risk delivery — roughly 3 to 5 months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4809744" y="3291840"/>
            <a:ext cx="39319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85FA5"/>
                </a:solidFill>
              </a:rPr>
              <a:t>✓  </a:t>
            </a:r>
            <a:pPr indent="0" marL="0">
              <a:buNone/>
            </a:pPr>
            <a:r>
              <a:rPr lang="en-US" sz="900" dirty="0">
                <a:solidFill>
                  <a:srgbClr val="0F2540"/>
                </a:solidFill>
              </a:rPr>
              <a:t>One contract and one path for every vendor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4809744" y="3621024"/>
            <a:ext cx="39319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85FA5"/>
                </a:solidFill>
              </a:rPr>
              <a:t>✓  </a:t>
            </a:r>
            <a:pPr indent="0" marL="0">
              <a:buNone/>
            </a:pPr>
            <a:r>
              <a:rPr lang="en-US" sz="900" dirty="0">
                <a:solidFill>
                  <a:srgbClr val="0F2540"/>
                </a:solidFill>
              </a:rPr>
              <a:t>Onboard the 51st vendor as easily as the 5th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4809744" y="3950208"/>
            <a:ext cx="39319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85FA5"/>
                </a:solidFill>
              </a:rPr>
              <a:t>✓  </a:t>
            </a:r>
            <a:pPr indent="0" marL="0">
              <a:buNone/>
            </a:pPr>
            <a:r>
              <a:rPr lang="en-US" sz="900" dirty="0">
                <a:solidFill>
                  <a:srgbClr val="0F2540"/>
                </a:solidFill>
              </a:rPr>
              <a:t>A clean foundation Option 2 builds on later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274320" y="4498848"/>
            <a:ext cx="2029968" cy="457200"/>
          </a:xfrm>
          <a:prstGeom prst="rect">
            <a:avLst/>
          </a:prstGeom>
          <a:solidFill>
            <a:srgbClr val="0C2D52"/>
          </a:solidFill>
          <a:ln w="12700">
            <a:solidFill>
              <a:srgbClr val="0C2D52"/>
            </a:solidFill>
            <a:prstDash val="solid"/>
          </a:ln>
          <a:effectLst>
            <a:outerShdw sx="100000" sy="100000" kx="0" ky="0" algn="bl" rotWithShape="0" blurRad="63500" dist="25400" dir="7200000">
              <a:srgbClr val="000000">
                <a:alpha val="7000"/>
              </a:srgbClr>
            </a:outerShdw>
          </a:effectLst>
        </p:spPr>
      </p:sp>
      <p:sp>
        <p:nvSpPr>
          <p:cNvPr id="48" name="Text 46"/>
          <p:cNvSpPr/>
          <p:nvPr/>
        </p:nvSpPr>
        <p:spPr>
          <a:xfrm>
            <a:off x="365760" y="4498848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2</a:t>
            </a:r>
            <a:endParaRPr lang="en-US" sz="1500" dirty="0"/>
          </a:p>
        </p:txBody>
      </p:sp>
      <p:sp>
        <p:nvSpPr>
          <p:cNvPr id="49" name="Text 47"/>
          <p:cNvSpPr/>
          <p:nvPr/>
        </p:nvSpPr>
        <p:spPr>
          <a:xfrm>
            <a:off x="1143000" y="4498848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B5D4F4"/>
                </a:solidFill>
              </a:rPr>
              <a:t>core APIs</a:t>
            </a:r>
            <a:endParaRPr lang="en-US" sz="750" dirty="0"/>
          </a:p>
        </p:txBody>
      </p:sp>
      <p:sp>
        <p:nvSpPr>
          <p:cNvPr id="50" name="Shape 48"/>
          <p:cNvSpPr/>
          <p:nvPr/>
        </p:nvSpPr>
        <p:spPr>
          <a:xfrm>
            <a:off x="2441448" y="4498848"/>
            <a:ext cx="2029968" cy="457200"/>
          </a:xfrm>
          <a:prstGeom prst="rect">
            <a:avLst/>
          </a:prstGeom>
          <a:solidFill>
            <a:srgbClr val="0C2D52"/>
          </a:solidFill>
          <a:ln w="12700">
            <a:solidFill>
              <a:srgbClr val="0C2D52"/>
            </a:solidFill>
            <a:prstDash val="solid"/>
          </a:ln>
          <a:effectLst>
            <a:outerShdw sx="100000" sy="100000" kx="0" ky="0" algn="bl" rotWithShape="0" blurRad="63500" dist="25400" dir="7200000">
              <a:srgbClr val="000000">
                <a:alpha val="7000"/>
              </a:srgbClr>
            </a:outerShdw>
          </a:effectLst>
        </p:spPr>
      </p:sp>
      <p:sp>
        <p:nvSpPr>
          <p:cNvPr id="51" name="Text 49"/>
          <p:cNvSpPr/>
          <p:nvPr/>
        </p:nvSpPr>
        <p:spPr>
          <a:xfrm>
            <a:off x="2532888" y="4498848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1</a:t>
            </a:r>
            <a:endParaRPr lang="en-US" sz="1500" dirty="0"/>
          </a:p>
        </p:txBody>
      </p:sp>
      <p:sp>
        <p:nvSpPr>
          <p:cNvPr id="52" name="Text 50"/>
          <p:cNvSpPr/>
          <p:nvPr/>
        </p:nvSpPr>
        <p:spPr>
          <a:xfrm>
            <a:off x="3310128" y="4498848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B5D4F4"/>
                </a:solidFill>
              </a:rPr>
              <a:t>contract for all vendors</a:t>
            </a:r>
            <a:endParaRPr lang="en-US" sz="750" dirty="0"/>
          </a:p>
        </p:txBody>
      </p:sp>
      <p:sp>
        <p:nvSpPr>
          <p:cNvPr id="53" name="Shape 51"/>
          <p:cNvSpPr/>
          <p:nvPr/>
        </p:nvSpPr>
        <p:spPr>
          <a:xfrm>
            <a:off x="4608576" y="4498848"/>
            <a:ext cx="2029968" cy="457200"/>
          </a:xfrm>
          <a:prstGeom prst="rect">
            <a:avLst/>
          </a:prstGeom>
          <a:solidFill>
            <a:srgbClr val="0C2D52"/>
          </a:solidFill>
          <a:ln w="12700">
            <a:solidFill>
              <a:srgbClr val="0C2D52"/>
            </a:solidFill>
            <a:prstDash val="solid"/>
          </a:ln>
          <a:effectLst>
            <a:outerShdw sx="100000" sy="100000" kx="0" ky="0" algn="bl" rotWithShape="0" blurRad="63500" dist="25400" dir="7200000">
              <a:srgbClr val="000000">
                <a:alpha val="7000"/>
              </a:srgbClr>
            </a:outerShdw>
          </a:effectLst>
        </p:spPr>
      </p:sp>
      <p:sp>
        <p:nvSpPr>
          <p:cNvPr id="54" name="Text 52"/>
          <p:cNvSpPr/>
          <p:nvPr/>
        </p:nvSpPr>
        <p:spPr>
          <a:xfrm>
            <a:off x="4700016" y="4498848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50+</a:t>
            </a:r>
            <a:endParaRPr lang="en-US" sz="1500" dirty="0"/>
          </a:p>
        </p:txBody>
      </p:sp>
      <p:sp>
        <p:nvSpPr>
          <p:cNvPr id="55" name="Text 53"/>
          <p:cNvSpPr/>
          <p:nvPr/>
        </p:nvSpPr>
        <p:spPr>
          <a:xfrm>
            <a:off x="5477256" y="4498848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B5D4F4"/>
                </a:solidFill>
              </a:rPr>
              <a:t>vendors as config</a:t>
            </a:r>
            <a:endParaRPr lang="en-US" sz="750" dirty="0"/>
          </a:p>
        </p:txBody>
      </p:sp>
      <p:sp>
        <p:nvSpPr>
          <p:cNvPr id="56" name="Shape 54"/>
          <p:cNvSpPr/>
          <p:nvPr/>
        </p:nvSpPr>
        <p:spPr>
          <a:xfrm>
            <a:off x="6775704" y="4498848"/>
            <a:ext cx="2029968" cy="457200"/>
          </a:xfrm>
          <a:prstGeom prst="rect">
            <a:avLst/>
          </a:prstGeom>
          <a:solidFill>
            <a:srgbClr val="0C2D52"/>
          </a:solidFill>
          <a:ln w="12700">
            <a:solidFill>
              <a:srgbClr val="0C2D52"/>
            </a:solidFill>
            <a:prstDash val="solid"/>
          </a:ln>
          <a:effectLst>
            <a:outerShdw sx="100000" sy="100000" kx="0" ky="0" algn="bl" rotWithShape="0" blurRad="63500" dist="25400" dir="7200000">
              <a:srgbClr val="000000">
                <a:alpha val="7000"/>
              </a:srgbClr>
            </a:outerShdw>
          </a:effectLst>
        </p:spPr>
      </p:sp>
      <p:sp>
        <p:nvSpPr>
          <p:cNvPr id="57" name="Text 55"/>
          <p:cNvSpPr/>
          <p:nvPr/>
        </p:nvSpPr>
        <p:spPr>
          <a:xfrm>
            <a:off x="6867144" y="4498848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3-5 mo</a:t>
            </a:r>
            <a:endParaRPr lang="en-US" sz="1500" dirty="0"/>
          </a:p>
        </p:txBody>
      </p:sp>
      <p:sp>
        <p:nvSpPr>
          <p:cNvPr id="58" name="Text 56"/>
          <p:cNvSpPr/>
          <p:nvPr/>
        </p:nvSpPr>
        <p:spPr>
          <a:xfrm>
            <a:off x="7644384" y="4498848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B5D4F4"/>
                </a:solidFill>
              </a:rPr>
              <a:t>to deliver</a:t>
            </a:r>
            <a:endParaRPr lang="en-US" sz="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Work Order Issue Flow + Architecture Principles</dc:title>
  <dc:subject>PptxGenJS Presentation</dc:subject>
  <dc:creator>PptxGenJS</dc:creator>
  <cp:lastModifiedBy>PptxGenJS</cp:lastModifiedBy>
  <cp:revision>1</cp:revision>
  <dcterms:created xsi:type="dcterms:W3CDTF">2026-06-03T22:10:09Z</dcterms:created>
  <dcterms:modified xsi:type="dcterms:W3CDTF">2026-06-03T22:10:09Z</dcterms:modified>
</cp:coreProperties>
</file>