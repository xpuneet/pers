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4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3488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62672" y="777240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4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33488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1106424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4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3488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2672" y="1435608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1764792"/>
            <a:ext cx="64008" cy="64008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45720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891B2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768096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API-First Integration Platform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92608" y="1682496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Option 1, revised — centralised Repair API and Work Order API, no canonical layer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2608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 core APIs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Repair + Work Order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88336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98064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50+ contractors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98064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onboard via API contract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84064" y="2249424"/>
            <a:ext cx="2231136" cy="676656"/>
          </a:xfrm>
          <a:prstGeom prst="rect">
            <a:avLst/>
          </a:prstGeom>
          <a:solidFill>
            <a:srgbClr val="0D1F35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93792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Any channel out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HTTP, file, email, SB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2608" y="4828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Architecture team   Discovery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shift — why the canonical layer is gone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When you build the APIs, the contract is the canonical model. Vendors conform to you, not the reverse.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Before — normalise foreign formats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Now — vendors call your API contract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16736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435608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13167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Vendor sends any format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173736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002536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002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18836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Normaliser FA maps to canonical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30428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50592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569464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232" y="2450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Schema registry validates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287121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1605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136392"/>
            <a:ext cx="219456" cy="21945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Then write to Dataverse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1316736"/>
            <a:ext cx="41605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143560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48072" y="13167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Vendor calls Repair/WO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883664"/>
            <a:ext cx="41605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200253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002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48072" y="18836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APIM validates against OpenAPI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450592"/>
            <a:ext cx="416052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18888" y="2569464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48072" y="2450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Handler writes to Dataverse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41605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3136392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8072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No normaliser — one less hop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694176"/>
            <a:ext cx="8595360" cy="118872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0624" y="3767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Why this works for home repair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0624" y="404164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Repair creation and work order management are the core operations — a small, stable API surface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0624" y="42428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Vendors integrate against a published OpenAPI spec — the spec is the integration contract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20624" y="444398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Formatting only matters on the way OUT (file/email vendors) — handled per-adapter at the delivery edge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20624" y="464515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One less hop, one less component to run, monitor, and pay for on every inbound call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API-first layered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Home repair platform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631936" y="512064"/>
            <a:ext cx="512064" cy="4572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1936" y="71323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</a:rPr>
              <a:t>Azure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</a:rPr>
              <a:t>Monitor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8631936" y="171907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App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Insights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8631936" y="272491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Log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Analytics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8631936" y="3730752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DLQ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alerts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256032" y="530352"/>
            <a:ext cx="8339328" cy="877824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530352"/>
            <a:ext cx="8339328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530352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L1   API experience layer (single entry point)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0896" y="749808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" y="786384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78638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API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65760" y="932688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Repair API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· Update · Get · List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084576" y="749808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30296" y="786384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0296" y="786384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API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139440" y="932688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Work Order API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3944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Create · Update · Get · Cancel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858256" y="749808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03976" y="786384"/>
            <a:ext cx="550469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3976" y="786384"/>
            <a:ext cx="550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Gateway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13120" y="932688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APIM + portal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13120" y="1097280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Auth · rate limit · OpenAPI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56032" y="1481328"/>
            <a:ext cx="8339328" cy="877824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1481328"/>
            <a:ext cx="83393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1481328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L2   Orchestration layer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0896" y="1700784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6616" y="1737360"/>
            <a:ext cx="429768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" y="1737360"/>
            <a:ext cx="42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FA/LA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65760" y="1883664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Repair handler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2048256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Validate, write to Dataverse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084576" y="1700784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30296" y="1737360"/>
            <a:ext cx="429768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0296" y="1737360"/>
            <a:ext cx="42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FA/LA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139440" y="1883664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Work Order handler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39440" y="2048256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Status write, validate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58256" y="1700784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03976" y="1737360"/>
            <a:ext cx="550469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03976" y="1737360"/>
            <a:ext cx="550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Svc Bus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913120" y="1883664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Service Bus Premium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13120" y="2048256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Buffer, retry, DLQ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56032" y="2432304"/>
            <a:ext cx="8339328" cy="877824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6032" y="2432304"/>
            <a:ext cx="833932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432304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L3   Persistence layer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10896" y="2651760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56616" y="2688336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" y="2688336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SOR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65760" y="2834640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Dataverse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" y="2999232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Repairs, WOs, profiles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084576" y="2651760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30296" y="2688336"/>
            <a:ext cx="429768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30296" y="2688336"/>
            <a:ext cx="429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Cache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139440" y="2834640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Redis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139440" y="2999232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Vendor lookups, config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858256" y="2651760"/>
            <a:ext cx="2682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03976" y="2688336"/>
            <a:ext cx="309067" cy="128016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03976" y="2688336"/>
            <a:ext cx="309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CRM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5913120" y="2834640"/>
            <a:ext cx="2572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D365 CRM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913120" y="2999232"/>
            <a:ext cx="257251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Cloud flows, cases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13232" y="3328416"/>
            <a:ext cx="0" cy="9144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" y="3438144"/>
            <a:ext cx="8339328" cy="73152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dash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438144"/>
            <a:ext cx="833932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3438144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 issuer sub-flow   triggered by Dataverse entity change   (per-vendor formatting happens here)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1089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5661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61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DV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6576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DV plugin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299716" y="3886200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9115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43687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3687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44602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WO Issuer FA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79976" y="3886200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7141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51713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1713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FA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452628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resolver FA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460236" y="3886200"/>
            <a:ext cx="914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51676" y="3657600"/>
            <a:ext cx="19888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597396" y="3694176"/>
            <a:ext cx="248717" cy="128016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97396" y="3694176"/>
            <a:ext cx="2487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LA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6606540" y="3858768"/>
            <a:ext cx="18790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Fan-out + format LA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56032" y="4279392"/>
            <a:ext cx="8339328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56032" y="4279392"/>
            <a:ext cx="8339328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47472" y="4279392"/>
            <a:ext cx="8156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L4   Vendor delivery layer   (per-channel adapters · plug-in · format per vendor)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10896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365760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HTTP webhook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975104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2029968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File / SFTP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639312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3694176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Email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303520" y="4498848"/>
            <a:ext cx="157276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5358384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Service Bus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967728" y="4498848"/>
            <a:ext cx="1572768" cy="420624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7022592" y="44988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</a:rPr>
              <a:t>New channel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two core APIs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 small, stable API surface — every vendor integrates against these published contracts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914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Repair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152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Manages the repair request lifecycle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591056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910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07008" y="15727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Create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07008" y="1810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Raise a new repair request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35915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59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07008" y="23408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Update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07008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Modify repair details or status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12724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272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07008" y="31089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346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Retrieve a single repair by 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85616"/>
            <a:ext cx="4160520" cy="676656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895344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953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07008" y="387705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Query repairs by filter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914400"/>
            <a:ext cx="41605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914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Work Order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64024" y="11521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Manages work orders issued to vendors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1481328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1591056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15910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50408" y="15727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Create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50408" y="1810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Issue a new work order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2249424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2359152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7448" y="235915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PATCH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50408" y="23408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Update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50408" y="25786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 updates status / completion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17720" y="3017520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27448" y="3127248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312724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50408" y="31089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Get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50408" y="3346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Retrieve work order detail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785616"/>
            <a:ext cx="4160520" cy="676656"/>
          </a:xfrm>
          <a:prstGeom prst="rect">
            <a:avLst/>
          </a:prstGeom>
          <a:solidFill>
            <a:srgbClr val="FFF3EE"/>
          </a:solidFill>
          <a:ln w="6350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27448" y="3895344"/>
            <a:ext cx="713232" cy="237744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27448" y="38953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50408" y="387705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Cancel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50408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Cancel an issued work order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Inbound and outbound 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Inbound — vendor creates or updates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59536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10896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call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Repair/WO API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61160" y="124358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6024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16024" y="859536"/>
            <a:ext cx="138684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6024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752600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APIM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52600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Auth + schema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02864" y="1243584"/>
            <a:ext cx="5486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7728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7728" y="859536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7728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194304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Handler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94304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Validate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44568" y="124358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9432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859536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636008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Service Bus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36008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Buffer + retry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986272" y="1243584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1136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1136" y="859536"/>
            <a:ext cx="13868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41136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077712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Dataverse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77712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Record written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427976" y="1243584"/>
            <a:ext cx="54864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82840" y="859536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82840" y="859536"/>
            <a:ext cx="13868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82840" y="859536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519416" y="1024128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CRM flow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19416" y="1243584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Case updated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74320" y="182880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Outbound — work order issued to vendor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121408"/>
            <a:ext cx="13868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10896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Entity change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10896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Dataverse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61160" y="2505456"/>
            <a:ext cx="54864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16024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716024" y="2121408"/>
            <a:ext cx="138684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16024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752600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DV plugin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52600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Post-op fires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102864" y="2505456"/>
            <a:ext cx="54864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7728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57728" y="2121408"/>
            <a:ext cx="138684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7728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3194304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WO Issuer FA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194304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Build WO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544568" y="2505456"/>
            <a:ext cx="5486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99432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2121408"/>
            <a:ext cx="1386840" cy="1463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99432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636008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Vendor resolver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36008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Channel+format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986272" y="2505456"/>
            <a:ext cx="54864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41136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41136" y="2121408"/>
            <a:ext cx="1386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41136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077712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Fan-out LA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077712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Format per vendor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427976" y="2505456"/>
            <a:ext cx="54864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82840" y="2121408"/>
            <a:ext cx="1386840" cy="768096"/>
          </a:xfrm>
          <a:prstGeom prst="rect">
            <a:avLst/>
          </a:prstGeom>
          <a:solidFill>
            <a:srgbClr val="F8FAFC"/>
          </a:solidFill>
          <a:ln w="9525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482840" y="2121408"/>
            <a:ext cx="1386840" cy="1463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82840" y="2121408"/>
            <a:ext cx="138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519416" y="2286000"/>
            <a:ext cx="1313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Adapter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19416" y="2505456"/>
            <a:ext cx="13136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Deliver to vendor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74320" y="309067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</a:rPr>
              <a:t>Status return — vendor calls Work Order API (Update)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3383280"/>
            <a:ext cx="8595360" cy="45720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20624" y="3383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</a:rPr>
              <a:t>Vendor completes job  →  calls Work Order API / Update  →  APIM validates  →  handler writes status to Dataverse  →  CRM closes case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3986784"/>
            <a:ext cx="8595360" cy="9144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20624" y="405993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</a:rPr>
              <a:t>The return path is just another API call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20624" y="43159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Status updates use the same governed front door (Work Order API) — no separate inbound pipeline or format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20624" y="45079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Inbound is symmetric: create, update, and status all flow through APIM with schema validation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20624" y="47000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  Per-vendor formatting survives only on outbound delivery (step 5) — file and email vendors expect their own shape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Onboarding 50+ contractors at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API-first model turns onboarding into a repeatable, self-service process — no per-vendor engineering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~30 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 contractor onboarding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32304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23744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lines of custom code per vendor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90288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1728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API contract for all 50+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48272" y="896112"/>
            <a:ext cx="1993392" cy="841248"/>
          </a:xfrm>
          <a:prstGeom prst="rect">
            <a:avLst/>
          </a:prstGeom>
          <a:solidFill>
            <a:srgbClr val="0D1F3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8272" y="95097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39712" y="14081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self-service steps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19202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Self-service onboarding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4942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212848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8096" y="22494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Register in portal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0" y="224942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Company details, contact, tier selection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523744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274320" y="276148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2724912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8096" y="27614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Receive API credentials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0" y="27614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Subscription key pair issued instantly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035808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274320" y="327355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236976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8096" y="32735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Read the API spec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32735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OpenAPI docs + try-it console in portal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3547872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36" name="Shape 34"/>
          <p:cNvSpPr/>
          <p:nvPr/>
        </p:nvSpPr>
        <p:spPr>
          <a:xfrm>
            <a:off x="274320" y="378561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8096" y="378561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Configure delivery channel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7856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Choose how work orders are received: HTTP, file, email, SB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1480" y="4059936"/>
            <a:ext cx="0" cy="201168"/>
          </a:xfrm>
          <a:prstGeom prst="line">
            <a:avLst/>
          </a:prstGeom>
          <a:noFill/>
          <a:ln w="12700">
            <a:solidFill>
              <a:srgbClr val="059669"/>
            </a:solidFill>
            <a:prstDash val="dot"/>
          </a:ln>
        </p:spPr>
      </p:sp>
      <p:sp>
        <p:nvSpPr>
          <p:cNvPr id="42" name="Shape 40"/>
          <p:cNvSpPr/>
          <p:nvPr/>
        </p:nvSpPr>
        <p:spPr>
          <a:xfrm>
            <a:off x="274320" y="429768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261104"/>
            <a:ext cx="8138160" cy="402336"/>
          </a:xfrm>
          <a:prstGeom prst="rect">
            <a:avLst/>
          </a:prstGeom>
          <a:solidFill>
            <a:srgbClr val="0D1F35"/>
          </a:solidFill>
          <a:ln w="508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8096" y="42976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and go live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66160" y="42976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Validate against sandbox, then activate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solidFill>
            <a:srgbClr val="0D2818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809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Because every contractor conforms to the same API contract, the 51st vendor is no harder to onboard than the 5th.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API-first scales to 50+ contractors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Each property of the API-first model directly removes a barrier to onboarding at scale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15768" cy="13716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15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Single contract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37160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All vendors integrate against one published OpenAPI spec. No bespoke mapping per vendor — they conform to you.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715768" cy="137160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14400"/>
            <a:ext cx="27157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7B"/>
                </a:solidFill>
              </a:rPr>
              <a:t>Self-service keys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0984" y="137160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APIM issues a subscription key per contractor. Onboarding is a portal action, not an engineering ticket.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914400"/>
            <a:ext cx="2715768" cy="1371600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914400"/>
            <a:ext cx="27157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60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</a:rPr>
              <a:t>Schema at the gateway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137160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APIM rejects malformed requests before they reach your code. Bad vendor data never becomes your problem.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2715768" cy="1371600"/>
          </a:xfrm>
          <a:prstGeom prst="rect">
            <a:avLst/>
          </a:prstGeom>
          <a:solidFill>
            <a:srgbClr val="FFF3EE"/>
          </a:solidFill>
          <a:ln w="9525">
            <a:solidFill>
              <a:srgbClr val="EA580C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2715768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6151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3412"/>
                </a:solidFill>
              </a:rPr>
              <a:t>Per-vendor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" y="29260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Rate limits and keys are scoped per contractor. One vendor's spike or error cannot affect the other 49.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2468880"/>
            <a:ext cx="2715768" cy="137160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468880"/>
            <a:ext cx="27157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26151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Channel choice on 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0984" y="29260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Vendors pick their delivery channel in the portal. Adding a channel is a config entry, not a code change.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71616" y="2468880"/>
            <a:ext cx="2715768" cy="137160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2468880"/>
            <a:ext cx="2715768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6151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</a:rPr>
              <a:t>Stable surface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292608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Repair + Work Order with a handful of operations. Small surface means easy to document, version, and support.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Migration roadmap and next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85216"/>
            <a:ext cx="2715768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585216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1 - Months 1-2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15768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Build the APIs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715768" cy="2286000"/>
          </a:xfrm>
          <a:prstGeom prst="rect">
            <a:avLst/>
          </a:prstGeom>
          <a:solidFill>
            <a:srgbClr val="0D1F35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2435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Design Repair + Work Order OpenAPI specs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6824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Deploy APIM with product catalogue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1214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Build Repair + WO handlers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5603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Redis cache + Service Bus Premium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99923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Onboard 5 pilot contractors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72968" y="585216"/>
            <a:ext cx="2715768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2968" y="585216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2 - Months 2-3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914400"/>
            <a:ext cx="2715768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914400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Onboarding at scale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72968" y="1170432"/>
            <a:ext cx="2715768" cy="2286000"/>
          </a:xfrm>
          <a:prstGeom prst="rect">
            <a:avLst/>
          </a:prstGeom>
          <a:solidFill>
            <a:srgbClr val="0D1F35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82696" y="12435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Contractor self-service portal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82696" y="16824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Sandbox + try-it console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82696" y="21214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Onboard remaining contractors in waves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82696" y="25603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Per-vendor rate limits + keys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82696" y="299923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Usage dashboards per contractor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71616" y="585216"/>
            <a:ext cx="271576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71616" y="585216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3 - Months 3-4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914400"/>
            <a:ext cx="2715768" cy="256032"/>
          </a:xfrm>
          <a:prstGeom prst="rect">
            <a:avLst/>
          </a:prstGeom>
          <a:solidFill>
            <a:srgbClr val="0D1F3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914400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Outbound + go-live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71616" y="1170432"/>
            <a:ext cx="2715768" cy="2286000"/>
          </a:xfrm>
          <a:prstGeom prst="rect">
            <a:avLst/>
          </a:prstGeom>
          <a:solidFill>
            <a:srgbClr val="0D1F35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81344" y="12435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DV plugin + WO Issuer FA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81344" y="168249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Vendor resolver + fan-out adapters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81344" y="212140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Per-vendor outbound formatting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81344" y="256032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Status return via WO API Update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81344" y="299923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v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End-to-end testing + go-live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35661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Decision 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9534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8953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1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12064" y="38862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Approve API-first approach (drop canonical layer)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2064" y="3995928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Client + Architecture team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223760" y="3895344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38953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13308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133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2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12064" y="4123944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Sign off Repair + Work Order API contracts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2064" y="4233672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Product owner + Dev team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23760" y="4133088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41330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37083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70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3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12064" y="436168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Identify first 5 pilot contractors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2064" y="4471416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Client operations team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223760" y="4370832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4370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6085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4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12064" y="459943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Define contractor onboarding wave plan for 50+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12064" y="4709160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Client operations + PM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223760" y="4608576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0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3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48463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46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1628"/>
                </a:solidFill>
              </a:rPr>
              <a:t>5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12064" y="48371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Kick off sprint 1 — API + APIM build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12064" y="4946904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Owner: Architecture team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223760" y="4846320"/>
            <a:ext cx="155448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4846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1 — API-First Integration Platform</dc:title>
  <dc:subject>PptxGenJS Presentation</dc:subject>
  <dc:creator>PptxGenJS</dc:creator>
  <cp:lastModifiedBy>PptxGenJS</cp:lastModifiedBy>
  <cp:revision>1</cp:revision>
  <dcterms:created xsi:type="dcterms:W3CDTF">2026-06-01T16:04:19Z</dcterms:created>
  <dcterms:modified xsi:type="dcterms:W3CDTF">2026-06-01T16:04:19Z</dcterms:modified>
</cp:coreProperties>
</file>