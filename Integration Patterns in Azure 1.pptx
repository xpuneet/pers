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5" r:id="rId4"/>
  </p:sldMasterIdLst>
  <p:notesMasterIdLst>
    <p:notesMasterId r:id="rId20"/>
  </p:notesMasterIdLst>
  <p:handoutMasterIdLst>
    <p:handoutMasterId r:id="rId21"/>
  </p:handoutMasterIdLst>
  <p:sldIdLst>
    <p:sldId id="2144" r:id="rId5"/>
    <p:sldId id="2154" r:id="rId6"/>
    <p:sldId id="2157" r:id="rId7"/>
    <p:sldId id="2167" r:id="rId8"/>
    <p:sldId id="2153" r:id="rId9"/>
    <p:sldId id="2158" r:id="rId10"/>
    <p:sldId id="2159" r:id="rId11"/>
    <p:sldId id="2160" r:id="rId12"/>
    <p:sldId id="2161" r:id="rId13"/>
    <p:sldId id="2162" r:id="rId14"/>
    <p:sldId id="2163" r:id="rId15"/>
    <p:sldId id="2164" r:id="rId16"/>
    <p:sldId id="2165" r:id="rId17"/>
    <p:sldId id="2166" r:id="rId18"/>
    <p:sldId id="2127" r:id="rId1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s" id="{7023EECD-5242-F841-97EC-86CA08D588E3}">
          <p14:sldIdLst>
            <p14:sldId id="2144"/>
            <p14:sldId id="2154"/>
            <p14:sldId id="2157"/>
            <p14:sldId id="2167"/>
            <p14:sldId id="2153"/>
            <p14:sldId id="2158"/>
            <p14:sldId id="2159"/>
            <p14:sldId id="2160"/>
            <p14:sldId id="2161"/>
            <p14:sldId id="2162"/>
            <p14:sldId id="2163"/>
            <p14:sldId id="2164"/>
            <p14:sldId id="2165"/>
            <p14:sldId id="2166"/>
            <p14:sldId id="21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lbach, Chris (Cognizant)" initials="AC(" lastIdx="3" clrIdx="0">
    <p:extLst>
      <p:ext uri="{19B8F6BF-5375-455C-9EA6-DF929625EA0E}">
        <p15:presenceInfo xmlns:p15="http://schemas.microsoft.com/office/powerpoint/2012/main" userId="S-1-5-21-1178368992-402679808-390482200-2418934" providerId="AD"/>
      </p:ext>
    </p:extLst>
  </p:cmAuthor>
  <p:cmAuthor id="2" name="Holsinger, Sophie (Contractor)" initials="HS(" lastIdx="2" clrIdx="1">
    <p:extLst>
      <p:ext uri="{19B8F6BF-5375-455C-9EA6-DF929625EA0E}">
        <p15:presenceInfo xmlns:p15="http://schemas.microsoft.com/office/powerpoint/2012/main" userId="S::745207@cognizant.com::be76981d-d1d7-4226-a9d6-fb7fa2b102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FF"/>
    <a:srgbClr val="E5F0FF"/>
    <a:srgbClr val="2A2A2A"/>
    <a:srgbClr val="C3C3C3"/>
    <a:srgbClr val="595959"/>
    <a:srgbClr val="000063"/>
    <a:srgbClr val="002678"/>
    <a:srgbClr val="002A96"/>
    <a:srgbClr val="003FE0"/>
    <a:srgbClr val="0033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6879" autoAdjust="0"/>
  </p:normalViewPr>
  <p:slideViewPr>
    <p:cSldViewPr snapToGrid="0">
      <p:cViewPr varScale="1">
        <p:scale>
          <a:sx n="97" d="100"/>
          <a:sy n="97" d="100"/>
        </p:scale>
        <p:origin x="546" y="78"/>
      </p:cViewPr>
      <p:guideLst/>
    </p:cSldViewPr>
  </p:slideViewPr>
  <p:outlineViewPr>
    <p:cViewPr>
      <p:scale>
        <a:sx n="33" d="100"/>
        <a:sy n="33" d="100"/>
      </p:scale>
      <p:origin x="0" y="-11296"/>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121" d="100"/>
          <a:sy n="121" d="100"/>
        </p:scale>
        <p:origin x="3904"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Regula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65504ED-601C-9F41-A2BB-A84CD9D575D8}" type="datetimeFigureOut">
              <a:rPr lang="en-US" smtClean="0">
                <a:latin typeface="Arial Regular"/>
              </a:rPr>
              <a:t>9/1/2026</a:t>
            </a:fld>
            <a:endParaRPr lang="en-US" dirty="0">
              <a:latin typeface="Arial Regular"/>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Regula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9185347-B0FD-EF4B-941B-A92CF753AB4E}" type="slidenum">
              <a:rPr lang="en-US" smtClean="0">
                <a:latin typeface="Arial Regular"/>
              </a:rPr>
              <a:t>‹#›</a:t>
            </a:fld>
            <a:endParaRPr lang="en-US" dirty="0">
              <a:latin typeface="Arial Regular"/>
            </a:endParaRPr>
          </a:p>
        </p:txBody>
      </p:sp>
    </p:spTree>
    <p:extLst>
      <p:ext uri="{BB962C8B-B14F-4D97-AF65-F5344CB8AC3E}">
        <p14:creationId xmlns:p14="http://schemas.microsoft.com/office/powerpoint/2010/main" val="40816834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Regular"/>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Regular"/>
              </a:defRPr>
            </a:lvl1pPr>
          </a:lstStyle>
          <a:p>
            <a:fld id="{C4499A69-9E3B-7C4C-9E3F-523F007A72CB}" type="datetimeFigureOut">
              <a:rPr lang="en-US" smtClean="0"/>
              <a:pPr/>
              <a:t>9/1/2026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Regular"/>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Regular"/>
              </a:defRPr>
            </a:lvl1pPr>
          </a:lstStyle>
          <a:p>
            <a:fld id="{B02D6E04-3A2F-4B48-A297-666578EDF1B3}" type="slidenum">
              <a:rPr lang="en-US" smtClean="0"/>
              <a:pPr/>
              <a:t>‹#›</a:t>
            </a:fld>
            <a:endParaRPr lang="en-US" dirty="0"/>
          </a:p>
        </p:txBody>
      </p:sp>
    </p:spTree>
    <p:extLst>
      <p:ext uri="{BB962C8B-B14F-4D97-AF65-F5344CB8AC3E}">
        <p14:creationId xmlns:p14="http://schemas.microsoft.com/office/powerpoint/2010/main" val="28699140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b="0" i="0" kern="1200">
        <a:solidFill>
          <a:schemeClr val="tx1"/>
        </a:solidFill>
        <a:latin typeface="Arial Regular"/>
        <a:ea typeface="+mn-ea"/>
        <a:cs typeface="+mn-cs"/>
      </a:defRPr>
    </a:lvl1pPr>
    <a:lvl2pPr marL="457200" algn="l" defTabSz="457200" rtl="0" eaLnBrk="1" latinLnBrk="0" hangingPunct="1">
      <a:defRPr sz="1200" b="0" i="0" kern="1200">
        <a:solidFill>
          <a:schemeClr val="tx1"/>
        </a:solidFill>
        <a:latin typeface="Arial Regular"/>
        <a:ea typeface="+mn-ea"/>
        <a:cs typeface="+mn-cs"/>
      </a:defRPr>
    </a:lvl2pPr>
    <a:lvl3pPr marL="914400" algn="l" defTabSz="457200" rtl="0" eaLnBrk="1" latinLnBrk="0" hangingPunct="1">
      <a:defRPr sz="1200" b="0" i="0" kern="1200">
        <a:solidFill>
          <a:schemeClr val="tx1"/>
        </a:solidFill>
        <a:latin typeface="Arial Regular"/>
        <a:ea typeface="+mn-ea"/>
        <a:cs typeface="+mn-cs"/>
      </a:defRPr>
    </a:lvl3pPr>
    <a:lvl4pPr marL="1371600" algn="l" defTabSz="457200" rtl="0" eaLnBrk="1" latinLnBrk="0" hangingPunct="1">
      <a:defRPr sz="1200" b="0" i="0" kern="1200">
        <a:solidFill>
          <a:schemeClr val="tx1"/>
        </a:solidFill>
        <a:latin typeface="Arial Regular"/>
        <a:ea typeface="+mn-ea"/>
        <a:cs typeface="+mn-cs"/>
      </a:defRPr>
    </a:lvl4pPr>
    <a:lvl5pPr marL="1828800" algn="l" defTabSz="457200" rtl="0" eaLnBrk="1" latinLnBrk="0" hangingPunct="1">
      <a:defRPr sz="1200" b="0" i="0" kern="1200">
        <a:solidFill>
          <a:schemeClr val="tx1"/>
        </a:solidFill>
        <a:latin typeface="Arial Regular"/>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lue Gradient Single Line Tit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D8B3D69-F8A0-AC46-95E9-28C9598D74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15" name="Title 1">
            <a:extLst>
              <a:ext uri="{FF2B5EF4-FFF2-40B4-BE49-F238E27FC236}">
                <a16:creationId xmlns:a16="http://schemas.microsoft.com/office/drawing/2014/main" id="{8C9A73B0-41F0-3E40-BF14-EF98B7C21B95}"/>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dirty="0"/>
              <a:t>Single Line Title Here</a:t>
            </a:r>
          </a:p>
        </p:txBody>
      </p:sp>
      <p:cxnSp>
        <p:nvCxnSpPr>
          <p:cNvPr id="16" name="Straight Connector 15">
            <a:extLst>
              <a:ext uri="{FF2B5EF4-FFF2-40B4-BE49-F238E27FC236}">
                <a16:creationId xmlns:a16="http://schemas.microsoft.com/office/drawing/2014/main" id="{87F69DE6-F71B-D441-B24C-6419119B82AF}"/>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Text Placeholder 6">
            <a:extLst>
              <a:ext uri="{FF2B5EF4-FFF2-40B4-BE49-F238E27FC236}">
                <a16:creationId xmlns:a16="http://schemas.microsoft.com/office/drawing/2014/main" id="{1A4128D7-098B-8241-92AE-59B6A868927D}"/>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Text Placeholder 20">
            <a:extLst>
              <a:ext uri="{FF2B5EF4-FFF2-40B4-BE49-F238E27FC236}">
                <a16:creationId xmlns:a16="http://schemas.microsoft.com/office/drawing/2014/main" id="{7D1D9E52-6107-5745-AA3C-C0D5178E14A6}"/>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dirty="0"/>
              <a:t>Speaker title and/or date</a:t>
            </a:r>
          </a:p>
        </p:txBody>
      </p:sp>
      <p:sp>
        <p:nvSpPr>
          <p:cNvPr id="19" name="Footer Placeholder 8">
            <a:extLst>
              <a:ext uri="{FF2B5EF4-FFF2-40B4-BE49-F238E27FC236}">
                <a16:creationId xmlns:a16="http://schemas.microsoft.com/office/drawing/2014/main" id="{9E44F99F-797E-744C-A7A6-9DCFEF3F8DD3}"/>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endParaRPr lang="en-US" dirty="0"/>
          </a:p>
        </p:txBody>
      </p:sp>
    </p:spTree>
    <p:extLst>
      <p:ext uri="{BB962C8B-B14F-4D97-AF65-F5344CB8AC3E}">
        <p14:creationId xmlns:p14="http://schemas.microsoft.com/office/powerpoint/2010/main" val="415899356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Gradient Double Line Tit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355E128-3976-D54B-8CB4-188AFAC60306}"/>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dirty="0"/>
              <a:t>Double Line Title Here</a:t>
            </a:r>
            <a:br>
              <a:rPr lang="en-US" dirty="0"/>
            </a:br>
            <a:r>
              <a:rPr lang="en-US" dirty="0"/>
              <a:t>Double Line Title Here</a:t>
            </a:r>
          </a:p>
        </p:txBody>
      </p:sp>
      <p:cxnSp>
        <p:nvCxnSpPr>
          <p:cNvPr id="17" name="Straight Connector 16">
            <a:extLst>
              <a:ext uri="{FF2B5EF4-FFF2-40B4-BE49-F238E27FC236}">
                <a16:creationId xmlns:a16="http://schemas.microsoft.com/office/drawing/2014/main" id="{0B09602A-3D3C-C044-8D3B-591771500E32}"/>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Text Placeholder 6">
            <a:extLst>
              <a:ext uri="{FF2B5EF4-FFF2-40B4-BE49-F238E27FC236}">
                <a16:creationId xmlns:a16="http://schemas.microsoft.com/office/drawing/2014/main" id="{7EFC0216-CC29-8049-971C-0588BD188ED6}"/>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9" name="Text Placeholder 20">
            <a:extLst>
              <a:ext uri="{FF2B5EF4-FFF2-40B4-BE49-F238E27FC236}">
                <a16:creationId xmlns:a16="http://schemas.microsoft.com/office/drawing/2014/main" id="{BB16F16B-768F-984C-A591-9BB9760A963B}"/>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dirty="0"/>
              <a:t>Speaker title and/or date</a:t>
            </a:r>
          </a:p>
        </p:txBody>
      </p:sp>
      <p:pic>
        <p:nvPicPr>
          <p:cNvPr id="20" name="Picture 19">
            <a:extLst>
              <a:ext uri="{FF2B5EF4-FFF2-40B4-BE49-F238E27FC236}">
                <a16:creationId xmlns:a16="http://schemas.microsoft.com/office/drawing/2014/main" id="{41D0A58E-F413-134E-B7FA-239403A952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8" name="Footer Placeholder 8">
            <a:extLst>
              <a:ext uri="{FF2B5EF4-FFF2-40B4-BE49-F238E27FC236}">
                <a16:creationId xmlns:a16="http://schemas.microsoft.com/office/drawing/2014/main" id="{81672A8D-4DB7-8348-A169-64D8EC326CDA}"/>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endParaRPr lang="en-US" dirty="0"/>
          </a:p>
        </p:txBody>
      </p:sp>
    </p:spTree>
    <p:extLst>
      <p:ext uri="{BB962C8B-B14F-4D97-AF65-F5344CB8AC3E}">
        <p14:creationId xmlns:p14="http://schemas.microsoft.com/office/powerpoint/2010/main" val="1819156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ue Graphic Double Line Title">
    <p:spTree>
      <p:nvGrpSpPr>
        <p:cNvPr id="1" name=""/>
        <p:cNvGrpSpPr/>
        <p:nvPr/>
      </p:nvGrpSpPr>
      <p:grpSpPr>
        <a:xfrm>
          <a:off x="0" y="0"/>
          <a:ext cx="0" cy="0"/>
          <a:chOff x="0" y="0"/>
          <a:chExt cx="0" cy="0"/>
        </a:xfrm>
      </p:grpSpPr>
      <p:pic>
        <p:nvPicPr>
          <p:cNvPr id="11" name="Picture 10" descr="A picture containing animal&#10;&#10;Description automatically generated">
            <a:extLst>
              <a:ext uri="{FF2B5EF4-FFF2-40B4-BE49-F238E27FC236}">
                <a16:creationId xmlns:a16="http://schemas.microsoft.com/office/drawing/2014/main" id="{760CAE04-42F6-C14D-AB3C-36D5B9FC9F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396"/>
            <a:ext cx="9144000" cy="5146293"/>
          </a:xfrm>
          <a:prstGeom prst="rect">
            <a:avLst/>
          </a:prstGeom>
        </p:spPr>
      </p:pic>
      <p:sp>
        <p:nvSpPr>
          <p:cNvPr id="29" name="Rectangle 28">
            <a:extLst>
              <a:ext uri="{FF2B5EF4-FFF2-40B4-BE49-F238E27FC236}">
                <a16:creationId xmlns:a16="http://schemas.microsoft.com/office/drawing/2014/main" id="{C96E9237-80A4-8D4D-AF8F-78866C6D2C05}"/>
              </a:ext>
            </a:extLst>
          </p:cNvPr>
          <p:cNvSpPr/>
          <p:nvPr userDrawn="1"/>
        </p:nvSpPr>
        <p:spPr>
          <a:xfrm>
            <a:off x="0" y="0"/>
            <a:ext cx="9144000" cy="5143500"/>
          </a:xfrm>
          <a:prstGeom prst="rect">
            <a:avLst/>
          </a:prstGeom>
          <a:gradFill>
            <a:gsLst>
              <a:gs pos="59000">
                <a:schemeClr val="accent1">
                  <a:alpha val="96000"/>
                </a:schemeClr>
              </a:gs>
              <a:gs pos="25000">
                <a:schemeClr val="accent3">
                  <a:alpha val="0"/>
                </a:scheme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a:extLst>
              <a:ext uri="{FF2B5EF4-FFF2-40B4-BE49-F238E27FC236}">
                <a16:creationId xmlns:a16="http://schemas.microsoft.com/office/drawing/2014/main" id="{3E72939B-E866-3F48-956F-028BC0570F3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10" name="Title 1">
            <a:extLst>
              <a:ext uri="{FF2B5EF4-FFF2-40B4-BE49-F238E27FC236}">
                <a16:creationId xmlns:a16="http://schemas.microsoft.com/office/drawing/2014/main" id="{62C1B911-F437-1644-81AF-E4F0D63347D5}"/>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dirty="0"/>
              <a:t>Double Line Title Here</a:t>
            </a:r>
            <a:br>
              <a:rPr lang="en-US" dirty="0"/>
            </a:br>
            <a:r>
              <a:rPr lang="en-US" dirty="0"/>
              <a:t>Double Line Title Here</a:t>
            </a:r>
          </a:p>
        </p:txBody>
      </p:sp>
      <p:cxnSp>
        <p:nvCxnSpPr>
          <p:cNvPr id="12" name="Straight Connector 11">
            <a:extLst>
              <a:ext uri="{FF2B5EF4-FFF2-40B4-BE49-F238E27FC236}">
                <a16:creationId xmlns:a16="http://schemas.microsoft.com/office/drawing/2014/main" id="{36779121-E465-634B-B2F7-19C558723B11}"/>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B6882BFA-92D1-754C-8A6B-468712FCC892}"/>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4" name="Text Placeholder 20">
            <a:extLst>
              <a:ext uri="{FF2B5EF4-FFF2-40B4-BE49-F238E27FC236}">
                <a16:creationId xmlns:a16="http://schemas.microsoft.com/office/drawing/2014/main" id="{E25F6749-10D1-E840-B58E-0BD71C6C4BD7}"/>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dirty="0"/>
              <a:t>Speaker title and/or date</a:t>
            </a:r>
          </a:p>
        </p:txBody>
      </p:sp>
      <p:sp>
        <p:nvSpPr>
          <p:cNvPr id="15" name="Footer Placeholder 8">
            <a:extLst>
              <a:ext uri="{FF2B5EF4-FFF2-40B4-BE49-F238E27FC236}">
                <a16:creationId xmlns:a16="http://schemas.microsoft.com/office/drawing/2014/main" id="{9E90ED61-02F0-014B-ABEE-2397CF3B968C}"/>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endParaRPr lang="en-US" dirty="0"/>
          </a:p>
        </p:txBody>
      </p:sp>
    </p:spTree>
    <p:extLst>
      <p:ext uri="{BB962C8B-B14F-4D97-AF65-F5344CB8AC3E}">
        <p14:creationId xmlns:p14="http://schemas.microsoft.com/office/powerpoint/2010/main" val="2783924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ue Speed Graphic Single Line Titl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404F555-4B35-F044-B7D0-D32F73D755D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21" name="Picture 20">
            <a:extLst>
              <a:ext uri="{FF2B5EF4-FFF2-40B4-BE49-F238E27FC236}">
                <a16:creationId xmlns:a16="http://schemas.microsoft.com/office/drawing/2014/main" id="{C6865CC2-EE1E-B44E-B46B-DD0F56CB7AB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14" name="Title 1">
            <a:extLst>
              <a:ext uri="{FF2B5EF4-FFF2-40B4-BE49-F238E27FC236}">
                <a16:creationId xmlns:a16="http://schemas.microsoft.com/office/drawing/2014/main" id="{FE1258A4-09D8-664D-934C-0C07D252D404}"/>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dirty="0"/>
              <a:t>Single Line Title Here</a:t>
            </a:r>
          </a:p>
        </p:txBody>
      </p:sp>
      <p:cxnSp>
        <p:nvCxnSpPr>
          <p:cNvPr id="15" name="Straight Connector 14">
            <a:extLst>
              <a:ext uri="{FF2B5EF4-FFF2-40B4-BE49-F238E27FC236}">
                <a16:creationId xmlns:a16="http://schemas.microsoft.com/office/drawing/2014/main" id="{FDA0D648-BD2B-5645-81FD-088044B6FFDC}"/>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FF9AFFB6-D22A-3C4E-9092-D2D3A372AC03}"/>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23" name="Text Placeholder 20">
            <a:extLst>
              <a:ext uri="{FF2B5EF4-FFF2-40B4-BE49-F238E27FC236}">
                <a16:creationId xmlns:a16="http://schemas.microsoft.com/office/drawing/2014/main" id="{C7EEFB4D-8BD1-7A49-BC27-5F48B29E81C5}"/>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dirty="0"/>
              <a:t>Speaker title and/or date</a:t>
            </a:r>
          </a:p>
        </p:txBody>
      </p:sp>
      <p:sp>
        <p:nvSpPr>
          <p:cNvPr id="24" name="Footer Placeholder 8">
            <a:extLst>
              <a:ext uri="{FF2B5EF4-FFF2-40B4-BE49-F238E27FC236}">
                <a16:creationId xmlns:a16="http://schemas.microsoft.com/office/drawing/2014/main" id="{C7676DE8-F28E-344A-8FEC-386AE8A49C64}"/>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endParaRPr lang="en-US" dirty="0"/>
          </a:p>
        </p:txBody>
      </p:sp>
    </p:spTree>
    <p:extLst>
      <p:ext uri="{BB962C8B-B14F-4D97-AF65-F5344CB8AC3E}">
        <p14:creationId xmlns:p14="http://schemas.microsoft.com/office/powerpoint/2010/main" val="3674800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ue Speed Graphic Double Line Titl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380DC35-22AA-CB4D-B036-9AE68A672CD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27" name="Picture 26">
            <a:extLst>
              <a:ext uri="{FF2B5EF4-FFF2-40B4-BE49-F238E27FC236}">
                <a16:creationId xmlns:a16="http://schemas.microsoft.com/office/drawing/2014/main" id="{3E72939B-E866-3F48-956F-028BC0570F3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4119" y="382876"/>
            <a:ext cx="2624563" cy="558418"/>
          </a:xfrm>
          <a:prstGeom prst="rect">
            <a:avLst/>
          </a:prstGeom>
        </p:spPr>
      </p:pic>
      <p:sp>
        <p:nvSpPr>
          <p:cNvPr id="9" name="Title 1">
            <a:extLst>
              <a:ext uri="{FF2B5EF4-FFF2-40B4-BE49-F238E27FC236}">
                <a16:creationId xmlns:a16="http://schemas.microsoft.com/office/drawing/2014/main" id="{1A8502E8-6D49-0148-8E79-74D110828003}"/>
              </a:ext>
            </a:extLst>
          </p:cNvPr>
          <p:cNvSpPr>
            <a:spLocks noGrp="1"/>
          </p:cNvSpPr>
          <p:nvPr>
            <p:ph type="ctrTitle" hasCustomPrompt="1"/>
          </p:nvPr>
        </p:nvSpPr>
        <p:spPr bwMode="white">
          <a:xfrm>
            <a:off x="414163" y="1561267"/>
            <a:ext cx="8348837" cy="1107996"/>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dirty="0"/>
              <a:t>Double Line Title Here</a:t>
            </a:r>
            <a:br>
              <a:rPr lang="en-US" dirty="0"/>
            </a:br>
            <a:r>
              <a:rPr lang="en-US" dirty="0"/>
              <a:t>Double Line Title Here</a:t>
            </a:r>
          </a:p>
        </p:txBody>
      </p:sp>
      <p:cxnSp>
        <p:nvCxnSpPr>
          <p:cNvPr id="11" name="Straight Connector 10">
            <a:extLst>
              <a:ext uri="{FF2B5EF4-FFF2-40B4-BE49-F238E27FC236}">
                <a16:creationId xmlns:a16="http://schemas.microsoft.com/office/drawing/2014/main" id="{CC3AB9D5-63D5-C845-9EE9-47323B47D8D3}"/>
              </a:ext>
            </a:extLst>
          </p:cNvPr>
          <p:cNvCxnSpPr>
            <a:cxnSpLocks/>
          </p:cNvCxnSpPr>
          <p:nvPr userDrawn="1"/>
        </p:nvCxnSpPr>
        <p:spPr bwMode="white">
          <a:xfrm flipH="1">
            <a:off x="392897" y="3365738"/>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Text Placeholder 6">
            <a:extLst>
              <a:ext uri="{FF2B5EF4-FFF2-40B4-BE49-F238E27FC236}">
                <a16:creationId xmlns:a16="http://schemas.microsoft.com/office/drawing/2014/main" id="{CF1D9D5A-91BF-5D48-B927-A5B58455E5A2}"/>
              </a:ext>
            </a:extLst>
          </p:cNvPr>
          <p:cNvSpPr>
            <a:spLocks noGrp="1"/>
          </p:cNvSpPr>
          <p:nvPr>
            <p:ph type="body" sz="quarter" idx="12" hasCustomPrompt="1"/>
          </p:nvPr>
        </p:nvSpPr>
        <p:spPr>
          <a:xfrm>
            <a:off x="414163" y="2730312"/>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3" name="Text Placeholder 20">
            <a:extLst>
              <a:ext uri="{FF2B5EF4-FFF2-40B4-BE49-F238E27FC236}">
                <a16:creationId xmlns:a16="http://schemas.microsoft.com/office/drawing/2014/main" id="{5ACADCEC-F0AC-1A4F-BF69-1862F17AB2DB}"/>
              </a:ext>
            </a:extLst>
          </p:cNvPr>
          <p:cNvSpPr>
            <a:spLocks noGrp="1"/>
          </p:cNvSpPr>
          <p:nvPr>
            <p:ph type="body" sz="quarter" idx="13" hasCustomPrompt="1"/>
          </p:nvPr>
        </p:nvSpPr>
        <p:spPr>
          <a:xfrm>
            <a:off x="414163" y="3485244"/>
            <a:ext cx="8324523" cy="254000"/>
          </a:xfrm>
        </p:spPr>
        <p:txBody>
          <a:bodyPr anchor="ctr" anchorCtr="0">
            <a:normAutofit/>
          </a:bodyPr>
          <a:lstStyle>
            <a:lvl1pPr>
              <a:defRPr sz="1600">
                <a:solidFill>
                  <a:schemeClr val="accent4"/>
                </a:solidFill>
              </a:defRPr>
            </a:lvl1pPr>
          </a:lstStyle>
          <a:p>
            <a:r>
              <a:rPr lang="en-US" dirty="0"/>
              <a:t>Speaker title and/or date</a:t>
            </a:r>
          </a:p>
        </p:txBody>
      </p:sp>
      <p:sp>
        <p:nvSpPr>
          <p:cNvPr id="14" name="Footer Placeholder 8">
            <a:extLst>
              <a:ext uri="{FF2B5EF4-FFF2-40B4-BE49-F238E27FC236}">
                <a16:creationId xmlns:a16="http://schemas.microsoft.com/office/drawing/2014/main" id="{EC4C956A-E6D9-D24C-87B4-60CBB21635C7}"/>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endParaRPr lang="en-US" dirty="0"/>
          </a:p>
        </p:txBody>
      </p:sp>
    </p:spTree>
    <p:extLst>
      <p:ext uri="{BB962C8B-B14F-4D97-AF65-F5344CB8AC3E}">
        <p14:creationId xmlns:p14="http://schemas.microsoft.com/office/powerpoint/2010/main" val="417815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ue Gradient Cover Single + Client Logo_Single">
    <p:bg>
      <p:bgPr>
        <a:gradFill flip="none" rotWithShape="1">
          <a:gsLst>
            <a:gs pos="66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9E394311-CCC6-F94F-925A-AA4EE294BA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5457" y="382876"/>
            <a:ext cx="2624563" cy="558418"/>
          </a:xfrm>
          <a:prstGeom prst="rect">
            <a:avLst/>
          </a:prstGeom>
        </p:spPr>
      </p:pic>
      <p:sp>
        <p:nvSpPr>
          <p:cNvPr id="20" name="Picture Placeholder 3">
            <a:extLst>
              <a:ext uri="{FF2B5EF4-FFF2-40B4-BE49-F238E27FC236}">
                <a16:creationId xmlns:a16="http://schemas.microsoft.com/office/drawing/2014/main" id="{7C58A344-CE77-2840-9D7F-E36E95488277}"/>
              </a:ext>
            </a:extLst>
          </p:cNvPr>
          <p:cNvSpPr>
            <a:spLocks noGrp="1"/>
          </p:cNvSpPr>
          <p:nvPr>
            <p:ph type="pic" sz="quarter" idx="14" hasCustomPrompt="1"/>
          </p:nvPr>
        </p:nvSpPr>
        <p:spPr>
          <a:xfrm>
            <a:off x="3514013" y="306715"/>
            <a:ext cx="2777457" cy="614363"/>
          </a:xfrm>
          <a:noFill/>
        </p:spPr>
        <p:txBody>
          <a:bodyPr anchor="ctr" anchorCtr="0"/>
          <a:lstStyle>
            <a:lvl1pPr algn="ctr">
              <a:defRPr>
                <a:solidFill>
                  <a:schemeClr val="bg1"/>
                </a:solidFill>
              </a:defRPr>
            </a:lvl1pPr>
          </a:lstStyle>
          <a:p>
            <a:r>
              <a:rPr lang="en-US" dirty="0"/>
              <a:t>Insert Client or Partner Logo Here</a:t>
            </a:r>
          </a:p>
        </p:txBody>
      </p:sp>
      <p:sp>
        <p:nvSpPr>
          <p:cNvPr id="9" name="Title 1">
            <a:extLst>
              <a:ext uri="{FF2B5EF4-FFF2-40B4-BE49-F238E27FC236}">
                <a16:creationId xmlns:a16="http://schemas.microsoft.com/office/drawing/2014/main" id="{08944D65-B84E-A049-98EE-5270F8EEF106}"/>
              </a:ext>
            </a:extLst>
          </p:cNvPr>
          <p:cNvSpPr>
            <a:spLocks noGrp="1"/>
          </p:cNvSpPr>
          <p:nvPr>
            <p:ph type="ctrTitle" hasCustomPrompt="1"/>
          </p:nvPr>
        </p:nvSpPr>
        <p:spPr bwMode="white">
          <a:xfrm>
            <a:off x="414163" y="1838266"/>
            <a:ext cx="8348837" cy="553998"/>
          </a:xfrm>
        </p:spPr>
        <p:txBody>
          <a:bodyPr wrap="square" anchor="ctr" anchorCtr="0">
            <a:spAutoFit/>
          </a:bodyPr>
          <a:lstStyle>
            <a:lvl1pPr algn="l">
              <a:defRPr sz="4000" b="1" i="0">
                <a:solidFill>
                  <a:schemeClr val="bg1"/>
                </a:solidFill>
                <a:latin typeface="Arial" panose="020B0604020202020204" pitchFamily="34" charset="0"/>
                <a:cs typeface="Arial" panose="020B0604020202020204" pitchFamily="34" charset="0"/>
              </a:defRPr>
            </a:lvl1pPr>
          </a:lstStyle>
          <a:p>
            <a:pPr lvl="0"/>
            <a:r>
              <a:rPr lang="en-US" dirty="0"/>
              <a:t>Single Line Title Here</a:t>
            </a:r>
          </a:p>
        </p:txBody>
      </p:sp>
      <p:cxnSp>
        <p:nvCxnSpPr>
          <p:cNvPr id="10" name="Straight Connector 9">
            <a:extLst>
              <a:ext uri="{FF2B5EF4-FFF2-40B4-BE49-F238E27FC236}">
                <a16:creationId xmlns:a16="http://schemas.microsoft.com/office/drawing/2014/main" id="{BF3F2592-9A69-2945-909D-AF9293BA5882}"/>
              </a:ext>
            </a:extLst>
          </p:cNvPr>
          <p:cNvCxnSpPr>
            <a:cxnSpLocks/>
          </p:cNvCxnSpPr>
          <p:nvPr userDrawn="1"/>
        </p:nvCxnSpPr>
        <p:spPr bwMode="white">
          <a:xfrm flipH="1">
            <a:off x="392897" y="3087443"/>
            <a:ext cx="2169460" cy="0"/>
          </a:xfrm>
          <a:prstGeom prst="line">
            <a:avLst/>
          </a:prstGeom>
          <a:ln w="9525">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 Placeholder 6">
            <a:extLst>
              <a:ext uri="{FF2B5EF4-FFF2-40B4-BE49-F238E27FC236}">
                <a16:creationId xmlns:a16="http://schemas.microsoft.com/office/drawing/2014/main" id="{F36DBBC6-5A42-814E-A38D-B5720F6B246C}"/>
              </a:ext>
            </a:extLst>
          </p:cNvPr>
          <p:cNvSpPr>
            <a:spLocks noGrp="1"/>
          </p:cNvSpPr>
          <p:nvPr>
            <p:ph type="body" sz="quarter" idx="12" hasCustomPrompt="1"/>
          </p:nvPr>
        </p:nvSpPr>
        <p:spPr>
          <a:xfrm>
            <a:off x="414163" y="2452017"/>
            <a:ext cx="8327698" cy="406477"/>
          </a:xfrm>
        </p:spPr>
        <p:txBody>
          <a:bodyPr anchor="ctr" anchorCtr="0">
            <a:noAutofit/>
          </a:bodyPr>
          <a:lstStyle>
            <a:lvl1pPr marL="0" indent="0">
              <a:buFont typeface="Arial" panose="020B0604020202020204" pitchFamily="34" charset="0"/>
              <a:buNone/>
              <a:defRPr sz="2000">
                <a:solidFill>
                  <a:schemeClr val="bg1"/>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3" name="Text Placeholder 20">
            <a:extLst>
              <a:ext uri="{FF2B5EF4-FFF2-40B4-BE49-F238E27FC236}">
                <a16:creationId xmlns:a16="http://schemas.microsoft.com/office/drawing/2014/main" id="{D23382F7-67E9-6D40-8247-B2FB027F3D40}"/>
              </a:ext>
            </a:extLst>
          </p:cNvPr>
          <p:cNvSpPr>
            <a:spLocks noGrp="1"/>
          </p:cNvSpPr>
          <p:nvPr>
            <p:ph type="body" sz="quarter" idx="13" hasCustomPrompt="1"/>
          </p:nvPr>
        </p:nvSpPr>
        <p:spPr>
          <a:xfrm>
            <a:off x="414163" y="3206949"/>
            <a:ext cx="8324523" cy="254000"/>
          </a:xfrm>
        </p:spPr>
        <p:txBody>
          <a:bodyPr anchor="ctr" anchorCtr="0">
            <a:normAutofit/>
          </a:bodyPr>
          <a:lstStyle>
            <a:lvl1pPr>
              <a:defRPr sz="1600">
                <a:solidFill>
                  <a:schemeClr val="accent4"/>
                </a:solidFill>
              </a:defRPr>
            </a:lvl1pPr>
          </a:lstStyle>
          <a:p>
            <a:r>
              <a:rPr lang="en-US" dirty="0"/>
              <a:t>Speaker title and/or date</a:t>
            </a:r>
          </a:p>
        </p:txBody>
      </p:sp>
      <p:sp>
        <p:nvSpPr>
          <p:cNvPr id="16" name="Footer Placeholder 8">
            <a:extLst>
              <a:ext uri="{FF2B5EF4-FFF2-40B4-BE49-F238E27FC236}">
                <a16:creationId xmlns:a16="http://schemas.microsoft.com/office/drawing/2014/main" id="{CD2FB1B5-CBA0-AB44-9892-F8CE09330C7E}"/>
              </a:ext>
            </a:extLst>
          </p:cNvPr>
          <p:cNvSpPr>
            <a:spLocks noGrp="1"/>
          </p:cNvSpPr>
          <p:nvPr>
            <p:ph type="ftr" sz="quarter" idx="3"/>
          </p:nvPr>
        </p:nvSpPr>
        <p:spPr>
          <a:xfrm>
            <a:off x="381000" y="4695411"/>
            <a:ext cx="4572000" cy="187241"/>
          </a:xfrm>
          <a:prstGeom prst="rect">
            <a:avLst/>
          </a:prstGeom>
        </p:spPr>
        <p:txBody>
          <a:bodyPr vert="horz" lIns="0" tIns="0" rIns="0" bIns="0" rtlCol="0" anchor="b" anchorCtr="0"/>
          <a:lstStyle>
            <a:lvl1pPr algn="l">
              <a:defRPr sz="800">
                <a:solidFill>
                  <a:schemeClr val="bg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a:t>© 2020 Cognizant</a:t>
            </a:r>
            <a:endParaRPr lang="en-US" dirty="0"/>
          </a:p>
        </p:txBody>
      </p:sp>
    </p:spTree>
    <p:extLst>
      <p:ext uri="{BB962C8B-B14F-4D97-AF65-F5344CB8AC3E}">
        <p14:creationId xmlns:p14="http://schemas.microsoft.com/office/powerpoint/2010/main" val="4090866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ain Layout_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dirty="0"/>
              <a:t>Click to edit Master title style</a:t>
            </a:r>
          </a:p>
        </p:txBody>
      </p:sp>
      <p:sp>
        <p:nvSpPr>
          <p:cNvPr id="10" name="Content Placeholder 9">
            <a:extLst>
              <a:ext uri="{FF2B5EF4-FFF2-40B4-BE49-F238E27FC236}">
                <a16:creationId xmlns:a16="http://schemas.microsoft.com/office/drawing/2014/main" id="{C938DDBF-3A18-FC4C-9433-65FAE5265169}"/>
              </a:ext>
            </a:extLst>
          </p:cNvPr>
          <p:cNvSpPr>
            <a:spLocks noGrp="1"/>
          </p:cNvSpPr>
          <p:nvPr>
            <p:ph sz="quarter" idx="13"/>
          </p:nvPr>
        </p:nvSpPr>
        <p:spPr>
          <a:xfrm>
            <a:off x="381000" y="1162050"/>
            <a:ext cx="8417052" cy="33115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dirty="0"/>
          </a:p>
        </p:txBody>
      </p:sp>
    </p:spTree>
    <p:extLst>
      <p:ext uri="{BB962C8B-B14F-4D97-AF65-F5344CB8AC3E}">
        <p14:creationId xmlns:p14="http://schemas.microsoft.com/office/powerpoint/2010/main" val="1162670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dirty="0"/>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dirty="0"/>
          </a:p>
        </p:txBody>
      </p:sp>
      <p:sp>
        <p:nvSpPr>
          <p:cNvPr id="11" name="Content Placeholder 2">
            <a:extLst>
              <a:ext uri="{FF2B5EF4-FFF2-40B4-BE49-F238E27FC236}">
                <a16:creationId xmlns:a16="http://schemas.microsoft.com/office/drawing/2014/main" id="{97462C10-2E2B-9246-8923-A71FA9D87C88}"/>
              </a:ext>
            </a:extLst>
          </p:cNvPr>
          <p:cNvSpPr>
            <a:spLocks noGrp="1"/>
          </p:cNvSpPr>
          <p:nvPr>
            <p:ph idx="1"/>
          </p:nvPr>
        </p:nvSpPr>
        <p:spPr>
          <a:xfrm>
            <a:off x="384048" y="1162050"/>
            <a:ext cx="4030790" cy="3319272"/>
          </a:xfrm>
        </p:spPr>
        <p:txBody>
          <a:bodyPr/>
          <a:lstStyle>
            <a:lvl1pPr>
              <a:defRPr sz="1800">
                <a:solidFill>
                  <a:schemeClr val="tx2">
                    <a:lumMod val="75000"/>
                    <a:lumOff val="25000"/>
                  </a:schemeClr>
                </a:solidFill>
                <a:latin typeface="Arial" panose="020B0604020202020204" pitchFamily="34" charset="0"/>
                <a:cs typeface="Arial" panose="020B0604020202020204" pitchFamily="34" charset="0"/>
              </a:defRPr>
            </a:lvl1pPr>
            <a:lvl2pPr>
              <a:defRPr>
                <a:solidFill>
                  <a:schemeClr val="tx2">
                    <a:lumMod val="75000"/>
                    <a:lumOff val="25000"/>
                  </a:schemeClr>
                </a:solidFill>
                <a:latin typeface="Arial" panose="020B0604020202020204" pitchFamily="34" charset="0"/>
                <a:cs typeface="Arial" panose="020B0604020202020204" pitchFamily="34" charset="0"/>
              </a:defRPr>
            </a:lvl2pPr>
            <a:lvl3pPr>
              <a:defRPr>
                <a:solidFill>
                  <a:schemeClr val="tx2">
                    <a:lumMod val="75000"/>
                    <a:lumOff val="25000"/>
                  </a:schemeClr>
                </a:solidFill>
                <a:latin typeface="Arial" panose="020B0604020202020204" pitchFamily="34" charset="0"/>
                <a:cs typeface="Arial" panose="020B0604020202020204" pitchFamily="34" charset="0"/>
              </a:defRPr>
            </a:lvl3pPr>
            <a:lvl4pPr>
              <a:defRPr>
                <a:solidFill>
                  <a:schemeClr val="tx2">
                    <a:lumMod val="75000"/>
                    <a:lumOff val="25000"/>
                  </a:schemeClr>
                </a:solidFill>
                <a:latin typeface="Arial" panose="020B0604020202020204" pitchFamily="34" charset="0"/>
                <a:cs typeface="Arial" panose="020B0604020202020204" pitchFamily="34" charset="0"/>
              </a:defRPr>
            </a:lvl4pPr>
            <a:lvl5pPr>
              <a:defRPr>
                <a:solidFill>
                  <a:schemeClr val="tx2">
                    <a:lumMod val="75000"/>
                    <a:lumOff val="25000"/>
                  </a:schemeClr>
                </a:solidFill>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F7DE6069-021D-AC40-B1ED-C63CD3B48D1C}"/>
              </a:ext>
            </a:extLst>
          </p:cNvPr>
          <p:cNvSpPr>
            <a:spLocks noGrp="1"/>
          </p:cNvSpPr>
          <p:nvPr>
            <p:ph idx="13"/>
          </p:nvPr>
        </p:nvSpPr>
        <p:spPr>
          <a:xfrm>
            <a:off x="4733286" y="1162050"/>
            <a:ext cx="4030790" cy="3319272"/>
          </a:xfrm>
        </p:spPr>
        <p:txBody>
          <a:bodyPr/>
          <a:lstStyle>
            <a:lvl1pPr>
              <a:defRPr sz="1800">
                <a:solidFill>
                  <a:schemeClr val="tx2">
                    <a:lumMod val="75000"/>
                    <a:lumOff val="25000"/>
                  </a:schemeClr>
                </a:solidFill>
                <a:latin typeface="Arial" panose="020B0604020202020204" pitchFamily="34" charset="0"/>
                <a:cs typeface="Arial" panose="020B0604020202020204" pitchFamily="34" charset="0"/>
              </a:defRPr>
            </a:lvl1pPr>
            <a:lvl2pPr>
              <a:defRPr>
                <a:solidFill>
                  <a:schemeClr val="tx2">
                    <a:lumMod val="75000"/>
                    <a:lumOff val="25000"/>
                  </a:schemeClr>
                </a:solidFill>
                <a:latin typeface="Arial" panose="020B0604020202020204" pitchFamily="34" charset="0"/>
                <a:cs typeface="Arial" panose="020B0604020202020204" pitchFamily="34" charset="0"/>
              </a:defRPr>
            </a:lvl2pPr>
            <a:lvl3pPr>
              <a:defRPr>
                <a:solidFill>
                  <a:schemeClr val="tx2">
                    <a:lumMod val="75000"/>
                    <a:lumOff val="25000"/>
                  </a:schemeClr>
                </a:solidFill>
                <a:latin typeface="Arial" panose="020B0604020202020204" pitchFamily="34" charset="0"/>
                <a:cs typeface="Arial" panose="020B0604020202020204" pitchFamily="34" charset="0"/>
              </a:defRPr>
            </a:lvl3pPr>
            <a:lvl4pPr>
              <a:defRPr>
                <a:solidFill>
                  <a:schemeClr val="tx2">
                    <a:lumMod val="75000"/>
                    <a:lumOff val="25000"/>
                  </a:schemeClr>
                </a:solidFill>
                <a:latin typeface="Arial" panose="020B0604020202020204" pitchFamily="34" charset="0"/>
                <a:cs typeface="Arial" panose="020B0604020202020204" pitchFamily="34" charset="0"/>
              </a:defRPr>
            </a:lvl4pPr>
            <a:lvl5pPr>
              <a:defRPr>
                <a:solidFill>
                  <a:schemeClr val="tx2">
                    <a:lumMod val="75000"/>
                    <a:lumOff val="25000"/>
                  </a:schemeClr>
                </a:solidFill>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10582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15AA5-70F9-0B45-8147-A29FFDCDCFC0}"/>
              </a:ext>
            </a:extLst>
          </p:cNvPr>
          <p:cNvSpPr>
            <a:spLocks noGrp="1"/>
          </p:cNvSpPr>
          <p:nvPr>
            <p:ph type="title"/>
          </p:nvPr>
        </p:nvSpPr>
        <p:spPr>
          <a:xfrm>
            <a:off x="384048" y="274321"/>
            <a:ext cx="8417052" cy="621030"/>
          </a:xfrm>
        </p:spPr>
        <p:txBody>
          <a:bodyPr wrap="none">
            <a:noAutofit/>
          </a:bodyPr>
          <a:lstStyle>
            <a:lvl1pPr>
              <a:defRPr sz="2400"/>
            </a:lvl1pPr>
          </a:lstStyle>
          <a:p>
            <a:r>
              <a:rPr lang="en-US" dirty="0"/>
              <a:t>Click to edit Master title style</a:t>
            </a:r>
          </a:p>
        </p:txBody>
      </p:sp>
      <p:sp>
        <p:nvSpPr>
          <p:cNvPr id="8" name="Footer Placeholder 8">
            <a:extLst>
              <a:ext uri="{FF2B5EF4-FFF2-40B4-BE49-F238E27FC236}">
                <a16:creationId xmlns:a16="http://schemas.microsoft.com/office/drawing/2014/main" id="{8C855543-B1C8-B946-B60D-4C04E3A855E7}"/>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a:t>© 2020 Cognizant</a:t>
            </a:r>
          </a:p>
        </p:txBody>
      </p:sp>
      <p:sp>
        <p:nvSpPr>
          <p:cNvPr id="9" name="Slide Number Placeholder 9">
            <a:extLst>
              <a:ext uri="{FF2B5EF4-FFF2-40B4-BE49-F238E27FC236}">
                <a16:creationId xmlns:a16="http://schemas.microsoft.com/office/drawing/2014/main" id="{740C1DF7-CAE5-ED40-B1C3-1FB1E0F74AA4}"/>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dirty="0"/>
          </a:p>
        </p:txBody>
      </p:sp>
      <p:sp>
        <p:nvSpPr>
          <p:cNvPr id="7" name="Content Placeholder 2">
            <a:extLst>
              <a:ext uri="{FF2B5EF4-FFF2-40B4-BE49-F238E27FC236}">
                <a16:creationId xmlns:a16="http://schemas.microsoft.com/office/drawing/2014/main" id="{B5626B74-7C61-A145-BD70-21148590E430}"/>
              </a:ext>
            </a:extLst>
          </p:cNvPr>
          <p:cNvSpPr>
            <a:spLocks noGrp="1"/>
          </p:cNvSpPr>
          <p:nvPr>
            <p:ph sz="half" idx="1"/>
          </p:nvPr>
        </p:nvSpPr>
        <p:spPr>
          <a:xfrm>
            <a:off x="384048" y="1162050"/>
            <a:ext cx="2688336" cy="331927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a:extLst>
              <a:ext uri="{FF2B5EF4-FFF2-40B4-BE49-F238E27FC236}">
                <a16:creationId xmlns:a16="http://schemas.microsoft.com/office/drawing/2014/main" id="{0D149372-F04D-CC48-8B4F-76F0320F37B7}"/>
              </a:ext>
            </a:extLst>
          </p:cNvPr>
          <p:cNvSpPr>
            <a:spLocks noGrp="1"/>
          </p:cNvSpPr>
          <p:nvPr>
            <p:ph sz="half" idx="2"/>
          </p:nvPr>
        </p:nvSpPr>
        <p:spPr>
          <a:xfrm>
            <a:off x="3232404"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6548ADF5-6624-B449-B0AB-E8FDF55A3B8B}"/>
              </a:ext>
            </a:extLst>
          </p:cNvPr>
          <p:cNvSpPr>
            <a:spLocks noGrp="1"/>
          </p:cNvSpPr>
          <p:nvPr>
            <p:ph sz="half" idx="13"/>
          </p:nvPr>
        </p:nvSpPr>
        <p:spPr>
          <a:xfrm>
            <a:off x="6080760" y="1162050"/>
            <a:ext cx="2688336" cy="33192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65396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B04ED9-CA93-3142-B4EC-8ED6F34D15E9}"/>
              </a:ext>
            </a:extLst>
          </p:cNvPr>
          <p:cNvPicPr>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42" y="0"/>
            <a:ext cx="9143716" cy="5143500"/>
          </a:xfrm>
          <a:prstGeom prst="rect">
            <a:avLst/>
          </a:prstGeom>
        </p:spPr>
      </p:pic>
      <p:pic>
        <p:nvPicPr>
          <p:cNvPr id="7" name="Picture 6">
            <a:extLst>
              <a:ext uri="{FF2B5EF4-FFF2-40B4-BE49-F238E27FC236}">
                <a16:creationId xmlns:a16="http://schemas.microsoft.com/office/drawing/2014/main" id="{CB22C87B-454A-5546-8346-08CD9A74FE5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7734300" y="4693634"/>
            <a:ext cx="1029775" cy="221011"/>
          </a:xfrm>
          <a:prstGeom prst="rect">
            <a:avLst/>
          </a:prstGeom>
        </p:spPr>
      </p:pic>
      <p:sp>
        <p:nvSpPr>
          <p:cNvPr id="14" name="Title 1">
            <a:extLst>
              <a:ext uri="{FF2B5EF4-FFF2-40B4-BE49-F238E27FC236}">
                <a16:creationId xmlns:a16="http://schemas.microsoft.com/office/drawing/2014/main" id="{63D68EAA-2800-2247-8628-ED1190D00080}"/>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dirty="0"/>
              <a:t>Divider Title Goes Here</a:t>
            </a:r>
            <a:br>
              <a:rPr lang="en-US" dirty="0"/>
            </a:br>
            <a:r>
              <a:rPr lang="en-US" dirty="0"/>
              <a:t>Divider Title Goes Here</a:t>
            </a:r>
          </a:p>
        </p:txBody>
      </p:sp>
      <p:cxnSp>
        <p:nvCxnSpPr>
          <p:cNvPr id="15" name="Straight Connector 14">
            <a:extLst>
              <a:ext uri="{FF2B5EF4-FFF2-40B4-BE49-F238E27FC236}">
                <a16:creationId xmlns:a16="http://schemas.microsoft.com/office/drawing/2014/main" id="{F15D67C1-E5E2-DA4B-B9CA-F4770AE7E188}"/>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9720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3">
    <p:spTree>
      <p:nvGrpSpPr>
        <p:cNvPr id="1" name=""/>
        <p:cNvGrpSpPr/>
        <p:nvPr/>
      </p:nvGrpSpPr>
      <p:grpSpPr>
        <a:xfrm>
          <a:off x="0" y="0"/>
          <a:ext cx="0" cy="0"/>
          <a:chOff x="0" y="0"/>
          <a:chExt cx="0" cy="0"/>
        </a:xfrm>
      </p:grpSpPr>
      <p:pic>
        <p:nvPicPr>
          <p:cNvPr id="4" name="Picture 3" descr="A picture containing animal, bed, computer, sitting&#10;&#10;Description automatically generated">
            <a:extLst>
              <a:ext uri="{FF2B5EF4-FFF2-40B4-BE49-F238E27FC236}">
                <a16:creationId xmlns:a16="http://schemas.microsoft.com/office/drawing/2014/main" id="{A1136187-A332-734A-993D-A693410B0D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a:solidFill>
            <a:srgbClr val="0A0C40"/>
          </a:solidFill>
        </p:spPr>
      </p:pic>
      <p:pic>
        <p:nvPicPr>
          <p:cNvPr id="8" name="Picture 7">
            <a:extLst>
              <a:ext uri="{FF2B5EF4-FFF2-40B4-BE49-F238E27FC236}">
                <a16:creationId xmlns:a16="http://schemas.microsoft.com/office/drawing/2014/main" id="{FF0D9D5E-4D2E-CA4D-AD11-F48A3C1E8D6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7734300" y="4693634"/>
            <a:ext cx="1029775" cy="221011"/>
          </a:xfrm>
          <a:prstGeom prst="rect">
            <a:avLst/>
          </a:prstGeom>
        </p:spPr>
      </p:pic>
      <p:sp>
        <p:nvSpPr>
          <p:cNvPr id="7" name="Title 1">
            <a:extLst>
              <a:ext uri="{FF2B5EF4-FFF2-40B4-BE49-F238E27FC236}">
                <a16:creationId xmlns:a16="http://schemas.microsoft.com/office/drawing/2014/main" id="{AAAFF55D-6D18-1F44-A693-04D09308D0F7}"/>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dirty="0"/>
              <a:t>Divider Title Goes Here</a:t>
            </a:r>
            <a:br>
              <a:rPr lang="en-US" dirty="0"/>
            </a:br>
            <a:r>
              <a:rPr lang="en-US" dirty="0"/>
              <a:t>Divider Title Goes Here</a:t>
            </a:r>
          </a:p>
        </p:txBody>
      </p:sp>
      <p:cxnSp>
        <p:nvCxnSpPr>
          <p:cNvPr id="9" name="Straight Connector 8">
            <a:extLst>
              <a:ext uri="{FF2B5EF4-FFF2-40B4-BE49-F238E27FC236}">
                <a16:creationId xmlns:a16="http://schemas.microsoft.com/office/drawing/2014/main" id="{1F7C825B-B4FF-FF40-84F6-962714FC3A43}"/>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2989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580102-CAD4-A748-BD95-3E5812A2AD6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0800000">
            <a:off x="1928" y="-3"/>
            <a:ext cx="9142072" cy="5143501"/>
          </a:xfrm>
          <a:prstGeom prst="rect">
            <a:avLst/>
          </a:prstGeom>
        </p:spPr>
      </p:pic>
      <p:pic>
        <p:nvPicPr>
          <p:cNvPr id="6" name="Picture 5">
            <a:extLst>
              <a:ext uri="{FF2B5EF4-FFF2-40B4-BE49-F238E27FC236}">
                <a16:creationId xmlns:a16="http://schemas.microsoft.com/office/drawing/2014/main" id="{74AF8623-17CF-6240-8EE3-A38651F2E38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7734300" y="4693634"/>
            <a:ext cx="1029775" cy="221011"/>
          </a:xfrm>
          <a:prstGeom prst="rect">
            <a:avLst/>
          </a:prstGeom>
        </p:spPr>
      </p:pic>
      <p:sp>
        <p:nvSpPr>
          <p:cNvPr id="8" name="Title 1">
            <a:extLst>
              <a:ext uri="{FF2B5EF4-FFF2-40B4-BE49-F238E27FC236}">
                <a16:creationId xmlns:a16="http://schemas.microsoft.com/office/drawing/2014/main" id="{5210EB9E-64BF-9644-B205-F00F04A6F5DA}"/>
              </a:ext>
            </a:extLst>
          </p:cNvPr>
          <p:cNvSpPr>
            <a:spLocks noGrp="1"/>
          </p:cNvSpPr>
          <p:nvPr>
            <p:ph type="ctrTitle" hasCustomPrompt="1"/>
          </p:nvPr>
        </p:nvSpPr>
        <p:spPr bwMode="white">
          <a:xfrm>
            <a:off x="821799" y="1709543"/>
            <a:ext cx="6731000" cy="1218795"/>
          </a:xfrm>
        </p:spPr>
        <p:txBody>
          <a:bodyPr wrap="square" anchor="t" anchorCtr="0">
            <a:spAutoFit/>
          </a:bodyPr>
          <a:lstStyle>
            <a:lvl1pPr algn="l">
              <a:defRPr sz="4400" b="0" i="0">
                <a:solidFill>
                  <a:schemeClr val="bg1"/>
                </a:solidFill>
                <a:latin typeface="Arial" panose="020B0604020202020204" pitchFamily="34" charset="0"/>
                <a:cs typeface="Arial" panose="020B0604020202020204" pitchFamily="34" charset="0"/>
              </a:defRPr>
            </a:lvl1pPr>
          </a:lstStyle>
          <a:p>
            <a:pPr lvl="0"/>
            <a:r>
              <a:rPr lang="en-US" dirty="0"/>
              <a:t>Divider Title Goes Here</a:t>
            </a:r>
            <a:br>
              <a:rPr lang="en-US" dirty="0"/>
            </a:br>
            <a:r>
              <a:rPr lang="en-US" dirty="0"/>
              <a:t>Divider Title Goes Here</a:t>
            </a:r>
          </a:p>
        </p:txBody>
      </p:sp>
      <p:cxnSp>
        <p:nvCxnSpPr>
          <p:cNvPr id="9" name="Straight Connector 8">
            <a:extLst>
              <a:ext uri="{FF2B5EF4-FFF2-40B4-BE49-F238E27FC236}">
                <a16:creationId xmlns:a16="http://schemas.microsoft.com/office/drawing/2014/main" id="{010DD0DB-372F-554C-AC14-50A4A4866945}"/>
              </a:ext>
            </a:extLst>
          </p:cNvPr>
          <p:cNvCxnSpPr>
            <a:cxnSpLocks/>
          </p:cNvCxnSpPr>
          <p:nvPr userDrawn="1"/>
        </p:nvCxnSpPr>
        <p:spPr>
          <a:xfrm>
            <a:off x="821799" y="1507618"/>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9136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E91B630-BDD5-844D-9F57-E0F3DA8DE29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738551" y="4351664"/>
            <a:ext cx="2024449" cy="430734"/>
          </a:xfrm>
          <a:prstGeom prst="rect">
            <a:avLst/>
          </a:prstGeom>
        </p:spPr>
      </p:pic>
      <p:sp>
        <p:nvSpPr>
          <p:cNvPr id="11" name="Text Placeholder 4">
            <a:extLst>
              <a:ext uri="{FF2B5EF4-FFF2-40B4-BE49-F238E27FC236}">
                <a16:creationId xmlns:a16="http://schemas.microsoft.com/office/drawing/2014/main" id="{6A3ADC0F-2A6D-1D4D-9FFF-853C5C76A3A6}"/>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bg2"/>
                </a:solidFill>
              </a:defRPr>
            </a:lvl1pPr>
          </a:lstStyle>
          <a:p>
            <a:pPr lvl="0"/>
            <a:r>
              <a:rPr lang="en-US" dirty="0"/>
              <a:t>Name and Title</a:t>
            </a:r>
          </a:p>
        </p:txBody>
      </p:sp>
      <p:sp>
        <p:nvSpPr>
          <p:cNvPr id="13" name="Text Placeholder 4">
            <a:extLst>
              <a:ext uri="{FF2B5EF4-FFF2-40B4-BE49-F238E27FC236}">
                <a16:creationId xmlns:a16="http://schemas.microsoft.com/office/drawing/2014/main" id="{DA314B20-F29A-994E-87AC-493EFA67EDCF}"/>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dirty="0"/>
              <a:t>Contact Information</a:t>
            </a:r>
          </a:p>
        </p:txBody>
      </p:sp>
      <p:sp>
        <p:nvSpPr>
          <p:cNvPr id="14" name="Title 1">
            <a:extLst>
              <a:ext uri="{FF2B5EF4-FFF2-40B4-BE49-F238E27FC236}">
                <a16:creationId xmlns:a16="http://schemas.microsoft.com/office/drawing/2014/main" id="{91C36AF9-C75C-DE4A-84C5-590522758FD4}"/>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bg2"/>
                </a:solidFill>
                <a:latin typeface="Arial" panose="020B0604020202020204" pitchFamily="34" charset="0"/>
                <a:cs typeface="Arial" panose="020B0604020202020204" pitchFamily="34" charset="0"/>
              </a:defRPr>
            </a:lvl1pPr>
          </a:lstStyle>
          <a:p>
            <a:pPr lvl="0"/>
            <a:r>
              <a:rPr lang="en-US" dirty="0"/>
              <a:t>Thank You</a:t>
            </a:r>
          </a:p>
        </p:txBody>
      </p:sp>
      <p:cxnSp>
        <p:nvCxnSpPr>
          <p:cNvPr id="15" name="Straight Connector 14">
            <a:extLst>
              <a:ext uri="{FF2B5EF4-FFF2-40B4-BE49-F238E27FC236}">
                <a16:creationId xmlns:a16="http://schemas.microsoft.com/office/drawing/2014/main" id="{A022DC92-B704-DC40-B83E-0F108277F590}"/>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112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hank You">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E91B630-BDD5-844D-9F57-E0F3DA8DE29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10377" y="4353665"/>
            <a:ext cx="2024449" cy="430734"/>
          </a:xfrm>
          <a:prstGeom prst="rect">
            <a:avLst/>
          </a:prstGeom>
        </p:spPr>
      </p:pic>
      <p:sp>
        <p:nvSpPr>
          <p:cNvPr id="11" name="Text Placeholder 4">
            <a:extLst>
              <a:ext uri="{FF2B5EF4-FFF2-40B4-BE49-F238E27FC236}">
                <a16:creationId xmlns:a16="http://schemas.microsoft.com/office/drawing/2014/main" id="{6A3ADC0F-2A6D-1D4D-9FFF-853C5C76A3A6}"/>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bg2"/>
                </a:solidFill>
              </a:defRPr>
            </a:lvl1pPr>
          </a:lstStyle>
          <a:p>
            <a:pPr lvl="0"/>
            <a:r>
              <a:rPr lang="en-US" dirty="0"/>
              <a:t>Name and Title</a:t>
            </a:r>
          </a:p>
        </p:txBody>
      </p:sp>
      <p:sp>
        <p:nvSpPr>
          <p:cNvPr id="13" name="Text Placeholder 4">
            <a:extLst>
              <a:ext uri="{FF2B5EF4-FFF2-40B4-BE49-F238E27FC236}">
                <a16:creationId xmlns:a16="http://schemas.microsoft.com/office/drawing/2014/main" id="{DA314B20-F29A-994E-87AC-493EFA67EDCF}"/>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dirty="0"/>
              <a:t>Contact Information</a:t>
            </a:r>
          </a:p>
        </p:txBody>
      </p:sp>
      <p:sp>
        <p:nvSpPr>
          <p:cNvPr id="14" name="Title 1">
            <a:extLst>
              <a:ext uri="{FF2B5EF4-FFF2-40B4-BE49-F238E27FC236}">
                <a16:creationId xmlns:a16="http://schemas.microsoft.com/office/drawing/2014/main" id="{91C36AF9-C75C-DE4A-84C5-590522758FD4}"/>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bg2"/>
                </a:solidFill>
                <a:latin typeface="Arial" panose="020B0604020202020204" pitchFamily="34" charset="0"/>
                <a:cs typeface="Arial" panose="020B0604020202020204" pitchFamily="34" charset="0"/>
              </a:defRPr>
            </a:lvl1pPr>
          </a:lstStyle>
          <a:p>
            <a:pPr lvl="0"/>
            <a:r>
              <a:rPr lang="en-US" dirty="0"/>
              <a:t>Thank You</a:t>
            </a:r>
          </a:p>
        </p:txBody>
      </p:sp>
      <p:cxnSp>
        <p:nvCxnSpPr>
          <p:cNvPr id="15" name="Straight Connector 14">
            <a:extLst>
              <a:ext uri="{FF2B5EF4-FFF2-40B4-BE49-F238E27FC236}">
                <a16:creationId xmlns:a16="http://schemas.microsoft.com/office/drawing/2014/main" id="{A022DC92-B704-DC40-B83E-0F108277F590}"/>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
        <p:nvSpPr>
          <p:cNvPr id="12" name="Picture Placeholder 2">
            <a:extLst>
              <a:ext uri="{FF2B5EF4-FFF2-40B4-BE49-F238E27FC236}">
                <a16:creationId xmlns:a16="http://schemas.microsoft.com/office/drawing/2014/main" id="{E43575F0-2D79-7E43-8455-55C88625BB96}"/>
              </a:ext>
            </a:extLst>
          </p:cNvPr>
          <p:cNvSpPr>
            <a:spLocks noGrp="1"/>
          </p:cNvSpPr>
          <p:nvPr>
            <p:ph type="pic" sz="quarter" idx="13" hasCustomPrompt="1"/>
          </p:nvPr>
        </p:nvSpPr>
        <p:spPr>
          <a:xfrm>
            <a:off x="6950877" y="4212509"/>
            <a:ext cx="1812123" cy="614672"/>
          </a:xfrm>
        </p:spPr>
        <p:txBody>
          <a:bodyPr anchor="ctr" anchorCtr="0">
            <a:normAutofit/>
          </a:bodyPr>
          <a:lstStyle>
            <a:lvl1pPr algn="ctr">
              <a:defRPr sz="1200">
                <a:solidFill>
                  <a:schemeClr val="bg1"/>
                </a:solidFill>
              </a:defRPr>
            </a:lvl1pPr>
          </a:lstStyle>
          <a:p>
            <a:r>
              <a:rPr lang="en-US" dirty="0"/>
              <a:t>Client/Partner Logo Here</a:t>
            </a:r>
          </a:p>
        </p:txBody>
      </p:sp>
    </p:spTree>
    <p:extLst>
      <p:ext uri="{BB962C8B-B14F-4D97-AF65-F5344CB8AC3E}">
        <p14:creationId xmlns:p14="http://schemas.microsoft.com/office/powerpoint/2010/main" val="3618016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 White BG">
    <p:bg>
      <p:bgRef idx="1001">
        <a:schemeClr val="bg2"/>
      </p:bgRef>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DBFD3179-5709-AE4F-A788-E4498F3E161A}"/>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accent2"/>
                </a:solidFill>
              </a:defRPr>
            </a:lvl1pPr>
          </a:lstStyle>
          <a:p>
            <a:pPr lvl="0"/>
            <a:r>
              <a:rPr lang="en-US" dirty="0"/>
              <a:t>Name and Title</a:t>
            </a:r>
          </a:p>
        </p:txBody>
      </p:sp>
      <p:sp>
        <p:nvSpPr>
          <p:cNvPr id="7" name="Text Placeholder 4">
            <a:extLst>
              <a:ext uri="{FF2B5EF4-FFF2-40B4-BE49-F238E27FC236}">
                <a16:creationId xmlns:a16="http://schemas.microsoft.com/office/drawing/2014/main" id="{9506C890-9727-1D43-B575-700E7811631D}"/>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dirty="0"/>
              <a:t>Contact Information</a:t>
            </a:r>
          </a:p>
        </p:txBody>
      </p:sp>
      <p:sp>
        <p:nvSpPr>
          <p:cNvPr id="9" name="Title 1">
            <a:extLst>
              <a:ext uri="{FF2B5EF4-FFF2-40B4-BE49-F238E27FC236}">
                <a16:creationId xmlns:a16="http://schemas.microsoft.com/office/drawing/2014/main" id="{E53485B7-9363-D842-9596-0299E998A58C}"/>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2" name="Straight Connector 11">
            <a:extLst>
              <a:ext uri="{FF2B5EF4-FFF2-40B4-BE49-F238E27FC236}">
                <a16:creationId xmlns:a16="http://schemas.microsoft.com/office/drawing/2014/main" id="{082CA94C-BBE0-1846-921C-E1AFFD0BB14A}"/>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sign&#10;&#10;Description automatically generated">
            <a:extLst>
              <a:ext uri="{FF2B5EF4-FFF2-40B4-BE49-F238E27FC236}">
                <a16:creationId xmlns:a16="http://schemas.microsoft.com/office/drawing/2014/main" id="{C2914087-A4EF-E640-A3E0-574DF86EFCB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91441" y="4114800"/>
            <a:ext cx="2509524" cy="908465"/>
          </a:xfrm>
          <a:prstGeom prst="rect">
            <a:avLst/>
          </a:prstGeom>
        </p:spPr>
      </p:pic>
    </p:spTree>
    <p:extLst>
      <p:ext uri="{BB962C8B-B14F-4D97-AF65-F5344CB8AC3E}">
        <p14:creationId xmlns:p14="http://schemas.microsoft.com/office/powerpoint/2010/main" val="615544909"/>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6950877" y="4212509"/>
            <a:ext cx="1812123" cy="614672"/>
          </a:xfrm>
        </p:spPr>
        <p:txBody>
          <a:bodyPr anchor="ctr" anchorCtr="0">
            <a:normAutofit/>
          </a:bodyPr>
          <a:lstStyle>
            <a:lvl1pPr algn="ctr">
              <a:defRPr sz="12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69237" y="4114800"/>
            <a:ext cx="2509524" cy="908465"/>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391633" y="2704549"/>
            <a:ext cx="8207508" cy="369332"/>
          </a:xfrm>
        </p:spPr>
        <p:txBody>
          <a:bodyPr wrap="square" anchor="ctr" anchorCtr="0">
            <a:spAutoFit/>
          </a:bodyPr>
          <a:lstStyle>
            <a:lvl1pPr algn="l">
              <a:defRPr sz="24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391633" y="3147679"/>
            <a:ext cx="8207508" cy="276999"/>
          </a:xfrm>
        </p:spPr>
        <p:txBody>
          <a:bodyPr wrap="square" anchor="ctr" anchorCtr="0">
            <a:spAutoFit/>
          </a:bodyPr>
          <a:lstStyle>
            <a:lvl1pPr algn="l">
              <a:defRPr sz="18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391633" y="1665888"/>
            <a:ext cx="4069701" cy="830997"/>
          </a:xfrm>
        </p:spPr>
        <p:txBody>
          <a:bodyPr wrap="square" anchor="t" anchorCtr="0">
            <a:spAutoFit/>
          </a:bodyPr>
          <a:lstStyle>
            <a:lvl1pPr algn="l">
              <a:defRPr sz="6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userDrawn="1"/>
        </p:nvCxnSpPr>
        <p:spPr>
          <a:xfrm>
            <a:off x="391633" y="2543316"/>
            <a:ext cx="672084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24979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ch Background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3B87D-A0F4-A145-BCBE-88325C169FEF}"/>
              </a:ext>
            </a:extLst>
          </p:cNvPr>
          <p:cNvSpPr/>
          <p:nvPr userDrawn="1"/>
        </p:nvSpPr>
        <p:spPr>
          <a:xfrm>
            <a:off x="0" y="4057650"/>
            <a:ext cx="9144000" cy="108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F363CBB-0CE6-524D-A91E-F704F804A718}"/>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42" y="0"/>
            <a:ext cx="9143716" cy="5143500"/>
          </a:xfrm>
          <a:prstGeom prst="rect">
            <a:avLst/>
          </a:prstGeom>
        </p:spPr>
      </p:pic>
    </p:spTree>
    <p:extLst>
      <p:ext uri="{BB962C8B-B14F-4D97-AF65-F5344CB8AC3E}">
        <p14:creationId xmlns:p14="http://schemas.microsoft.com/office/powerpoint/2010/main" val="28939647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ch Background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43B87D-A0F4-A145-BCBE-88325C169FEF}"/>
              </a:ext>
            </a:extLst>
          </p:cNvPr>
          <p:cNvSpPr/>
          <p:nvPr userDrawn="1"/>
        </p:nvSpPr>
        <p:spPr>
          <a:xfrm>
            <a:off x="0" y="4057650"/>
            <a:ext cx="9144000" cy="1085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animal, bed, computer, sitting&#10;&#10;Description automatically generated">
            <a:extLst>
              <a:ext uri="{FF2B5EF4-FFF2-40B4-BE49-F238E27FC236}">
                <a16:creationId xmlns:a16="http://schemas.microsoft.com/office/drawing/2014/main" id="{AFD0E892-AD84-1E4B-88EE-D37B1E173C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95"/>
            <a:ext cx="9144000" cy="5142510"/>
          </a:xfrm>
          <a:prstGeom prst="rect">
            <a:avLst/>
          </a:prstGeom>
        </p:spPr>
      </p:pic>
    </p:spTree>
    <p:extLst>
      <p:ext uri="{BB962C8B-B14F-4D97-AF65-F5344CB8AC3E}">
        <p14:creationId xmlns:p14="http://schemas.microsoft.com/office/powerpoint/2010/main" val="3886438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ch Background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4672F0-3606-864E-B5C6-3D3E01E37D5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928" y="0"/>
            <a:ext cx="9160462" cy="5143500"/>
          </a:xfrm>
          <a:prstGeom prst="rect">
            <a:avLst/>
          </a:prstGeom>
        </p:spPr>
      </p:pic>
    </p:spTree>
    <p:extLst>
      <p:ext uri="{BB962C8B-B14F-4D97-AF65-F5344CB8AC3E}">
        <p14:creationId xmlns:p14="http://schemas.microsoft.com/office/powerpoint/2010/main" val="30895630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ue Gradient Background">
    <p:bg>
      <p:bgPr>
        <a:gradFill flip="none" rotWithShape="1">
          <a:gsLst>
            <a:gs pos="65000">
              <a:schemeClr val="accent1"/>
            </a:gs>
            <a:gs pos="0">
              <a:schemeClr val="accent3"/>
            </a:gs>
          </a:gsLst>
          <a:lin ang="135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755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62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384048" y="274320"/>
            <a:ext cx="8378952" cy="621030"/>
          </a:xfrm>
          <a:prstGeom prst="rect">
            <a:avLst/>
          </a:prstGeom>
        </p:spPr>
        <p:txBody>
          <a:bodyPr vert="horz" lIns="0" tIns="0" rIns="0" bIns="0" rtlCol="0" anchor="t" anchorCtr="0">
            <a:noAutofit/>
          </a:bodyPr>
          <a:lstStyle/>
          <a:p>
            <a:r>
              <a:rPr lang="en-US" dirty="0"/>
              <a:t>Click to edit Master title style</a:t>
            </a:r>
            <a:br>
              <a:rPr lang="en-US" dirty="0"/>
            </a:br>
            <a:endParaRPr lang="en-US" dirty="0"/>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384048" y="1093304"/>
            <a:ext cx="8378952" cy="3379305"/>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660386" y="4695411"/>
            <a:ext cx="4572000" cy="187241"/>
          </a:xfrm>
          <a:prstGeom prst="rect">
            <a:avLst/>
          </a:prstGeom>
        </p:spPr>
        <p:txBody>
          <a:bodyPr vert="horz" lIns="0" tIns="0" rIns="0" bIns="0" rtlCol="0" anchor="b" anchorCtr="0"/>
          <a:lstStyle>
            <a:lvl1pPr algn="l">
              <a:defRPr sz="800">
                <a:solidFill>
                  <a:schemeClr val="tx1"/>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a:t>© 2020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385100" y="4759541"/>
            <a:ext cx="228600" cy="123111"/>
          </a:xfrm>
          <a:prstGeom prst="rect">
            <a:avLst/>
          </a:prstGeom>
        </p:spPr>
        <p:txBody>
          <a:bodyPr vert="horz" lIns="0" tIns="0" rIns="0" bIns="0" rtlCol="0" anchor="b" anchorCtr="0">
            <a:spAutoFit/>
          </a:bodyPr>
          <a:lstStyle>
            <a:lvl1pPr algn="l">
              <a:defRPr sz="800" b="1">
                <a:solidFill>
                  <a:schemeClr val="tx1"/>
                </a:solidFill>
                <a:latin typeface="Arial" panose="020B0604020202020204" pitchFamily="34" charset="0"/>
                <a:cs typeface="Arial" panose="020B0604020202020204" pitchFamily="34" charset="0"/>
              </a:defRPr>
            </a:lvl1pPr>
          </a:lstStyle>
          <a:p>
            <a:fld id="{2EFEF571-C9B4-4D92-A7F7-315B894862A8}" type="slidenum">
              <a:rPr lang="en-US" smtClean="0"/>
              <a:pPr/>
              <a:t>‹#›</a:t>
            </a:fld>
            <a:endParaRPr lang="en-US" dirty="0"/>
          </a:p>
        </p:txBody>
      </p:sp>
      <p:pic>
        <p:nvPicPr>
          <p:cNvPr id="7" name="Picture 6">
            <a:extLst>
              <a:ext uri="{FF2B5EF4-FFF2-40B4-BE49-F238E27FC236}">
                <a16:creationId xmlns:a16="http://schemas.microsoft.com/office/drawing/2014/main" id="{A75C5FF7-2DC4-5442-BB0D-C1FF3C41C2F6}"/>
              </a:ext>
            </a:extLst>
          </p:cNvPr>
          <p:cNvPicPr>
            <a:picLocks noChangeAspect="1"/>
          </p:cNvPicPr>
          <p:nvPr userDrawn="1"/>
        </p:nvPicPr>
        <p:blipFill>
          <a:blip r:embed="rId23" cstate="screen">
            <a:extLst>
              <a:ext uri="{28A0092B-C50C-407E-A947-70E740481C1C}">
                <a14:useLocalDpi xmlns:a14="http://schemas.microsoft.com/office/drawing/2010/main"/>
              </a:ext>
            </a:extLst>
          </a:blip>
          <a:stretch>
            <a:fillRect/>
          </a:stretch>
        </p:blipFill>
        <p:spPr bwMode="black">
          <a:xfrm>
            <a:off x="7723969" y="4742066"/>
            <a:ext cx="1039031" cy="222997"/>
          </a:xfrm>
          <a:prstGeom prst="rect">
            <a:avLst/>
          </a:prstGeom>
        </p:spPr>
      </p:pic>
    </p:spTree>
    <p:extLst>
      <p:ext uri="{BB962C8B-B14F-4D97-AF65-F5344CB8AC3E}">
        <p14:creationId xmlns:p14="http://schemas.microsoft.com/office/powerpoint/2010/main" val="1868651982"/>
      </p:ext>
    </p:extLst>
  </p:cSld>
  <p:clrMap bg1="lt1" tx1="dk1" bg2="lt2" tx2="dk2" accent1="accent1" accent2="accent2" accent3="accent3" accent4="accent4" accent5="accent5" accent6="accent6" hlink="hlink" folHlink="folHlink"/>
  <p:sldLayoutIdLst>
    <p:sldLayoutId id="2147484134" r:id="rId1"/>
    <p:sldLayoutId id="2147484185" r:id="rId2"/>
    <p:sldLayoutId id="2147484189" r:id="rId3"/>
    <p:sldLayoutId id="2147484190" r:id="rId4"/>
    <p:sldLayoutId id="2147484191" r:id="rId5"/>
    <p:sldLayoutId id="2147484184" r:id="rId6"/>
    <p:sldLayoutId id="2147484119" r:id="rId7"/>
    <p:sldLayoutId id="2147484193" r:id="rId8"/>
    <p:sldLayoutId id="2147484194" r:id="rId9"/>
    <p:sldLayoutId id="2147484100" r:id="rId10"/>
    <p:sldLayoutId id="2147484126" r:id="rId11"/>
    <p:sldLayoutId id="2147484131" r:id="rId12"/>
    <p:sldLayoutId id="2147484192" r:id="rId13"/>
    <p:sldLayoutId id="2147484200" r:id="rId14"/>
    <p:sldLayoutId id="2147484198" r:id="rId15"/>
    <p:sldLayoutId id="2147484199" r:id="rId16"/>
    <p:sldLayoutId id="2147484128" r:id="rId17"/>
    <p:sldLayoutId id="2147484130" r:id="rId18"/>
    <p:sldLayoutId id="2147484102" r:id="rId19"/>
    <p:sldLayoutId id="2147484113" r:id="rId20"/>
    <p:sldLayoutId id="2147484110" r:id="rId21"/>
  </p:sldLayoutIdLst>
  <p:hf hdr="0" dt="0"/>
  <p:txStyles>
    <p:titleStyle>
      <a:lvl1pPr algn="l" defTabSz="914378" rtl="0" eaLnBrk="1" latinLnBrk="0" hangingPunct="1">
        <a:lnSpc>
          <a:spcPct val="90000"/>
        </a:lnSpc>
        <a:spcBef>
          <a:spcPct val="0"/>
        </a:spcBef>
        <a:buNone/>
        <a:defRPr sz="24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8" rtl="0" eaLnBrk="1" latinLnBrk="0" hangingPunct="1">
        <a:lnSpc>
          <a:spcPct val="100000"/>
        </a:lnSpc>
        <a:spcBef>
          <a:spcPts val="600"/>
        </a:spcBef>
        <a:buFont typeface="Arial" panose="020B0604020202020204" pitchFamily="34" charset="0"/>
        <a:buNone/>
        <a:defRPr sz="1800" kern="1200">
          <a:solidFill>
            <a:schemeClr val="tx2">
              <a:lumMod val="75000"/>
              <a:lumOff val="25000"/>
            </a:schemeClr>
          </a:solidFill>
          <a:latin typeface="Arial" panose="020B0604020202020204" pitchFamily="34" charset="0"/>
          <a:ea typeface="+mn-ea"/>
          <a:cs typeface="Arial" panose="020B0604020202020204" pitchFamily="34" charset="0"/>
        </a:defRPr>
      </a:lvl1pPr>
      <a:lvl2pPr marL="171450" indent="-171450" algn="l" defTabSz="914378" rtl="0" eaLnBrk="1" latinLnBrk="0" hangingPunct="1">
        <a:lnSpc>
          <a:spcPct val="100000"/>
        </a:lnSpc>
        <a:spcBef>
          <a:spcPts val="600"/>
        </a:spcBef>
        <a:buClrTx/>
        <a:buSzPct val="125000"/>
        <a:buFont typeface="Arial" panose="020B0604020202020204" pitchFamily="34" charset="0"/>
        <a:buChar char="•"/>
        <a:tabLst/>
        <a:defRPr sz="1400" kern="1200">
          <a:solidFill>
            <a:schemeClr val="tx2">
              <a:lumMod val="75000"/>
              <a:lumOff val="25000"/>
            </a:schemeClr>
          </a:solidFill>
          <a:latin typeface="Arial" panose="020B0604020202020204" pitchFamily="34" charset="0"/>
          <a:ea typeface="+mn-ea"/>
          <a:cs typeface="Arial" panose="020B0604020202020204" pitchFamily="34" charset="0"/>
        </a:defRPr>
      </a:lvl2pPr>
      <a:lvl3pPr marL="400050" indent="-171450" algn="l" defTabSz="914378" rtl="0" eaLnBrk="1" latinLnBrk="0" hangingPunct="1">
        <a:lnSpc>
          <a:spcPct val="100000"/>
        </a:lnSpc>
        <a:spcBef>
          <a:spcPts val="400"/>
        </a:spcBef>
        <a:buClrTx/>
        <a:buSzPct val="100000"/>
        <a:buFont typeface="Arial" panose="020B0604020202020204" pitchFamily="34" charset="0"/>
        <a:buChar char="–"/>
        <a:tabLst/>
        <a:defRPr sz="1200" kern="1200">
          <a:solidFill>
            <a:schemeClr val="tx2">
              <a:lumMod val="75000"/>
              <a:lumOff val="25000"/>
            </a:schemeClr>
          </a:solidFill>
          <a:latin typeface="Arial" panose="020B0604020202020204" pitchFamily="34" charset="0"/>
          <a:ea typeface="+mn-ea"/>
          <a:cs typeface="Arial" panose="020B0604020202020204" pitchFamily="34" charset="0"/>
        </a:defRPr>
      </a:lvl3pPr>
      <a:lvl4pPr marL="573088" indent="-115888" algn="l" defTabSz="914378" rtl="0" eaLnBrk="1" latinLnBrk="0" hangingPunct="1">
        <a:lnSpc>
          <a:spcPct val="100000"/>
        </a:lnSpc>
        <a:spcBef>
          <a:spcPts val="400"/>
        </a:spcBef>
        <a:buClrTx/>
        <a:buSzPct val="100000"/>
        <a:buFont typeface="Arial" panose="020B0604020202020204" pitchFamily="34" charset="0"/>
        <a:buChar char="•"/>
        <a:tabLst/>
        <a:defRPr sz="1050" kern="1200">
          <a:solidFill>
            <a:schemeClr val="tx2">
              <a:lumMod val="75000"/>
              <a:lumOff val="25000"/>
            </a:schemeClr>
          </a:solidFill>
          <a:latin typeface="Arial" panose="020B0604020202020204" pitchFamily="34" charset="0"/>
          <a:ea typeface="+mn-ea"/>
          <a:cs typeface="Arial" panose="020B0604020202020204" pitchFamily="34" charset="0"/>
        </a:defRPr>
      </a:lvl4pPr>
      <a:lvl5pPr marL="858838" indent="-173038" algn="l" defTabSz="914378" rtl="0" eaLnBrk="1" latinLnBrk="0" hangingPunct="1">
        <a:lnSpc>
          <a:spcPct val="100000"/>
        </a:lnSpc>
        <a:spcBef>
          <a:spcPts val="400"/>
        </a:spcBef>
        <a:buClrTx/>
        <a:buSzPct val="100000"/>
        <a:buFont typeface="Arial" panose="020B0604020202020204" pitchFamily="34" charset="0"/>
        <a:buChar char="–"/>
        <a:tabLst/>
        <a:defRPr sz="900" kern="1200">
          <a:solidFill>
            <a:schemeClr val="tx2">
              <a:lumMod val="75000"/>
              <a:lumOff val="25000"/>
            </a:schemeClr>
          </a:solidFill>
          <a:latin typeface="Arial" panose="020B0604020202020204" pitchFamily="34" charset="0"/>
          <a:ea typeface="+mn-ea"/>
          <a:cs typeface="Arial" panose="020B0604020202020204" pitchFamily="34" charset="0"/>
        </a:defRPr>
      </a:lvl5pPr>
      <a:lvl6pPr marL="1142972" indent="-228594" algn="l" defTabSz="914378"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566" indent="-228594" algn="l" defTabSz="914378"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160" indent="-228594" algn="l" defTabSz="914378"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160" indent="-228594" algn="l" defTabSz="914378"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0" userDrawn="1">
          <p15:clr>
            <a:srgbClr val="F26B43"/>
          </p15:clr>
        </p15:guide>
        <p15:guide id="3" pos="5520" userDrawn="1">
          <p15:clr>
            <a:srgbClr val="F26B43"/>
          </p15:clr>
        </p15:guide>
        <p15:guide id="4" orient="horz" pos="2988" userDrawn="1">
          <p15:clr>
            <a:srgbClr val="F26B43"/>
          </p15:clr>
        </p15:guide>
        <p15:guide id="5" orient="horz" pos="5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4163" y="1558504"/>
            <a:ext cx="8100782" cy="1107996"/>
          </a:xfrm>
        </p:spPr>
        <p:txBody>
          <a:bodyPr/>
          <a:lstStyle/>
          <a:p>
            <a:br>
              <a:rPr lang="en-US" b="0" dirty="0"/>
            </a:br>
            <a:r>
              <a:rPr lang="en-US" b="0" dirty="0"/>
              <a:t>Integration Patterns</a:t>
            </a:r>
            <a:endParaRPr lang="en-US" dirty="0">
              <a:latin typeface="Calibri" panose="020F0502020204030204" pitchFamily="34" charset="0"/>
            </a:endParaRPr>
          </a:p>
        </p:txBody>
      </p:sp>
      <p:sp>
        <p:nvSpPr>
          <p:cNvPr id="3" name="Text Placeholder 2"/>
          <p:cNvSpPr>
            <a:spLocks noGrp="1"/>
          </p:cNvSpPr>
          <p:nvPr>
            <p:ph type="body" sz="quarter" idx="12"/>
          </p:nvPr>
        </p:nvSpPr>
        <p:spPr>
          <a:xfrm>
            <a:off x="414163" y="2803922"/>
            <a:ext cx="8327698" cy="406477"/>
          </a:xfrm>
        </p:spPr>
        <p:txBody>
          <a:bodyPr/>
          <a:lstStyle/>
          <a:p>
            <a:r>
              <a:rPr lang="en-US" dirty="0">
                <a:latin typeface="Calibri" panose="020F0502020204030204" pitchFamily="34" charset="0"/>
              </a:rPr>
              <a:t>In Azure</a:t>
            </a:r>
          </a:p>
        </p:txBody>
      </p:sp>
      <p:sp>
        <p:nvSpPr>
          <p:cNvPr id="4" name="Text Placeholder 3"/>
          <p:cNvSpPr>
            <a:spLocks noGrp="1"/>
          </p:cNvSpPr>
          <p:nvPr>
            <p:ph type="body" sz="quarter" idx="13"/>
          </p:nvPr>
        </p:nvSpPr>
        <p:spPr/>
        <p:txBody>
          <a:bodyPr/>
          <a:lstStyle/>
          <a:p>
            <a:r>
              <a:rPr lang="en-US" dirty="0">
                <a:latin typeface="Calibri" panose="020F0502020204030204" pitchFamily="34" charset="0"/>
              </a:rPr>
              <a:t>Microsoft Integration CoE</a:t>
            </a:r>
          </a:p>
        </p:txBody>
      </p:sp>
      <p:sp>
        <p:nvSpPr>
          <p:cNvPr id="5" name="Footer Placeholder 4"/>
          <p:cNvSpPr>
            <a:spLocks noGrp="1"/>
          </p:cNvSpPr>
          <p:nvPr>
            <p:ph type="ftr" sz="quarter" idx="3"/>
          </p:nvPr>
        </p:nvSpPr>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Tree>
    <p:extLst>
      <p:ext uri="{BB962C8B-B14F-4D97-AF65-F5344CB8AC3E}">
        <p14:creationId xmlns:p14="http://schemas.microsoft.com/office/powerpoint/2010/main" val="3190302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2</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pPr marL="0" lvl="1" defTabSz="457049">
              <a:spcBef>
                <a:spcPct val="0"/>
              </a:spcBef>
            </a:pPr>
            <a:r>
              <a:rPr lang="en-US" sz="2400" b="1" dirty="0">
                <a:latin typeface="Calibri" panose="020F0502020204030204" pitchFamily="34" charset="0"/>
                <a:ea typeface="+mj-ea"/>
                <a:cs typeface="Arial" panose="020B0604020202020204" pitchFamily="34" charset="0"/>
              </a:rPr>
              <a:t>Decision process when selecting an Azure integration pattern</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2</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pic>
        <p:nvPicPr>
          <p:cNvPr id="2" name="Picture 1"/>
          <p:cNvPicPr>
            <a:picLocks noChangeAspect="1"/>
          </p:cNvPicPr>
          <p:nvPr/>
        </p:nvPicPr>
        <p:blipFill>
          <a:blip r:embed="rId2"/>
          <a:stretch>
            <a:fillRect/>
          </a:stretch>
        </p:blipFill>
        <p:spPr>
          <a:xfrm>
            <a:off x="197172" y="654935"/>
            <a:ext cx="8769847" cy="4040477"/>
          </a:xfrm>
          <a:prstGeom prst="rect">
            <a:avLst/>
          </a:prstGeom>
        </p:spPr>
      </p:pic>
    </p:spTree>
    <p:extLst>
      <p:ext uri="{BB962C8B-B14F-4D97-AF65-F5344CB8AC3E}">
        <p14:creationId xmlns:p14="http://schemas.microsoft.com/office/powerpoint/2010/main" val="2642150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3</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pPr marL="0" lvl="1" defTabSz="457049">
              <a:spcBef>
                <a:spcPct val="0"/>
              </a:spcBef>
            </a:pPr>
            <a:r>
              <a:rPr lang="en-US" sz="2400" b="1" dirty="0">
                <a:latin typeface="Calibri" panose="020F0502020204030204" pitchFamily="34" charset="0"/>
                <a:ea typeface="+mj-ea"/>
                <a:cs typeface="Arial" panose="020B0604020202020204" pitchFamily="34" charset="0"/>
              </a:rPr>
              <a:t>Simple Service Pattern -# 1</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3</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nvGraphicFramePr>
        <p:xfrm>
          <a:off x="309245" y="670499"/>
          <a:ext cx="8500458" cy="110236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Simple Service 	</a:t>
                      </a:r>
                    </a:p>
                    <a:p>
                      <a:endParaRPr lang="en-US" sz="1400" dirty="0">
                        <a:latin typeface="Calibri" panose="020F0502020204030204" pitchFamily="34" charset="0"/>
                        <a:cs typeface="Calibri" panose="020F0502020204030204" pitchFamily="34" charset="0"/>
                      </a:endParaRP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Simple Service pattern, also known as service creation, is the ability to provide an application component container environment to physically host the implementation code associated with a service</a:t>
                      </a:r>
                      <a:endParaRPr 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nvGraphicFramePr>
        <p:xfrm>
          <a:off x="309245" y="1933944"/>
          <a:ext cx="8500458" cy="131572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Function</a:t>
                      </a:r>
                      <a:r>
                        <a:rPr lang="en-US" sz="1800" b="0" i="0" u="none" strike="noStrike" kern="1200" baseline="0" dirty="0">
                          <a:solidFill>
                            <a:schemeClr val="dk1"/>
                          </a:solidFill>
                          <a:latin typeface="+mn-lt"/>
                          <a:ea typeface="+mn-ea"/>
                          <a:cs typeface="+mn-cs"/>
                        </a:rPr>
                        <a:t>	</a:t>
                      </a:r>
                    </a:p>
                    <a:p>
                      <a:endParaRPr lang="en-US" sz="1400" dirty="0"/>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Functions allows you to run small pieces of code (called "functions") without worrying about application infrastructure. With Azure Functions, the cloud infrastructure provides all the up-to-date servers you need to keep your application running at scale.	</a:t>
                      </a:r>
                    </a:p>
                  </a:txBody>
                  <a:tcPr/>
                </a:tc>
                <a:extLst>
                  <a:ext uri="{0D108BD9-81ED-4DB2-BD59-A6C34878D82A}">
                    <a16:rowId xmlns:a16="http://schemas.microsoft.com/office/drawing/2014/main" val="2054639203"/>
                  </a:ext>
                </a:extLst>
              </a:tr>
            </a:tbl>
          </a:graphicData>
        </a:graphic>
      </p:graphicFrame>
      <p:pic>
        <p:nvPicPr>
          <p:cNvPr id="3" name="Picture 2"/>
          <p:cNvPicPr>
            <a:picLocks noChangeAspect="1"/>
          </p:cNvPicPr>
          <p:nvPr/>
        </p:nvPicPr>
        <p:blipFill>
          <a:blip r:embed="rId2"/>
          <a:stretch>
            <a:fillRect/>
          </a:stretch>
        </p:blipFill>
        <p:spPr>
          <a:xfrm>
            <a:off x="6068573" y="3613620"/>
            <a:ext cx="790575" cy="1038225"/>
          </a:xfrm>
          <a:prstGeom prst="rect">
            <a:avLst/>
          </a:prstGeom>
        </p:spPr>
      </p:pic>
      <p:pic>
        <p:nvPicPr>
          <p:cNvPr id="8" name="Picture 7"/>
          <p:cNvPicPr>
            <a:picLocks noChangeAspect="1"/>
          </p:cNvPicPr>
          <p:nvPr/>
        </p:nvPicPr>
        <p:blipFill>
          <a:blip r:embed="rId3"/>
          <a:stretch>
            <a:fillRect/>
          </a:stretch>
        </p:blipFill>
        <p:spPr>
          <a:xfrm>
            <a:off x="4365440" y="3649144"/>
            <a:ext cx="838200" cy="876300"/>
          </a:xfrm>
          <a:prstGeom prst="rect">
            <a:avLst/>
          </a:prstGeom>
        </p:spPr>
      </p:pic>
      <p:pic>
        <p:nvPicPr>
          <p:cNvPr id="9" name="Picture 8"/>
          <p:cNvPicPr>
            <a:picLocks noChangeAspect="1"/>
          </p:cNvPicPr>
          <p:nvPr/>
        </p:nvPicPr>
        <p:blipFill>
          <a:blip r:embed="rId4"/>
          <a:stretch>
            <a:fillRect/>
          </a:stretch>
        </p:blipFill>
        <p:spPr>
          <a:xfrm>
            <a:off x="2838255" y="3649144"/>
            <a:ext cx="742950" cy="771525"/>
          </a:xfrm>
          <a:prstGeom prst="rect">
            <a:avLst/>
          </a:prstGeom>
        </p:spPr>
      </p:pic>
      <p:pic>
        <p:nvPicPr>
          <p:cNvPr id="10" name="Picture 9"/>
          <p:cNvPicPr>
            <a:picLocks noChangeAspect="1"/>
          </p:cNvPicPr>
          <p:nvPr/>
        </p:nvPicPr>
        <p:blipFill>
          <a:blip r:embed="rId5"/>
          <a:stretch>
            <a:fillRect/>
          </a:stretch>
        </p:blipFill>
        <p:spPr>
          <a:xfrm>
            <a:off x="1018924" y="3689819"/>
            <a:ext cx="904875" cy="733425"/>
          </a:xfrm>
          <a:prstGeom prst="rect">
            <a:avLst/>
          </a:prstGeom>
        </p:spPr>
      </p:pic>
      <p:cxnSp>
        <p:nvCxnSpPr>
          <p:cNvPr id="14" name="Straight Arrow Connector 13"/>
          <p:cNvCxnSpPr/>
          <p:nvPr/>
        </p:nvCxnSpPr>
        <p:spPr>
          <a:xfrm>
            <a:off x="5257801" y="4136571"/>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3606414" y="4136571"/>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2006413" y="4136571"/>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434487" y="4523157"/>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sp>
        <p:nvSpPr>
          <p:cNvPr id="57" name="TextBox 56"/>
          <p:cNvSpPr txBox="1"/>
          <p:nvPr/>
        </p:nvSpPr>
        <p:spPr>
          <a:xfrm>
            <a:off x="1006540" y="4453273"/>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Functions</a:t>
            </a:r>
          </a:p>
        </p:txBody>
      </p:sp>
    </p:spTree>
    <p:extLst>
      <p:ext uri="{BB962C8B-B14F-4D97-AF65-F5344CB8AC3E}">
        <p14:creationId xmlns:p14="http://schemas.microsoft.com/office/powerpoint/2010/main" val="3065885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4</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pPr marL="0" lvl="1" defTabSz="457049">
              <a:spcBef>
                <a:spcPct val="0"/>
              </a:spcBef>
            </a:pPr>
            <a:r>
              <a:rPr lang="en-US" sz="2400" b="1" dirty="0">
                <a:latin typeface="Calibri" panose="020F0502020204030204" pitchFamily="34" charset="0"/>
                <a:ea typeface="+mj-ea"/>
                <a:cs typeface="Arial" panose="020B0604020202020204" pitchFamily="34" charset="0"/>
              </a:rPr>
              <a:t>Composite Service # 2</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4</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1152446584"/>
              </p:ext>
            </p:extLst>
          </p:nvPr>
        </p:nvGraphicFramePr>
        <p:xfrm>
          <a:off x="309245" y="670499"/>
          <a:ext cx="8500458" cy="110236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r>
                        <a:rPr lang="en-US" sz="1400" dirty="0">
                          <a:latin typeface="Calibri" panose="020F0502020204030204" pitchFamily="34" charset="0"/>
                          <a:cs typeface="Calibri" panose="020F0502020204030204" pitchFamily="34" charset="0"/>
                        </a:rPr>
                        <a:t>Composite</a:t>
                      </a:r>
                      <a:r>
                        <a:rPr lang="en-US" sz="1400" baseline="0" dirty="0">
                          <a:latin typeface="Calibri" panose="020F0502020204030204" pitchFamily="34" charset="0"/>
                          <a:cs typeface="Calibri" panose="020F0502020204030204" pitchFamily="34" charset="0"/>
                        </a:rPr>
                        <a:t> Service</a:t>
                      </a:r>
                      <a:endParaRPr lang="en-US" sz="1400" dirty="0">
                        <a:latin typeface="Calibri" panose="020F0502020204030204" pitchFamily="34" charset="0"/>
                        <a:cs typeface="Calibri" panose="020F0502020204030204" pitchFamily="34" charset="0"/>
                      </a:endParaRP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dirty="0">
                          <a:latin typeface="Calibri" panose="020F0502020204030204" pitchFamily="34" charset="0"/>
                          <a:cs typeface="Calibri" panose="020F0502020204030204" pitchFamily="34" charset="0"/>
                        </a:rPr>
                        <a:t>This pattern encompass</a:t>
                      </a:r>
                      <a:r>
                        <a:rPr lang="en-US" sz="1400" baseline="0" dirty="0">
                          <a:latin typeface="Calibri" panose="020F0502020204030204" pitchFamily="34" charset="0"/>
                          <a:cs typeface="Calibri" panose="020F0502020204030204" pitchFamily="34" charset="0"/>
                        </a:rPr>
                        <a:t> either </a:t>
                      </a:r>
                      <a:r>
                        <a:rPr lang="en-US" sz="1400" dirty="0">
                          <a:latin typeface="Calibri" panose="020F0502020204030204" pitchFamily="34" charset="0"/>
                          <a:cs typeface="Calibri" panose="020F0502020204030204" pitchFamily="34" charset="0"/>
                        </a:rPr>
                        <a:t>aggregation of response from multiple services or can involve orchestration among</a:t>
                      </a:r>
                      <a:r>
                        <a:rPr lang="en-US" sz="1400" baseline="0" dirty="0">
                          <a:latin typeface="Calibri" panose="020F0502020204030204" pitchFamily="34" charset="0"/>
                          <a:cs typeface="Calibri" panose="020F0502020204030204" pitchFamily="34" charset="0"/>
                        </a:rPr>
                        <a:t> multiple service where output of once service is the input to the second service.</a:t>
                      </a:r>
                      <a:endParaRPr 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3737533442"/>
              </p:ext>
            </p:extLst>
          </p:nvPr>
        </p:nvGraphicFramePr>
        <p:xfrm>
          <a:off x="309245" y="1933944"/>
          <a:ext cx="8500458" cy="88900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r>
                        <a:rPr lang="en-US" sz="1400" dirty="0"/>
                        <a:t>Azure Logic Apps</a:t>
                      </a: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Logic Apps provides, in addition to 300+ connectors, different control flow actions that provides an effortless way to aggregate and orchestrate.</a:t>
                      </a:r>
                    </a:p>
                  </a:txBody>
                  <a:tcPr/>
                </a:tc>
                <a:extLst>
                  <a:ext uri="{0D108BD9-81ED-4DB2-BD59-A6C34878D82A}">
                    <a16:rowId xmlns:a16="http://schemas.microsoft.com/office/drawing/2014/main" val="2054639203"/>
                  </a:ext>
                </a:extLst>
              </a:tr>
            </a:tbl>
          </a:graphicData>
        </a:graphic>
      </p:graphicFrame>
      <p:pic>
        <p:nvPicPr>
          <p:cNvPr id="8" name="Picture 7"/>
          <p:cNvPicPr>
            <a:picLocks noChangeAspect="1"/>
          </p:cNvPicPr>
          <p:nvPr/>
        </p:nvPicPr>
        <p:blipFill>
          <a:blip r:embed="rId2"/>
          <a:stretch>
            <a:fillRect/>
          </a:stretch>
        </p:blipFill>
        <p:spPr>
          <a:xfrm>
            <a:off x="2306645" y="3337479"/>
            <a:ext cx="942975" cy="704850"/>
          </a:xfrm>
          <a:prstGeom prst="rect">
            <a:avLst/>
          </a:prstGeom>
        </p:spPr>
      </p:pic>
      <p:pic>
        <p:nvPicPr>
          <p:cNvPr id="9" name="Picture 8"/>
          <p:cNvPicPr>
            <a:picLocks noChangeAspect="1"/>
          </p:cNvPicPr>
          <p:nvPr/>
        </p:nvPicPr>
        <p:blipFill>
          <a:blip r:embed="rId3"/>
          <a:stretch>
            <a:fillRect/>
          </a:stretch>
        </p:blipFill>
        <p:spPr>
          <a:xfrm>
            <a:off x="7434090" y="2988180"/>
            <a:ext cx="554666" cy="728418"/>
          </a:xfrm>
          <a:prstGeom prst="rect">
            <a:avLst/>
          </a:prstGeom>
        </p:spPr>
      </p:pic>
      <p:pic>
        <p:nvPicPr>
          <p:cNvPr id="10" name="Picture 9"/>
          <p:cNvPicPr>
            <a:picLocks noChangeAspect="1"/>
          </p:cNvPicPr>
          <p:nvPr/>
        </p:nvPicPr>
        <p:blipFill>
          <a:blip r:embed="rId4"/>
          <a:stretch>
            <a:fillRect/>
          </a:stretch>
        </p:blipFill>
        <p:spPr>
          <a:xfrm>
            <a:off x="5679450" y="2929743"/>
            <a:ext cx="664360" cy="694558"/>
          </a:xfrm>
          <a:prstGeom prst="rect">
            <a:avLst/>
          </a:prstGeom>
        </p:spPr>
      </p:pic>
      <p:pic>
        <p:nvPicPr>
          <p:cNvPr id="11" name="Picture 10"/>
          <p:cNvPicPr>
            <a:picLocks noChangeAspect="1"/>
          </p:cNvPicPr>
          <p:nvPr/>
        </p:nvPicPr>
        <p:blipFill>
          <a:blip r:embed="rId5"/>
          <a:stretch>
            <a:fillRect/>
          </a:stretch>
        </p:blipFill>
        <p:spPr>
          <a:xfrm>
            <a:off x="4065279" y="2960451"/>
            <a:ext cx="742950" cy="771525"/>
          </a:xfrm>
          <a:prstGeom prst="rect">
            <a:avLst/>
          </a:prstGeom>
        </p:spPr>
      </p:pic>
      <p:cxnSp>
        <p:nvCxnSpPr>
          <p:cNvPr id="12" name="Straight Arrow Connector 11"/>
          <p:cNvCxnSpPr/>
          <p:nvPr/>
        </p:nvCxnSpPr>
        <p:spPr>
          <a:xfrm>
            <a:off x="6542315" y="3394547"/>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890928" y="339750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11" idx="1"/>
          </p:cNvCxnSpPr>
          <p:nvPr/>
        </p:nvCxnSpPr>
        <p:spPr>
          <a:xfrm flipV="1">
            <a:off x="3186894" y="3346214"/>
            <a:ext cx="878385" cy="34369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581353" y="3604547"/>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sp>
        <p:nvSpPr>
          <p:cNvPr id="16" name="TextBox 15"/>
          <p:cNvSpPr txBox="1"/>
          <p:nvPr/>
        </p:nvSpPr>
        <p:spPr>
          <a:xfrm>
            <a:off x="2291054" y="4065600"/>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Logic App</a:t>
            </a:r>
          </a:p>
        </p:txBody>
      </p:sp>
      <p:cxnSp>
        <p:nvCxnSpPr>
          <p:cNvPr id="17" name="Straight Arrow Connector 16"/>
          <p:cNvCxnSpPr/>
          <p:nvPr/>
        </p:nvCxnSpPr>
        <p:spPr>
          <a:xfrm>
            <a:off x="1536764" y="3721293"/>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6"/>
          <a:stretch>
            <a:fillRect/>
          </a:stretch>
        </p:blipFill>
        <p:spPr>
          <a:xfrm>
            <a:off x="749791" y="3293396"/>
            <a:ext cx="776491" cy="838200"/>
          </a:xfrm>
          <a:prstGeom prst="rect">
            <a:avLst/>
          </a:prstGeom>
        </p:spPr>
      </p:pic>
      <p:sp>
        <p:nvSpPr>
          <p:cNvPr id="19" name="TextBox 18"/>
          <p:cNvSpPr txBox="1"/>
          <p:nvPr/>
        </p:nvSpPr>
        <p:spPr>
          <a:xfrm>
            <a:off x="754656" y="4100048"/>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API Mgmt</a:t>
            </a:r>
          </a:p>
        </p:txBody>
      </p:sp>
      <p:pic>
        <p:nvPicPr>
          <p:cNvPr id="22" name="Picture 21"/>
          <p:cNvPicPr>
            <a:picLocks noChangeAspect="1"/>
          </p:cNvPicPr>
          <p:nvPr/>
        </p:nvPicPr>
        <p:blipFill>
          <a:blip r:embed="rId4"/>
          <a:stretch>
            <a:fillRect/>
          </a:stretch>
        </p:blipFill>
        <p:spPr>
          <a:xfrm>
            <a:off x="5658148" y="3760941"/>
            <a:ext cx="659461" cy="689437"/>
          </a:xfrm>
          <a:prstGeom prst="rect">
            <a:avLst/>
          </a:prstGeom>
        </p:spPr>
      </p:pic>
      <p:pic>
        <p:nvPicPr>
          <p:cNvPr id="23" name="Picture 22"/>
          <p:cNvPicPr>
            <a:picLocks noChangeAspect="1"/>
          </p:cNvPicPr>
          <p:nvPr/>
        </p:nvPicPr>
        <p:blipFill>
          <a:blip r:embed="rId5"/>
          <a:stretch>
            <a:fillRect/>
          </a:stretch>
        </p:blipFill>
        <p:spPr>
          <a:xfrm>
            <a:off x="4073473" y="3811313"/>
            <a:ext cx="742950" cy="771525"/>
          </a:xfrm>
          <a:prstGeom prst="rect">
            <a:avLst/>
          </a:prstGeom>
        </p:spPr>
      </p:pic>
      <p:cxnSp>
        <p:nvCxnSpPr>
          <p:cNvPr id="24" name="Straight Arrow Connector 23"/>
          <p:cNvCxnSpPr/>
          <p:nvPr/>
        </p:nvCxnSpPr>
        <p:spPr>
          <a:xfrm>
            <a:off x="6550509" y="4245409"/>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899122" y="4248368"/>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727195" y="4524233"/>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pic>
        <p:nvPicPr>
          <p:cNvPr id="28" name="Picture 27"/>
          <p:cNvPicPr>
            <a:picLocks noChangeAspect="1"/>
          </p:cNvPicPr>
          <p:nvPr/>
        </p:nvPicPr>
        <p:blipFill>
          <a:blip r:embed="rId3"/>
          <a:stretch>
            <a:fillRect/>
          </a:stretch>
        </p:blipFill>
        <p:spPr>
          <a:xfrm>
            <a:off x="7434090" y="3881200"/>
            <a:ext cx="554666" cy="728418"/>
          </a:xfrm>
          <a:prstGeom prst="rect">
            <a:avLst/>
          </a:prstGeom>
        </p:spPr>
      </p:pic>
      <p:cxnSp>
        <p:nvCxnSpPr>
          <p:cNvPr id="29" name="Straight Arrow Connector 28"/>
          <p:cNvCxnSpPr>
            <a:endCxn id="23" idx="1"/>
          </p:cNvCxnSpPr>
          <p:nvPr/>
        </p:nvCxnSpPr>
        <p:spPr>
          <a:xfrm>
            <a:off x="3186894" y="3881200"/>
            <a:ext cx="886579" cy="315876"/>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22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5</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pPr marL="0" lvl="1" defTabSz="457049">
              <a:spcBef>
                <a:spcPct val="0"/>
              </a:spcBef>
            </a:pPr>
            <a:r>
              <a:rPr lang="en-US" sz="2400" b="1" dirty="0">
                <a:latin typeface="Calibri" panose="020F0502020204030204" pitchFamily="34" charset="0"/>
                <a:ea typeface="+mj-ea"/>
                <a:cs typeface="Arial" panose="020B0604020202020204" pitchFamily="34" charset="0"/>
              </a:rPr>
              <a:t>Service Proxy # 3</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402481612"/>
              </p:ext>
            </p:extLst>
          </p:nvPr>
        </p:nvGraphicFramePr>
        <p:xfrm>
          <a:off x="309245" y="670499"/>
          <a:ext cx="8500458" cy="131572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Service Proxy	</a:t>
                      </a:r>
                    </a:p>
                    <a:p>
                      <a:endParaRPr lang="en-US" sz="1400" dirty="0">
                        <a:latin typeface="Calibri" panose="020F0502020204030204" pitchFamily="34" charset="0"/>
                        <a:cs typeface="Calibri" panose="020F0502020204030204" pitchFamily="34" charset="0"/>
                      </a:endParaRP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The Service Proxy pattern, also known as service mediation, is a commonly employed integration design principle within Service Oriented Architectures (SOA). In this design, a component acts as a proxy between a service consumer and a service provider	</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1249638751"/>
              </p:ext>
            </p:extLst>
          </p:nvPr>
        </p:nvGraphicFramePr>
        <p:xfrm>
          <a:off x="309245" y="1933944"/>
          <a:ext cx="8500458" cy="12242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Logic App </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	</a:t>
                      </a:r>
                    </a:p>
                    <a:p>
                      <a:endParaRPr lang="en-US" sz="1400" dirty="0"/>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Logic Apps provides more than 300 connectors, each providing a straightforward way to interact with a specific external service links to standard protocols such as SMTP and FTP and other Message Queues.</a:t>
                      </a:r>
                    </a:p>
                  </a:txBody>
                  <a:tcPr/>
                </a:tc>
                <a:extLst>
                  <a:ext uri="{0D108BD9-81ED-4DB2-BD59-A6C34878D82A}">
                    <a16:rowId xmlns:a16="http://schemas.microsoft.com/office/drawing/2014/main" val="2054639203"/>
                  </a:ext>
                </a:extLst>
              </a:tr>
            </a:tbl>
          </a:graphicData>
        </a:graphic>
      </p:graphicFrame>
      <p:pic>
        <p:nvPicPr>
          <p:cNvPr id="71" name="Picture 70"/>
          <p:cNvPicPr>
            <a:picLocks noChangeAspect="1"/>
          </p:cNvPicPr>
          <p:nvPr/>
        </p:nvPicPr>
        <p:blipFill>
          <a:blip r:embed="rId2"/>
          <a:stretch>
            <a:fillRect/>
          </a:stretch>
        </p:blipFill>
        <p:spPr>
          <a:xfrm>
            <a:off x="2306645" y="3740602"/>
            <a:ext cx="942975" cy="704850"/>
          </a:xfrm>
          <a:prstGeom prst="rect">
            <a:avLst/>
          </a:prstGeom>
        </p:spPr>
      </p:pic>
      <p:pic>
        <p:nvPicPr>
          <p:cNvPr id="72" name="Picture 71"/>
          <p:cNvPicPr>
            <a:picLocks noChangeAspect="1"/>
          </p:cNvPicPr>
          <p:nvPr/>
        </p:nvPicPr>
        <p:blipFill>
          <a:blip r:embed="rId3"/>
          <a:stretch>
            <a:fillRect/>
          </a:stretch>
        </p:blipFill>
        <p:spPr>
          <a:xfrm>
            <a:off x="7249915" y="3576873"/>
            <a:ext cx="790575" cy="1038225"/>
          </a:xfrm>
          <a:prstGeom prst="rect">
            <a:avLst/>
          </a:prstGeom>
        </p:spPr>
      </p:pic>
      <p:pic>
        <p:nvPicPr>
          <p:cNvPr id="73" name="Picture 72"/>
          <p:cNvPicPr>
            <a:picLocks noChangeAspect="1"/>
          </p:cNvPicPr>
          <p:nvPr/>
        </p:nvPicPr>
        <p:blipFill>
          <a:blip r:embed="rId4"/>
          <a:stretch>
            <a:fillRect/>
          </a:stretch>
        </p:blipFill>
        <p:spPr>
          <a:xfrm>
            <a:off x="5649954" y="3605600"/>
            <a:ext cx="838200" cy="876300"/>
          </a:xfrm>
          <a:prstGeom prst="rect">
            <a:avLst/>
          </a:prstGeom>
        </p:spPr>
      </p:pic>
      <p:pic>
        <p:nvPicPr>
          <p:cNvPr id="74" name="Picture 73"/>
          <p:cNvPicPr>
            <a:picLocks noChangeAspect="1"/>
          </p:cNvPicPr>
          <p:nvPr/>
        </p:nvPicPr>
        <p:blipFill>
          <a:blip r:embed="rId5"/>
          <a:stretch>
            <a:fillRect/>
          </a:stretch>
        </p:blipFill>
        <p:spPr>
          <a:xfrm>
            <a:off x="4122769" y="3605600"/>
            <a:ext cx="742950" cy="771525"/>
          </a:xfrm>
          <a:prstGeom prst="rect">
            <a:avLst/>
          </a:prstGeom>
        </p:spPr>
      </p:pic>
      <p:cxnSp>
        <p:nvCxnSpPr>
          <p:cNvPr id="75" name="Straight Arrow Connector 74"/>
          <p:cNvCxnSpPr/>
          <p:nvPr/>
        </p:nvCxnSpPr>
        <p:spPr>
          <a:xfrm>
            <a:off x="6542315" y="4093027"/>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4890928" y="4093027"/>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3290927" y="4093027"/>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4719001" y="4479613"/>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sp>
        <p:nvSpPr>
          <p:cNvPr id="79" name="TextBox 78"/>
          <p:cNvSpPr txBox="1"/>
          <p:nvPr/>
        </p:nvSpPr>
        <p:spPr>
          <a:xfrm>
            <a:off x="2291054" y="4409729"/>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Logic App</a:t>
            </a:r>
          </a:p>
        </p:txBody>
      </p:sp>
      <p:cxnSp>
        <p:nvCxnSpPr>
          <p:cNvPr id="80" name="Straight Arrow Connector 79"/>
          <p:cNvCxnSpPr/>
          <p:nvPr/>
        </p:nvCxnSpPr>
        <p:spPr>
          <a:xfrm>
            <a:off x="1536764" y="412441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1" name="Picture 80"/>
          <p:cNvPicPr>
            <a:picLocks noChangeAspect="1"/>
          </p:cNvPicPr>
          <p:nvPr/>
        </p:nvPicPr>
        <p:blipFill>
          <a:blip r:embed="rId6"/>
          <a:stretch>
            <a:fillRect/>
          </a:stretch>
        </p:blipFill>
        <p:spPr>
          <a:xfrm>
            <a:off x="749791" y="3696519"/>
            <a:ext cx="776491" cy="838200"/>
          </a:xfrm>
          <a:prstGeom prst="rect">
            <a:avLst/>
          </a:prstGeom>
        </p:spPr>
      </p:pic>
      <p:sp>
        <p:nvSpPr>
          <p:cNvPr id="82" name="TextBox 81"/>
          <p:cNvSpPr txBox="1"/>
          <p:nvPr/>
        </p:nvSpPr>
        <p:spPr>
          <a:xfrm>
            <a:off x="754656" y="4444177"/>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API Mgmt</a:t>
            </a:r>
          </a:p>
        </p:txBody>
      </p:sp>
    </p:spTree>
    <p:extLst>
      <p:ext uri="{BB962C8B-B14F-4D97-AF65-F5344CB8AC3E}">
        <p14:creationId xmlns:p14="http://schemas.microsoft.com/office/powerpoint/2010/main" val="3292106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6</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pPr marL="0" lvl="1" defTabSz="457049">
              <a:spcBef>
                <a:spcPct val="0"/>
              </a:spcBef>
            </a:pPr>
            <a:r>
              <a:rPr lang="en-US" sz="2400" b="1" dirty="0">
                <a:latin typeface="Calibri" panose="020F0502020204030204" pitchFamily="34" charset="0"/>
                <a:ea typeface="+mj-ea"/>
                <a:cs typeface="Arial" panose="020B0604020202020204" pitchFamily="34" charset="0"/>
              </a:rPr>
              <a:t>Reliable Acquisition # 4</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4248534038"/>
              </p:ext>
            </p:extLst>
          </p:nvPr>
        </p:nvGraphicFramePr>
        <p:xfrm>
          <a:off x="309245" y="670499"/>
          <a:ext cx="8500458" cy="119380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r>
                        <a:rPr lang="en-US" sz="1200" b="0" i="0" u="none" strike="noStrike" kern="1200" baseline="0" dirty="0">
                          <a:solidFill>
                            <a:schemeClr val="dk1"/>
                          </a:solidFill>
                          <a:latin typeface="Calibri" panose="020F0502020204030204" pitchFamily="34" charset="0"/>
                          <a:ea typeface="+mn-ea"/>
                          <a:cs typeface="Calibri" panose="020F0502020204030204" pitchFamily="34" charset="0"/>
                        </a:rPr>
                        <a:t>Reliable Acquisition</a:t>
                      </a:r>
                      <a:r>
                        <a:rPr lang="en-US" sz="1800" b="0" i="0" u="none" strike="noStrike" kern="1200" baseline="0" dirty="0">
                          <a:solidFill>
                            <a:schemeClr val="dk1"/>
                          </a:solidFill>
                          <a:latin typeface="+mn-lt"/>
                          <a:ea typeface="+mn-ea"/>
                          <a:cs typeface="+mn-cs"/>
                        </a:rPr>
                        <a:t>	</a:t>
                      </a:r>
                    </a:p>
                    <a:p>
                      <a:endParaRPr lang="en-US" sz="1400" dirty="0">
                        <a:latin typeface="Calibri" panose="020F0502020204030204" pitchFamily="34" charset="0"/>
                        <a:cs typeface="Calibri" panose="020F0502020204030204" pitchFamily="34" charset="0"/>
                      </a:endParaRPr>
                    </a:p>
                  </a:txBody>
                  <a:tcPr/>
                </a:tc>
                <a:tc>
                  <a:txBody>
                    <a:bodyPr/>
                    <a:lstStyle/>
                    <a:p>
                      <a:r>
                        <a:rPr lang="en-US" sz="1200" b="0" i="0" u="none" strike="noStrike" kern="1200" baseline="0" dirty="0">
                          <a:solidFill>
                            <a:schemeClr val="dk1"/>
                          </a:solidFill>
                          <a:latin typeface="Calibri" panose="020F0502020204030204" pitchFamily="34" charset="0"/>
                          <a:ea typeface="+mn-ea"/>
                          <a:cs typeface="Calibri" panose="020F0502020204030204" pitchFamily="34" charset="0"/>
                        </a:rPr>
                        <a:t>The Reliable Acquisition pattern is typically employed during asynchronous message exchange where the inbound transport is not a transactional, messaging protocol, such as AMQP. It is effectively a messaging bridge between a non-messaging protocol, such as HTTP or FTP, and a persistent messaging system, e.g. Service Bus	</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3639514049"/>
              </p:ext>
            </p:extLst>
          </p:nvPr>
        </p:nvGraphicFramePr>
        <p:xfrm>
          <a:off x="309245" y="1933944"/>
          <a:ext cx="8500458" cy="15290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Logic App </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	</a:t>
                      </a:r>
                    </a:p>
                    <a:p>
                      <a:endParaRPr lang="en-US" sz="1400" dirty="0"/>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Each logic app is a workflow that implements some process. This might be a system-to-system process, such as connecting two or more applications. Alternatively, it might be a user-to-system process, one that connects people with software and potentially has long delays. Logic Apps is designed to support either of these scenarios. 	</a:t>
                      </a:r>
                    </a:p>
                  </a:txBody>
                  <a:tcPr/>
                </a:tc>
                <a:extLst>
                  <a:ext uri="{0D108BD9-81ED-4DB2-BD59-A6C34878D82A}">
                    <a16:rowId xmlns:a16="http://schemas.microsoft.com/office/drawing/2014/main" val="2054639203"/>
                  </a:ext>
                </a:extLst>
              </a:tr>
            </a:tbl>
          </a:graphicData>
        </a:graphic>
      </p:graphicFrame>
      <p:pic>
        <p:nvPicPr>
          <p:cNvPr id="20" name="Picture 19"/>
          <p:cNvPicPr>
            <a:picLocks noChangeAspect="1"/>
          </p:cNvPicPr>
          <p:nvPr/>
        </p:nvPicPr>
        <p:blipFill>
          <a:blip r:embed="rId2"/>
          <a:stretch>
            <a:fillRect/>
          </a:stretch>
        </p:blipFill>
        <p:spPr>
          <a:xfrm>
            <a:off x="2056274" y="3740602"/>
            <a:ext cx="942975" cy="704850"/>
          </a:xfrm>
          <a:prstGeom prst="rect">
            <a:avLst/>
          </a:prstGeom>
        </p:spPr>
      </p:pic>
      <p:pic>
        <p:nvPicPr>
          <p:cNvPr id="21" name="Picture 20"/>
          <p:cNvPicPr>
            <a:picLocks noChangeAspect="1"/>
          </p:cNvPicPr>
          <p:nvPr/>
        </p:nvPicPr>
        <p:blipFill>
          <a:blip r:embed="rId3"/>
          <a:stretch>
            <a:fillRect/>
          </a:stretch>
        </p:blipFill>
        <p:spPr>
          <a:xfrm>
            <a:off x="7903058" y="3576873"/>
            <a:ext cx="790575" cy="1038225"/>
          </a:xfrm>
          <a:prstGeom prst="rect">
            <a:avLst/>
          </a:prstGeom>
        </p:spPr>
      </p:pic>
      <p:pic>
        <p:nvPicPr>
          <p:cNvPr id="22" name="Picture 21"/>
          <p:cNvPicPr>
            <a:picLocks noChangeAspect="1"/>
          </p:cNvPicPr>
          <p:nvPr/>
        </p:nvPicPr>
        <p:blipFill>
          <a:blip r:embed="rId4"/>
          <a:stretch>
            <a:fillRect/>
          </a:stretch>
        </p:blipFill>
        <p:spPr>
          <a:xfrm>
            <a:off x="6303097" y="3605600"/>
            <a:ext cx="838200" cy="876300"/>
          </a:xfrm>
          <a:prstGeom prst="rect">
            <a:avLst/>
          </a:prstGeom>
        </p:spPr>
      </p:pic>
      <p:pic>
        <p:nvPicPr>
          <p:cNvPr id="23" name="Picture 22"/>
          <p:cNvPicPr>
            <a:picLocks noChangeAspect="1"/>
          </p:cNvPicPr>
          <p:nvPr/>
        </p:nvPicPr>
        <p:blipFill>
          <a:blip r:embed="rId5"/>
          <a:stretch>
            <a:fillRect/>
          </a:stretch>
        </p:blipFill>
        <p:spPr>
          <a:xfrm>
            <a:off x="4775912" y="3605600"/>
            <a:ext cx="742950" cy="771525"/>
          </a:xfrm>
          <a:prstGeom prst="rect">
            <a:avLst/>
          </a:prstGeom>
        </p:spPr>
      </p:pic>
      <p:cxnSp>
        <p:nvCxnSpPr>
          <p:cNvPr id="24" name="Straight Arrow Connector 23"/>
          <p:cNvCxnSpPr/>
          <p:nvPr/>
        </p:nvCxnSpPr>
        <p:spPr>
          <a:xfrm>
            <a:off x="7195458" y="4093027"/>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544071" y="4093027"/>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3040556" y="4093027"/>
            <a:ext cx="510398" cy="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372144" y="4479613"/>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sp>
        <p:nvSpPr>
          <p:cNvPr id="29" name="TextBox 28"/>
          <p:cNvSpPr txBox="1"/>
          <p:nvPr/>
        </p:nvSpPr>
        <p:spPr>
          <a:xfrm>
            <a:off x="2040683" y="4409729"/>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Logic App</a:t>
            </a:r>
          </a:p>
        </p:txBody>
      </p:sp>
      <p:cxnSp>
        <p:nvCxnSpPr>
          <p:cNvPr id="30" name="Straight Arrow Connector 29"/>
          <p:cNvCxnSpPr/>
          <p:nvPr/>
        </p:nvCxnSpPr>
        <p:spPr>
          <a:xfrm>
            <a:off x="1286393" y="4124417"/>
            <a:ext cx="541674" cy="11793"/>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6"/>
          <a:stretch>
            <a:fillRect/>
          </a:stretch>
        </p:blipFill>
        <p:spPr>
          <a:xfrm>
            <a:off x="499420" y="3696519"/>
            <a:ext cx="776491" cy="838200"/>
          </a:xfrm>
          <a:prstGeom prst="rect">
            <a:avLst/>
          </a:prstGeom>
        </p:spPr>
      </p:pic>
      <p:sp>
        <p:nvSpPr>
          <p:cNvPr id="32" name="TextBox 31"/>
          <p:cNvSpPr txBox="1"/>
          <p:nvPr/>
        </p:nvSpPr>
        <p:spPr>
          <a:xfrm>
            <a:off x="504285" y="4444177"/>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API Mgmt</a:t>
            </a:r>
          </a:p>
        </p:txBody>
      </p:sp>
      <p:pic>
        <p:nvPicPr>
          <p:cNvPr id="33" name="Picture 32"/>
          <p:cNvPicPr>
            <a:picLocks noChangeAspect="1"/>
          </p:cNvPicPr>
          <p:nvPr/>
        </p:nvPicPr>
        <p:blipFill>
          <a:blip r:embed="rId7"/>
          <a:stretch>
            <a:fillRect/>
          </a:stretch>
        </p:blipFill>
        <p:spPr>
          <a:xfrm>
            <a:off x="3532995" y="3686882"/>
            <a:ext cx="745452" cy="800100"/>
          </a:xfrm>
          <a:prstGeom prst="rect">
            <a:avLst/>
          </a:prstGeom>
        </p:spPr>
      </p:pic>
      <p:cxnSp>
        <p:nvCxnSpPr>
          <p:cNvPr id="34" name="Straight Arrow Connector 33"/>
          <p:cNvCxnSpPr/>
          <p:nvPr/>
        </p:nvCxnSpPr>
        <p:spPr>
          <a:xfrm>
            <a:off x="4265514" y="4094191"/>
            <a:ext cx="510398" cy="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613700" y="4486982"/>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Service Bus</a:t>
            </a:r>
          </a:p>
        </p:txBody>
      </p:sp>
    </p:spTree>
    <p:extLst>
      <p:ext uri="{BB962C8B-B14F-4D97-AF65-F5344CB8AC3E}">
        <p14:creationId xmlns:p14="http://schemas.microsoft.com/office/powerpoint/2010/main" val="1325267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7</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r>
              <a:rPr lang="en-US" sz="2400" b="1" dirty="0">
                <a:solidFill>
                  <a:schemeClr val="tx1"/>
                </a:solidFill>
                <a:cs typeface="Arial" panose="020B0604020202020204" pitchFamily="34" charset="0"/>
              </a:rPr>
              <a:t>Timed Event # 5</a:t>
            </a:r>
            <a:r>
              <a:rPr lang="en-US" dirty="0"/>
              <a:t>	</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7</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911793691"/>
              </p:ext>
            </p:extLst>
          </p:nvPr>
        </p:nvGraphicFramePr>
        <p:xfrm>
          <a:off x="309245" y="670499"/>
          <a:ext cx="8500458" cy="10718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Timed Event	</a:t>
                      </a:r>
                    </a:p>
                    <a:p>
                      <a:endParaRPr lang="en-US" sz="1400" dirty="0">
                        <a:latin typeface="Calibri" panose="020F0502020204030204" pitchFamily="34" charset="0"/>
                        <a:cs typeface="Calibri" panose="020F0502020204030204" pitchFamily="34" charset="0"/>
                      </a:endParaRP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The Timed Event pattern is an asynchronous, one-way message flow that is triggered by a scheduled event. 	</a:t>
                      </a:r>
                    </a:p>
                    <a:p>
                      <a:r>
                        <a:rPr lang="en-US" sz="1200" b="0" i="0" u="none" strike="noStrike" kern="1200" baseline="0" dirty="0">
                          <a:solidFill>
                            <a:schemeClr val="dk1"/>
                          </a:solidFill>
                          <a:latin typeface="Calibri" panose="020F0502020204030204" pitchFamily="34" charset="0"/>
                          <a:ea typeface="+mn-ea"/>
                          <a:cs typeface="Calibri" panose="020F0502020204030204" pitchFamily="34" charset="0"/>
                        </a:rPr>
                        <a:t>	</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4092990352"/>
              </p:ext>
            </p:extLst>
          </p:nvPr>
        </p:nvGraphicFramePr>
        <p:xfrm>
          <a:off x="309245" y="1933944"/>
          <a:ext cx="8500458" cy="15290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r>
                        <a:rPr lang="en-US" sz="1100" b="0" i="0" u="none" strike="noStrike" baseline="0">
                          <a:solidFill>
                            <a:srgbClr val="000000"/>
                          </a:solidFill>
                          <a:latin typeface="Calibri" panose="020F0502020204030204" pitchFamily="34" charset="0"/>
                        </a:rPr>
                        <a:t>Azure Logic App -Scheduling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Logic App -Scheduling	</a:t>
                      </a: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Logic Apps helps you create and run automated recurring tasks and processes on a schedule. By creating a logic app workflow that starts with a built-in Recurrence trigger or Sliding Window trigger, which are Schedule-type triggers, you can run tasks immediately, at a later time, or on a recurring interval. 	</a:t>
                      </a:r>
                    </a:p>
                  </a:txBody>
                  <a:tcPr/>
                </a:tc>
                <a:extLst>
                  <a:ext uri="{0D108BD9-81ED-4DB2-BD59-A6C34878D82A}">
                    <a16:rowId xmlns:a16="http://schemas.microsoft.com/office/drawing/2014/main" val="2054639203"/>
                  </a:ext>
                </a:extLst>
              </a:tr>
            </a:tbl>
          </a:graphicData>
        </a:graphic>
      </p:graphicFrame>
      <p:pic>
        <p:nvPicPr>
          <p:cNvPr id="20" name="Picture 19"/>
          <p:cNvPicPr>
            <a:picLocks noChangeAspect="1"/>
          </p:cNvPicPr>
          <p:nvPr/>
        </p:nvPicPr>
        <p:blipFill>
          <a:blip r:embed="rId2"/>
          <a:stretch>
            <a:fillRect/>
          </a:stretch>
        </p:blipFill>
        <p:spPr>
          <a:xfrm>
            <a:off x="1973655" y="3689710"/>
            <a:ext cx="942975" cy="704850"/>
          </a:xfrm>
          <a:prstGeom prst="rect">
            <a:avLst/>
          </a:prstGeom>
        </p:spPr>
      </p:pic>
      <p:pic>
        <p:nvPicPr>
          <p:cNvPr id="21" name="Picture 20"/>
          <p:cNvPicPr>
            <a:picLocks noChangeAspect="1"/>
          </p:cNvPicPr>
          <p:nvPr/>
        </p:nvPicPr>
        <p:blipFill>
          <a:blip r:embed="rId3"/>
          <a:stretch>
            <a:fillRect/>
          </a:stretch>
        </p:blipFill>
        <p:spPr>
          <a:xfrm>
            <a:off x="6542344" y="3555622"/>
            <a:ext cx="790575" cy="1038225"/>
          </a:xfrm>
          <a:prstGeom prst="rect">
            <a:avLst/>
          </a:prstGeom>
        </p:spPr>
      </p:pic>
      <p:pic>
        <p:nvPicPr>
          <p:cNvPr id="22" name="Picture 21"/>
          <p:cNvPicPr>
            <a:picLocks noChangeAspect="1"/>
          </p:cNvPicPr>
          <p:nvPr/>
        </p:nvPicPr>
        <p:blipFill>
          <a:blip r:embed="rId4"/>
          <a:stretch>
            <a:fillRect/>
          </a:stretch>
        </p:blipFill>
        <p:spPr>
          <a:xfrm>
            <a:off x="4942383" y="3584349"/>
            <a:ext cx="838200" cy="876300"/>
          </a:xfrm>
          <a:prstGeom prst="rect">
            <a:avLst/>
          </a:prstGeom>
        </p:spPr>
      </p:pic>
      <p:pic>
        <p:nvPicPr>
          <p:cNvPr id="23" name="Picture 22"/>
          <p:cNvPicPr>
            <a:picLocks noChangeAspect="1"/>
          </p:cNvPicPr>
          <p:nvPr/>
        </p:nvPicPr>
        <p:blipFill>
          <a:blip r:embed="rId5"/>
          <a:stretch>
            <a:fillRect/>
          </a:stretch>
        </p:blipFill>
        <p:spPr>
          <a:xfrm>
            <a:off x="3415198" y="3584349"/>
            <a:ext cx="742950" cy="771525"/>
          </a:xfrm>
          <a:prstGeom prst="rect">
            <a:avLst/>
          </a:prstGeom>
        </p:spPr>
      </p:pic>
      <p:cxnSp>
        <p:nvCxnSpPr>
          <p:cNvPr id="24" name="Straight Arrow Connector 23"/>
          <p:cNvCxnSpPr/>
          <p:nvPr/>
        </p:nvCxnSpPr>
        <p:spPr>
          <a:xfrm>
            <a:off x="5834744" y="407177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183357" y="407177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011430" y="4458362"/>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cxnSp>
        <p:nvCxnSpPr>
          <p:cNvPr id="34" name="Straight Arrow Connector 33"/>
          <p:cNvCxnSpPr/>
          <p:nvPr/>
        </p:nvCxnSpPr>
        <p:spPr>
          <a:xfrm>
            <a:off x="2904800" y="4072940"/>
            <a:ext cx="510398" cy="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041371" y="4482276"/>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Logic App</a:t>
            </a:r>
          </a:p>
        </p:txBody>
      </p:sp>
    </p:spTree>
    <p:extLst>
      <p:ext uri="{BB962C8B-B14F-4D97-AF65-F5344CB8AC3E}">
        <p14:creationId xmlns:p14="http://schemas.microsoft.com/office/powerpoint/2010/main" val="2216118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8</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r>
              <a:rPr lang="en-US" sz="2400" b="1" dirty="0">
                <a:solidFill>
                  <a:schemeClr val="tx1"/>
                </a:solidFill>
                <a:cs typeface="Arial" panose="020B0604020202020204" pitchFamily="34" charset="0"/>
              </a:rPr>
              <a:t>Timed Data Sync # 6</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8</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1501794095"/>
              </p:ext>
            </p:extLst>
          </p:nvPr>
        </p:nvGraphicFramePr>
        <p:xfrm>
          <a:off x="309245" y="670499"/>
          <a:ext cx="8500458" cy="134620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Timed Data Sync	</a:t>
                      </a:r>
                    </a:p>
                    <a:p>
                      <a:endParaRPr lang="en-US" sz="1400" dirty="0">
                        <a:latin typeface="Calibri" panose="020F0502020204030204" pitchFamily="34" charset="0"/>
                        <a:cs typeface="Calibri" panose="020F0502020204030204" pitchFamily="34" charset="0"/>
                      </a:endParaRP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The timed-event-flow is responsible for receiving messages via an HTTP Outbound Endpoint triggered via a Poll Scope and dispatching the message payload unaltered to a persistent Messaging Queue. </a:t>
                      </a:r>
                      <a:r>
                        <a:rPr lang="en-US" sz="1800" b="0" i="0" u="none" strike="noStrike" kern="1200" baseline="0" dirty="0">
                          <a:solidFill>
                            <a:schemeClr val="dk1"/>
                          </a:solidFill>
                          <a:latin typeface="+mn-lt"/>
                          <a:ea typeface="+mn-ea"/>
                          <a:cs typeface="+mn-cs"/>
                        </a:rPr>
                        <a:t>	</a:t>
                      </a:r>
                    </a:p>
                    <a:p>
                      <a:endParaRPr lang="en-US" sz="1200" b="0" i="0" u="none" strike="noStrike" kern="1200" baseline="0" dirty="0">
                        <a:solidFill>
                          <a:schemeClr val="dk1"/>
                        </a:solidFill>
                        <a:latin typeface="Calibri" panose="020F0502020204030204" pitchFamily="34" charset="0"/>
                        <a:ea typeface="+mn-ea"/>
                        <a:cs typeface="Calibri" panose="020F0502020204030204" pitchFamily="34" charset="0"/>
                      </a:endParaRP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231215942"/>
              </p:ext>
            </p:extLst>
          </p:nvPr>
        </p:nvGraphicFramePr>
        <p:xfrm>
          <a:off x="309245" y="1933944"/>
          <a:ext cx="8500458" cy="15290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r>
                        <a:rPr lang="en-US" sz="1100" b="0" i="0" u="none" strike="noStrike" baseline="0">
                          <a:solidFill>
                            <a:srgbClr val="000000"/>
                          </a:solidFill>
                          <a:latin typeface="Calibri" panose="020F0502020204030204" pitchFamily="34" charset="0"/>
                        </a:rPr>
                        <a:t>Azure Logic App -Scheduling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Logic App -Scheduling	</a:t>
                      </a: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Logic Apps helps you create and run automated recurring tasks and processes on a schedule. By creating a logic app workflow that starts with a built-in Recurrence trigger or Sliding Window trigger, which are Schedule-type triggers, you can run tasks immediately, at a later time, or on a recurring interval. 	</a:t>
                      </a:r>
                    </a:p>
                  </a:txBody>
                  <a:tcPr/>
                </a:tc>
                <a:extLst>
                  <a:ext uri="{0D108BD9-81ED-4DB2-BD59-A6C34878D82A}">
                    <a16:rowId xmlns:a16="http://schemas.microsoft.com/office/drawing/2014/main" val="2054639203"/>
                  </a:ext>
                </a:extLst>
              </a:tr>
            </a:tbl>
          </a:graphicData>
        </a:graphic>
      </p:graphicFrame>
      <p:pic>
        <p:nvPicPr>
          <p:cNvPr id="20" name="Picture 19"/>
          <p:cNvPicPr>
            <a:picLocks noChangeAspect="1"/>
          </p:cNvPicPr>
          <p:nvPr/>
        </p:nvPicPr>
        <p:blipFill>
          <a:blip r:embed="rId2"/>
          <a:stretch>
            <a:fillRect/>
          </a:stretch>
        </p:blipFill>
        <p:spPr>
          <a:xfrm>
            <a:off x="755214" y="3711297"/>
            <a:ext cx="942975" cy="704850"/>
          </a:xfrm>
          <a:prstGeom prst="rect">
            <a:avLst/>
          </a:prstGeom>
        </p:spPr>
      </p:pic>
      <p:pic>
        <p:nvPicPr>
          <p:cNvPr id="21" name="Picture 20"/>
          <p:cNvPicPr>
            <a:picLocks noChangeAspect="1"/>
          </p:cNvPicPr>
          <p:nvPr/>
        </p:nvPicPr>
        <p:blipFill>
          <a:blip r:embed="rId3"/>
          <a:stretch>
            <a:fillRect/>
          </a:stretch>
        </p:blipFill>
        <p:spPr>
          <a:xfrm>
            <a:off x="6683858" y="3555622"/>
            <a:ext cx="790575" cy="1038225"/>
          </a:xfrm>
          <a:prstGeom prst="rect">
            <a:avLst/>
          </a:prstGeom>
        </p:spPr>
      </p:pic>
      <p:pic>
        <p:nvPicPr>
          <p:cNvPr id="22" name="Picture 21"/>
          <p:cNvPicPr>
            <a:picLocks noChangeAspect="1"/>
          </p:cNvPicPr>
          <p:nvPr/>
        </p:nvPicPr>
        <p:blipFill>
          <a:blip r:embed="rId4"/>
          <a:stretch>
            <a:fillRect/>
          </a:stretch>
        </p:blipFill>
        <p:spPr>
          <a:xfrm>
            <a:off x="4942383" y="3584349"/>
            <a:ext cx="838200" cy="876300"/>
          </a:xfrm>
          <a:prstGeom prst="rect">
            <a:avLst/>
          </a:prstGeom>
        </p:spPr>
      </p:pic>
      <p:pic>
        <p:nvPicPr>
          <p:cNvPr id="23" name="Picture 22"/>
          <p:cNvPicPr>
            <a:picLocks noChangeAspect="1"/>
          </p:cNvPicPr>
          <p:nvPr/>
        </p:nvPicPr>
        <p:blipFill>
          <a:blip r:embed="rId5"/>
          <a:stretch>
            <a:fillRect/>
          </a:stretch>
        </p:blipFill>
        <p:spPr>
          <a:xfrm>
            <a:off x="3415198" y="3584349"/>
            <a:ext cx="742950" cy="771525"/>
          </a:xfrm>
          <a:prstGeom prst="rect">
            <a:avLst/>
          </a:prstGeom>
        </p:spPr>
      </p:pic>
      <p:cxnSp>
        <p:nvCxnSpPr>
          <p:cNvPr id="24" name="Straight Arrow Connector 23"/>
          <p:cNvCxnSpPr/>
          <p:nvPr/>
        </p:nvCxnSpPr>
        <p:spPr>
          <a:xfrm>
            <a:off x="5976258" y="407177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161584" y="407177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152944" y="4458362"/>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cxnSp>
        <p:nvCxnSpPr>
          <p:cNvPr id="34" name="Straight Arrow Connector 33"/>
          <p:cNvCxnSpPr/>
          <p:nvPr/>
        </p:nvCxnSpPr>
        <p:spPr>
          <a:xfrm>
            <a:off x="2861256" y="4072940"/>
            <a:ext cx="510398" cy="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280857" y="4482276"/>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Service Bus</a:t>
            </a:r>
          </a:p>
        </p:txBody>
      </p:sp>
      <p:pic>
        <p:nvPicPr>
          <p:cNvPr id="17" name="Picture 16"/>
          <p:cNvPicPr>
            <a:picLocks noChangeAspect="1"/>
          </p:cNvPicPr>
          <p:nvPr/>
        </p:nvPicPr>
        <p:blipFill>
          <a:blip r:embed="rId6"/>
          <a:stretch>
            <a:fillRect/>
          </a:stretch>
        </p:blipFill>
        <p:spPr>
          <a:xfrm>
            <a:off x="2128900" y="3637819"/>
            <a:ext cx="745452" cy="800100"/>
          </a:xfrm>
          <a:prstGeom prst="rect">
            <a:avLst/>
          </a:prstGeom>
        </p:spPr>
      </p:pic>
      <p:cxnSp>
        <p:nvCxnSpPr>
          <p:cNvPr id="18" name="Straight Arrow Connector 17"/>
          <p:cNvCxnSpPr/>
          <p:nvPr/>
        </p:nvCxnSpPr>
        <p:spPr>
          <a:xfrm>
            <a:off x="1698189" y="4085494"/>
            <a:ext cx="510398" cy="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12762" y="4460796"/>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Logic App</a:t>
            </a:r>
          </a:p>
        </p:txBody>
      </p:sp>
    </p:spTree>
    <p:extLst>
      <p:ext uri="{BB962C8B-B14F-4D97-AF65-F5344CB8AC3E}">
        <p14:creationId xmlns:p14="http://schemas.microsoft.com/office/powerpoint/2010/main" val="555619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a:latin typeface="Calibri" panose="020F0502020204030204" pitchFamily="34" charset="0"/>
              </a:rPr>
              <a:t>© 2020 Cognizant</a:t>
            </a:r>
            <a:endParaRPr lang="en-US" dirty="0">
              <a:latin typeface="Calibri" panose="020F0502020204030204" pitchFamily="34" charset="0"/>
            </a:endParaRP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9</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r>
              <a:rPr lang="en-US" sz="2400" b="1" dirty="0">
                <a:solidFill>
                  <a:schemeClr val="tx1"/>
                </a:solidFill>
                <a:cs typeface="Arial" panose="020B0604020202020204" pitchFamily="34" charset="0"/>
              </a:rPr>
              <a:t>Queuing Proxy # 7</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1428969937"/>
              </p:ext>
            </p:extLst>
          </p:nvPr>
        </p:nvGraphicFramePr>
        <p:xfrm>
          <a:off x="309245" y="670499"/>
          <a:ext cx="8500458" cy="13766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Queuing Proxy	</a:t>
                      </a:r>
                    </a:p>
                    <a:p>
                      <a:endParaRPr lang="en-US" sz="1400" dirty="0">
                        <a:latin typeface="Calibri" panose="020F0502020204030204" pitchFamily="34" charset="0"/>
                        <a:cs typeface="Calibri" panose="020F0502020204030204" pitchFamily="34" charset="0"/>
                      </a:endParaRP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An example of a Reliability Pattern that is a set of design principles that, when coupled with a HA messaging solution, can provide a high-level of protection against message loss in the event of a component or systems failure</a:t>
                      </a:r>
                      <a:r>
                        <a:rPr lang="en-US" sz="1800" b="0" i="0" u="none" strike="noStrike" kern="1200" baseline="0" dirty="0">
                          <a:solidFill>
                            <a:schemeClr val="dk1"/>
                          </a:solidFill>
                          <a:latin typeface="+mn-lt"/>
                          <a:ea typeface="+mn-ea"/>
                          <a:cs typeface="+mn-cs"/>
                        </a:rPr>
                        <a:t>	</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3122136658"/>
              </p:ext>
            </p:extLst>
          </p:nvPr>
        </p:nvGraphicFramePr>
        <p:xfrm>
          <a:off x="296855" y="2041035"/>
          <a:ext cx="8500458" cy="110236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r>
                        <a:rPr lang="en-US" sz="1100" b="0" i="0" u="none" strike="noStrike" baseline="0">
                          <a:solidFill>
                            <a:srgbClr val="000000"/>
                          </a:solidFill>
                          <a:latin typeface="Calibri" panose="020F0502020204030204" pitchFamily="34" charset="0"/>
                        </a:rPr>
                        <a:t>Azure Logic App -Scheduling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 combination of Azure Logic Apps and Azure Service Bus</a:t>
                      </a:r>
                      <a:r>
                        <a:rPr lang="en-US" sz="1800" b="0" i="0" u="none" strike="noStrike" kern="1200" baseline="0" dirty="0">
                          <a:solidFill>
                            <a:schemeClr val="dk1"/>
                          </a:solidFill>
                          <a:latin typeface="+mn-lt"/>
                          <a:ea typeface="+mn-ea"/>
                          <a:cs typeface="+mn-cs"/>
                        </a:rPr>
                        <a:t>	</a:t>
                      </a: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 logic app consists of a series of actions, each of which is a logical step in the process this workflow implements. This combined with Azure Service Bus enables Queuing Proxy	</a:t>
                      </a:r>
                    </a:p>
                  </a:txBody>
                  <a:tcPr/>
                </a:tc>
                <a:extLst>
                  <a:ext uri="{0D108BD9-81ED-4DB2-BD59-A6C34878D82A}">
                    <a16:rowId xmlns:a16="http://schemas.microsoft.com/office/drawing/2014/main" val="2054639203"/>
                  </a:ext>
                </a:extLst>
              </a:tr>
            </a:tbl>
          </a:graphicData>
        </a:graphic>
      </p:graphicFrame>
      <p:pic>
        <p:nvPicPr>
          <p:cNvPr id="20" name="Picture 19"/>
          <p:cNvPicPr>
            <a:picLocks noChangeAspect="1"/>
          </p:cNvPicPr>
          <p:nvPr/>
        </p:nvPicPr>
        <p:blipFill>
          <a:blip r:embed="rId2"/>
          <a:stretch>
            <a:fillRect/>
          </a:stretch>
        </p:blipFill>
        <p:spPr>
          <a:xfrm>
            <a:off x="755214" y="3711297"/>
            <a:ext cx="942975" cy="704850"/>
          </a:xfrm>
          <a:prstGeom prst="rect">
            <a:avLst/>
          </a:prstGeom>
        </p:spPr>
      </p:pic>
      <p:pic>
        <p:nvPicPr>
          <p:cNvPr id="21" name="Picture 20"/>
          <p:cNvPicPr>
            <a:picLocks noChangeAspect="1"/>
          </p:cNvPicPr>
          <p:nvPr/>
        </p:nvPicPr>
        <p:blipFill>
          <a:blip r:embed="rId3"/>
          <a:stretch>
            <a:fillRect/>
          </a:stretch>
        </p:blipFill>
        <p:spPr>
          <a:xfrm>
            <a:off x="6683858" y="3555622"/>
            <a:ext cx="790575" cy="1038225"/>
          </a:xfrm>
          <a:prstGeom prst="rect">
            <a:avLst/>
          </a:prstGeom>
        </p:spPr>
      </p:pic>
      <p:pic>
        <p:nvPicPr>
          <p:cNvPr id="22" name="Picture 21"/>
          <p:cNvPicPr>
            <a:picLocks noChangeAspect="1"/>
          </p:cNvPicPr>
          <p:nvPr/>
        </p:nvPicPr>
        <p:blipFill>
          <a:blip r:embed="rId4"/>
          <a:stretch>
            <a:fillRect/>
          </a:stretch>
        </p:blipFill>
        <p:spPr>
          <a:xfrm>
            <a:off x="4942383" y="3584349"/>
            <a:ext cx="838200" cy="876300"/>
          </a:xfrm>
          <a:prstGeom prst="rect">
            <a:avLst/>
          </a:prstGeom>
        </p:spPr>
      </p:pic>
      <p:pic>
        <p:nvPicPr>
          <p:cNvPr id="23" name="Picture 22"/>
          <p:cNvPicPr>
            <a:picLocks noChangeAspect="1"/>
          </p:cNvPicPr>
          <p:nvPr/>
        </p:nvPicPr>
        <p:blipFill>
          <a:blip r:embed="rId5"/>
          <a:stretch>
            <a:fillRect/>
          </a:stretch>
        </p:blipFill>
        <p:spPr>
          <a:xfrm>
            <a:off x="3415198" y="3584349"/>
            <a:ext cx="742950" cy="771525"/>
          </a:xfrm>
          <a:prstGeom prst="rect">
            <a:avLst/>
          </a:prstGeom>
        </p:spPr>
      </p:pic>
      <p:cxnSp>
        <p:nvCxnSpPr>
          <p:cNvPr id="24" name="Straight Arrow Connector 23"/>
          <p:cNvCxnSpPr/>
          <p:nvPr/>
        </p:nvCxnSpPr>
        <p:spPr>
          <a:xfrm>
            <a:off x="5976258" y="407177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161584" y="407177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152944" y="4458362"/>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cxnSp>
        <p:nvCxnSpPr>
          <p:cNvPr id="34" name="Straight Arrow Connector 33"/>
          <p:cNvCxnSpPr/>
          <p:nvPr/>
        </p:nvCxnSpPr>
        <p:spPr>
          <a:xfrm>
            <a:off x="2861256" y="4072940"/>
            <a:ext cx="510398" cy="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280857" y="4482276"/>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Service Bus</a:t>
            </a:r>
          </a:p>
        </p:txBody>
      </p:sp>
      <p:pic>
        <p:nvPicPr>
          <p:cNvPr id="17" name="Picture 16"/>
          <p:cNvPicPr>
            <a:picLocks noChangeAspect="1"/>
          </p:cNvPicPr>
          <p:nvPr/>
        </p:nvPicPr>
        <p:blipFill>
          <a:blip r:embed="rId6"/>
          <a:stretch>
            <a:fillRect/>
          </a:stretch>
        </p:blipFill>
        <p:spPr>
          <a:xfrm>
            <a:off x="2128900" y="3637819"/>
            <a:ext cx="745452" cy="800100"/>
          </a:xfrm>
          <a:prstGeom prst="rect">
            <a:avLst/>
          </a:prstGeom>
        </p:spPr>
      </p:pic>
      <p:cxnSp>
        <p:nvCxnSpPr>
          <p:cNvPr id="18" name="Straight Arrow Connector 17"/>
          <p:cNvCxnSpPr/>
          <p:nvPr/>
        </p:nvCxnSpPr>
        <p:spPr>
          <a:xfrm>
            <a:off x="1698189" y="4085494"/>
            <a:ext cx="510398" cy="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12762" y="4460796"/>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Logic App</a:t>
            </a:r>
          </a:p>
        </p:txBody>
      </p:sp>
    </p:spTree>
    <p:extLst>
      <p:ext uri="{BB962C8B-B14F-4D97-AF65-F5344CB8AC3E}">
        <p14:creationId xmlns:p14="http://schemas.microsoft.com/office/powerpoint/2010/main" val="1826260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dirty="0">
                <a:latin typeface="Calibri" panose="020F0502020204030204" pitchFamily="34" charset="0"/>
              </a:rPr>
              <a:t>© 2020 Cognizant</a:t>
            </a: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10</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r>
              <a:rPr lang="en-US" sz="2400" b="1" dirty="0">
                <a:solidFill>
                  <a:schemeClr val="tx1"/>
                </a:solidFill>
                <a:cs typeface="Arial" panose="020B0604020202020204" pitchFamily="34" charset="0"/>
              </a:rPr>
              <a:t>Extract Transform and Load # 8</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10</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734352129"/>
              </p:ext>
            </p:extLst>
          </p:nvPr>
        </p:nvGraphicFramePr>
        <p:xfrm>
          <a:off x="309245" y="670499"/>
          <a:ext cx="8500458" cy="116332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Extract Transform Load</a:t>
                      </a:r>
                      <a:r>
                        <a:rPr lang="en-US" sz="1800" b="0" i="0" u="none" strike="noStrike" kern="1200" baseline="0" dirty="0">
                          <a:solidFill>
                            <a:schemeClr val="dk1"/>
                          </a:solidFill>
                          <a:latin typeface="+mn-lt"/>
                          <a:ea typeface="+mn-ea"/>
                          <a:cs typeface="+mn-cs"/>
                        </a:rPr>
                        <a:t>	</a:t>
                      </a:r>
                    </a:p>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a:t>
                      </a:r>
                    </a:p>
                    <a:p>
                      <a:endParaRPr lang="en-US" sz="1400" dirty="0">
                        <a:latin typeface="Calibri" panose="020F0502020204030204" pitchFamily="34" charset="0"/>
                        <a:cs typeface="Calibri" panose="020F0502020204030204" pitchFamily="34" charset="0"/>
                      </a:endParaRP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The Extract Transform and Load pattern is implemented using an asynchronous, one-way communication pattern to retrieve data, transform into a different format and then pass on to the consumer.</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378926720"/>
              </p:ext>
            </p:extLst>
          </p:nvPr>
        </p:nvGraphicFramePr>
        <p:xfrm>
          <a:off x="309245" y="1855021"/>
          <a:ext cx="8500458" cy="15290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r>
                        <a:rPr lang="en-US" sz="1100" b="0" i="0" u="none" strike="noStrike" baseline="0">
                          <a:solidFill>
                            <a:srgbClr val="000000"/>
                          </a:solidFill>
                          <a:latin typeface="Calibri" panose="020F0502020204030204" pitchFamily="34" charset="0"/>
                        </a:rPr>
                        <a:t>Azure Logic App -Scheduling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Data Factory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Data Factory is Azure's cloud ETL service for scale-out </a:t>
                      </a:r>
                      <a:r>
                        <a:rPr lang="en-US" sz="1400" b="0" i="0" u="none" strike="noStrike" kern="1200" baseline="0" dirty="0" err="1">
                          <a:solidFill>
                            <a:schemeClr val="dk1"/>
                          </a:solidFill>
                          <a:latin typeface="Calibri" panose="020F0502020204030204" pitchFamily="34" charset="0"/>
                          <a:ea typeface="+mn-ea"/>
                          <a:cs typeface="Calibri" panose="020F0502020204030204" pitchFamily="34" charset="0"/>
                        </a:rPr>
                        <a:t>serverless</a:t>
                      </a: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data integration and data transformation. It offers a code-free UI for intuitive authoring and single-pane-of-glass monitoring and management. You can also lift and shift existing SSIS packages to Azure and run them with full compatibility in ADF.		</a:t>
                      </a:r>
                    </a:p>
                  </a:txBody>
                  <a:tcPr/>
                </a:tc>
                <a:extLst>
                  <a:ext uri="{0D108BD9-81ED-4DB2-BD59-A6C34878D82A}">
                    <a16:rowId xmlns:a16="http://schemas.microsoft.com/office/drawing/2014/main" val="2054639203"/>
                  </a:ext>
                </a:extLst>
              </a:tr>
            </a:tbl>
          </a:graphicData>
        </a:graphic>
      </p:graphicFrame>
      <p:pic>
        <p:nvPicPr>
          <p:cNvPr id="21" name="Picture 20"/>
          <p:cNvPicPr>
            <a:picLocks noChangeAspect="1"/>
          </p:cNvPicPr>
          <p:nvPr/>
        </p:nvPicPr>
        <p:blipFill>
          <a:blip r:embed="rId2"/>
          <a:stretch>
            <a:fillRect/>
          </a:stretch>
        </p:blipFill>
        <p:spPr>
          <a:xfrm>
            <a:off x="6683858" y="3555622"/>
            <a:ext cx="790575" cy="1038225"/>
          </a:xfrm>
          <a:prstGeom prst="rect">
            <a:avLst/>
          </a:prstGeom>
        </p:spPr>
      </p:pic>
      <p:pic>
        <p:nvPicPr>
          <p:cNvPr id="22" name="Picture 21"/>
          <p:cNvPicPr>
            <a:picLocks noChangeAspect="1"/>
          </p:cNvPicPr>
          <p:nvPr/>
        </p:nvPicPr>
        <p:blipFill>
          <a:blip r:embed="rId3"/>
          <a:stretch>
            <a:fillRect/>
          </a:stretch>
        </p:blipFill>
        <p:spPr>
          <a:xfrm>
            <a:off x="4942383" y="3584349"/>
            <a:ext cx="838200" cy="876300"/>
          </a:xfrm>
          <a:prstGeom prst="rect">
            <a:avLst/>
          </a:prstGeom>
        </p:spPr>
      </p:pic>
      <p:pic>
        <p:nvPicPr>
          <p:cNvPr id="23" name="Picture 22"/>
          <p:cNvPicPr>
            <a:picLocks noChangeAspect="1"/>
          </p:cNvPicPr>
          <p:nvPr/>
        </p:nvPicPr>
        <p:blipFill>
          <a:blip r:embed="rId4"/>
          <a:stretch>
            <a:fillRect/>
          </a:stretch>
        </p:blipFill>
        <p:spPr>
          <a:xfrm>
            <a:off x="3415198" y="3584349"/>
            <a:ext cx="742950" cy="771525"/>
          </a:xfrm>
          <a:prstGeom prst="rect">
            <a:avLst/>
          </a:prstGeom>
        </p:spPr>
      </p:pic>
      <p:cxnSp>
        <p:nvCxnSpPr>
          <p:cNvPr id="24" name="Straight Arrow Connector 23"/>
          <p:cNvCxnSpPr/>
          <p:nvPr/>
        </p:nvCxnSpPr>
        <p:spPr>
          <a:xfrm>
            <a:off x="5976258" y="407177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161584" y="4071776"/>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152944" y="4458362"/>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cxnSp>
        <p:nvCxnSpPr>
          <p:cNvPr id="34" name="Straight Arrow Connector 33"/>
          <p:cNvCxnSpPr/>
          <p:nvPr/>
        </p:nvCxnSpPr>
        <p:spPr>
          <a:xfrm>
            <a:off x="2861256" y="4072940"/>
            <a:ext cx="510398" cy="0"/>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019279" y="4350040"/>
            <a:ext cx="999873" cy="369332"/>
          </a:xfrm>
          <a:prstGeom prst="rect">
            <a:avLst/>
          </a:prstGeom>
        </p:spPr>
        <p:txBody>
          <a:bodyPr wrap="square" lIns="0" tIns="0" rIns="0" bIns="0" rtlCol="0">
            <a:spAutoFit/>
          </a:bodyPr>
          <a:lstStyle/>
          <a:p>
            <a:pPr algn="ctr"/>
            <a:r>
              <a:rPr lang="en-US" sz="1200" dirty="0">
                <a:solidFill>
                  <a:schemeClr val="tx2"/>
                </a:solidFill>
                <a:latin typeface="Calibri" panose="020F0502020204030204" pitchFamily="34" charset="0"/>
                <a:cs typeface="Calibri" panose="020F0502020204030204" pitchFamily="34" charset="0"/>
              </a:rPr>
              <a:t>Azure Data Factory</a:t>
            </a:r>
          </a:p>
        </p:txBody>
      </p:sp>
      <p:pic>
        <p:nvPicPr>
          <p:cNvPr id="3" name="Picture 2"/>
          <p:cNvPicPr>
            <a:picLocks noChangeAspect="1"/>
          </p:cNvPicPr>
          <p:nvPr/>
        </p:nvPicPr>
        <p:blipFill>
          <a:blip r:embed="rId5"/>
          <a:stretch>
            <a:fillRect/>
          </a:stretch>
        </p:blipFill>
        <p:spPr>
          <a:xfrm>
            <a:off x="2131498" y="3516750"/>
            <a:ext cx="790575" cy="857250"/>
          </a:xfrm>
          <a:prstGeom prst="rect">
            <a:avLst/>
          </a:prstGeom>
        </p:spPr>
      </p:pic>
    </p:spTree>
    <p:extLst>
      <p:ext uri="{BB962C8B-B14F-4D97-AF65-F5344CB8AC3E}">
        <p14:creationId xmlns:p14="http://schemas.microsoft.com/office/powerpoint/2010/main" val="399031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dirty="0">
                <a:latin typeface="Calibri" panose="020F0502020204030204" pitchFamily="34" charset="0"/>
              </a:rPr>
              <a:t>© 2020 Cognizant</a:t>
            </a: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11</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r>
              <a:rPr lang="en-US" sz="2400" b="1" dirty="0">
                <a:solidFill>
                  <a:schemeClr val="tx1"/>
                </a:solidFill>
                <a:cs typeface="Arial" panose="020B0604020202020204" pitchFamily="34" charset="0"/>
              </a:rPr>
              <a:t>Reliable Dispatch # 9</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11</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92446061"/>
              </p:ext>
            </p:extLst>
          </p:nvPr>
        </p:nvGraphicFramePr>
        <p:xfrm>
          <a:off x="309245" y="670499"/>
          <a:ext cx="8500458" cy="116332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Reliable Dispatch</a:t>
                      </a:r>
                      <a:r>
                        <a:rPr lang="en-US" sz="1800" b="0" i="0" u="none" strike="noStrike" kern="1200" baseline="0" dirty="0">
                          <a:solidFill>
                            <a:schemeClr val="dk1"/>
                          </a:solidFill>
                          <a:latin typeface="+mn-lt"/>
                          <a:ea typeface="+mn-ea"/>
                          <a:cs typeface="+mn-cs"/>
                        </a:rPr>
                        <a:t>	</a:t>
                      </a:r>
                    </a:p>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a:t>
                      </a:r>
                    </a:p>
                    <a:p>
                      <a:endParaRPr lang="en-US" sz="1400" dirty="0">
                        <a:latin typeface="Calibri" panose="020F0502020204030204" pitchFamily="34" charset="0"/>
                        <a:cs typeface="Calibri" panose="020F0502020204030204" pitchFamily="34" charset="0"/>
                      </a:endParaRP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The Reliable Acquisition example is when a message is received by an HTTP Inbound Endpoint where it is placed directly onto a application via a Outbound Endpoint. 	</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1942207456"/>
              </p:ext>
            </p:extLst>
          </p:nvPr>
        </p:nvGraphicFramePr>
        <p:xfrm>
          <a:off x="309245" y="1855021"/>
          <a:ext cx="8500458" cy="94996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r>
                        <a:rPr lang="en-US" sz="1100" b="0" i="0" u="none" strike="noStrike" baseline="0">
                          <a:solidFill>
                            <a:srgbClr val="000000"/>
                          </a:solidFill>
                          <a:latin typeface="Calibri" panose="020F0502020204030204" pitchFamily="34" charset="0"/>
                        </a:rPr>
                        <a:t>Azure Logic App -Scheduling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Logic Apps	</a:t>
                      </a:r>
                    </a:p>
                    <a:p>
                      <a:r>
                        <a:rPr lang="en-US" sz="1800" b="0" i="0" u="none" strike="noStrike" kern="1200" baseline="0" dirty="0">
                          <a:solidFill>
                            <a:schemeClr val="dk1"/>
                          </a:solidFill>
                          <a:latin typeface="+mn-lt"/>
                          <a:ea typeface="+mn-ea"/>
                          <a:cs typeface="+mn-cs"/>
                        </a:rPr>
                        <a:t>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Logic Apps provides more than 300 connectors, each providing a straightforward way to interact with a specific external service</a:t>
                      </a:r>
                    </a:p>
                  </a:txBody>
                  <a:tcPr/>
                </a:tc>
                <a:extLst>
                  <a:ext uri="{0D108BD9-81ED-4DB2-BD59-A6C34878D82A}">
                    <a16:rowId xmlns:a16="http://schemas.microsoft.com/office/drawing/2014/main" val="2054639203"/>
                  </a:ext>
                </a:extLst>
              </a:tr>
            </a:tbl>
          </a:graphicData>
        </a:graphic>
      </p:graphicFrame>
      <p:pic>
        <p:nvPicPr>
          <p:cNvPr id="17" name="Picture 16"/>
          <p:cNvPicPr>
            <a:picLocks noChangeAspect="1"/>
          </p:cNvPicPr>
          <p:nvPr/>
        </p:nvPicPr>
        <p:blipFill>
          <a:blip r:embed="rId2"/>
          <a:stretch>
            <a:fillRect/>
          </a:stretch>
        </p:blipFill>
        <p:spPr>
          <a:xfrm>
            <a:off x="2467611" y="3402287"/>
            <a:ext cx="942975" cy="704850"/>
          </a:xfrm>
          <a:prstGeom prst="rect">
            <a:avLst/>
          </a:prstGeom>
        </p:spPr>
      </p:pic>
      <p:pic>
        <p:nvPicPr>
          <p:cNvPr id="18" name="Picture 17"/>
          <p:cNvPicPr>
            <a:picLocks noChangeAspect="1"/>
          </p:cNvPicPr>
          <p:nvPr/>
        </p:nvPicPr>
        <p:blipFill>
          <a:blip r:embed="rId3"/>
          <a:stretch>
            <a:fillRect/>
          </a:stretch>
        </p:blipFill>
        <p:spPr>
          <a:xfrm>
            <a:off x="7410881" y="3238558"/>
            <a:ext cx="790575" cy="1038225"/>
          </a:xfrm>
          <a:prstGeom prst="rect">
            <a:avLst/>
          </a:prstGeom>
        </p:spPr>
      </p:pic>
      <p:pic>
        <p:nvPicPr>
          <p:cNvPr id="19" name="Picture 18"/>
          <p:cNvPicPr>
            <a:picLocks noChangeAspect="1"/>
          </p:cNvPicPr>
          <p:nvPr/>
        </p:nvPicPr>
        <p:blipFill>
          <a:blip r:embed="rId4"/>
          <a:stretch>
            <a:fillRect/>
          </a:stretch>
        </p:blipFill>
        <p:spPr>
          <a:xfrm>
            <a:off x="5810920" y="3267285"/>
            <a:ext cx="838200" cy="876300"/>
          </a:xfrm>
          <a:prstGeom prst="rect">
            <a:avLst/>
          </a:prstGeom>
        </p:spPr>
      </p:pic>
      <p:pic>
        <p:nvPicPr>
          <p:cNvPr id="20" name="Picture 19"/>
          <p:cNvPicPr>
            <a:picLocks noChangeAspect="1"/>
          </p:cNvPicPr>
          <p:nvPr/>
        </p:nvPicPr>
        <p:blipFill>
          <a:blip r:embed="rId5"/>
          <a:stretch>
            <a:fillRect/>
          </a:stretch>
        </p:blipFill>
        <p:spPr>
          <a:xfrm>
            <a:off x="4283735" y="3267285"/>
            <a:ext cx="742950" cy="771525"/>
          </a:xfrm>
          <a:prstGeom prst="rect">
            <a:avLst/>
          </a:prstGeom>
        </p:spPr>
      </p:pic>
      <p:cxnSp>
        <p:nvCxnSpPr>
          <p:cNvPr id="27" name="Straight Arrow Connector 26"/>
          <p:cNvCxnSpPr/>
          <p:nvPr/>
        </p:nvCxnSpPr>
        <p:spPr>
          <a:xfrm>
            <a:off x="6703281" y="3754712"/>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051894" y="3754712"/>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451893" y="3754712"/>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4879967" y="4141298"/>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sp>
        <p:nvSpPr>
          <p:cNvPr id="32" name="TextBox 31"/>
          <p:cNvSpPr txBox="1"/>
          <p:nvPr/>
        </p:nvSpPr>
        <p:spPr>
          <a:xfrm>
            <a:off x="2452020" y="4071414"/>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Logic App</a:t>
            </a:r>
          </a:p>
        </p:txBody>
      </p:sp>
      <p:cxnSp>
        <p:nvCxnSpPr>
          <p:cNvPr id="33" name="Straight Arrow Connector 32"/>
          <p:cNvCxnSpPr/>
          <p:nvPr/>
        </p:nvCxnSpPr>
        <p:spPr>
          <a:xfrm>
            <a:off x="1697730" y="3786101"/>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nvPicPr>
        <p:blipFill>
          <a:blip r:embed="rId6"/>
          <a:stretch>
            <a:fillRect/>
          </a:stretch>
        </p:blipFill>
        <p:spPr>
          <a:xfrm>
            <a:off x="910757" y="3358204"/>
            <a:ext cx="776491" cy="838200"/>
          </a:xfrm>
          <a:prstGeom prst="rect">
            <a:avLst/>
          </a:prstGeom>
        </p:spPr>
      </p:pic>
      <p:sp>
        <p:nvSpPr>
          <p:cNvPr id="37" name="TextBox 36"/>
          <p:cNvSpPr txBox="1"/>
          <p:nvPr/>
        </p:nvSpPr>
        <p:spPr>
          <a:xfrm>
            <a:off x="915622" y="4105862"/>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API Mgmt</a:t>
            </a:r>
          </a:p>
        </p:txBody>
      </p:sp>
    </p:spTree>
    <p:extLst>
      <p:ext uri="{BB962C8B-B14F-4D97-AF65-F5344CB8AC3E}">
        <p14:creationId xmlns:p14="http://schemas.microsoft.com/office/powerpoint/2010/main" val="1403461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dirty="0">
                <a:latin typeface="Calibri" panose="020F0502020204030204" pitchFamily="34" charset="0"/>
              </a:rPr>
              <a:t>© 2020 Cognizant</a:t>
            </a: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12</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r>
              <a:rPr lang="en-US" sz="2400" b="1" dirty="0">
                <a:solidFill>
                  <a:schemeClr val="tx1"/>
                </a:solidFill>
                <a:cs typeface="Arial" panose="020B0604020202020204" pitchFamily="34" charset="0"/>
              </a:rPr>
              <a:t>Message Bridge and Async Mediation # 10 &amp; 12</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12</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470755555"/>
              </p:ext>
            </p:extLst>
          </p:nvPr>
        </p:nvGraphicFramePr>
        <p:xfrm>
          <a:off x="309245" y="670499"/>
          <a:ext cx="8500458" cy="131572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370840">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Message Bridge &amp; Async Mediation	</a:t>
                      </a:r>
                    </a:p>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a:t>
                      </a:r>
                    </a:p>
                    <a:p>
                      <a:endParaRPr lang="en-US" sz="1400" dirty="0">
                        <a:latin typeface="Calibri" panose="020F0502020204030204" pitchFamily="34" charset="0"/>
                        <a:cs typeface="Calibri" panose="020F0502020204030204" pitchFamily="34" charset="0"/>
                      </a:endParaRP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The Messaging Bridge is responsible for reliably transporting messages from one message channel to another. The Messaging Bridge is typically used to transport messages between two separate messaging systems but could equally be used to connect two channels within the same system.</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2855677382"/>
              </p:ext>
            </p:extLst>
          </p:nvPr>
        </p:nvGraphicFramePr>
        <p:xfrm>
          <a:off x="309245" y="2109021"/>
          <a:ext cx="8500458" cy="10972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0">
                <a:tc>
                  <a:txBody>
                    <a:bodyPr/>
                    <a:lstStyle/>
                    <a:p>
                      <a:r>
                        <a:rPr lang="en-US" sz="1100" b="0" i="0" u="none" strike="noStrike" baseline="0">
                          <a:solidFill>
                            <a:srgbClr val="000000"/>
                          </a:solidFill>
                          <a:latin typeface="Calibri" panose="020F0502020204030204" pitchFamily="34" charset="0"/>
                        </a:rPr>
                        <a:t>Azure Logic App -Scheduling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370840">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Service Bus</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	</a:t>
                      </a: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Service Bus provides enterprise messaging among many kinds of software, including cloud applications, on-premises applications, and Azure services 	</a:t>
                      </a:r>
                    </a:p>
                  </a:txBody>
                  <a:tcPr/>
                </a:tc>
                <a:extLst>
                  <a:ext uri="{0D108BD9-81ED-4DB2-BD59-A6C34878D82A}">
                    <a16:rowId xmlns:a16="http://schemas.microsoft.com/office/drawing/2014/main" val="2054639203"/>
                  </a:ext>
                </a:extLst>
              </a:tr>
            </a:tbl>
          </a:graphicData>
        </a:graphic>
      </p:graphicFrame>
      <p:pic>
        <p:nvPicPr>
          <p:cNvPr id="18" name="Picture 17"/>
          <p:cNvPicPr>
            <a:picLocks noChangeAspect="1"/>
          </p:cNvPicPr>
          <p:nvPr/>
        </p:nvPicPr>
        <p:blipFill>
          <a:blip r:embed="rId2"/>
          <a:stretch>
            <a:fillRect/>
          </a:stretch>
        </p:blipFill>
        <p:spPr>
          <a:xfrm>
            <a:off x="7410881" y="3238558"/>
            <a:ext cx="790575" cy="1038225"/>
          </a:xfrm>
          <a:prstGeom prst="rect">
            <a:avLst/>
          </a:prstGeom>
        </p:spPr>
      </p:pic>
      <p:pic>
        <p:nvPicPr>
          <p:cNvPr id="19" name="Picture 18"/>
          <p:cNvPicPr>
            <a:picLocks noChangeAspect="1"/>
          </p:cNvPicPr>
          <p:nvPr/>
        </p:nvPicPr>
        <p:blipFill>
          <a:blip r:embed="rId3"/>
          <a:stretch>
            <a:fillRect/>
          </a:stretch>
        </p:blipFill>
        <p:spPr>
          <a:xfrm>
            <a:off x="5810920" y="3267285"/>
            <a:ext cx="838200" cy="876300"/>
          </a:xfrm>
          <a:prstGeom prst="rect">
            <a:avLst/>
          </a:prstGeom>
        </p:spPr>
      </p:pic>
      <p:pic>
        <p:nvPicPr>
          <p:cNvPr id="20" name="Picture 19"/>
          <p:cNvPicPr>
            <a:picLocks noChangeAspect="1"/>
          </p:cNvPicPr>
          <p:nvPr/>
        </p:nvPicPr>
        <p:blipFill>
          <a:blip r:embed="rId4"/>
          <a:stretch>
            <a:fillRect/>
          </a:stretch>
        </p:blipFill>
        <p:spPr>
          <a:xfrm>
            <a:off x="4283735" y="3267285"/>
            <a:ext cx="742950" cy="771525"/>
          </a:xfrm>
          <a:prstGeom prst="rect">
            <a:avLst/>
          </a:prstGeom>
        </p:spPr>
      </p:pic>
      <p:cxnSp>
        <p:nvCxnSpPr>
          <p:cNvPr id="27" name="Straight Arrow Connector 26"/>
          <p:cNvCxnSpPr/>
          <p:nvPr/>
        </p:nvCxnSpPr>
        <p:spPr>
          <a:xfrm>
            <a:off x="6703281" y="3754712"/>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051894" y="3754712"/>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451893" y="3754712"/>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4879967" y="4141298"/>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sp>
        <p:nvSpPr>
          <p:cNvPr id="21" name="TextBox 20"/>
          <p:cNvSpPr txBox="1"/>
          <p:nvPr/>
        </p:nvSpPr>
        <p:spPr>
          <a:xfrm>
            <a:off x="2891185" y="4156071"/>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Service Bus</a:t>
            </a:r>
          </a:p>
        </p:txBody>
      </p:sp>
      <p:pic>
        <p:nvPicPr>
          <p:cNvPr id="22" name="Picture 21"/>
          <p:cNvPicPr>
            <a:picLocks noChangeAspect="1"/>
          </p:cNvPicPr>
          <p:nvPr/>
        </p:nvPicPr>
        <p:blipFill>
          <a:blip r:embed="rId5"/>
          <a:stretch>
            <a:fillRect/>
          </a:stretch>
        </p:blipFill>
        <p:spPr>
          <a:xfrm>
            <a:off x="2739228" y="3311614"/>
            <a:ext cx="745452" cy="800100"/>
          </a:xfrm>
          <a:prstGeom prst="rect">
            <a:avLst/>
          </a:prstGeom>
        </p:spPr>
      </p:pic>
    </p:spTree>
    <p:extLst>
      <p:ext uri="{BB962C8B-B14F-4D97-AF65-F5344CB8AC3E}">
        <p14:creationId xmlns:p14="http://schemas.microsoft.com/office/powerpoint/2010/main" val="2265613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dirty="0">
                <a:latin typeface="Calibri" panose="020F0502020204030204" pitchFamily="34" charset="0"/>
              </a:rPr>
              <a:t>© 2020 Cognizant</a:t>
            </a: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13</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r>
              <a:rPr lang="en-US" sz="2400" b="1" dirty="0">
                <a:solidFill>
                  <a:schemeClr val="tx1"/>
                </a:solidFill>
                <a:cs typeface="Arial" panose="020B0604020202020204" pitchFamily="34" charset="0"/>
              </a:rPr>
              <a:t>Event-Driven Data Sync  # 11</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13</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641429947"/>
              </p:ext>
            </p:extLst>
          </p:nvPr>
        </p:nvGraphicFramePr>
        <p:xfrm>
          <a:off x="309245" y="670499"/>
          <a:ext cx="8500458" cy="131064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14724">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813037">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Event-Driven Data Sync	</a:t>
                      </a:r>
                    </a:p>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a:t>
                      </a:r>
                    </a:p>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a:t>
                      </a:r>
                    </a:p>
                    <a:p>
                      <a:endParaRPr lang="en-US" sz="1400" b="0" i="0" u="none" strike="noStrike" kern="1200" baseline="0" dirty="0">
                        <a:solidFill>
                          <a:schemeClr val="dk1"/>
                        </a:solidFill>
                        <a:latin typeface="Calibri" panose="020F0502020204030204" pitchFamily="34" charset="0"/>
                        <a:ea typeface="+mn-ea"/>
                        <a:cs typeface="Calibri" panose="020F0502020204030204" pitchFamily="34" charset="0"/>
                      </a:endParaRP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This is similar way to the Timed Data Sync but instead of using the Timed Event pattern to receive data it uses a Messaging Bridge to actively pull data from a queue within an external messaging system.</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3182240583"/>
              </p:ext>
            </p:extLst>
          </p:nvPr>
        </p:nvGraphicFramePr>
        <p:xfrm>
          <a:off x="309245" y="1968417"/>
          <a:ext cx="8500458" cy="131064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281637">
                <a:tc>
                  <a:txBody>
                    <a:bodyPr/>
                    <a:lstStyle/>
                    <a:p>
                      <a:r>
                        <a:rPr lang="en-US" sz="1100" b="0" i="0" u="none" strike="noStrike" baseline="0" dirty="0">
                          <a:solidFill>
                            <a:srgbClr val="000000"/>
                          </a:solidFill>
                          <a:latin typeface="Calibri" panose="020F0502020204030204" pitchFamily="34" charset="0"/>
                        </a:rPr>
                        <a:t>Azure Logic App -Scheduling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727564">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Combination of Azure Service Bus,  Azure Logic App ( or Azure Data Factory )	</a:t>
                      </a:r>
                    </a:p>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Azure Logic App used to initiate and orchestrate the invocation of Azure Data Factory. 	</a:t>
                      </a:r>
                    </a:p>
                  </a:txBody>
                  <a:tcPr/>
                </a:tc>
                <a:extLst>
                  <a:ext uri="{0D108BD9-81ED-4DB2-BD59-A6C34878D82A}">
                    <a16:rowId xmlns:a16="http://schemas.microsoft.com/office/drawing/2014/main" val="2054639203"/>
                  </a:ext>
                </a:extLst>
              </a:tr>
            </a:tbl>
          </a:graphicData>
        </a:graphic>
      </p:graphicFrame>
      <p:pic>
        <p:nvPicPr>
          <p:cNvPr id="18" name="Picture 17"/>
          <p:cNvPicPr>
            <a:picLocks noChangeAspect="1"/>
          </p:cNvPicPr>
          <p:nvPr/>
        </p:nvPicPr>
        <p:blipFill>
          <a:blip r:embed="rId2"/>
          <a:stretch>
            <a:fillRect/>
          </a:stretch>
        </p:blipFill>
        <p:spPr>
          <a:xfrm>
            <a:off x="7258481" y="3368766"/>
            <a:ext cx="790575" cy="1038225"/>
          </a:xfrm>
          <a:prstGeom prst="rect">
            <a:avLst/>
          </a:prstGeom>
        </p:spPr>
      </p:pic>
      <p:pic>
        <p:nvPicPr>
          <p:cNvPr id="19" name="Picture 18"/>
          <p:cNvPicPr>
            <a:picLocks noChangeAspect="1"/>
          </p:cNvPicPr>
          <p:nvPr/>
        </p:nvPicPr>
        <p:blipFill>
          <a:blip r:embed="rId3"/>
          <a:stretch>
            <a:fillRect/>
          </a:stretch>
        </p:blipFill>
        <p:spPr>
          <a:xfrm>
            <a:off x="5658520" y="3397493"/>
            <a:ext cx="838200" cy="876300"/>
          </a:xfrm>
          <a:prstGeom prst="rect">
            <a:avLst/>
          </a:prstGeom>
        </p:spPr>
      </p:pic>
      <p:pic>
        <p:nvPicPr>
          <p:cNvPr id="20" name="Picture 19"/>
          <p:cNvPicPr>
            <a:picLocks noChangeAspect="1"/>
          </p:cNvPicPr>
          <p:nvPr/>
        </p:nvPicPr>
        <p:blipFill>
          <a:blip r:embed="rId4"/>
          <a:stretch>
            <a:fillRect/>
          </a:stretch>
        </p:blipFill>
        <p:spPr>
          <a:xfrm>
            <a:off x="4131335" y="3397493"/>
            <a:ext cx="742950" cy="771525"/>
          </a:xfrm>
          <a:prstGeom prst="rect">
            <a:avLst/>
          </a:prstGeom>
        </p:spPr>
      </p:pic>
      <p:cxnSp>
        <p:nvCxnSpPr>
          <p:cNvPr id="27" name="Straight Arrow Connector 26"/>
          <p:cNvCxnSpPr/>
          <p:nvPr/>
        </p:nvCxnSpPr>
        <p:spPr>
          <a:xfrm>
            <a:off x="6550881" y="3884920"/>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899494" y="3884920"/>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299493" y="3884920"/>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4727567" y="4271506"/>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sp>
        <p:nvSpPr>
          <p:cNvPr id="21" name="TextBox 20"/>
          <p:cNvSpPr txBox="1"/>
          <p:nvPr/>
        </p:nvSpPr>
        <p:spPr>
          <a:xfrm>
            <a:off x="2738785" y="4286279"/>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Service Bus</a:t>
            </a:r>
          </a:p>
        </p:txBody>
      </p:sp>
      <p:pic>
        <p:nvPicPr>
          <p:cNvPr id="22" name="Picture 21"/>
          <p:cNvPicPr>
            <a:picLocks noChangeAspect="1"/>
          </p:cNvPicPr>
          <p:nvPr/>
        </p:nvPicPr>
        <p:blipFill>
          <a:blip r:embed="rId5"/>
          <a:stretch>
            <a:fillRect/>
          </a:stretch>
        </p:blipFill>
        <p:spPr>
          <a:xfrm>
            <a:off x="2586828" y="3441822"/>
            <a:ext cx="745452" cy="800100"/>
          </a:xfrm>
          <a:prstGeom prst="rect">
            <a:avLst/>
          </a:prstGeom>
        </p:spPr>
      </p:pic>
      <p:sp>
        <p:nvSpPr>
          <p:cNvPr id="17" name="TextBox 16"/>
          <p:cNvSpPr txBox="1"/>
          <p:nvPr/>
        </p:nvSpPr>
        <p:spPr>
          <a:xfrm>
            <a:off x="1070652" y="4145058"/>
            <a:ext cx="999873" cy="369332"/>
          </a:xfrm>
          <a:prstGeom prst="rect">
            <a:avLst/>
          </a:prstGeom>
        </p:spPr>
        <p:txBody>
          <a:bodyPr wrap="square" lIns="0" tIns="0" rIns="0" bIns="0" rtlCol="0">
            <a:spAutoFit/>
          </a:bodyPr>
          <a:lstStyle/>
          <a:p>
            <a:pPr algn="ctr"/>
            <a:r>
              <a:rPr lang="en-US" sz="1200" dirty="0">
                <a:solidFill>
                  <a:schemeClr val="tx2"/>
                </a:solidFill>
                <a:latin typeface="Calibri" panose="020F0502020204030204" pitchFamily="34" charset="0"/>
                <a:cs typeface="Calibri" panose="020F0502020204030204" pitchFamily="34" charset="0"/>
              </a:rPr>
              <a:t>Azure Data Factory</a:t>
            </a:r>
          </a:p>
        </p:txBody>
      </p:sp>
      <p:pic>
        <p:nvPicPr>
          <p:cNvPr id="23" name="Picture 22"/>
          <p:cNvPicPr>
            <a:picLocks noChangeAspect="1"/>
          </p:cNvPicPr>
          <p:nvPr/>
        </p:nvPicPr>
        <p:blipFill>
          <a:blip r:embed="rId6"/>
          <a:stretch>
            <a:fillRect/>
          </a:stretch>
        </p:blipFill>
        <p:spPr>
          <a:xfrm>
            <a:off x="1226414" y="3311768"/>
            <a:ext cx="790575" cy="857250"/>
          </a:xfrm>
          <a:prstGeom prst="rect">
            <a:avLst/>
          </a:prstGeom>
        </p:spPr>
      </p:pic>
      <p:cxnSp>
        <p:nvCxnSpPr>
          <p:cNvPr id="24" name="Straight Arrow Connector 23"/>
          <p:cNvCxnSpPr/>
          <p:nvPr/>
        </p:nvCxnSpPr>
        <p:spPr>
          <a:xfrm>
            <a:off x="2057855" y="3887248"/>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5685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a:xfrm>
            <a:off x="910757" y="4695411"/>
            <a:ext cx="4572000" cy="187241"/>
          </a:xfrm>
        </p:spPr>
        <p:txBody>
          <a:bodyPr/>
          <a:lstStyle/>
          <a:p>
            <a:r>
              <a:rPr lang="en-US" dirty="0">
                <a:latin typeface="Calibri" panose="020F0502020204030204" pitchFamily="34" charset="0"/>
              </a:rPr>
              <a:t>© 2020 Cognizant</a:t>
            </a:r>
          </a:p>
        </p:txBody>
      </p:sp>
      <p:sp>
        <p:nvSpPr>
          <p:cNvPr id="5" name="Slide Number Placeholder 4"/>
          <p:cNvSpPr>
            <a:spLocks noGrp="1"/>
          </p:cNvSpPr>
          <p:nvPr>
            <p:ph type="sldNum" sz="quarter" idx="4"/>
          </p:nvPr>
        </p:nvSpPr>
        <p:spPr/>
        <p:txBody>
          <a:bodyPr/>
          <a:lstStyle/>
          <a:p>
            <a:fld id="{2EFEF571-C9B4-4D92-A7F7-315B894862A8}" type="slidenum">
              <a:rPr lang="en-US" smtClean="0">
                <a:latin typeface="Calibri" panose="020F0502020204030204" pitchFamily="34" charset="0"/>
              </a:rPr>
              <a:pPr/>
              <a:t>14</a:t>
            </a:fld>
            <a:endParaRPr lang="en-US" dirty="0">
              <a:latin typeface="Calibri" panose="020F0502020204030204" pitchFamily="34" charset="0"/>
            </a:endParaRPr>
          </a:p>
        </p:txBody>
      </p:sp>
      <p:sp>
        <p:nvSpPr>
          <p:cNvPr id="6" name="Title 4"/>
          <p:cNvSpPr txBox="1">
            <a:spLocks/>
          </p:cNvSpPr>
          <p:nvPr/>
        </p:nvSpPr>
        <p:spPr>
          <a:xfrm>
            <a:off x="197172" y="140223"/>
            <a:ext cx="8464987" cy="455444"/>
          </a:xfrm>
          <a:prstGeom prst="rect">
            <a:avLst/>
          </a:prstGeom>
        </p:spPr>
        <p:txBody>
          <a:bodyPr vert="horz" lIns="91440" tIns="45720" rIns="91440" bIns="45720" rtlCol="0" anchor="ctr">
            <a:noAutofit/>
          </a:bodyPr>
          <a:lstStyle>
            <a:lvl1pPr algn="l" defTabSz="457049" rtl="0" eaLnBrk="1" latinLnBrk="0" hangingPunct="1">
              <a:spcBef>
                <a:spcPct val="0"/>
              </a:spcBef>
              <a:buNone/>
              <a:defRPr sz="2800" kern="1200">
                <a:solidFill>
                  <a:srgbClr val="0099CC"/>
                </a:solidFill>
                <a:latin typeface="Calibri" panose="020F0502020204030204" pitchFamily="34" charset="0"/>
                <a:ea typeface="+mj-ea"/>
                <a:cs typeface="+mj-cs"/>
              </a:defRPr>
            </a:lvl1pPr>
          </a:lstStyle>
          <a:p>
            <a:r>
              <a:rPr lang="en-US" sz="2400" b="1" dirty="0">
                <a:solidFill>
                  <a:schemeClr val="tx1"/>
                </a:solidFill>
                <a:cs typeface="Arial" panose="020B0604020202020204" pitchFamily="34" charset="0"/>
              </a:rPr>
              <a:t>Async Orchestration -# 12</a:t>
            </a:r>
          </a:p>
        </p:txBody>
      </p:sp>
      <p:sp>
        <p:nvSpPr>
          <p:cNvPr id="7" name="Slide Number Placeholder 1"/>
          <p:cNvSpPr txBox="1">
            <a:spLocks/>
          </p:cNvSpPr>
          <p:nvPr/>
        </p:nvSpPr>
        <p:spPr>
          <a:xfrm>
            <a:off x="39648" y="4700273"/>
            <a:ext cx="539195" cy="375771"/>
          </a:xfrm>
          <a:prstGeom prst="rect">
            <a:avLst/>
          </a:prstGeom>
        </p:spPr>
        <p:txBody>
          <a:bodyPr vert="horz" lIns="91410" tIns="45705" rIns="91410" bIns="45705" rtlCol="0" anchor="ctr"/>
          <a:lstStyle>
            <a:defPPr>
              <a:defRPr lang="en-US"/>
            </a:defPPr>
            <a:lvl1pPr marL="0" algn="r" defTabSz="457049" rtl="0" eaLnBrk="1" latinLnBrk="0" hangingPunct="1">
              <a:defRPr sz="1100" kern="1200">
                <a:solidFill>
                  <a:schemeClr val="bg1"/>
                </a:solidFill>
                <a:latin typeface="Calibri" panose="020F0502020204030204" pitchFamily="34" charset="0"/>
                <a:ea typeface="+mn-ea"/>
                <a:cs typeface="+mn-cs"/>
              </a:defRPr>
            </a:lvl1pPr>
            <a:lvl2pPr marL="457049" algn="l" defTabSz="457049" rtl="0" eaLnBrk="1" latinLnBrk="0" hangingPunct="1">
              <a:defRPr sz="1800" kern="1200">
                <a:solidFill>
                  <a:schemeClr val="tx1"/>
                </a:solidFill>
                <a:latin typeface="+mn-lt"/>
                <a:ea typeface="+mn-ea"/>
                <a:cs typeface="+mn-cs"/>
              </a:defRPr>
            </a:lvl2pPr>
            <a:lvl3pPr marL="914099" algn="l" defTabSz="457049" rtl="0" eaLnBrk="1" latinLnBrk="0" hangingPunct="1">
              <a:defRPr sz="1800" kern="1200">
                <a:solidFill>
                  <a:schemeClr val="tx1"/>
                </a:solidFill>
                <a:latin typeface="+mn-lt"/>
                <a:ea typeface="+mn-ea"/>
                <a:cs typeface="+mn-cs"/>
              </a:defRPr>
            </a:lvl3pPr>
            <a:lvl4pPr marL="1371147" algn="l" defTabSz="457049" rtl="0" eaLnBrk="1" latinLnBrk="0" hangingPunct="1">
              <a:defRPr sz="1800" kern="1200">
                <a:solidFill>
                  <a:schemeClr val="tx1"/>
                </a:solidFill>
                <a:latin typeface="+mn-lt"/>
                <a:ea typeface="+mn-ea"/>
                <a:cs typeface="+mn-cs"/>
              </a:defRPr>
            </a:lvl4pPr>
            <a:lvl5pPr marL="1828197" algn="l" defTabSz="457049" rtl="0" eaLnBrk="1" latinLnBrk="0" hangingPunct="1">
              <a:defRPr sz="1800" kern="1200">
                <a:solidFill>
                  <a:schemeClr val="tx1"/>
                </a:solidFill>
                <a:latin typeface="+mn-lt"/>
                <a:ea typeface="+mn-ea"/>
                <a:cs typeface="+mn-cs"/>
              </a:defRPr>
            </a:lvl5pPr>
            <a:lvl6pPr marL="2285247" algn="l" defTabSz="457049" rtl="0" eaLnBrk="1" latinLnBrk="0" hangingPunct="1">
              <a:defRPr sz="1800" kern="1200">
                <a:solidFill>
                  <a:schemeClr val="tx1"/>
                </a:solidFill>
                <a:latin typeface="+mn-lt"/>
                <a:ea typeface="+mn-ea"/>
                <a:cs typeface="+mn-cs"/>
              </a:defRPr>
            </a:lvl6pPr>
            <a:lvl7pPr marL="2742296" algn="l" defTabSz="457049" rtl="0" eaLnBrk="1" latinLnBrk="0" hangingPunct="1">
              <a:defRPr sz="1800" kern="1200">
                <a:solidFill>
                  <a:schemeClr val="tx1"/>
                </a:solidFill>
                <a:latin typeface="+mn-lt"/>
                <a:ea typeface="+mn-ea"/>
                <a:cs typeface="+mn-cs"/>
              </a:defRPr>
            </a:lvl7pPr>
            <a:lvl8pPr marL="3199345" algn="l" defTabSz="457049" rtl="0" eaLnBrk="1" latinLnBrk="0" hangingPunct="1">
              <a:defRPr sz="1800" kern="1200">
                <a:solidFill>
                  <a:schemeClr val="tx1"/>
                </a:solidFill>
                <a:latin typeface="+mn-lt"/>
                <a:ea typeface="+mn-ea"/>
                <a:cs typeface="+mn-cs"/>
              </a:defRPr>
            </a:lvl8pPr>
            <a:lvl9pPr marL="3656393" algn="l" defTabSz="457049" rtl="0" eaLnBrk="1" latinLnBrk="0" hangingPunct="1">
              <a:defRPr sz="1800" kern="1200">
                <a:solidFill>
                  <a:schemeClr val="tx1"/>
                </a:solidFill>
                <a:latin typeface="+mn-lt"/>
                <a:ea typeface="+mn-ea"/>
                <a:cs typeface="+mn-cs"/>
              </a:defRPr>
            </a:lvl9pPr>
          </a:lstStyle>
          <a:p>
            <a:pPr marL="0" marR="0" lvl="0" indent="0" algn="r" defTabSz="457049" rtl="0" eaLnBrk="1" fontAlgn="auto" latinLnBrk="0" hangingPunct="1">
              <a:lnSpc>
                <a:spcPct val="100000"/>
              </a:lnSpc>
              <a:spcBef>
                <a:spcPts val="0"/>
              </a:spcBef>
              <a:spcAft>
                <a:spcPts val="0"/>
              </a:spcAft>
              <a:buClrTx/>
              <a:buSzTx/>
              <a:buFontTx/>
              <a:buNone/>
              <a:tabLst/>
              <a:defRPr/>
            </a:pPr>
            <a:fld id="{B32AB80A-78BA-6B42-BA0D-B44ACF890F5A}" type="slidenum">
              <a:rPr kumimoji="0" lang="en-US" sz="1100" b="0"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pPr marL="0" marR="0" lvl="0" indent="0" algn="r" defTabSz="457049" rtl="0" eaLnBrk="1" fontAlgn="auto" latinLnBrk="0" hangingPunct="1">
                <a:lnSpc>
                  <a:spcPct val="100000"/>
                </a:lnSpc>
                <a:spcBef>
                  <a:spcPts val="0"/>
                </a:spcBef>
                <a:spcAft>
                  <a:spcPts val="0"/>
                </a:spcAft>
                <a:buClrTx/>
                <a:buSzTx/>
                <a:buFontTx/>
                <a:buNone/>
                <a:tabLst/>
                <a:defRPr/>
              </a:pPr>
              <a:t>14</a:t>
            </a:fld>
            <a:endParaRPr kumimoji="0" lang="en-US" sz="1100" b="0"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1871220039"/>
              </p:ext>
            </p:extLst>
          </p:nvPr>
        </p:nvGraphicFramePr>
        <p:xfrm>
          <a:off x="309245" y="670499"/>
          <a:ext cx="8500458" cy="152400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314724">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Pattern Definition</a:t>
                      </a:r>
                      <a:endParaRPr lang="en-US" dirty="0">
                        <a:latin typeface="Calibri" panose="020F0502020204030204" pitchFamily="34" charset="0"/>
                        <a:cs typeface="Calibri" panose="020F0502020204030204" pitchFamily="34" charset="0"/>
                      </a:endParaRPr>
                    </a:p>
                  </a:txBody>
                  <a:tcPr/>
                </a:tc>
                <a:tc>
                  <a:txBody>
                    <a:bodyPr/>
                    <a:lstStyle/>
                    <a:p>
                      <a:r>
                        <a:rPr lang="en-US" sz="1800" b="1" i="0" u="none" strike="noStrike" kern="1200" baseline="0" dirty="0">
                          <a:solidFill>
                            <a:schemeClr val="lt1"/>
                          </a:solidFill>
                          <a:latin typeface="Calibri" panose="020F0502020204030204" pitchFamily="34" charset="0"/>
                          <a:ea typeface="+mn-ea"/>
                          <a:cs typeface="Calibri" panose="020F0502020204030204" pitchFamily="34" charset="0"/>
                        </a:rPr>
                        <a:t>Description</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7510389"/>
                  </a:ext>
                </a:extLst>
              </a:tr>
              <a:tr h="813037">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Async Orchestration	</a:t>
                      </a:r>
                    </a:p>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a:t>
                      </a:r>
                    </a:p>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	</a:t>
                      </a:r>
                    </a:p>
                    <a:p>
                      <a:endParaRPr lang="en-US" sz="1400" b="0" i="0" u="none" strike="noStrike" kern="1200" baseline="0" dirty="0">
                        <a:solidFill>
                          <a:schemeClr val="dk1"/>
                        </a:solidFill>
                        <a:latin typeface="Calibri" panose="020F0502020204030204" pitchFamily="34" charset="0"/>
                        <a:ea typeface="+mn-ea"/>
                        <a:cs typeface="Calibri" panose="020F0502020204030204" pitchFamily="34" charset="0"/>
                      </a:endParaRP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The Async Orchestration pattern is analogous to the “Composite Service” but is implemented using an asynchronous message exchange pattern. It typically consists of an inbound and outbound messaging transport, such as AMQP at either end of the message flow and one or more intervening outbound endpoints. 	</a:t>
                      </a:r>
                    </a:p>
                  </a:txBody>
                  <a:tcPr/>
                </a:tc>
                <a:extLst>
                  <a:ext uri="{0D108BD9-81ED-4DB2-BD59-A6C34878D82A}">
                    <a16:rowId xmlns:a16="http://schemas.microsoft.com/office/drawing/2014/main" val="205463920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3443385503"/>
              </p:ext>
            </p:extLst>
          </p:nvPr>
        </p:nvGraphicFramePr>
        <p:xfrm>
          <a:off x="309245" y="2219442"/>
          <a:ext cx="8500458" cy="1097280"/>
        </p:xfrm>
        <a:graphic>
          <a:graphicData uri="http://schemas.openxmlformats.org/drawingml/2006/table">
            <a:tbl>
              <a:tblPr firstRow="1" bandRow="1">
                <a:tableStyleId>{5C22544A-7EE6-4342-B048-85BDC9FD1C3A}</a:tableStyleId>
              </a:tblPr>
              <a:tblGrid>
                <a:gridCol w="2955065">
                  <a:extLst>
                    <a:ext uri="{9D8B030D-6E8A-4147-A177-3AD203B41FA5}">
                      <a16:colId xmlns:a16="http://schemas.microsoft.com/office/drawing/2014/main" val="3870708421"/>
                    </a:ext>
                  </a:extLst>
                </a:gridCol>
                <a:gridCol w="5545393">
                  <a:extLst>
                    <a:ext uri="{9D8B030D-6E8A-4147-A177-3AD203B41FA5}">
                      <a16:colId xmlns:a16="http://schemas.microsoft.com/office/drawing/2014/main" val="3323072396"/>
                    </a:ext>
                  </a:extLst>
                </a:gridCol>
              </a:tblGrid>
              <a:tr h="281637">
                <a:tc>
                  <a:txBody>
                    <a:bodyPr/>
                    <a:lstStyle/>
                    <a:p>
                      <a:r>
                        <a:rPr lang="en-US" sz="1100" b="0" i="0" u="none" strike="noStrike" baseline="0" dirty="0">
                          <a:solidFill>
                            <a:srgbClr val="000000"/>
                          </a:solidFill>
                          <a:latin typeface="Calibri" panose="020F0502020204030204" pitchFamily="34" charset="0"/>
                        </a:rPr>
                        <a:t>Azure Logic App -Scheduling	</a:t>
                      </a:r>
                    </a:p>
                  </a:txBody>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800" b="1" i="0" u="none" strike="noStrike" kern="1200" baseline="0">
                          <a:solidFill>
                            <a:schemeClr val="lt1"/>
                          </a:solidFill>
                          <a:latin typeface="Calibri" panose="020F0502020204030204" pitchFamily="34" charset="0"/>
                          <a:ea typeface="+mn-ea"/>
                          <a:cs typeface="Calibri" panose="020F0502020204030204" pitchFamily="34" charset="0"/>
                        </a:rPr>
                        <a:t>Description</a:t>
                      </a:r>
                      <a:endParaRPr lang="en-US" dirty="0"/>
                    </a:p>
                  </a:txBody>
                  <a:tcPr/>
                </a:tc>
                <a:extLst>
                  <a:ext uri="{0D108BD9-81ED-4DB2-BD59-A6C34878D82A}">
                    <a16:rowId xmlns:a16="http://schemas.microsoft.com/office/drawing/2014/main" val="167510389"/>
                  </a:ext>
                </a:extLst>
              </a:tr>
              <a:tr h="727564">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Combination of Azure Service Bus,  Azure Logic App</a:t>
                      </a:r>
                    </a:p>
                  </a:txBody>
                  <a:tcPr/>
                </a:tc>
                <a:tc>
                  <a:txBody>
                    <a:bodyPr/>
                    <a:lstStyle/>
                    <a:p>
                      <a:r>
                        <a:rPr lang="en-US" sz="1400" b="0" i="0" u="none" strike="noStrike" kern="1200" baseline="0" dirty="0">
                          <a:solidFill>
                            <a:schemeClr val="dk1"/>
                          </a:solidFill>
                          <a:latin typeface="Calibri" panose="020F0502020204030204" pitchFamily="34" charset="0"/>
                          <a:ea typeface="+mn-ea"/>
                          <a:cs typeface="Calibri" panose="020F0502020204030204" pitchFamily="34" charset="0"/>
                        </a:rPr>
                        <a:t>A logic app consists of a series of actions, each of which is a logical step in the process this workflow implements. This combined with Azure Service Bus enables Async Orchestration	</a:t>
                      </a:r>
                    </a:p>
                  </a:txBody>
                  <a:tcPr/>
                </a:tc>
                <a:extLst>
                  <a:ext uri="{0D108BD9-81ED-4DB2-BD59-A6C34878D82A}">
                    <a16:rowId xmlns:a16="http://schemas.microsoft.com/office/drawing/2014/main" val="2054639203"/>
                  </a:ext>
                </a:extLst>
              </a:tr>
            </a:tbl>
          </a:graphicData>
        </a:graphic>
      </p:graphicFrame>
      <p:pic>
        <p:nvPicPr>
          <p:cNvPr id="18" name="Picture 17"/>
          <p:cNvPicPr>
            <a:picLocks noChangeAspect="1"/>
          </p:cNvPicPr>
          <p:nvPr/>
        </p:nvPicPr>
        <p:blipFill>
          <a:blip r:embed="rId2"/>
          <a:stretch>
            <a:fillRect/>
          </a:stretch>
        </p:blipFill>
        <p:spPr>
          <a:xfrm>
            <a:off x="7258481" y="3368766"/>
            <a:ext cx="790575" cy="1038225"/>
          </a:xfrm>
          <a:prstGeom prst="rect">
            <a:avLst/>
          </a:prstGeom>
        </p:spPr>
      </p:pic>
      <p:pic>
        <p:nvPicPr>
          <p:cNvPr id="19" name="Picture 18"/>
          <p:cNvPicPr>
            <a:picLocks noChangeAspect="1"/>
          </p:cNvPicPr>
          <p:nvPr/>
        </p:nvPicPr>
        <p:blipFill>
          <a:blip r:embed="rId3"/>
          <a:stretch>
            <a:fillRect/>
          </a:stretch>
        </p:blipFill>
        <p:spPr>
          <a:xfrm>
            <a:off x="5658520" y="3397493"/>
            <a:ext cx="838200" cy="876300"/>
          </a:xfrm>
          <a:prstGeom prst="rect">
            <a:avLst/>
          </a:prstGeom>
        </p:spPr>
      </p:pic>
      <p:pic>
        <p:nvPicPr>
          <p:cNvPr id="20" name="Picture 19"/>
          <p:cNvPicPr>
            <a:picLocks noChangeAspect="1"/>
          </p:cNvPicPr>
          <p:nvPr/>
        </p:nvPicPr>
        <p:blipFill>
          <a:blip r:embed="rId4"/>
          <a:stretch>
            <a:fillRect/>
          </a:stretch>
        </p:blipFill>
        <p:spPr>
          <a:xfrm>
            <a:off x="4131335" y="3397493"/>
            <a:ext cx="742950" cy="771525"/>
          </a:xfrm>
          <a:prstGeom prst="rect">
            <a:avLst/>
          </a:prstGeom>
        </p:spPr>
      </p:pic>
      <p:cxnSp>
        <p:nvCxnSpPr>
          <p:cNvPr id="27" name="Straight Arrow Connector 26"/>
          <p:cNvCxnSpPr/>
          <p:nvPr/>
        </p:nvCxnSpPr>
        <p:spPr>
          <a:xfrm>
            <a:off x="6550881" y="3884920"/>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899494" y="3884920"/>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299493" y="3884920"/>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4727567" y="4271506"/>
            <a:ext cx="1590414"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Networking &amp; Security</a:t>
            </a:r>
          </a:p>
        </p:txBody>
      </p:sp>
      <p:sp>
        <p:nvSpPr>
          <p:cNvPr id="21" name="TextBox 20"/>
          <p:cNvSpPr txBox="1"/>
          <p:nvPr/>
        </p:nvSpPr>
        <p:spPr>
          <a:xfrm>
            <a:off x="2738785" y="4286279"/>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Service Bus</a:t>
            </a:r>
          </a:p>
        </p:txBody>
      </p:sp>
      <p:pic>
        <p:nvPicPr>
          <p:cNvPr id="22" name="Picture 21"/>
          <p:cNvPicPr>
            <a:picLocks noChangeAspect="1"/>
          </p:cNvPicPr>
          <p:nvPr/>
        </p:nvPicPr>
        <p:blipFill>
          <a:blip r:embed="rId5"/>
          <a:stretch>
            <a:fillRect/>
          </a:stretch>
        </p:blipFill>
        <p:spPr>
          <a:xfrm>
            <a:off x="2586828" y="3441822"/>
            <a:ext cx="745452" cy="800100"/>
          </a:xfrm>
          <a:prstGeom prst="rect">
            <a:avLst/>
          </a:prstGeom>
        </p:spPr>
      </p:pic>
      <p:cxnSp>
        <p:nvCxnSpPr>
          <p:cNvPr id="24" name="Straight Arrow Connector 23"/>
          <p:cNvCxnSpPr/>
          <p:nvPr/>
        </p:nvCxnSpPr>
        <p:spPr>
          <a:xfrm>
            <a:off x="2057855" y="3887248"/>
            <a:ext cx="749228" cy="2328"/>
          </a:xfrm>
          <a:prstGeom prst="straightConnector1">
            <a:avLst/>
          </a:prstGeom>
          <a:ln w="41275" cmpd="sng">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a:blip r:embed="rId6"/>
          <a:stretch>
            <a:fillRect/>
          </a:stretch>
        </p:blipFill>
        <p:spPr>
          <a:xfrm>
            <a:off x="1169696" y="3541188"/>
            <a:ext cx="942975" cy="704850"/>
          </a:xfrm>
          <a:prstGeom prst="rect">
            <a:avLst/>
          </a:prstGeom>
        </p:spPr>
      </p:pic>
      <p:sp>
        <p:nvSpPr>
          <p:cNvPr id="28" name="TextBox 27"/>
          <p:cNvSpPr txBox="1"/>
          <p:nvPr/>
        </p:nvSpPr>
        <p:spPr>
          <a:xfrm>
            <a:off x="1154105" y="4210315"/>
            <a:ext cx="999873" cy="184666"/>
          </a:xfrm>
          <a:prstGeom prst="rect">
            <a:avLst/>
          </a:prstGeom>
        </p:spPr>
        <p:txBody>
          <a:bodyPr wrap="square" lIns="0" tIns="0" rIns="0" bIns="0" rtlCol="0">
            <a:spAutoFit/>
          </a:bodyPr>
          <a:lstStyle/>
          <a:p>
            <a:pPr algn="l"/>
            <a:r>
              <a:rPr lang="en-US" sz="1200" dirty="0">
                <a:solidFill>
                  <a:schemeClr val="tx2"/>
                </a:solidFill>
                <a:latin typeface="Calibri" panose="020F0502020204030204" pitchFamily="34" charset="0"/>
                <a:cs typeface="Calibri" panose="020F0502020204030204" pitchFamily="34" charset="0"/>
              </a:rPr>
              <a:t>Azure Logic App</a:t>
            </a:r>
          </a:p>
        </p:txBody>
      </p:sp>
    </p:spTree>
    <p:extLst>
      <p:ext uri="{BB962C8B-B14F-4D97-AF65-F5344CB8AC3E}">
        <p14:creationId xmlns:p14="http://schemas.microsoft.com/office/powerpoint/2010/main" val="11361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7F34D1-2D92-144C-816F-270390B5A6F3}"/>
              </a:ext>
            </a:extLst>
          </p:cNvPr>
          <p:cNvSpPr>
            <a:spLocks noGrp="1"/>
          </p:cNvSpPr>
          <p:nvPr>
            <p:ph type="ctrTitle"/>
          </p:nvPr>
        </p:nvSpPr>
        <p:spPr/>
        <p:txBody>
          <a:bodyPr/>
          <a:lstStyle/>
          <a:p>
            <a:r>
              <a:rPr lang="en-US" dirty="0">
                <a:latin typeface="Calibri" panose="020F0502020204030204" pitchFamily="34" charset="0"/>
              </a:rPr>
              <a:t>Thank You</a:t>
            </a:r>
          </a:p>
        </p:txBody>
      </p:sp>
    </p:spTree>
    <p:extLst>
      <p:ext uri="{BB962C8B-B14F-4D97-AF65-F5344CB8AC3E}">
        <p14:creationId xmlns:p14="http://schemas.microsoft.com/office/powerpoint/2010/main" val="3317290517"/>
      </p:ext>
    </p:extLst>
  </p:cSld>
  <p:clrMapOvr>
    <a:masterClrMapping/>
  </p:clrMapOvr>
</p:sld>
</file>

<file path=ppt/theme/theme1.xml><?xml version="1.0" encoding="utf-8"?>
<a:theme xmlns:a="http://schemas.openxmlformats.org/drawingml/2006/main" name="Cognizantnewbrand">
  <a:themeElements>
    <a:clrScheme name="Cognizant Colors 2020">
      <a:dk1>
        <a:srgbClr val="0033A0"/>
      </a:dk1>
      <a:lt1>
        <a:srgbClr val="FFFFFF"/>
      </a:lt1>
      <a:dk2>
        <a:srgbClr val="000000"/>
      </a:dk2>
      <a:lt2>
        <a:srgbClr val="FFFFFF"/>
      </a:lt2>
      <a:accent1>
        <a:srgbClr val="000063"/>
      </a:accent1>
      <a:accent2>
        <a:srgbClr val="0033A0"/>
      </a:accent2>
      <a:accent3>
        <a:srgbClr val="2C67FF"/>
      </a:accent3>
      <a:accent4>
        <a:srgbClr val="328DFF"/>
      </a:accent4>
      <a:accent5>
        <a:srgbClr val="404040"/>
      </a:accent5>
      <a:accent6>
        <a:srgbClr val="D9D9D9"/>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nizantnewbrand" id="{34464321-73E4-410E-B743-CF8D3DC5F44C}" vid="{66CDC2FA-A042-42D3-A5C3-2B3348401B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FC59A549CE48541B951632D4196BCA1" ma:contentTypeVersion="0" ma:contentTypeDescription="Create a new document." ma:contentTypeScope="" ma:versionID="f1d972d1aa6d9ea55dca7ba336562af9">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CB683CF-7DFD-4974-9672-9F63D2D5A38C}">
  <ds:schemaRefs>
    <ds:schemaRef ds:uri="http://schemas.microsoft.com/sharepoint/v3/contenttype/forms"/>
  </ds:schemaRefs>
</ds:datastoreItem>
</file>

<file path=customXml/itemProps2.xml><?xml version="1.0" encoding="utf-8"?>
<ds:datastoreItem xmlns:ds="http://schemas.openxmlformats.org/officeDocument/2006/customXml" ds:itemID="{D677D545-A467-4A02-8DAF-7A685903C4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DA421221-6257-44B8-A0C2-D26A1BFC5168}">
  <ds:schemaRefs>
    <ds:schemaRef ds:uri="http://schemas.microsoft.com/office/2006/metadata/properties"/>
    <ds:schemaRef ds:uri="http://schemas.openxmlformats.org/package/2006/metadata/core-properties"/>
    <ds:schemaRef ds:uri="http://purl.org/dc/dcmitype/"/>
    <ds:schemaRef ds:uri="http://purl.org/dc/terms/"/>
    <ds:schemaRef ds:uri="http://schemas.microsoft.com/office/2006/documentManagement/types"/>
    <ds:schemaRef ds:uri="http://schemas.microsoft.com/office/infopath/2007/PartnerControl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53023</TotalTime>
  <Words>1370</Words>
  <Application>Microsoft Office PowerPoint</Application>
  <PresentationFormat>On-screen Show (16:9)</PresentationFormat>
  <Paragraphs>201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Cognizantnewbrand</vt:lpstr>
      <vt:lpstr> Integration Patterns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Cognizant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OCM CoE - Capabilities</dc:title>
  <dc:subject/>
  <dc:creator>Koshy, Shiju (Cognizant)</dc:creator>
  <cp:keywords/>
  <dc:description/>
  <cp:lastModifiedBy>Nair, Renu (Cognizant)</cp:lastModifiedBy>
  <cp:revision>2935</cp:revision>
  <cp:lastPrinted>2020-02-12T20:07:34Z</cp:lastPrinted>
  <dcterms:created xsi:type="dcterms:W3CDTF">2018-08-01T04:55:58Z</dcterms:created>
  <dcterms:modified xsi:type="dcterms:W3CDTF">2026-09-01T11:46:32Z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0x010100AFC59A549CE48541B951632D4196BCA1</vt:lpwstr>
  </property>
</Properties>
</file>