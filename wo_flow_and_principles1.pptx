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Work order issue flow — both options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D4F4"/>
                </a:solidFill>
              </a:rPr>
              <a:t>Outbound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A75"/>
                </a:solidFill>
              </a:rPr>
              <a:t>Same trigger and same destination. The difference is how the work order travels in between.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950976"/>
            <a:ext cx="8595360" cy="2926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95097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Option 1 — API hub: direct, sequential issue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435608"/>
            <a:ext cx="621792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43560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L3 Persist</a:t>
            </a:r>
            <a:endParaRPr lang="en-US" sz="550" dirty="0"/>
          </a:p>
        </p:txBody>
      </p:sp>
      <p:sp>
        <p:nvSpPr>
          <p:cNvPr id="12" name="Text 10"/>
          <p:cNvSpPr/>
          <p:nvPr/>
        </p:nvSpPr>
        <p:spPr>
          <a:xfrm>
            <a:off x="347472" y="160934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Dataverse change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" y="181051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entity updated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847088" y="179222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029968" y="137160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103120" y="1435608"/>
            <a:ext cx="479146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1435608"/>
            <a:ext cx="4791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L2 Orch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2103120" y="160934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WO Issuer FA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181051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build work order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02736" y="179222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785616" y="137160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58768" y="1435608"/>
            <a:ext cx="479146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58768" y="1435608"/>
            <a:ext cx="4791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L2 Orch</a:t>
            </a:r>
            <a:endParaRPr lang="en-US" sz="550" dirty="0"/>
          </a:p>
        </p:txBody>
      </p:sp>
      <p:sp>
        <p:nvSpPr>
          <p:cNvPr id="24" name="Text 22"/>
          <p:cNvSpPr/>
          <p:nvPr/>
        </p:nvSpPr>
        <p:spPr>
          <a:xfrm>
            <a:off x="3858768" y="160934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Vendor resolver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58768" y="181051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channel + format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358384" y="179222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541264" y="137160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14416" y="1435608"/>
            <a:ext cx="621792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14416" y="143560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L4 Deliver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5614416" y="160934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Adapter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14416" y="181051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format + push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114032" y="179222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296912" y="137160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70064" y="1435608"/>
            <a:ext cx="526694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70064" y="1435608"/>
            <a:ext cx="52669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external</a:t>
            </a:r>
            <a:endParaRPr lang="en-US" sz="550" dirty="0"/>
          </a:p>
        </p:txBody>
      </p:sp>
      <p:sp>
        <p:nvSpPr>
          <p:cNvPr id="36" name="Text 34"/>
          <p:cNvSpPr/>
          <p:nvPr/>
        </p:nvSpPr>
        <p:spPr>
          <a:xfrm>
            <a:off x="7370064" y="160934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Vendor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70064" y="181051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receives WO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02336" y="226771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25A75"/>
                </a:solidFill>
              </a:rPr>
              <a:t>One call after another — simple to follow. A slow vendor holds the chain; no built-in replay.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2688336"/>
            <a:ext cx="8595360" cy="29260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" y="26883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Option 2 — event-driven: event-triggered, parallel-capable issue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310896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47472" y="3172968"/>
            <a:ext cx="384048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317296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Event</a:t>
            </a:r>
            <a:endParaRPr lang="en-US" sz="550" dirty="0"/>
          </a:p>
        </p:txBody>
      </p:sp>
      <p:sp>
        <p:nvSpPr>
          <p:cNvPr id="44" name="Text 42"/>
          <p:cNvSpPr/>
          <p:nvPr/>
        </p:nvSpPr>
        <p:spPr>
          <a:xfrm>
            <a:off x="347472" y="334670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RepairAssigned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47472" y="354787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event raised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847088" y="352958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2029968" y="310896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103120" y="3172968"/>
            <a:ext cx="479146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03120" y="3172968"/>
            <a:ext cx="4791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L2 Orch</a:t>
            </a:r>
            <a:endParaRPr lang="en-US" sz="550" dirty="0"/>
          </a:p>
        </p:txBody>
      </p:sp>
      <p:sp>
        <p:nvSpPr>
          <p:cNvPr id="50" name="Text 48"/>
          <p:cNvSpPr/>
          <p:nvPr/>
        </p:nvSpPr>
        <p:spPr>
          <a:xfrm>
            <a:off x="2103120" y="334670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WO Issuer FA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103120" y="354787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build work order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602736" y="352958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3785616" y="310896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858768" y="3172968"/>
            <a:ext cx="479146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58768" y="3172968"/>
            <a:ext cx="4791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L2 Orch</a:t>
            </a:r>
            <a:endParaRPr lang="en-US" sz="550" dirty="0"/>
          </a:p>
        </p:txBody>
      </p:sp>
      <p:sp>
        <p:nvSpPr>
          <p:cNvPr id="56" name="Text 54"/>
          <p:cNvSpPr/>
          <p:nvPr/>
        </p:nvSpPr>
        <p:spPr>
          <a:xfrm>
            <a:off x="3858768" y="334670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Vendor resolver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858768" y="354787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channel + format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358384" y="352958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5541264" y="310896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614416" y="3172968"/>
            <a:ext cx="479146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14416" y="3172968"/>
            <a:ext cx="4791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L2 Orch</a:t>
            </a:r>
            <a:endParaRPr lang="en-US" sz="550" dirty="0"/>
          </a:p>
        </p:txBody>
      </p:sp>
      <p:sp>
        <p:nvSpPr>
          <p:cNvPr id="62" name="Text 60"/>
          <p:cNvSpPr/>
          <p:nvPr/>
        </p:nvSpPr>
        <p:spPr>
          <a:xfrm>
            <a:off x="5614416" y="334670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Durable fan-out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614416" y="354787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retry per branch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114032" y="352958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7296912" y="310896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7370064" y="3172968"/>
            <a:ext cx="621792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70064" y="317296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L4 Deliver</a:t>
            </a:r>
            <a:endParaRPr lang="en-US" sz="550" dirty="0"/>
          </a:p>
        </p:txBody>
      </p:sp>
      <p:sp>
        <p:nvSpPr>
          <p:cNvPr id="68" name="Text 66"/>
          <p:cNvSpPr/>
          <p:nvPr/>
        </p:nvSpPr>
        <p:spPr>
          <a:xfrm>
            <a:off x="7370064" y="334670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Adapter → vendor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370064" y="354787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deliver to one vendor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02336" y="400507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25A75"/>
                </a:solidFill>
              </a:rPr>
              <a:t>Triggered by an event, delivered with per-branch retry, and replayable — one vendor down never blocks others.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74320" y="4443984"/>
            <a:ext cx="8595360" cy="457200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420624" y="4443984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Shared by both:  </a:t>
            </a:r>
            <a:pPr indent="0" marL="0">
              <a:buNone/>
            </a:pPr>
            <a:r>
              <a:rPr lang="en-US" sz="900" dirty="0">
                <a:solidFill>
                  <a:srgbClr val="0F2540"/>
                </a:solidFill>
              </a:rPr>
              <a:t>one work order always goes to one vendor. The issuer and resolver are identical; only the delivery mechanism differs — a direct call (Option 1) versus an event-triggered, retry-per-branch fan-out (Option 2).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Architecture principles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A75"/>
                </a:solidFill>
              </a:rPr>
              <a:t>The rules that hold across both options — they are what make the platform scale to 50+ vendors.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95360" cy="84124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73152" cy="84124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8755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Operation-centric, not vendor-centric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" y="131673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The platform is built around what happens — create a repair, issue a work order, update status — not around who the vendor is. Vendors are configuration behind a shared operation, never bespoke pipelines.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83664"/>
            <a:ext cx="27157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83664"/>
            <a:ext cx="27157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9933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C2D52"/>
                </a:solidFill>
              </a:rPr>
              <a:t>Contract first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22128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185FA5"/>
                </a:solidFill>
              </a:rPr>
              <a:t>Here is our form — fill it in our way.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02336" y="252374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We publish one fixed request format. Every vendor matches it, so we stop writing a custom translator for each one.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72968" y="1883664"/>
            <a:ext cx="27157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1883664"/>
            <a:ext cx="27157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00984" y="19933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C2D52"/>
                </a:solidFill>
              </a:rPr>
              <a:t>Shared core, thin edges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00984" y="22128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185FA5"/>
                </a:solidFill>
              </a:rPr>
              <a:t>One engine in the middle, a small plug per vendor.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00984" y="252374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The real work is built once and reused. Only a tiny vendor-specific piece (their format and address) sits at the edge.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71616" y="1883664"/>
            <a:ext cx="27157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71616" y="1883664"/>
            <a:ext cx="27157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32" y="19933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C2D52"/>
                </a:solidFill>
              </a:rPr>
              <a:t>One operation, one path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99632" y="22128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185FA5"/>
                </a:solidFill>
              </a:rPr>
              <a:t>All roads merge once you are through the door.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99632" y="252374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However a vendor arrives — web, file, email — the request follows the same internal route. One path to secure and watch.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3346704"/>
            <a:ext cx="27157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346704"/>
            <a:ext cx="27157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34564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C2D52"/>
                </a:solidFill>
              </a:rPr>
              <a:t>Config over code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02336" y="36758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185FA5"/>
                </a:solidFill>
              </a:rPr>
              <a:t>Adding a vendor is a form, not a project.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02336" y="398678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Onboarding is filling in settings and credentials, not building and deploying new software. The 51st vendor is easy.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172968" y="3346704"/>
            <a:ext cx="27157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72968" y="3346704"/>
            <a:ext cx="27157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00984" y="34564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C2D52"/>
                </a:solidFill>
              </a:rPr>
              <a:t>One source of truth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300984" y="36758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185FA5"/>
                </a:solidFill>
              </a:rPr>
              <a:t>Shortcuts never pretend to be the real answer.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00984" y="398678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Dataverse holds the official record. Fast cached copies speed reads but are never treated as authoritative.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071616" y="3346704"/>
            <a:ext cx="27157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71616" y="3346704"/>
            <a:ext cx="27157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9632" y="34564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C2D52"/>
                </a:solidFill>
              </a:rPr>
              <a:t>See everything in one place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99632" y="36758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185FA5"/>
                </a:solidFill>
              </a:rPr>
              <a:t>One window, not fifty places to check.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99632" y="398678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Because every operation crosses one front door, logs, metrics, and failures show up in a single dashboard for all vendors.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Observability and resilience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A75"/>
                </a:solidFill>
              </a:rPr>
              <a:t>How we see what is happening, and how the platform keeps working when something fails.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310896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91440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Observability stack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4206240" cy="749808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98448"/>
            <a:ext cx="64008" cy="7498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D52"/>
                </a:solidFill>
              </a:rPr>
              <a:t>APIM analytics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91056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2540"/>
                </a:solidFill>
              </a:rPr>
              <a:t>Who called what, how often, success vs error — seen right at the front door.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139696"/>
            <a:ext cx="4206240" cy="749808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39696"/>
            <a:ext cx="64008" cy="7498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2128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D52"/>
                </a:solidFill>
              </a:rPr>
              <a:t>Application Insights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432304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2540"/>
                </a:solidFill>
              </a:rPr>
              <a:t>Traces one request end to end across the receiver, handler, and adapters.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980944"/>
            <a:ext cx="4206240" cy="749808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80944"/>
            <a:ext cx="64008" cy="7498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0540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D52"/>
                </a:solidFill>
              </a:rPr>
              <a:t>Log Analytics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" y="3273552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2540"/>
                </a:solidFill>
              </a:rPr>
              <a:t>One place to search every log with queries, across all vendors at once.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822192"/>
            <a:ext cx="4206240" cy="749808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822192"/>
            <a:ext cx="64008" cy="7498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89534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D52"/>
                </a:solidFill>
              </a:rPr>
              <a:t>Azure Monitor + alerts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" y="411480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2540"/>
                </a:solidFill>
              </a:rPr>
              <a:t>Dashboards and automatic alerts — queue backing up, error spike, dead-letters.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914400"/>
            <a:ext cx="4206240" cy="31089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91440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Resilience patterns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1298448"/>
            <a:ext cx="4206240" cy="502920"/>
          </a:xfrm>
          <a:prstGeom prst="rect">
            <a:avLst/>
          </a:prstGeom>
          <a:solidFill>
            <a:srgbClr val="F2F6FB"/>
          </a:solidFill>
          <a:ln w="7620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91456" y="1298448"/>
            <a:ext cx="3968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C2D52"/>
                </a:solidFill>
              </a:rPr>
              <a:t>Buffer + 202  </a:t>
            </a:r>
            <a:pPr indent="0" marL="0">
              <a:buNone/>
            </a:pPr>
            <a:r>
              <a:rPr lang="en-US" sz="830" dirty="0">
                <a:solidFill>
                  <a:srgbClr val="0F2540"/>
                </a:solidFill>
              </a:rPr>
              <a:t>— accept, queue, reply at once — a downstream slow-down never blocks the vendor.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4663440" y="1860804"/>
            <a:ext cx="4206240" cy="502920"/>
          </a:xfrm>
          <a:prstGeom prst="rect">
            <a:avLst/>
          </a:prstGeom>
          <a:solidFill>
            <a:srgbClr val="F2F6FB"/>
          </a:solidFill>
          <a:ln w="7620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91456" y="1860804"/>
            <a:ext cx="3968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C2D52"/>
                </a:solidFill>
              </a:rPr>
              <a:t>Retry with backoff  </a:t>
            </a:r>
            <a:pPr indent="0" marL="0">
              <a:buNone/>
            </a:pPr>
            <a:r>
              <a:rPr lang="en-US" sz="830" dirty="0">
                <a:solidFill>
                  <a:srgbClr val="0F2540"/>
                </a:solidFill>
              </a:rPr>
              <a:t>— a failed write retries automatically, waiting longer each time before giving up.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4663440" y="2423160"/>
            <a:ext cx="4206240" cy="502920"/>
          </a:xfrm>
          <a:prstGeom prst="rect">
            <a:avLst/>
          </a:prstGeom>
          <a:solidFill>
            <a:srgbClr val="F2F6FB"/>
          </a:solidFill>
          <a:ln w="7620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91456" y="2423160"/>
            <a:ext cx="3968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C2D52"/>
                </a:solidFill>
              </a:rPr>
              <a:t>Dead-letter queue  </a:t>
            </a:r>
            <a:pPr indent="0" marL="0">
              <a:buNone/>
            </a:pPr>
            <a:r>
              <a:rPr lang="en-US" sz="830" dirty="0">
                <a:solidFill>
                  <a:srgbClr val="0F2540"/>
                </a:solidFill>
              </a:rPr>
              <a:t>— anything that keeps failing is parked safely for review, never silently lost.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4663440" y="2985516"/>
            <a:ext cx="4206240" cy="502920"/>
          </a:xfrm>
          <a:prstGeom prst="rect">
            <a:avLst/>
          </a:prstGeom>
          <a:solidFill>
            <a:srgbClr val="F2F6FB"/>
          </a:solidFill>
          <a:ln w="7620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91456" y="2985516"/>
            <a:ext cx="3968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C2D52"/>
                </a:solidFill>
              </a:rPr>
              <a:t>Idempotency keys  </a:t>
            </a:r>
            <a:pPr indent="0" marL="0">
              <a:buNone/>
            </a:pPr>
            <a:r>
              <a:rPr lang="en-US" sz="830" dirty="0">
                <a:solidFill>
                  <a:srgbClr val="0F2540"/>
                </a:solidFill>
              </a:rPr>
              <a:t>— the same message arriving twice is processed once — no duplicate work orders.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4663440" y="3547872"/>
            <a:ext cx="4206240" cy="502920"/>
          </a:xfrm>
          <a:prstGeom prst="rect">
            <a:avLst/>
          </a:prstGeom>
          <a:solidFill>
            <a:srgbClr val="F2F6FB"/>
          </a:solidFill>
          <a:ln w="7620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91456" y="3547872"/>
            <a:ext cx="3968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C2D52"/>
                </a:solidFill>
              </a:rPr>
              <a:t>Per-branch isolation  </a:t>
            </a:r>
            <a:pPr indent="0" marL="0">
              <a:buNone/>
            </a:pPr>
            <a:r>
              <a:rPr lang="en-US" sz="830" dirty="0">
                <a:solidFill>
                  <a:srgbClr val="0F2540"/>
                </a:solidFill>
              </a:rPr>
              <a:t>— each vendor delivery retries on its own; one vendor down never stalls others.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4663440" y="4110228"/>
            <a:ext cx="4206240" cy="502920"/>
          </a:xfrm>
          <a:prstGeom prst="rect">
            <a:avLst/>
          </a:prstGeom>
          <a:solidFill>
            <a:srgbClr val="F2F6FB"/>
          </a:solidFill>
          <a:ln w="7620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91456" y="4110228"/>
            <a:ext cx="3968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C2D52"/>
                </a:solidFill>
              </a:rPr>
              <a:t>Event replay (Option 2)  </a:t>
            </a:r>
            <a:pPr indent="0" marL="0">
              <a:buNone/>
            </a:pPr>
            <a:r>
              <a:rPr lang="en-US" sz="830" dirty="0">
                <a:solidFill>
                  <a:srgbClr val="0F2540"/>
                </a:solidFill>
              </a:rPr>
              <a:t>— re-run missed work orders for an offline vendor from any point in time.</a:t>
            </a:r>
            <a:endParaRPr lang="en-US" sz="8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Option 1 — API-first solution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D4F4"/>
                </a:solidFill>
              </a:rPr>
              <a:t>at a glance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603504"/>
            <a:ext cx="8595360" cy="457200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603504"/>
            <a:ext cx="73152" cy="4572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03504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One governed API front door for every vendor.  </a:t>
            </a:r>
            <a:pPr indent="0" marL="0">
              <a:buNone/>
            </a:pPr>
            <a:r>
              <a:rPr lang="en-US" sz="1100" dirty="0">
                <a:solidFill>
                  <a:srgbClr val="DCE8F5"/>
                </a:solidFill>
              </a:rPr>
              <a:t>Build two core APIs once; onboard 50+ vendors as configuration, not code.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20299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170432"/>
            <a:ext cx="20299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298448"/>
            <a:ext cx="219456" cy="21945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2984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1289304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Two core APIs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1682496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Repair API and Work Order API, published once. The contract is the model.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41448" y="1170432"/>
            <a:ext cx="20299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41448" y="1170432"/>
            <a:ext cx="20299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1176" y="1298448"/>
            <a:ext cx="219456" cy="21945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51176" y="12984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43784" y="1289304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Unified gateway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51176" y="1682496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One APIM front door for all vendors — routing, keys, versioning, limits in one place.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08576" y="1170432"/>
            <a:ext cx="20299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08576" y="1170432"/>
            <a:ext cx="20299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18304" y="1298448"/>
            <a:ext cx="219456" cy="21945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12984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10912" y="1289304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Durable write path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18304" y="1682496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Receiver returns 202 and queues to Service Bus; shared handler writes with retry and DLQ.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775704" y="1170432"/>
            <a:ext cx="20299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75704" y="1170432"/>
            <a:ext cx="20299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85432" y="1298448"/>
            <a:ext cx="219456" cy="21945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85432" y="12984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78040" y="1289304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Per-channel adapters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85432" y="1682496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A thin adapter per channel (HTTP, file, email). Vendor specifics are a resolver row.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2615184"/>
            <a:ext cx="20299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2615184"/>
            <a:ext cx="20299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" y="2743200"/>
            <a:ext cx="219456" cy="21945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27432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6656" y="2734056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Self-service onboarding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84048" y="3127248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Vendors get keys and the spec via the portal. Adding one is config, not code.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441448" y="2615184"/>
            <a:ext cx="20299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441448" y="2615184"/>
            <a:ext cx="20299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51176" y="2743200"/>
            <a:ext cx="219456" cy="21945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51176" y="27432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843784" y="2734056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Full observability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551176" y="3127248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Every call traced end to end — logs, metrics, and alerts in one dashboard for all vendors.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08576" y="2615184"/>
            <a:ext cx="20299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08576" y="2615184"/>
            <a:ext cx="20299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18304" y="2743200"/>
            <a:ext cx="219456" cy="21945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27432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10912" y="2734056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Scale on demand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718304" y="3127248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Functions and queues scale out with load. A traffic burst is absorbed, never dropped.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775704" y="2615184"/>
            <a:ext cx="20299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775704" y="2615184"/>
            <a:ext cx="20299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85432" y="2743200"/>
            <a:ext cx="219456" cy="21945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85432" y="27432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178040" y="2734056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Secured by nature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885432" y="3127248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Auth, keys, and TLS enforced at the gateway. Vendors never touch Dataverse directly.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74320" y="4498848"/>
            <a:ext cx="2029968" cy="457200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365760" y="44988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1143000" y="44988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5D4F4"/>
                </a:solidFill>
              </a:rPr>
              <a:t>core APIs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441448" y="4498848"/>
            <a:ext cx="2029968" cy="457200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2532888" y="44988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3310128" y="44988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5D4F4"/>
                </a:solidFill>
              </a:rPr>
              <a:t>contract for all vendors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608576" y="4498848"/>
            <a:ext cx="2029968" cy="457200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4700016" y="44988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50+</a:t>
            </a:r>
            <a:endParaRPr lang="en-US" sz="1500" dirty="0"/>
          </a:p>
        </p:txBody>
      </p:sp>
      <p:sp>
        <p:nvSpPr>
          <p:cNvPr id="65" name="Text 63"/>
          <p:cNvSpPr/>
          <p:nvPr/>
        </p:nvSpPr>
        <p:spPr>
          <a:xfrm>
            <a:off x="5477256" y="44988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5D4F4"/>
                </a:solidFill>
              </a:rPr>
              <a:t>vendors as config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775704" y="4498848"/>
            <a:ext cx="2029968" cy="457200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6867144" y="44988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3-5 mo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7644384" y="44988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5D4F4"/>
                </a:solidFill>
              </a:rPr>
              <a:t>to deliver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 Order Issue Flow + Architecture Principles</dc:title>
  <dc:subject>PptxGenJS Presentation</dc:subject>
  <dc:creator>PptxGenJS</dc:creator>
  <cp:lastModifiedBy>PptxGenJS</cp:lastModifiedBy>
  <cp:revision>1</cp:revision>
  <dcterms:created xsi:type="dcterms:W3CDTF">2026-06-03T22:15:24Z</dcterms:created>
  <dcterms:modified xsi:type="dcterms:W3CDTF">2026-06-03T22:15:24Z</dcterms:modified>
</cp:coreProperties>
</file>