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716000" cy="713291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2903" y="252624"/>
            <a:ext cx="13270192" cy="356645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Which boundary does this integration cross?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0379" y="624130"/>
            <a:ext cx="0" cy="118881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22903" y="772732"/>
            <a:ext cx="3194951" cy="35664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INTERNAL</a:t>
            </a:r>
          </a:p>
          <a:p>
            <a:pPr algn="ctr"/>
            <a:r>
              <a:rPr sz="950" b="0" i="0">
                <a:solidFill>
                  <a:srgbClr val="D7E1F0"/>
                </a:solidFill>
                <a:latin typeface="Calibri"/>
              </a:rPr>
              <a:t>Chaucer → Chaucer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2903" y="1248260"/>
            <a:ext cx="2303336" cy="356645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Synchronous request/response (REST)?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48530" y="1426582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41100" y="1285410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04563" y="1270550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74572" y="1627196"/>
            <a:ext cx="0" cy="111451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48873" y="1627196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2903" y="1768368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Shielding consumers from backend or protocol complexity?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48530" y="1983841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541100" y="1842669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04563" y="1827809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SIF-P04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74572" y="2221605"/>
            <a:ext cx="0" cy="111452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48873" y="2221605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2903" y="2362777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Guaranteed delivery to ONE consumer (retry, DLQ)?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48530" y="2578251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541100" y="2437079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04563" y="2422218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SIF-P05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74572" y="2816015"/>
            <a:ext cx="0" cy="111451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448873" y="2816015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2903" y="2957187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Durable message to MULTIPLE independent consumers?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48530" y="3172660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541100" y="3031488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04563" y="3016628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SIF-P06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74572" y="3410424"/>
            <a:ext cx="0" cy="111452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448873" y="3410424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2903" y="3551596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Notifying that a business event occurred?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48530" y="3767070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541100" y="3625898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04563" y="3611037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SIF-P07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374572" y="4004834"/>
            <a:ext cx="0" cy="111452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448873" y="4004834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2903" y="4146006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Sustained high-volume event or telemetry ingest?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548530" y="4361479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541100" y="4220307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04563" y="4205447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SIF-P08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374572" y="4599243"/>
            <a:ext cx="0" cy="111452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48873" y="4599243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2903" y="4740416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Coordinating a multi-step process across systems?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548530" y="4955889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541100" y="4814717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04563" y="4799856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SIF-P09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374572" y="5193653"/>
            <a:ext cx="0" cy="111452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48873" y="5193653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22903" y="5334825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Needs state, retries, compensation, callback or approval?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548530" y="5550299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541100" y="5409126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04563" y="5394266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SIF-P10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374572" y="5788062"/>
            <a:ext cx="0" cy="111452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448873" y="5788062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22903" y="5929235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Moving or processing files between systems?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548530" y="6144708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541100" y="6003536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04563" y="5988676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SIF-P12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374572" y="6382472"/>
            <a:ext cx="0" cy="126312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448873" y="6397332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22903" y="6538504"/>
            <a:ext cx="2303336" cy="32692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SIF-P14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178793" y="624130"/>
            <a:ext cx="0" cy="118881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3581317" y="772732"/>
            <a:ext cx="3194951" cy="35664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INBOUND</a:t>
            </a:r>
          </a:p>
          <a:p>
            <a:pPr algn="ctr"/>
            <a:r>
              <a:rPr sz="950" b="0" i="0">
                <a:solidFill>
                  <a:srgbClr val="D7E1F0"/>
                </a:solidFill>
                <a:latin typeface="Calibri"/>
              </a:rPr>
              <a:t>Third party → Chaucer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581317" y="1248260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Do they CALL our API and expect a response?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906944" y="1463733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899514" y="1322561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62977" y="1307700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SIF-P02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4732985" y="1701497"/>
            <a:ext cx="0" cy="111452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807287" y="1701497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581317" y="1842669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Do they PUSH a callback or event (no reply)?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906944" y="2058143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899514" y="1916970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062977" y="1902110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SIF-P11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4732985" y="2295906"/>
            <a:ext cx="0" cy="111452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807287" y="2295906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581317" y="2437079"/>
            <a:ext cx="2303336" cy="356645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Do they SEND files to Chaucer?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906944" y="2615401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899514" y="2474229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62977" y="2459369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SIF-P12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4732985" y="2816015"/>
            <a:ext cx="0" cy="111451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807287" y="2816015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581317" y="2957187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Is external data supplied for analytical ingestion?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906944" y="3172660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899514" y="3031488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062977" y="3016628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SIF-P13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4732985" y="3410424"/>
            <a:ext cx="0" cy="111452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4807287" y="3410424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581317" y="3551596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Exposing a stable contract over internal or legacy systems?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5906944" y="3767070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5899514" y="3625898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062977" y="3611037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SIF-P04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4732985" y="4004834"/>
            <a:ext cx="0" cy="126312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4807287" y="4019694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581317" y="4160866"/>
            <a:ext cx="2303336" cy="32692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SIF-P14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8537206" y="624130"/>
            <a:ext cx="0" cy="118881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6939731" y="772732"/>
            <a:ext cx="3194951" cy="35664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OUTBOUND</a:t>
            </a:r>
          </a:p>
          <a:p>
            <a:pPr algn="ctr"/>
            <a:r>
              <a:rPr sz="950" b="0" i="0">
                <a:solidFill>
                  <a:srgbClr val="D7E1F0"/>
                </a:solidFill>
                <a:latin typeface="Calibri"/>
              </a:rPr>
              <a:t>Chaucer → third party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939731" y="1248260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Do we invoke a supplier, SaaS or market API directly?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9265358" y="1463733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9257928" y="1322561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421391" y="1307700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SIF-P03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8091399" y="1701497"/>
            <a:ext cx="0" cy="111452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8165700" y="1701497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939731" y="1842669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Do we need a reusable facade over a third-party API?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9265358" y="2058143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9257928" y="1916970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421391" y="1902110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SIF-P04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8091399" y="2295906"/>
            <a:ext cx="0" cy="111452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8165700" y="2295906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939731" y="2437079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Notifying an external party of a business event?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9265358" y="2652552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9257928" y="2511380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421391" y="2496520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SIF-P07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8091399" y="2890316"/>
            <a:ext cx="0" cy="111452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8165700" y="2890316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939731" y="3031488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Coordinating a multi-step process with third parties?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9265358" y="3246962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9257928" y="3105789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421391" y="3090929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SIF-P09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8091399" y="3484725"/>
            <a:ext cx="0" cy="111452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8165700" y="3484725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939731" y="3625898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Needs polling, callback, delay, escalation or compensation?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9265358" y="3841371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9257928" y="3700199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421391" y="3685339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SIF-P10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8091399" y="4079135"/>
            <a:ext cx="0" cy="111452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8165700" y="4079135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939731" y="4220307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Sending a file to a supplier, broker or regulator?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9265358" y="4435781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9257928" y="4294608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9421391" y="4279748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SIF-P12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8091399" y="4673544"/>
            <a:ext cx="0" cy="126312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8165700" y="4688405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939731" y="4829577"/>
            <a:ext cx="2303336" cy="32692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SIF-P14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11895620" y="624130"/>
            <a:ext cx="0" cy="118881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/>
          <p:cNvSpPr/>
          <p:nvPr/>
        </p:nvSpPr>
        <p:spPr>
          <a:xfrm>
            <a:off x="10298145" y="772732"/>
            <a:ext cx="3194951" cy="35664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DATA PLATFORM</a:t>
            </a:r>
          </a:p>
          <a:p>
            <a:pPr algn="ctr"/>
            <a:r>
              <a:rPr sz="950" b="0" i="0">
                <a:solidFill>
                  <a:srgbClr val="D7E1F0"/>
                </a:solidFill>
                <a:latin typeface="Calibri"/>
              </a:rPr>
              <a:t>SIF ↔ Data platform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0298145" y="1248260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Notifying the platform that governed data is available?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12623772" y="1463733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2616342" y="1322561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2779804" y="1307700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SIF-P07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11449813" y="1701497"/>
            <a:ext cx="0" cy="111452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11524114" y="1701497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0298145" y="1842669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Streaming high-volume events or telemetry for analytics?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12623772" y="2058143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12616342" y="1916970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2779804" y="1902110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SIF-P08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11449813" y="2295906"/>
            <a:ext cx="0" cy="111452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11524114" y="2295906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0298145" y="2437079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Landing files in a landing zone or exporting curated data?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12623772" y="2652552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12616342" y="2511380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779804" y="2496520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SIF-P12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11449813" y="2890316"/>
            <a:ext cx="0" cy="111452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11524114" y="2890316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0298145" y="3031488"/>
            <a:ext cx="2303336" cy="430946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050" b="0" i="0">
                <a:solidFill>
                  <a:srgbClr val="1F3864"/>
                </a:solidFill>
                <a:latin typeface="Calibri"/>
              </a:rPr>
              <a:t>Governed ingestion or consumption of curated data products?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12623772" y="3246962"/>
            <a:ext cx="118882" cy="0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12616342" y="3105789"/>
            <a:ext cx="178322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688"/>
                </a:solidFill>
                <a:latin typeface="Calibri"/>
              </a:rPr>
              <a:t>yes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2779804" y="3090929"/>
            <a:ext cx="713291" cy="31206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SIF-P13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11449813" y="3484725"/>
            <a:ext cx="0" cy="126312"/>
          </a:xfrm>
          <a:prstGeom prst="line">
            <a:avLst/>
          </a:prstGeom>
          <a:ln w="16510">
            <a:solidFill>
              <a:srgbClr val="7E8C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1524114" y="3499586"/>
            <a:ext cx="297204" cy="104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4A5568"/>
                </a:solidFill>
                <a:latin typeface="Calibri"/>
              </a:rPr>
              <a:t>no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0298145" y="3640758"/>
            <a:ext cx="2303336" cy="326925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10000" bIns="100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SIF-P14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