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Greenfield APIM build. Five decisions: reference architecture and edge, hosting model, ingress, egress, HA/DR.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APIM is the single control point for external APIs. Front Door is the only public surface; APIM sits private behind Private Link and aligns to the SIF layering.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Hosting model is Premium classic, managed gateway, VNet injection, Internal mode. Self-hosted gateway is an add-on for on-prem and data-residency backends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WAF at the edge, APIM for identity and quota. App Gateway only by exception. Palo Alto deliberately out of the HTTPS ingress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intent removes per-spoke UDR management. Palo Alto inspects north-south egress and east-west. PaaS never hairpins through the hub or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units means 2 zones. Warm standby is billed as a full unit 24/7, so the cheapest credible DR is rebuild-on-demand from IaC plus backups, validated by a quarterly drill.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1463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Build-Out Design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154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APIM deployment — edge, hosting, ingress, egress and resilience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1868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1324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0780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0780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0236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DR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in the Integration Landscape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policy-enforced front door for every external API. APIM itself holds no public endpoint.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874520" cy="2194560"/>
          </a:xfrm>
          <a:prstGeom prst="roundRect">
            <a:avLst>
              <a:gd name="adj" fmla="val 2927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5636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82880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internal callers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35000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/ B2B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LOB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156362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PUBLIC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828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Premium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235000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WAF: managed DRS + bot rules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protection, TLS 1.2 / 1.3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anycast + caching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entry 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62472" y="1563624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PRIVATE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18288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· internal VNet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2350008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 validation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versions, revisions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throttle, schema checks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shaping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679192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1432" y="156362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— PRIVATE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18288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&amp; services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350008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/ Container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Logic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via ExpressRoute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871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2860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2578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67928" y="2514600"/>
            <a:ext cx="329184" cy="0"/>
          </a:xfrm>
          <a:prstGeom prst="line">
            <a:avLst/>
          </a:prstGeom>
          <a:noFill/>
          <a:ln w="25400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3667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ALIGNMENT — API LAYERING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EDF2F7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APIs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Channel-facing. Published as APIM products with subscriptions and per-consumer quotas.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2064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EDF2F7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6656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APIs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86656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in Logic Apps / Functions. Reachable only inside the VNet, never from the edge.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41208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EDF2F7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05800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APIs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05800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record. Private endpoints only; never exposed directly to consumers.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53212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5532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 </a:t>
            </a:r>
            <a:pPr indent="0" marL="0">
              <a:buNone/>
            </a:pP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(WAF + DDoS) → Private Link → APIM internal. No public IP on APIM. Application Gateway added only where per-app L7 rules or mTLS are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HOSTING MODEL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VNet-Injected or Self-Hosted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 = Premium (classic), managed gateway, VNet injection in Internal mode. Self-hosted gateway is a hybrid add-on.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6416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5E6D7C"/>
          </a:solidFill>
          <a:ln w="12700">
            <a:solidFill>
              <a:srgbClr val="5E6D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6416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+ Private Endpoint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multi-tenant gateway · External mode · inbound Private Endpoint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stays on the Microsoft network — no VNet presence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private link only; outbound leaves via public egress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reach private or on-premises backends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no inspected egress, no private backend reach.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2064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4944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85560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5560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504944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— Internal mode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04944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504944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VNet · Internal mode · stv2 · Premium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04944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NICs in a dedicated /24 subnet, ILB only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gateway endpoint — Front Door reaches it over Private Link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reach to PaaS, spokes and on-prem; full UDR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04944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2104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all external and internal API traffic.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1208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4088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04704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04704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ADD-ON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4088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Gateway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4088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324088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container on AKS / on-prem · control plane stays in Azure APIM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4088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plane next to the backend; removes hairpin round-trips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regulated traffic inside its own boundary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 one logical APIM instance and policy set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4088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61248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data-residency or latency-bound on-prem backends.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230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PREREQUISITES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/24 subnet per region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44418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09010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NSG: 3443 ApiManagement, 6390 LB, 443 Storage / SQL / KV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85916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0508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 azure-api.net → ILB IP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27414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92006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stv2 platform · Premium tier · zone-redundant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Ingress &amp; WAF Sufficiency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L7 inspection point at the edge; every layer below adds identity and control, not a second WAF.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96589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79469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6045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316045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 → AFD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62825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570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228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88228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TLS · DDoS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29062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1942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8518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48518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inbound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95298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78178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4754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GW WAF v2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014754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internal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361535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4441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E3F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8099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58099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· quota · schema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27771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1065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4722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4722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813304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13304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DRS 2.1 + bot protection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DDoS, rate limiting, geo-filter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public entry point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22064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04944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WAF v2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32448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32448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504944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only, never internet-facing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for per-app L7 rules, mTLS or path rewrite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WAF to tune — by exception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41208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0E3F6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4088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— Internal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0451592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451592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324088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 validation + subscription keys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Quotas, throttling, JSON / XML schema checks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backends over the private network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4251960"/>
            <a:ext cx="5454396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43982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5E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POSITIONING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inline for public HTTPS ingress — TLS is already terminated at Front Door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NGFW here would re-terminate and duplicate L7 inspection for no gain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owns egress, east-west and non-HTTP flows instead (slide 4)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31636" y="4251960"/>
            <a:ext cx="5454396" cy="1325880"/>
          </a:xfrm>
          <a:prstGeom prst="roundRect">
            <a:avLst>
              <a:gd name="adj" fmla="val 4138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14516" y="4398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SUFFICIENCY &amp; EXCEPTIONS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414516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mode by default; Detection only for a time-boxed 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per-rule, per-URI exclusions — never a global rule disable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exception carries owner, justification, expiry and CAB record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APIM diagnostics → Log Analytics and Sentinel alerting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920" y="576072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3232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DECISION  </a:t>
            </a:r>
            <a:pPr indent="0" marL="0">
              <a:buNone/>
            </a:pP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WAF covers OWASP top-10 and bot protection for external APIs. Application Gateway WAF is an exception-only second layer, never a default.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EGRESS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Egress via Virtual WAN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 forces internet and private traffic through the NGFW; Azure PaaS stays on private endpoints.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subnet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57628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40508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77084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0.0.0.0/0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577084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secured hub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84904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67784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04360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04360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12180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5060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F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1636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31636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proxy · FQDN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39456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22336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58912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058912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egress IP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66732" y="2002536"/>
            <a:ext cx="164592" cy="0"/>
          </a:xfrm>
          <a:prstGeom prst="line">
            <a:avLst/>
          </a:prstGeom>
          <a:noFill/>
          <a:ln w="22225">
            <a:solidFill>
              <a:srgbClr val="1B6FB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4961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618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88618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APIM VNET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gateway subnet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0.0.0.0/0 → secured hub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IP, no NAT gateway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 off — private endpoints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22064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25400">
            <a:solidFill>
              <a:srgbClr val="1B6F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04944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SECURED HUB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04944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intent: Internet + Private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04944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Cloud NGFW (SaaS) or VM-Series in the hub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forward proxy, FQDN allow-list, App-ID policy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routing policy — no per-spoke UDR sprawl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41208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4088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24088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allow by exception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24088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 APIs over allow-listed FQDNs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systems via ExpressRoute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 — never hairpins the hub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7512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DESIGN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zones linked to the hub and all spokes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 bridges on-prem ↔ Azure resolution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Split-horizon: the public API FQDN resolves to the ILB inside the VNet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1636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6228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CONTROLS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96228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FQDNs approved and recorded per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Certificate-pinning bypasses logged with an expiry 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APIM's own outbound dependencies exempted from TLS inspection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13232" y="5715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DECISION  </a:t>
            </a:r>
            <a:pPr indent="0" marL="0">
              <a:buNone/>
            </a:pP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routing intent with Palo Alto in the secured hub; private endpoints for all Azure PaaS so only genuine third-party traffic leaves the estate.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DISASTER RECOVERY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Redundancy Now, Lowest-Cost DR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across 2 zones in the primary region. Secondary-region cost is a straight trade against RTO.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REGION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2876" y="1463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2876" y="1463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755648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· 2 units · zone-redundant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10312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03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210312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E3ECF4"/>
          </a:solidFill>
          <a:ln w="12700">
            <a:solidFill>
              <a:srgbClr val="E3EC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2103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487168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= 2 zones — unit count sets how many zones you can span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loss is absorbed in-region: no failover, no DNS change, RTO 0 / RPO 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units in-region for load before adding a second region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1636" y="1325880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12700">
            <a:solidFill>
              <a:srgbClr val="5E6D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1481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5E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REALITY — A WARM STANDBY IS BILLED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1755648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cold or paused APIM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2121408"/>
            <a:ext cx="50886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region is added as scale units — you choose the unit count and pay per unit-hour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idle gateway unit costs the same as a busy one; the multi-region add-on is billed 24/7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DR spend is driven by the RTO you commit to, not by traffic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25400">
            <a:solidFill>
              <a:srgbClr val="0E3F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Rebuild on demand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694432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0E3F6E"/>
          </a:solidFill>
          <a:ln w="12700">
            <a:solidFill>
              <a:srgbClr val="0E3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4432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none — storage + pipeline only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in DR: VNet, subnets, NSG/UDR, Private DNS and Key Vault certs pre-staged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/ Terraform + APIOps in Azure DevOps rebuild the instance; nightly backup to GRS storage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hours (provision Premium, restore config, repoint Front Door) — backups expire after 30 days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2064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04944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Pre-staged shell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3576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1B6FB3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3576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GROUND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04944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a Developer-tier placeholder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04944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instance exists and holds config, custom domain and VNet wiring; no production capacity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Premium at invocation — restore requires the target tier to match the source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roughly an hour, most of it the tier change; must be drilled to be credible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41208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4088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Warm standby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332720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3F6B8F"/>
          </a:solidFill>
          <a:ln w="12700">
            <a:solidFill>
              <a:srgbClr val="3F6B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32720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DEAREST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324088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+1 Premium unit, 24/7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24088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add-on: gateway config syncs automatically, typically within seconds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priority routing shifts traffic on probe failure — RTO minutes, RPO near zero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active/active by switching Front Door to weighted routing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5468112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0F5FA"/>
          </a:solidFill>
          <a:ln w="12700">
            <a:solidFill>
              <a:srgbClr val="1B6F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546811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RECOMMENDATION  </a:t>
            </a:r>
            <a:pPr indent="0" marL="0">
              <a:buNone/>
            </a:pPr>
            <a:r>
              <a:rPr lang="en-US" sz="1100" dirty="0">
                <a:solidFill>
                  <a:srgbClr val="1B2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option 1 while the business RTO tolerance is measured in hours — nothing runs in the DR region, so DR costs storage and pipeline time only. Re-price against option 3 only if an RTO under one hour is mandated. Any option converts to active/active later by adding units to the second region.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2026-09-22T10:49:43Z</dcterms:created>
  <dcterms:modified xsi:type="dcterms:W3CDTF">2026-09-22T10:49:43Z</dcterms:modified>
</cp:coreProperties>
</file>