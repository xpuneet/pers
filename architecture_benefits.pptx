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49377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37744" y="0"/>
            <a:ext cx="7315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Why the new architecture works — benefit of each component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D4F4"/>
                </a:solidFill>
              </a:rPr>
              <a:t>by layer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66928"/>
            <a:ext cx="1828800" cy="274320"/>
          </a:xfrm>
          <a:prstGeom prst="rect">
            <a:avLst/>
          </a:prstGeom>
          <a:solidFill>
            <a:srgbClr val="5A6B7E"/>
          </a:solidFill>
          <a:ln w="12700">
            <a:solidFill>
              <a:srgbClr val="5A6B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566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Component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57984" y="566928"/>
            <a:ext cx="3127248" cy="274320"/>
          </a:xfrm>
          <a:prstGeom prst="rect">
            <a:avLst/>
          </a:prstGeom>
          <a:solidFill>
            <a:srgbClr val="8AA0B8"/>
          </a:solidFill>
          <a:ln w="12700">
            <a:solidFill>
              <a:srgbClr val="8AA0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566928"/>
            <a:ext cx="3035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What it replaces today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40096" y="566928"/>
            <a:ext cx="3529584" cy="2743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13248" y="56692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Your benefit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841248"/>
            <a:ext cx="8631936" cy="20116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412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78ADD"/>
                </a:solidFill>
              </a:rPr>
              <a:t>L1 — API EXPERIENCE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042416"/>
            <a:ext cx="1828800" cy="292608"/>
          </a:xfrm>
          <a:prstGeom prst="rect">
            <a:avLst/>
          </a:prstGeom>
          <a:solidFill>
            <a:srgbClr val="D6E6F7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042416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C2D52"/>
                </a:solidFill>
              </a:rPr>
              <a:t>APIM gateway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157984" y="1042416"/>
            <a:ext cx="312724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1042416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AA0B8"/>
                </a:solidFill>
              </a:rPr>
              <a:t>–  </a:t>
            </a:r>
            <a:pPr indent="0" marL="0">
              <a:buNone/>
            </a:pPr>
            <a:r>
              <a:rPr lang="en-US" sz="760" dirty="0">
                <a:solidFill>
                  <a:srgbClr val="5A6B7E"/>
                </a:solidFill>
              </a:rPr>
              <a:t>No single entry point; every vendor wired in differently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340096" y="1042416"/>
            <a:ext cx="352958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85B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04241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760" dirty="0">
                <a:solidFill>
                  <a:srgbClr val="0F2540"/>
                </a:solidFill>
              </a:rPr>
              <a:t>One secured front door. Central auth, throttling, versioning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274320" y="1335024"/>
            <a:ext cx="1828800" cy="292608"/>
          </a:xfrm>
          <a:prstGeom prst="rect">
            <a:avLst/>
          </a:prstGeom>
          <a:solidFill>
            <a:srgbClr val="D6E6F7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335024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C2D52"/>
                </a:solidFill>
              </a:rPr>
              <a:t>Repair &amp; Work Order API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2157984" y="1335024"/>
            <a:ext cx="3127248" cy="292608"/>
          </a:xfrm>
          <a:prstGeom prst="rect">
            <a:avLst/>
          </a:prstGeom>
          <a:solidFill>
            <a:srgbClr val="EFF6FF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31136" y="1335024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AA0B8"/>
                </a:solidFill>
              </a:rPr>
              <a:t>–  </a:t>
            </a:r>
            <a:pPr indent="0" marL="0">
              <a:buNone/>
            </a:pPr>
            <a:r>
              <a:rPr lang="en-US" sz="760" dirty="0">
                <a:solidFill>
                  <a:srgbClr val="5A6B7E"/>
                </a:solidFill>
              </a:rPr>
              <a:t>Bespoke integration code per vendor, no shared contract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5340096" y="1335024"/>
            <a:ext cx="3529584" cy="292608"/>
          </a:xfrm>
          <a:prstGeom prst="rect">
            <a:avLst/>
          </a:prstGeom>
          <a:solidFill>
            <a:srgbClr val="E6F1FB"/>
          </a:solidFill>
          <a:ln w="3810">
            <a:solidFill>
              <a:srgbClr val="85B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1335024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760" dirty="0">
                <a:solidFill>
                  <a:srgbClr val="0F2540"/>
                </a:solidFill>
              </a:rPr>
              <a:t>One published contract; vendors self-serve, nothing custom to build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274320" y="1627632"/>
            <a:ext cx="8631936" cy="20116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6276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78ADD"/>
                </a:solidFill>
              </a:rPr>
              <a:t>L2 — ORCHESTRATION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1828800"/>
            <a:ext cx="1828800" cy="292608"/>
          </a:xfrm>
          <a:prstGeom prst="rect">
            <a:avLst/>
          </a:prstGeom>
          <a:solidFill>
            <a:srgbClr val="D6E6F7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1828800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C2D52"/>
                </a:solidFill>
              </a:rPr>
              <a:t>Receiver + Service Bus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2157984" y="1828800"/>
            <a:ext cx="312724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31136" y="182880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AA0B8"/>
                </a:solidFill>
              </a:rPr>
              <a:t>–  </a:t>
            </a:r>
            <a:pPr indent="0" marL="0">
              <a:buNone/>
            </a:pPr>
            <a:r>
              <a:rPr lang="en-US" sz="760" dirty="0">
                <a:solidFill>
                  <a:srgbClr val="5A6B7E"/>
                </a:solidFill>
              </a:rPr>
              <a:t>Synchronous calls fail under load; messages lost, no retry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340096" y="1828800"/>
            <a:ext cx="352958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85B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1828800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760" dirty="0">
                <a:solidFill>
                  <a:srgbClr val="0F2540"/>
                </a:solidFill>
              </a:rPr>
              <a:t>Accept-and-buffer (202). Durable, ordered, auto-retry, dead-letter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274320" y="2121408"/>
            <a:ext cx="1828800" cy="292608"/>
          </a:xfrm>
          <a:prstGeom prst="rect">
            <a:avLst/>
          </a:prstGeom>
          <a:solidFill>
            <a:srgbClr val="D6E6F7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121408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C2D52"/>
                </a:solidFill>
              </a:rPr>
              <a:t>Shared handler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2157984" y="2121408"/>
            <a:ext cx="3127248" cy="292608"/>
          </a:xfrm>
          <a:prstGeom prst="rect">
            <a:avLst/>
          </a:prstGeom>
          <a:solidFill>
            <a:srgbClr val="EFF6FF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31136" y="2121408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AA0B8"/>
                </a:solidFill>
              </a:rPr>
              <a:t>–  </a:t>
            </a:r>
            <a:pPr indent="0" marL="0">
              <a:buNone/>
            </a:pPr>
            <a:r>
              <a:rPr lang="en-US" sz="760" dirty="0">
                <a:solidFill>
                  <a:srgbClr val="5A6B7E"/>
                </a:solidFill>
              </a:rPr>
              <a:t>Two or more bespoke Logic Apps per vendor to maintain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5340096" y="2121408"/>
            <a:ext cx="3529584" cy="292608"/>
          </a:xfrm>
          <a:prstGeom prst="rect">
            <a:avLst/>
          </a:prstGeom>
          <a:solidFill>
            <a:srgbClr val="E6F1FB"/>
          </a:solidFill>
          <a:ln w="3810">
            <a:solidFill>
              <a:srgbClr val="85B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13248" y="2121408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760" dirty="0">
                <a:solidFill>
                  <a:srgbClr val="0F2540"/>
                </a:solidFill>
              </a:rPr>
              <a:t>One tested handler for all vendors. Fix once, applies everywhere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274320" y="2414016"/>
            <a:ext cx="1828800" cy="292608"/>
          </a:xfrm>
          <a:prstGeom prst="rect">
            <a:avLst/>
          </a:prstGeom>
          <a:solidFill>
            <a:srgbClr val="D6E6F7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2414016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C2D52"/>
                </a:solidFill>
              </a:rPr>
              <a:t>Vendor resolver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2157984" y="2414016"/>
            <a:ext cx="312724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31136" y="2414016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AA0B8"/>
                </a:solidFill>
              </a:rPr>
              <a:t>–  </a:t>
            </a:r>
            <a:pPr indent="0" marL="0">
              <a:buNone/>
            </a:pPr>
            <a:r>
              <a:rPr lang="en-US" sz="760" dirty="0">
                <a:solidFill>
                  <a:srgbClr val="5A6B7E"/>
                </a:solidFill>
              </a:rPr>
              <a:t>Routing logic hardcoded per vendor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5340096" y="2414016"/>
            <a:ext cx="352958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85B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13248" y="2414016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760" dirty="0">
                <a:solidFill>
                  <a:srgbClr val="0F2540"/>
                </a:solidFill>
              </a:rPr>
              <a:t>Config-driven routing. Add a vendor as a profile row, not code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274320" y="2706624"/>
            <a:ext cx="8631936" cy="20116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7066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78ADD"/>
                </a:solidFill>
              </a:rPr>
              <a:t>L3 — PERSISTENCE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2907792"/>
            <a:ext cx="1828800" cy="292608"/>
          </a:xfrm>
          <a:prstGeom prst="rect">
            <a:avLst/>
          </a:prstGeom>
          <a:solidFill>
            <a:srgbClr val="D6E6F7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2907792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C2D52"/>
                </a:solidFill>
              </a:rPr>
              <a:t>Dataverse + read cache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2157984" y="2907792"/>
            <a:ext cx="3127248" cy="292608"/>
          </a:xfrm>
          <a:prstGeom prst="rect">
            <a:avLst/>
          </a:prstGeom>
          <a:solidFill>
            <a:srgbClr val="EFF6FF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31136" y="290779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AA0B8"/>
                </a:solidFill>
              </a:rPr>
              <a:t>–  </a:t>
            </a:r>
            <a:pPr indent="0" marL="0">
              <a:buNone/>
            </a:pPr>
            <a:r>
              <a:rPr lang="en-US" sz="760" dirty="0">
                <a:solidFill>
                  <a:srgbClr val="5A6B7E"/>
                </a:solidFill>
              </a:rPr>
              <a:t>Dataverse queried directly every call; performance bottleneck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5340096" y="2907792"/>
            <a:ext cx="3529584" cy="292608"/>
          </a:xfrm>
          <a:prstGeom prst="rect">
            <a:avLst/>
          </a:prstGeom>
          <a:solidFill>
            <a:srgbClr val="E6F1FB"/>
          </a:solidFill>
          <a:ln w="3810">
            <a:solidFill>
              <a:srgbClr val="85B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13248" y="2907792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760" dirty="0">
                <a:solidFill>
                  <a:srgbClr val="0F2540"/>
                </a:solidFill>
              </a:rPr>
              <a:t>Single source of truth; cache offloads hot reads and protects it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274320" y="3200400"/>
            <a:ext cx="8631936" cy="20116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2004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78ADD"/>
                </a:solidFill>
              </a:rPr>
              <a:t>L4 — VENDOR DELIVERY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74320" y="3401568"/>
            <a:ext cx="1828800" cy="292608"/>
          </a:xfrm>
          <a:prstGeom prst="rect">
            <a:avLst/>
          </a:prstGeom>
          <a:solidFill>
            <a:srgbClr val="D6E6F7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3401568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C2D52"/>
                </a:solidFill>
              </a:rPr>
              <a:t>Per-channel adapters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2157984" y="3401568"/>
            <a:ext cx="312724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31136" y="3401568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AA0B8"/>
                </a:solidFill>
              </a:rPr>
              <a:t>–  </a:t>
            </a:r>
            <a:pPr indent="0" marL="0">
              <a:buNone/>
            </a:pPr>
            <a:r>
              <a:rPr lang="en-US" sz="760" dirty="0">
                <a:solidFill>
                  <a:srgbClr val="5A6B7E"/>
                </a:solidFill>
              </a:rPr>
              <a:t>Bespoke parsers and file-writers built per vendor</a:t>
            </a:r>
            <a:endParaRPr lang="en-US" sz="760" dirty="0"/>
          </a:p>
        </p:txBody>
      </p:sp>
      <p:sp>
        <p:nvSpPr>
          <p:cNvPr id="60" name="Shape 58"/>
          <p:cNvSpPr/>
          <p:nvPr/>
        </p:nvSpPr>
        <p:spPr>
          <a:xfrm>
            <a:off x="5340096" y="3401568"/>
            <a:ext cx="352958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85B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13248" y="3401568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760" dirty="0">
                <a:solidFill>
                  <a:srgbClr val="0F2540"/>
                </a:solidFill>
              </a:rPr>
              <a:t>One thin adapter per channel, reused. A new vendor is config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274320" y="3694176"/>
            <a:ext cx="8631936" cy="201168"/>
          </a:xfrm>
          <a:prstGeom prst="rect">
            <a:avLst/>
          </a:prstGeom>
          <a:solidFill>
            <a:srgbClr val="0C2D52"/>
          </a:solidFill>
          <a:ln w="12700">
            <a:solidFill>
              <a:srgbClr val="0C2D5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36941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78ADD"/>
                </a:solidFill>
              </a:rPr>
              <a:t>CROSS-CUTTING  &amp;  OPTION 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3895344"/>
            <a:ext cx="1828800" cy="292608"/>
          </a:xfrm>
          <a:prstGeom prst="rect">
            <a:avLst/>
          </a:prstGeom>
          <a:solidFill>
            <a:srgbClr val="D6E6F7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" y="3895344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C2D52"/>
                </a:solidFill>
              </a:rPr>
              <a:t>Observability stack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2157984" y="3895344"/>
            <a:ext cx="3127248" cy="292608"/>
          </a:xfrm>
          <a:prstGeom prst="rect">
            <a:avLst/>
          </a:prstGeom>
          <a:solidFill>
            <a:srgbClr val="EFF6FF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31136" y="3895344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AA0B8"/>
                </a:solidFill>
              </a:rPr>
              <a:t>–  </a:t>
            </a:r>
            <a:pPr indent="0" marL="0">
              <a:buNone/>
            </a:pPr>
            <a:r>
              <a:rPr lang="en-US" sz="760" dirty="0">
                <a:solidFill>
                  <a:srgbClr val="5A6B7E"/>
                </a:solidFill>
              </a:rPr>
              <a:t>Failures hide in separate pipelines; no unified view</a:t>
            </a:r>
            <a:endParaRPr lang="en-US" sz="760" dirty="0"/>
          </a:p>
        </p:txBody>
      </p:sp>
      <p:sp>
        <p:nvSpPr>
          <p:cNvPr id="68" name="Shape 66"/>
          <p:cNvSpPr/>
          <p:nvPr/>
        </p:nvSpPr>
        <p:spPr>
          <a:xfrm>
            <a:off x="5340096" y="3895344"/>
            <a:ext cx="3529584" cy="292608"/>
          </a:xfrm>
          <a:prstGeom prst="rect">
            <a:avLst/>
          </a:prstGeom>
          <a:solidFill>
            <a:srgbClr val="E6F1FB"/>
          </a:solidFill>
          <a:ln w="3810">
            <a:solidFill>
              <a:srgbClr val="85B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13248" y="3895344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760" dirty="0">
                <a:solidFill>
                  <a:srgbClr val="0F2540"/>
                </a:solidFill>
              </a:rPr>
              <a:t>End-to-end tracing, logs and alerts in one place for every vendor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274320" y="4187952"/>
            <a:ext cx="1828800" cy="292608"/>
          </a:xfrm>
          <a:prstGeom prst="rect">
            <a:avLst/>
          </a:prstGeom>
          <a:solidFill>
            <a:srgbClr val="D6E6F7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4187952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C2D52"/>
                </a:solidFill>
              </a:rPr>
              <a:t>Event Grid + Durable Fns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2157984" y="4187952"/>
            <a:ext cx="3127248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B5D4F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231136" y="418795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AA0B8"/>
                </a:solidFill>
              </a:rPr>
              <a:t>–  </a:t>
            </a:r>
            <a:pPr indent="0" marL="0">
              <a:buNone/>
            </a:pPr>
            <a:r>
              <a:rPr lang="en-US" sz="760" dirty="0">
                <a:solidFill>
                  <a:srgbClr val="5A6B7E"/>
                </a:solidFill>
              </a:rPr>
              <a:t>Sequential delivery, no replay; new consumers need code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5340096" y="4187952"/>
            <a:ext cx="3529584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85B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13248" y="4187952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185FA5"/>
                </a:solidFill>
              </a:rPr>
              <a:t>✓  </a:t>
            </a:r>
            <a:pPr indent="0" marL="0">
              <a:buNone/>
            </a:pPr>
            <a:r>
              <a:rPr lang="en-US" sz="760" dirty="0">
                <a:solidFill>
                  <a:srgbClr val="0F2540"/>
                </a:solidFill>
              </a:rPr>
              <a:t>Parallel isolated delivery with replay; new consumers just subscribe</a:t>
            </a:r>
            <a:endParaRPr lang="en-US" sz="760" dirty="0"/>
          </a:p>
        </p:txBody>
      </p:sp>
      <p:sp>
        <p:nvSpPr>
          <p:cNvPr id="76" name="Text 74"/>
          <p:cNvSpPr/>
          <p:nvPr/>
        </p:nvSpPr>
        <p:spPr>
          <a:xfrm>
            <a:off x="274320" y="453542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2D52"/>
                </a:solidFill>
              </a:rPr>
              <a:t>The through-line:  </a:t>
            </a:r>
            <a:pPr indent="0" marL="0">
              <a:buNone/>
            </a:pPr>
            <a:r>
              <a:rPr lang="en-US" sz="850" i="1" dirty="0">
                <a:solidFill>
                  <a:srgbClr val="5A6B7E"/>
                </a:solidFill>
              </a:rPr>
              <a:t>every layer removes one specific failure of today's setup — together they turn fragile, per-vendor integrations into one scalable platform.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the new architecture works — benefits by component</dc:title>
  <dc:subject>PptxGenJS Presentation</dc:subject>
  <dc:creator>PptxGenJS</dc:creator>
  <cp:lastModifiedBy>PptxGenJS</cp:lastModifiedBy>
  <cp:revision>1</cp:revision>
  <dcterms:created xsi:type="dcterms:W3CDTF">2026-06-04T09:02:17Z</dcterms:created>
  <dcterms:modified xsi:type="dcterms:W3CDTF">2026-06-04T09:02:17Z</dcterms:modified>
</cp:coreProperties>
</file>