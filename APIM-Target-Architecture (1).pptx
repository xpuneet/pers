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732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2EBE8-5CAC-B1C3-4280-693B2DB146A5}" v="41" dt="2026-09-22T17:56:52.623"/>
    <p1510:client id="{6F564A72-6055-41CE-A404-23964EFAFFF2}" v="2031" dt="2026-09-22T16:16:29.644"/>
    <p1510:client id="{815FA138-CA79-4562-8F6D-58E85FC7DA3A}" v="114" dt="2026-09-22T18:00:27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070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Greenfield APIM build. Five decisions: reference architecture and edge, hosting model, ingress, egress, HA/DR.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APIM is the single control point for external APIs. Front Door is the only public surface; APIM sits private behind Private Link and aligns to the SIF layering.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Hosting model is Premium classic, managed gateway, VNet injection, Internal mode. Self-hosted gateway is an add-on for on-prem and data-residency backends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WAF at the edge, APIM for identity and quota. App Gateway only by exception. Palo Alto deliberately out of the HTTPS ingress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intent removes per-spoke UDR management. Palo Alto inspects north-south egress and east-west. PaaS never hairpins through the hub or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units means 2 zones. Warm standby is billed as a full unit 24/7, so the cheapest credible DR is rebuild-on-demand from IaC plus backups, validated by a quarterly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6420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19502C-567E-E748-8DF4-E5FBC27E3B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5D587-6A6C-4975-AF4F-7459FB8481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84000" y="2232000"/>
            <a:ext cx="7668000" cy="576000"/>
          </a:xfrm>
        </p:spPr>
        <p:txBody>
          <a:bodyPr anchor="t" anchorCtr="0">
            <a:noAutofit/>
          </a:bodyPr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24ED0-E62B-4C25-B719-7CF88B56AD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4000" y="2816041"/>
            <a:ext cx="7668000" cy="576000"/>
          </a:xfrm>
        </p:spPr>
        <p:txBody>
          <a:bodyPr>
            <a:noAutofit/>
          </a:bodyPr>
          <a:lstStyle>
            <a:lvl1pPr marL="0" indent="0" algn="l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50A6-DF49-40FB-AD77-B8B22500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2391E2A-4CDA-8844-93BC-12BACE14FB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4000" y="432000"/>
            <a:ext cx="3240000" cy="288000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01 Month 2020</a:t>
            </a:r>
          </a:p>
        </p:txBody>
      </p:sp>
    </p:spTree>
    <p:extLst>
      <p:ext uri="{BB962C8B-B14F-4D97-AF65-F5344CB8AC3E}">
        <p14:creationId xmlns:p14="http://schemas.microsoft.com/office/powerpoint/2010/main" val="2272185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D587-6A6C-4975-AF4F-7459FB8481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84000" y="2232000"/>
            <a:ext cx="7668000" cy="576000"/>
          </a:xfrm>
        </p:spPr>
        <p:txBody>
          <a:bodyPr anchor="t" anchorCtr="0">
            <a:noAutofit/>
          </a:bodyPr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Divider page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24ED0-E62B-4C25-B719-7CF88B56AD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4000" y="2816041"/>
            <a:ext cx="7668000" cy="576000"/>
          </a:xfrm>
        </p:spPr>
        <p:txBody>
          <a:bodyPr>
            <a:noAutofit/>
          </a:bodyPr>
          <a:lstStyle>
            <a:lvl1pPr marL="0" indent="0" algn="l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50A6-DF49-40FB-AD77-B8B22500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D0C494-4023-7F4E-A0BC-142346DC337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9" y="6323484"/>
            <a:ext cx="857758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875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1477FD-E8A8-ED47-8E80-E5021B465A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352D4-4DE5-4E9D-A342-AA7CF37C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96000"/>
            <a:ext cx="11664000" cy="324000"/>
          </a:xfrm>
        </p:spPr>
        <p:txBody>
          <a:bodyPr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55495-2822-4D2C-8BD8-20BB02CB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515FF2-736A-034B-9FA6-AD18C7530C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1260000"/>
            <a:ext cx="11664001" cy="5040000"/>
          </a:xfrm>
        </p:spPr>
        <p:txBody>
          <a:bodyPr numCol="2" spcCol="54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905A3-DF64-8B43-A11B-C17B15AC61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39259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ext Columns with Images and Bo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52D4-4DE5-4E9D-A342-AA7CF37C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96000"/>
            <a:ext cx="11602799" cy="32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55495-2822-4D2C-8BD8-20BB02CB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515FF2-736A-034B-9FA6-AD18C7530C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260000"/>
            <a:ext cx="7668000" cy="5040000"/>
          </a:xfrm>
        </p:spPr>
        <p:txBody>
          <a:bodyPr numCol="2" spcCol="360000"/>
          <a:lstStyle>
            <a:lvl5pPr marL="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E5512A-C41C-CB48-81D4-441A70C246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6339" y="4776788"/>
            <a:ext cx="7560000" cy="1558925"/>
          </a:xfr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0649BBA-E598-704B-9283-3C46EC20AA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29600" y="1260000"/>
            <a:ext cx="3660775" cy="3327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6213CA7-2297-9549-B513-E6387429BD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548057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3F68-8CA1-4A54-A511-10982D57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C81E5-9424-4ACC-85EB-F3567D8DA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000" y="1260000"/>
            <a:ext cx="3708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23E64-5608-4C18-A391-541B243BB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6000" y="1260000"/>
            <a:ext cx="3708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DC898-D739-4A13-A308-AC206C6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05D00CB-07BC-FC48-8C35-CB96E14682B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44000" y="1277092"/>
            <a:ext cx="3708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5E2D39B-1087-7C4E-838C-54723E730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89702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3F68-8CA1-4A54-A511-10982D57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23E64-5608-4C18-A391-541B243BB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6000" y="1260000"/>
            <a:ext cx="7686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DC898-D739-4A13-A308-AC206C6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65F3D9-FCF9-E848-A922-B85CCE4B8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738" y="1260475"/>
            <a:ext cx="3708000" cy="5040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385DCC-53E0-E144-AA6A-AB42C7BD8A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44059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EC08-0C20-46DD-BF50-3CB388C0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8B5AD-7CA8-4CA6-8DD4-E3FA5962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4170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2694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5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40684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3926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15308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4024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2017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524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1083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15013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5645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59584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4486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3553096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740247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9930300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1447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13921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6856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364668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5516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467769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9751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752185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915082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655943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437560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90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32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32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486DD-DC80-4105-B5C1-F24DF1E1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96000"/>
            <a:ext cx="11664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11E34-3616-4A64-8CC2-B6148A83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1260000"/>
            <a:ext cx="11664000" cy="43513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5616D-0293-4E67-9011-BACFE61DE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8000" y="6426000"/>
            <a:ext cx="27432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3153-1063-4BCC-93D0-269BCCE6E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000"/>
            <a:ext cx="41148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43AD7-2F25-4C5B-BAD2-57612C564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000" y="6426000"/>
            <a:ext cx="720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 b="1">
                <a:solidFill>
                  <a:schemeClr val="tx1"/>
                </a:solidFill>
                <a:latin typeface="+mj-lt"/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55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+mj-lt"/>
        <a:buAutoNum type="arabicPeriod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0"/>
        </a:spcBef>
        <a:spcAft>
          <a:spcPts val="2000"/>
        </a:spcAft>
        <a:buFont typeface="Arial" panose="020B0604020202020204" pitchFamily="34" charset="0"/>
        <a:buNone/>
        <a:defRPr sz="27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16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432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51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1463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783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Build-Out Design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1546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APIM deployment - edge, hosting, ingress, egress and resilience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102412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21868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1208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41324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760780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60780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980236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80236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&amp; DR</a:t>
            </a:r>
            <a:endParaRPr lang="en-US" sz="12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APIM &amp; Edge Service Component Selection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policy-enforced front door for every external API. APIM itself holds no public endpoint.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874520" cy="2194560"/>
          </a:xfrm>
          <a:prstGeom prst="roundRect">
            <a:avLst>
              <a:gd name="adj" fmla="val 2927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67512" y="156362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82880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7860" y="209215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/ B2B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141732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90672" y="1563624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3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PUBLIC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1828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Premium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90672" y="235000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WAF: managed DRS + bot rules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protection, TLS 1.2 / 1.3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anycast + caching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entry 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4173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062472" y="1563624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PRIVATE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18288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V2 · Internal VNet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62472" y="2350008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JWT validation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versions, revisions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Quota, throttle, schema checks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 shaping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417320"/>
            <a:ext cx="2679192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9171432" y="156362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 — PRIVATE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18288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 &amp; services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2350008"/>
            <a:ext cx="2350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AKS / Container Apps</a:t>
            </a:r>
            <a:endParaRPr lang="en-US" sz="1050" dirty="0"/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Functions &amp; Logic Apps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8716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22860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5896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2578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6792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3667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7548" y="4297679"/>
            <a:ext cx="11183112" cy="643929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657860" y="4374681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  </a:t>
            </a: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(WAF) → Private Link → APIM internal. No public IP on APIM.</a:t>
            </a:r>
          </a:p>
          <a:p>
            <a:r>
              <a:rPr lang="en-GB" sz="900" dirty="0"/>
              <a:t>Front Door Premium establishes a hardened security boundary in front of the API platform. WAF policies, DDoS protection, and centralised traffic control help ensure secure, reliable, and governed access to digital services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425D5FD-F370-4513-2576-37CF08D05F80}"/>
              </a:ext>
            </a:extLst>
          </p:cNvPr>
          <p:cNvSpPr/>
          <p:nvPr/>
        </p:nvSpPr>
        <p:spPr>
          <a:xfrm>
            <a:off x="424688" y="5266943"/>
            <a:ext cx="11183112" cy="854723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50C1DE78-5DE2-3DC3-6D23-607AD1D6EA24}"/>
              </a:ext>
            </a:extLst>
          </p:cNvPr>
          <p:cNvSpPr txBox="1"/>
          <p:nvPr/>
        </p:nvSpPr>
        <p:spPr>
          <a:xfrm>
            <a:off x="621284" y="54864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DECISION </a:t>
            </a: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V2</a:t>
            </a:r>
          </a:p>
          <a:p>
            <a:pPr marL="0" indent="0">
              <a:buNone/>
            </a:pPr>
            <a:endParaRPr lang="en-US" sz="1100" dirty="0">
              <a:solidFill>
                <a:srgbClr val="1B28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GB" sz="1000" dirty="0"/>
              <a:t>Premium V2 delivers the network isolation, performance, and governance controls required for strategic API management. It enables consistent policy enforcement, secure connectivity, and future growth without architectural redesign.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HOSTING MODEL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VNet-Injected or Self-Hosted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 = Premium V2, Managed gateway, VNet injection in Internal mode. Self-hosted gateway is a hybrid add-on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6416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5E6D7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2566416" y="1563624"/>
            <a:ext cx="1298448" cy="23774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SUFFICIENT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0E3F6E"/>
                </a:solidFill>
                <a:latin typeface="Calibri"/>
                <a:ea typeface="Calibri"/>
                <a:cs typeface="Calibri"/>
              </a:rPr>
              <a:t>VNet Injection – External mode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500" b="1" dirty="0">
              <a:solidFill>
                <a:srgbClr val="0E3F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5800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injected into the VNet · External mode · Inbound Private Endpoint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managed service with minimal operational overhead.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sz="1050" dirty="0">
                <a:latin typeface="Calibri"/>
                <a:ea typeface="Calibri"/>
                <a:cs typeface="Calibri"/>
              </a:rPr>
              <a:t>Supports Public IP resulting in public exposure.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Calibri"/>
                <a:ea typeface="Calibri"/>
                <a:cs typeface="Calibri"/>
              </a:rPr>
              <a:t>Suitable for Public-facing APIs that need direct, secure access to private database backends.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4416552"/>
            <a:ext cx="3179064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22960" y="4416552"/>
            <a:ext cx="29047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not meet private first security posture as it retains a public attack surface</a:t>
            </a:r>
          </a:p>
        </p:txBody>
      </p:sp>
      <p:sp>
        <p:nvSpPr>
          <p:cNvPr id="17" name="Shape 15"/>
          <p:cNvSpPr/>
          <p:nvPr/>
        </p:nvSpPr>
        <p:spPr>
          <a:xfrm>
            <a:off x="4322064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504944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85560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385560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504944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Injection - Internal mode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04944" y="2253996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504944" y="243382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injected into the VNet · Internal mode ·  Premium V2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04944" y="2807208"/>
            <a:ext cx="31790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gateway deployed within the enterprise network boundary.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APIM endpoint; access is through approved private connectivity.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connectivity to Azure services, spoke networks, and on-premises systems.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routing, security policies, and outbound traffic flows.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04944" y="4416552"/>
            <a:ext cx="3179064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4642104" y="4416552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GB" sz="10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required private connectivity, network control, and security posture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41208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324088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04704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10204704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ADD-ON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24088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Gateway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24088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324088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container on AKS / on-prem · control plane stays in Azure APIM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24088" y="2891028"/>
            <a:ext cx="3179064" cy="134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Overhead for maintenance of the Gateway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plane next to the backend, removes hairpin round-trips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regulated traffic inside its own boundary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as one logical APIM instance and policy set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4088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8461248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Self-hosted gateways are intended for on-premises or data-residency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INGRESS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Ingress with WAF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L7 inspection point at the edge; every layer below adds identity and control, no secondary WAF.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418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REQUEST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196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19854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9854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23067" y="2002536"/>
            <a:ext cx="351190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874258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2910834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910834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 → AFD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251016" y="2002536"/>
            <a:ext cx="354583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605599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642175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642175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TLS · DDoS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88050" y="2002536"/>
            <a:ext cx="525700" cy="9144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521501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558077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558077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inbound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94320" y="2002536"/>
            <a:ext cx="441814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33613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837271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7271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· quota · schema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701204" y="2002536"/>
            <a:ext cx="391159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0110651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 txBox="1"/>
          <p:nvPr/>
        </p:nvSpPr>
        <p:spPr>
          <a:xfrm>
            <a:off x="10147227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147227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85797" y="2505456"/>
            <a:ext cx="3544824" cy="1614638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868677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041098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3F6B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3087620" y="2747772"/>
            <a:ext cx="911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WAF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27662" y="3099816"/>
            <a:ext cx="31790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rules (DRS 2.1) with bot protection.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termination, DDoS protection, rate limiting, and geo-filtering.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public entry point for all internet-facing APIs.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traffic routing and health-based failover.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security and access controls before APIM.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32350" y="2505456"/>
            <a:ext cx="3544824" cy="1563624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 txBox="1"/>
          <p:nvPr/>
        </p:nvSpPr>
        <p:spPr>
          <a:xfrm>
            <a:off x="4715230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— Internal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842734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 txBox="1"/>
          <p:nvPr/>
        </p:nvSpPr>
        <p:spPr>
          <a:xfrm>
            <a:off x="6842734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589803" y="301316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and authorizes API access.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rate limits and usage controls.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requests before they reach backend services.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traffic securely to backend systems over private connectivity</a:t>
            </a:r>
            <a:r>
              <a:rPr lang="en-GB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8226" y="4251960"/>
            <a:ext cx="7408948" cy="146304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851106" y="4398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SUFFICIENCY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851106" y="4690872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common web application attacks.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malicious internet traffic before it reaches APIM.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protect against bots and excessive request volumes.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centralised monitoring and security logging.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consistent security controls across all APIs.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8076" y="5894030"/>
            <a:ext cx="7469098" cy="566928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727662" y="59190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DECISION  </a:t>
            </a: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WAF covers OWASP top-10 and bot protection for external APIs. 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EGRESS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via Palo Alto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 forces internet and private traffic through the NGFW; Azure PaaS stays on private endpoints.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3870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REQUEST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74980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subnet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 flipV="1">
            <a:off x="2357628" y="2001647"/>
            <a:ext cx="458852" cy="889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827147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2737485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vWAN HUB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737485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83810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5120386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NGFW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120386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proxy · FQDN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709918" y="2001645"/>
            <a:ext cx="652907" cy="891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377811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7414387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14387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egress IP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003919" y="2001645"/>
            <a:ext cx="827405" cy="891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84961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988618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88618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685800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APIM VNET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Gateway subnet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3337560"/>
            <a:ext cx="31790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IP, no NAT gateway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endpoints off - private endpoints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22064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254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04944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SECURED HUB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04944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intent: Internet + Private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04944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Cloud NGFW (SaaS) or VM-Series in the hub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forward proxy, FQDN allow-list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routing policy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41208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8324088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324088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default, allow by exception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324088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 APIs over allow-listed FQDNs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systems via ExpressRoute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4297680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667512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DESIGN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67512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is connected across the hub and all application networks.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 works seamlessly between on-premises and Azure.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users resolve the API endpoint to the private APIM address.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45421" y="4261104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 txBox="1"/>
          <p:nvPr/>
        </p:nvSpPr>
        <p:spPr>
          <a:xfrm>
            <a:off x="6396228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CONTROLS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396228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Approved outbound endpoints documented per API.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outbound traffic is logged and auditable at firewall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V2 isolates platform dependencies from Chaucer VNet and no firewall </a:t>
            </a: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exemptions required</a:t>
            </a: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 txBox="1"/>
          <p:nvPr/>
        </p:nvSpPr>
        <p:spPr>
          <a:xfrm>
            <a:off x="713232" y="57150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DECISION  </a:t>
            </a: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routing intent with Palo Alto in the secured hub.</a:t>
            </a:r>
            <a:endParaRPr lang="en-US" sz="110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B28A5521-101C-62F0-DB64-5D46229AE4AA}"/>
              </a:ext>
            </a:extLst>
          </p:cNvPr>
          <p:cNvSpPr/>
          <p:nvPr/>
        </p:nvSpPr>
        <p:spPr>
          <a:xfrm flipV="1">
            <a:off x="4453256" y="2001645"/>
            <a:ext cx="607694" cy="889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DISASTER RECOVERY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and DR Strategy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across 2 zones in the primary region. Secondary-region cost is a straight trade against RTO.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3589" y="1252728"/>
            <a:ext cx="5454396" cy="3884112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254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413241" y="133273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REGION – MULTIPLE UNITS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217762" y="142579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0217762" y="14308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398162" y="3555505"/>
            <a:ext cx="4855314" cy="1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is deployed across multiple Azure regions, with multiple units provisioned in each region to provide both regional and platform resilience.</a:t>
            </a: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is maintained through geographic distribution, reducing the impact of infrastructure, availability zone, or regional failures.</a:t>
            </a: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can be routed between regions using approved failover or load-balancing mechanisms to support service continuity during disaster scenarios.</a:t>
            </a: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represents the highest resilience tier, combining backup, zonal resilience, and cross-region redundancy for business-critical production services.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8315" y="1297432"/>
            <a:ext cx="5454396" cy="178308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2222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 b="1" dirty="0"/>
          </a:p>
        </p:txBody>
      </p:sp>
      <p:sp>
        <p:nvSpPr>
          <p:cNvPr id="18" name="Text 16"/>
          <p:cNvSpPr txBox="1"/>
          <p:nvPr/>
        </p:nvSpPr>
        <p:spPr>
          <a:xfrm>
            <a:off x="619755" y="1361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12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REGION- SINGLE UNIT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619755" y="1796532"/>
            <a:ext cx="5092012" cy="978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single Azure API Management unit is deployed in one Azure region, with no secondary region or active-active configuration.</a:t>
            </a:r>
          </a:p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resilience relies on Azure platform recovery and standard restoration processes rather than cross-region failover.</a:t>
            </a:r>
          </a:p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additional gateway units or regional replicas are provisioned, minimising infrastructure and operating costs.</a:t>
            </a:r>
          </a:p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approach prioritises cost efficiency and aligns with Bronze-tier resilience requirements where extended recovery times are acceptable.</a:t>
            </a:r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A80B9F96-3B99-B108-32C2-4F15916783AE}"/>
              </a:ext>
            </a:extLst>
          </p:cNvPr>
          <p:cNvSpPr/>
          <p:nvPr/>
        </p:nvSpPr>
        <p:spPr>
          <a:xfrm>
            <a:off x="4516966" y="1385665"/>
            <a:ext cx="108575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pPr algn="ctr"/>
            <a:r>
              <a:rPr lang="en-GB" sz="85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BRONZE</a:t>
            </a:r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C20E27B3-5993-1796-539E-46075210D5EA}"/>
              </a:ext>
            </a:extLst>
          </p:cNvPr>
          <p:cNvSpPr/>
          <p:nvPr/>
        </p:nvSpPr>
        <p:spPr>
          <a:xfrm>
            <a:off x="528315" y="3408690"/>
            <a:ext cx="5454396" cy="178308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254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838CD20B-3C07-EDCE-7826-67307D9F2B2F}"/>
              </a:ext>
            </a:extLst>
          </p:cNvPr>
          <p:cNvSpPr txBox="1"/>
          <p:nvPr/>
        </p:nvSpPr>
        <p:spPr>
          <a:xfrm>
            <a:off x="711195" y="343713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 – MORE THAN 1 UNIT</a:t>
            </a:r>
            <a:endParaRPr lang="en-US" sz="95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710D087C-5AF0-6BA4-3163-8EF57F51DE69}"/>
              </a:ext>
            </a:extLst>
          </p:cNvPr>
          <p:cNvSpPr/>
          <p:nvPr/>
        </p:nvSpPr>
        <p:spPr>
          <a:xfrm>
            <a:off x="4748271" y="354585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7AA89157-2A04-AFC1-D095-AF09BCB1863E}"/>
              </a:ext>
            </a:extLst>
          </p:cNvPr>
          <p:cNvSpPr txBox="1"/>
          <p:nvPr/>
        </p:nvSpPr>
        <p:spPr>
          <a:xfrm>
            <a:off x="4748271" y="354585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50" dirty="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54EB1486-BE0A-5F7C-A389-3A2B448F4E2E}"/>
              </a:ext>
            </a:extLst>
          </p:cNvPr>
          <p:cNvSpPr/>
          <p:nvPr/>
        </p:nvSpPr>
        <p:spPr>
          <a:xfrm>
            <a:off x="711195" y="3671580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7474B817-E7B9-822D-CCF0-33AD4D5DC7FF}"/>
              </a:ext>
            </a:extLst>
          </p:cNvPr>
          <p:cNvSpPr txBox="1"/>
          <p:nvPr/>
        </p:nvSpPr>
        <p:spPr>
          <a:xfrm>
            <a:off x="711195" y="3651347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 dirty="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B6FDAB94-F663-7BA1-7281-D585C2D0BA17}"/>
              </a:ext>
            </a:extLst>
          </p:cNvPr>
          <p:cNvSpPr/>
          <p:nvPr/>
        </p:nvSpPr>
        <p:spPr>
          <a:xfrm>
            <a:off x="1991355" y="3671580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A0A6172C-B6B8-74FE-AFDA-8F31A11BE584}"/>
              </a:ext>
            </a:extLst>
          </p:cNvPr>
          <p:cNvSpPr txBox="1"/>
          <p:nvPr/>
        </p:nvSpPr>
        <p:spPr>
          <a:xfrm>
            <a:off x="1991355" y="365253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900" dirty="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06393D4B-63A7-D7DD-6C0D-7F762FA1375B}"/>
              </a:ext>
            </a:extLst>
          </p:cNvPr>
          <p:cNvSpPr txBox="1"/>
          <p:nvPr/>
        </p:nvSpPr>
        <p:spPr>
          <a:xfrm>
            <a:off x="711195" y="4017772"/>
            <a:ext cx="4791456" cy="1173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is deployed in a single Azure region with multiple units, providing increased capacity and resilience within the region.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units reduce the impact of underlying infrastructure failures and support continued service availability during platform maintenance events.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capabilities remain in place as part of the baseline resilience controls inherited from the Bronze tier.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aligns with the Silver resilience tier, delivering enhanced availability for production services without the additional cost and complexity of cross-region deployment</a:t>
            </a:r>
            <a:r>
              <a:rPr lang="en-GB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D2C7F555-3344-C28D-398F-C80483001D84}"/>
              </a:ext>
            </a:extLst>
          </p:cNvPr>
          <p:cNvSpPr/>
          <p:nvPr/>
        </p:nvSpPr>
        <p:spPr>
          <a:xfrm>
            <a:off x="2880400" y="1395730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081FF025-1179-C77E-CCBB-BC4264A4D288}"/>
              </a:ext>
            </a:extLst>
          </p:cNvPr>
          <p:cNvSpPr txBox="1"/>
          <p:nvPr/>
        </p:nvSpPr>
        <p:spPr>
          <a:xfrm>
            <a:off x="2882133" y="13850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32EEDF85-88ED-3CF0-9738-E72455560E8F}"/>
              </a:ext>
            </a:extLst>
          </p:cNvPr>
          <p:cNvSpPr/>
          <p:nvPr/>
        </p:nvSpPr>
        <p:spPr>
          <a:xfrm>
            <a:off x="6492654" y="2319450"/>
            <a:ext cx="1852858" cy="952500"/>
          </a:xfrm>
          <a:prstGeom prst="roundRect">
            <a:avLst>
              <a:gd name="adj" fmla="val 43333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B4A25D50-9BB3-8986-F384-F08A4C5532D0}"/>
              </a:ext>
            </a:extLst>
          </p:cNvPr>
          <p:cNvSpPr/>
          <p:nvPr/>
        </p:nvSpPr>
        <p:spPr>
          <a:xfrm>
            <a:off x="9038201" y="2326641"/>
            <a:ext cx="1942550" cy="952500"/>
          </a:xfrm>
          <a:prstGeom prst="roundRect">
            <a:avLst>
              <a:gd name="adj" fmla="val 43333"/>
            </a:avLst>
          </a:prstGeom>
          <a:solidFill>
            <a:schemeClr val="tx2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781362" y="2477064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698360" y="2475657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FA3E06F5-1943-D903-4CA2-DE8B6DA7D20B}"/>
              </a:ext>
            </a:extLst>
          </p:cNvPr>
          <p:cNvSpPr/>
          <p:nvPr/>
        </p:nvSpPr>
        <p:spPr>
          <a:xfrm>
            <a:off x="6780613" y="2846969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8D9F436F-13B7-3D18-0C21-C329B2C9D6B8}"/>
              </a:ext>
            </a:extLst>
          </p:cNvPr>
          <p:cNvSpPr txBox="1"/>
          <p:nvPr/>
        </p:nvSpPr>
        <p:spPr>
          <a:xfrm>
            <a:off x="6697611" y="284556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9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A1312AE-3846-BEBF-FA82-05AD6E3CFF90}"/>
              </a:ext>
            </a:extLst>
          </p:cNvPr>
          <p:cNvSpPr/>
          <p:nvPr/>
        </p:nvSpPr>
        <p:spPr>
          <a:xfrm>
            <a:off x="9424386" y="2711216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DB796042-A80D-F962-E435-526766287840}"/>
              </a:ext>
            </a:extLst>
          </p:cNvPr>
          <p:cNvSpPr txBox="1"/>
          <p:nvPr/>
        </p:nvSpPr>
        <p:spPr>
          <a:xfrm>
            <a:off x="9412223" y="2684215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F47FA95-62CE-5036-80BD-E728AA5BA066}"/>
              </a:ext>
            </a:extLst>
          </p:cNvPr>
          <p:cNvSpPr/>
          <p:nvPr/>
        </p:nvSpPr>
        <p:spPr>
          <a:xfrm>
            <a:off x="6926960" y="2034383"/>
            <a:ext cx="914400" cy="17785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9308141-443D-1D0C-6849-77C8A15D1135}"/>
              </a:ext>
            </a:extLst>
          </p:cNvPr>
          <p:cNvSpPr txBox="1"/>
          <p:nvPr/>
        </p:nvSpPr>
        <p:spPr>
          <a:xfrm>
            <a:off x="6812660" y="1962583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1</a:t>
            </a:r>
            <a:endParaRPr lang="en-US" sz="900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A293620-D5C5-D266-4ABC-D57A478BB5BB}"/>
              </a:ext>
            </a:extLst>
          </p:cNvPr>
          <p:cNvSpPr/>
          <p:nvPr/>
        </p:nvSpPr>
        <p:spPr>
          <a:xfrm>
            <a:off x="9510718" y="2026087"/>
            <a:ext cx="914400" cy="17785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E90FF846-B4AD-2720-B3D6-3E09069E5B71}"/>
              </a:ext>
            </a:extLst>
          </p:cNvPr>
          <p:cNvSpPr txBox="1"/>
          <p:nvPr/>
        </p:nvSpPr>
        <p:spPr>
          <a:xfrm>
            <a:off x="9539822" y="2024680"/>
            <a:ext cx="856360" cy="17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</a:t>
            </a:r>
            <a:endParaRPr lang="en-US" sz="900" dirty="0"/>
          </a:p>
        </p:txBody>
      </p:sp>
      <p:sp>
        <p:nvSpPr>
          <p:cNvPr id="61" name="Arrow: Left-Right 60">
            <a:extLst>
              <a:ext uri="{FF2B5EF4-FFF2-40B4-BE49-F238E27FC236}">
                <a16:creationId xmlns:a16="http://schemas.microsoft.com/office/drawing/2014/main" id="{AA89BE25-0107-B66B-BE59-90117CE6A42E}"/>
              </a:ext>
            </a:extLst>
          </p:cNvPr>
          <p:cNvSpPr/>
          <p:nvPr/>
        </p:nvSpPr>
        <p:spPr>
          <a:xfrm>
            <a:off x="8309798" y="2775343"/>
            <a:ext cx="728402" cy="71626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ucer V2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haucer">
      <a:majorFont>
        <a:latin typeface="Regular"/>
        <a:ea typeface=""/>
        <a:cs typeface=""/>
      </a:majorFont>
      <a:minorFont>
        <a:latin typeface="No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sz="110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haucer New Locked Powerpoint Template 2021" id="{B664D363-6541-4198-B173-396DDC8B384E}" vid="{3B86F81F-18B4-49DB-9A1E-D92E38AF7C4C}"/>
    </a:ext>
  </a:extLst>
</a:theme>
</file>

<file path=ppt/theme/theme2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1396</Words>
  <Application>Microsoft Office PowerPoint</Application>
  <PresentationFormat>Widescreen</PresentationFormat>
  <Paragraphs>207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Chaucer V2 Theme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Joycell Sundararaj - Chaucer</cp:lastModifiedBy>
  <cp:revision>25</cp:revision>
  <dcterms:created xsi:type="dcterms:W3CDTF">2026-09-22T10:49:43Z</dcterms:created>
  <dcterms:modified xsi:type="dcterms:W3CDTF">2026-09-22T20:13:42Z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034dab-5829-4c7a-a87e-18a6fc150b18_Enabled">
    <vt:lpwstr>true</vt:lpwstr>
  </property>
  <property fmtid="{D5CDD505-2E9C-101B-9397-08002B2CF9AE}" pid="3" name="MSIP_Label_66034dab-5829-4c7a-a87e-18a6fc150b18_SetDate">
    <vt:lpwstr>2026-09-22T12:18:02Z</vt:lpwstr>
  </property>
  <property fmtid="{D5CDD505-2E9C-101B-9397-08002B2CF9AE}" pid="4" name="MSIP_Label_66034dab-5829-4c7a-a87e-18a6fc150b18_Method">
    <vt:lpwstr>Standard</vt:lpwstr>
  </property>
  <property fmtid="{D5CDD505-2E9C-101B-9397-08002B2CF9AE}" pid="5" name="MSIP_Label_66034dab-5829-4c7a-a87e-18a6fc150b18_Name">
    <vt:lpwstr>Internal</vt:lpwstr>
  </property>
  <property fmtid="{D5CDD505-2E9C-101B-9397-08002B2CF9AE}" pid="6" name="MSIP_Label_66034dab-5829-4c7a-a87e-18a6fc150b18_SiteId">
    <vt:lpwstr>7c2d3141-755f-485a-aaae-ca6b3055ca0c</vt:lpwstr>
  </property>
  <property fmtid="{D5CDD505-2E9C-101B-9397-08002B2CF9AE}" pid="7" name="MSIP_Label_66034dab-5829-4c7a-a87e-18a6fc150b18_ActionId">
    <vt:lpwstr>71638389-f8a7-4740-8bbc-fff401d40e68</vt:lpwstr>
  </property>
  <property fmtid="{D5CDD505-2E9C-101B-9397-08002B2CF9AE}" pid="8" name="MSIP_Label_66034dab-5829-4c7a-a87e-18a6fc150b18_ContentBits">
    <vt:lpwstr>0</vt:lpwstr>
  </property>
  <property fmtid="{D5CDD505-2E9C-101B-9397-08002B2CF9AE}" pid="9" name="MSIP_Label_66034dab-5829-4c7a-a87e-18a6fc150b18_Tag">
    <vt:lpwstr>10, 3, 0, 1</vt:lpwstr>
  </property>
</Properties>
</file>