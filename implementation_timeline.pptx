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Estimated time to implement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indicative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A75"/>
                </a:solidFill>
              </a:rPr>
              <a:t>A phased plan for Option 1, with Option 2 as a later evolution. Phases overlap; ranges reflect scope and vendor readiness.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23160" y="106070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5A75"/>
                </a:solidFill>
              </a:rPr>
              <a:t>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24200" y="106070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5A75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25240" y="106070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5A75"/>
                </a:solidFill>
              </a:rPr>
              <a:t>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26280" y="106070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5A75"/>
                </a:solidFill>
              </a:rPr>
              <a:t>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227320" y="106070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5A75"/>
                </a:solidFill>
              </a:rPr>
              <a:t>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28360" y="106070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5A75"/>
                </a:solidFill>
              </a:rPr>
              <a:t>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29400" y="106070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5A75"/>
                </a:solidFill>
              </a:rPr>
              <a:t>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30440" y="106070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5A75"/>
                </a:solidFill>
              </a:rPr>
              <a:t>7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31480" y="106070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5A75"/>
                </a:solidFill>
              </a:rPr>
              <a:t>8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732520" y="106070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5A75"/>
                </a:solidFill>
              </a:rPr>
              <a:t>9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42032" y="87782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A0B8"/>
                </a:solidFill>
              </a:rPr>
              <a:t>months →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560320" y="1243584"/>
            <a:ext cx="0" cy="2505456"/>
          </a:xfrm>
          <a:prstGeom prst="line">
            <a:avLst/>
          </a:prstGeom>
          <a:noFill/>
          <a:ln w="6350">
            <a:solidFill>
              <a:srgbClr val="B5D4F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261360" y="1243584"/>
            <a:ext cx="0" cy="2505456"/>
          </a:xfrm>
          <a:prstGeom prst="line">
            <a:avLst/>
          </a:prstGeom>
          <a:noFill/>
          <a:ln w="6350">
            <a:solidFill>
              <a:srgbClr val="B5D4F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962400" y="1243584"/>
            <a:ext cx="0" cy="2505456"/>
          </a:xfrm>
          <a:prstGeom prst="line">
            <a:avLst/>
          </a:prstGeom>
          <a:noFill/>
          <a:ln w="6350">
            <a:solidFill>
              <a:srgbClr val="B5D4F4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663440" y="1243584"/>
            <a:ext cx="0" cy="2505456"/>
          </a:xfrm>
          <a:prstGeom prst="line">
            <a:avLst/>
          </a:prstGeom>
          <a:noFill/>
          <a:ln w="6350">
            <a:solidFill>
              <a:srgbClr val="B5D4F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364480" y="1243584"/>
            <a:ext cx="0" cy="2505456"/>
          </a:xfrm>
          <a:prstGeom prst="line">
            <a:avLst/>
          </a:prstGeom>
          <a:noFill/>
          <a:ln w="6350">
            <a:solidFill>
              <a:srgbClr val="B5D4F4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065520" y="1243584"/>
            <a:ext cx="0" cy="2505456"/>
          </a:xfrm>
          <a:prstGeom prst="line">
            <a:avLst/>
          </a:prstGeom>
          <a:noFill/>
          <a:ln w="6350">
            <a:solidFill>
              <a:srgbClr val="B5D4F4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766560" y="1243584"/>
            <a:ext cx="0" cy="2505456"/>
          </a:xfrm>
          <a:prstGeom prst="line">
            <a:avLst/>
          </a:prstGeom>
          <a:noFill/>
          <a:ln w="6350">
            <a:solidFill>
              <a:srgbClr val="B5D4F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467600" y="1243584"/>
            <a:ext cx="0" cy="2505456"/>
          </a:xfrm>
          <a:prstGeom prst="line">
            <a:avLst/>
          </a:prstGeom>
          <a:noFill/>
          <a:ln w="6350">
            <a:solidFill>
              <a:srgbClr val="B5D4F4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8168640" y="1243584"/>
            <a:ext cx="0" cy="2505456"/>
          </a:xfrm>
          <a:prstGeom prst="line">
            <a:avLst/>
          </a:prstGeom>
          <a:noFill/>
          <a:ln w="6350">
            <a:solidFill>
              <a:srgbClr val="B5D4F4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869680" y="1243584"/>
            <a:ext cx="0" cy="2505456"/>
          </a:xfrm>
          <a:prstGeom prst="line">
            <a:avLst/>
          </a:prstGeom>
          <a:noFill/>
          <a:ln w="6350">
            <a:solidFill>
              <a:srgbClr val="B5D4F4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74320" y="12984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Discovery &amp; design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0" y="1344168"/>
            <a:ext cx="701040" cy="256032"/>
          </a:xfrm>
          <a:prstGeom prst="roundRect">
            <a:avLst>
              <a:gd name="adj" fmla="val 1785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60320" y="1344168"/>
            <a:ext cx="70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~1 mo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71088" y="1298448"/>
            <a:ext cx="5498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API contract, environments, security model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74320" y="17190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Core platform build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61360" y="1764792"/>
            <a:ext cx="1402080" cy="256032"/>
          </a:xfrm>
          <a:prstGeom prst="roundRect">
            <a:avLst>
              <a:gd name="adj" fmla="val 1785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61360" y="1764792"/>
            <a:ext cx="140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~2 mo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73168" y="1719072"/>
            <a:ext cx="4096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APIM, Repair + WO APIs, receiver, Service Bus, handler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74320" y="21396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Adapters &amp; pilot vendors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12920" y="2185416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312920" y="218541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~1.5 mo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74208" y="2139696"/>
            <a:ext cx="3395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Per-channel adapters; onboard 2-3 pilot vendors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74320" y="2560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Observability &amp; resilience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2606040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663440" y="26060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~1.5 mo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24728" y="2560320"/>
            <a:ext cx="3044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Monitoring, retry, dead-letter, alerts, hardening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74320" y="298094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Vendor rollout (config)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64480" y="3026664"/>
            <a:ext cx="1402080" cy="256032"/>
          </a:xfrm>
          <a:prstGeom prst="roundRect">
            <a:avLst>
              <a:gd name="adj" fmla="val 1785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364480" y="3026664"/>
            <a:ext cx="140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~2 mo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76288" y="298094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Onboard remaining vendors as configuration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74320" y="34015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Option 2 evolution (later)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65520" y="3447288"/>
            <a:ext cx="2804160" cy="256032"/>
          </a:xfrm>
          <a:prstGeom prst="roundRect">
            <a:avLst>
              <a:gd name="adj" fmla="val 17857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6065520" y="3447288"/>
            <a:ext cx="280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evolution phase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60320" y="3785616"/>
            <a:ext cx="3154680" cy="0"/>
          </a:xfrm>
          <a:prstGeom prst="line">
            <a:avLst/>
          </a:prstGeom>
          <a:noFill/>
          <a:ln w="15875">
            <a:solidFill>
              <a:srgbClr val="378A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0320" y="3749040"/>
            <a:ext cx="0" cy="73152"/>
          </a:xfrm>
          <a:prstGeom prst="line">
            <a:avLst/>
          </a:prstGeom>
          <a:noFill/>
          <a:ln w="15875">
            <a:solidFill>
              <a:srgbClr val="378A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15000" y="3749040"/>
            <a:ext cx="0" cy="73152"/>
          </a:xfrm>
          <a:prstGeom prst="line">
            <a:avLst/>
          </a:prstGeom>
          <a:noFill/>
          <a:ln w="15875">
            <a:solidFill>
              <a:srgbClr val="378A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0" y="3822192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8ADD"/>
                </a:solidFill>
              </a:rPr>
              <a:t>Option 1 — roughly 3 to 5 months to first value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4114800"/>
            <a:ext cx="2715768" cy="51206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74320" y="4114800"/>
            <a:ext cx="64008" cy="5120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0624" y="411480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D52"/>
                </a:solidFill>
              </a:rPr>
              <a:t>3-5 mo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1371600" y="4114800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Option 1 to first value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172968" y="4114800"/>
            <a:ext cx="2715768" cy="51206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172968" y="4114800"/>
            <a:ext cx="64008" cy="5120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19272" y="411480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D52"/>
                </a:solidFill>
              </a:rPr>
              <a:t>+4 mo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4270248" y="4114800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Option 2 evolution, later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071616" y="4114800"/>
            <a:ext cx="2715768" cy="51206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071616" y="4114800"/>
            <a:ext cx="64008" cy="5120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0" y="411480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D52"/>
                </a:solidFill>
              </a:rPr>
              <a:t>config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7168896" y="4114800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each extra vendor after launch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74320" y="4718304"/>
            <a:ext cx="8595360" cy="31089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0624" y="4718304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8ADD"/>
                </a:solidFill>
              </a:rPr>
              <a:t>Indicative only:  </a:t>
            </a:r>
            <a:pPr indent="0" marL="0">
              <a:buNone/>
            </a:pPr>
            <a:r>
              <a:rPr lang="en-US" sz="850" dirty="0">
                <a:solidFill>
                  <a:srgbClr val="DCE8F5"/>
                </a:solidFill>
              </a:rPr>
              <a:t>assumes a small dedicated team and reasonable vendor responsiveness. Exact timing and phase overlap firm up after discovery.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Estimated Time to Implement</dc:title>
  <dc:subject>PptxGenJS Presentation</dc:subject>
  <dc:creator>PptxGenJS</dc:creator>
  <cp:lastModifiedBy>PptxGenJS</cp:lastModifiedBy>
  <cp:revision>1</cp:revision>
  <dcterms:created xsi:type="dcterms:W3CDTF">2026-06-03T22:20:38Z</dcterms:created>
  <dcterms:modified xsi:type="dcterms:W3CDTF">2026-06-03T22:20:38Z</dcterms:modified>
</cp:coreProperties>
</file>