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sldIdLst>
    <p:sldId id="284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03T21:01:44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neet Kumar - Chaucer" userId="S::puneet.kumar@chaucergroup.com::090bd223-6cda-4aec-ba5f-32ca554a1dde" providerId="AD" clId="Web-{00000000-0000-0000-0000-000000000000}"/>
    <pc:docChg chg="modSld">
      <pc:chgData name="Puneet Kumar - Chaucer" userId="S::puneet.kumar@chaucergroup.com::090bd223-6cda-4aec-ba5f-32ca554a1dde" providerId="AD" clId="Web-{00000000-0000-0000-0000-000000000000}" dt="2026-10-03T21:01:43.271" v="2" actId="20577"/>
      <pc:docMkLst>
        <pc:docMk/>
      </pc:docMkLst>
      <pc:sldChg chg="modSp">
        <pc:chgData name="Puneet Kumar - Chaucer" userId="S::puneet.kumar@chaucergroup.com::090bd223-6cda-4aec-ba5f-32ca554a1dde" providerId="AD" clId="Web-{00000000-0000-0000-0000-000000000000}" dt="2026-10-03T21:01:43.271" v="2" actId="20577"/>
        <pc:sldMkLst>
          <pc:docMk/>
          <pc:sldMk cId="0" sldId="295"/>
        </pc:sldMkLst>
        <pc:spChg chg="mod">
          <ac:chgData name="Puneet Kumar - Chaucer" userId="S::puneet.kumar@chaucergroup.com::090bd223-6cda-4aec-ba5f-32ca554a1dde" providerId="AD" clId="Web-{00000000-0000-0000-0000-000000000000}" dt="2026-10-03T21:01:43.271" v="2" actId="20577"/>
          <ac:spMkLst>
            <pc:docMk/>
            <pc:sldMk cId="0" sldId="295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monthly cost (£)</c:v>
                </c:pt>
              </c:strCache>
            </c:strRef>
          </c:tx>
          <c:invertIfNegative val="0"/>
          <c:dPt>
            <c:idx val="0"/>
            <c:invertIfNegative val="1"/>
            <c:bubble3D val="0"/>
            <c:spPr>
              <a:solidFill>
                <a:srgbClr val="3F6B8F"/>
              </a:solidFill>
            </c:spPr>
            <c:extLst>
              <c:ext xmlns:c16="http://schemas.microsoft.com/office/drawing/2014/chart" uri="{C3380CC4-5D6E-409C-BE32-E72D297353CC}">
                <c16:uniqueId val="{00000001-97A2-412D-81C0-308E92739138}"/>
              </c:ext>
            </c:extLst>
          </c:dPt>
          <c:dPt>
            <c:idx val="1"/>
            <c:invertIfNegative val="1"/>
            <c:bubble3D val="0"/>
            <c:spPr>
              <a:solidFill>
                <a:srgbClr val="3F6B8F"/>
              </a:solidFill>
            </c:spPr>
            <c:extLst>
              <c:ext xmlns:c16="http://schemas.microsoft.com/office/drawing/2014/chart" uri="{C3380CC4-5D6E-409C-BE32-E72D297353CC}">
                <c16:uniqueId val="{00000003-97A2-412D-81C0-308E92739138}"/>
              </c:ext>
            </c:extLst>
          </c:dPt>
          <c:dPt>
            <c:idx val="2"/>
            <c:invertIfNegative val="1"/>
            <c:bubble3D val="0"/>
            <c:spPr>
              <a:solidFill>
                <a:srgbClr val="132040"/>
              </a:solidFill>
            </c:spPr>
            <c:extLst>
              <c:ext xmlns:c16="http://schemas.microsoft.com/office/drawing/2014/chart" uri="{C3380CC4-5D6E-409C-BE32-E72D297353CC}">
                <c16:uniqueId val="{00000005-97A2-412D-81C0-308E92739138}"/>
              </c:ext>
            </c:extLst>
          </c:dPt>
          <c:dPt>
            <c:idx val="3"/>
            <c:invertIfNegative val="1"/>
            <c:bubble3D val="0"/>
            <c:spPr>
              <a:solidFill>
                <a:srgbClr val="132040"/>
              </a:solidFill>
            </c:spPr>
            <c:extLst>
              <c:ext xmlns:c16="http://schemas.microsoft.com/office/drawing/2014/chart" uri="{C3380CC4-5D6E-409C-BE32-E72D297353CC}">
                <c16:uniqueId val="{00000007-97A2-412D-81C0-308E92739138}"/>
              </c:ext>
            </c:extLst>
          </c:dPt>
          <c:dLbls>
            <c:numFmt formatCode="\£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32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Dev
Developer tier</c:v>
                </c:pt>
                <c:pt idx="1">
                  <c:v>SIT
Developer tier</c:v>
                </c:pt>
                <c:pt idx="2">
                  <c:v>UAT
Premium v2, 1 unit</c:v>
                </c:pt>
                <c:pt idx="3">
                  <c:v>Prod
Premium v2, zone-redundant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2400</c:v>
                </c:pt>
                <c:pt idx="3">
                  <c:v>2600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A2-412D-81C0-308E927391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22225">
            <a:solidFill>
              <a:srgbClr val="132040"/>
            </a:solidFill>
          </a:ln>
        </c:spPr>
        <c:txPr>
          <a:bodyPr/>
          <a:lstStyle/>
          <a:p>
            <a:pPr>
              <a:defRPr sz="1300">
                <a:solidFill>
                  <a:srgbClr val="132040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00"/>
          <c:min val="0"/>
        </c:scaling>
        <c:delete val="0"/>
        <c:axPos val="l"/>
        <c:majorGridlines>
          <c:spPr>
            <a:ln w="9525">
              <a:solidFill>
                <a:srgbClr val="E3E8EF"/>
              </a:solidFill>
            </a:ln>
          </c:spPr>
        </c:majorGridlines>
        <c:numFmt formatCode="\£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6B7D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1000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A6B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00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7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CONTENTS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Diagram index: every diagram in the HLD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31 diagrams on 28 slides (the four traffic flows share one slide). Each slide is built from native shapes and is fully editable.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graphicFrame>
        <p:nvGraphicFramePr>
          <p:cNvPr id="7" name="Index (1 of 2)"/>
          <p:cNvGraphicFramePr>
            <a:graphicFrameLocks noGrp="1"/>
          </p:cNvGraphicFramePr>
          <p:nvPr/>
        </p:nvGraphicFramePr>
        <p:xfrm>
          <a:off x="457200" y="1463040"/>
          <a:ext cx="5532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Diagram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High-level architecture: management, gateway, portal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5.2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Logical architecture: four layers, two shared services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Access model and security boundary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Traffic flows: external, internal, outbound, east-west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Ingress flow: external request to backend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Egress flow: calls leaving Azure use the central path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8.1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Security model: defence in depth, seven layers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8.1, 8.5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Non-OAuth consumers: approve once, then validate every call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8.3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Secrets and certificates: Key Vault to APIM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Access chain: API, product, group, subscription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How the governance constructs fit together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Developer portal reference architecture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9.2, 9.5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Internal user onboarding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9.2, 9.6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External (partner, B2B) user onboarding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8" name="Index (2 of 2)"/>
          <p:cNvGraphicFramePr>
            <a:graphicFrameLocks noGrp="1"/>
          </p:cNvGraphicFramePr>
          <p:nvPr/>
        </p:nvGraphicFramePr>
        <p:xfrm>
          <a:off x="6199632" y="1463040"/>
          <a:ext cx="5532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Diagram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 consumer journey: ten steps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 lifecycle: seven stages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APIM CI/CD model (APIOps)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APIOps: configuration as code, promoted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APIOps: configuration as code, promoted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Environment promotion strategy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Resilience tier: Bronze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Resilience tier: Silver (chosen baseline)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Resilience tier: Gold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Monitoring architecture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Telemetry collection and retention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15.1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Indicative monthly platform cost by environment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17.1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Implementation stages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App. 19.4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Platform build and API onboarding swim lane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5.1  ·  HIGH-LEVEL ARCHITECTURE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High-level architecture: management, gateway, portal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Management plane, gateway data plane, backend services and developer portal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Outer frame"/>
          <p:cNvSpPr/>
          <p:nvPr/>
        </p:nvSpPr>
        <p:spPr>
          <a:xfrm>
            <a:off x="457200" y="1371600"/>
            <a:ext cx="11274552" cy="5029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anagement plane"/>
          <p:cNvSpPr/>
          <p:nvPr/>
        </p:nvSpPr>
        <p:spPr>
          <a:xfrm>
            <a:off x="4160520" y="1536192"/>
            <a:ext cx="4023360" cy="1371600"/>
          </a:xfrm>
          <a:prstGeom prst="roundRect">
            <a:avLst>
              <a:gd name="adj" fmla="val 10666"/>
            </a:avLst>
          </a:prstGeom>
          <a:solidFill>
            <a:srgbClr val="E6E6E6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nagement plane label"/>
          <p:cNvSpPr txBox="1"/>
          <p:nvPr/>
        </p:nvSpPr>
        <p:spPr>
          <a:xfrm>
            <a:off x="4206240" y="15727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Management plane</a:t>
            </a:r>
          </a:p>
          <a:p>
            <a:pPr algn="ctr"/>
            <a:r>
              <a:rPr sz="1100" b="1" i="0">
                <a:solidFill>
                  <a:srgbClr val="132040"/>
                </a:solidFill>
                <a:latin typeface="Calibri"/>
              </a:rPr>
              <a:t>Centralized Governance &amp; Configuration</a:t>
            </a:r>
          </a:p>
        </p:txBody>
      </p:sp>
      <p:sp>
        <p:nvSpPr>
          <p:cNvPr id="10" name="Mgmt item 1"/>
          <p:cNvSpPr/>
          <p:nvPr/>
        </p:nvSpPr>
        <p:spPr>
          <a:xfrm>
            <a:off x="426110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Portal &amp; API</a:t>
            </a:r>
          </a:p>
        </p:txBody>
      </p:sp>
      <p:sp>
        <p:nvSpPr>
          <p:cNvPr id="11" name="Mgmt item 2"/>
          <p:cNvSpPr/>
          <p:nvPr/>
        </p:nvSpPr>
        <p:spPr>
          <a:xfrm>
            <a:off x="503834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DevOps Pipelines</a:t>
            </a:r>
          </a:p>
        </p:txBody>
      </p:sp>
      <p:sp>
        <p:nvSpPr>
          <p:cNvPr id="12" name="Mgmt item 3"/>
          <p:cNvSpPr/>
          <p:nvPr/>
        </p:nvSpPr>
        <p:spPr>
          <a:xfrm>
            <a:off x="581558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Policy management</a:t>
            </a:r>
          </a:p>
        </p:txBody>
      </p:sp>
      <p:sp>
        <p:nvSpPr>
          <p:cNvPr id="13" name="Mgmt item 4"/>
          <p:cNvSpPr/>
          <p:nvPr/>
        </p:nvSpPr>
        <p:spPr>
          <a:xfrm>
            <a:off x="659282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Analysis &amp; monitoring</a:t>
            </a:r>
          </a:p>
        </p:txBody>
      </p:sp>
      <p:sp>
        <p:nvSpPr>
          <p:cNvPr id="14" name="Mgmt item 5"/>
          <p:cNvSpPr/>
          <p:nvPr/>
        </p:nvSpPr>
        <p:spPr>
          <a:xfrm>
            <a:off x="737006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RBAC</a:t>
            </a:r>
          </a:p>
        </p:txBody>
      </p:sp>
      <p:sp>
        <p:nvSpPr>
          <p:cNvPr id="15" name="Gateway data plane"/>
          <p:cNvSpPr/>
          <p:nvPr/>
        </p:nvSpPr>
        <p:spPr>
          <a:xfrm>
            <a:off x="4160520" y="3200400"/>
            <a:ext cx="4023360" cy="1965960"/>
          </a:xfrm>
          <a:prstGeom prst="roundRect">
            <a:avLst>
              <a:gd name="adj" fmla="val 9302"/>
            </a:avLst>
          </a:prstGeom>
          <a:solidFill>
            <a:srgbClr val="E6E6E6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Gateway label"/>
          <p:cNvSpPr txBox="1"/>
          <p:nvPr/>
        </p:nvSpPr>
        <p:spPr>
          <a:xfrm>
            <a:off x="4206240" y="324612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Gateway - data plane</a:t>
            </a:r>
          </a:p>
          <a:p>
            <a:pPr algn="ctr"/>
            <a:r>
              <a:rPr sz="1100" b="1" i="0">
                <a:solidFill>
                  <a:srgbClr val="132040"/>
                </a:solidFill>
                <a:latin typeface="Calibri"/>
              </a:rPr>
              <a:t>runs the policy pipeline on every call</a:t>
            </a:r>
          </a:p>
        </p:txBody>
      </p:sp>
      <p:sp>
        <p:nvSpPr>
          <p:cNvPr id="17" name="Policy stage 1"/>
          <p:cNvSpPr/>
          <p:nvPr/>
        </p:nvSpPr>
        <p:spPr>
          <a:xfrm>
            <a:off x="4261104" y="3931920"/>
            <a:ext cx="896112" cy="10972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8D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Transformation</a:t>
            </a:r>
          </a:p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XML to 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57216" y="4480560"/>
            <a:ext cx="8229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olicy stage 2"/>
          <p:cNvSpPr/>
          <p:nvPr/>
        </p:nvSpPr>
        <p:spPr>
          <a:xfrm>
            <a:off x="5239512" y="3931920"/>
            <a:ext cx="896112" cy="10972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8D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Traffic Management</a:t>
            </a:r>
          </a:p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Rate-Limit &amp; Quota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35624" y="4480560"/>
            <a:ext cx="8229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icy stage 3"/>
          <p:cNvSpPr/>
          <p:nvPr/>
        </p:nvSpPr>
        <p:spPr>
          <a:xfrm>
            <a:off x="6217920" y="3931920"/>
            <a:ext cx="896112" cy="10972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8D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Authentication - Authorization</a:t>
            </a:r>
          </a:p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OAuth2, JWT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14032" y="4480560"/>
            <a:ext cx="8229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olicy stage 4"/>
          <p:cNvSpPr/>
          <p:nvPr/>
        </p:nvSpPr>
        <p:spPr>
          <a:xfrm>
            <a:off x="7196328" y="3931920"/>
            <a:ext cx="896112" cy="10972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8D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Policy Execution</a:t>
            </a:r>
          </a:p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Caching , Cross Origin</a:t>
            </a:r>
          </a:p>
        </p:txBody>
      </p:sp>
      <p:sp>
        <p:nvSpPr>
          <p:cNvPr id="24" name="Caching label"/>
          <p:cNvSpPr txBox="1"/>
          <p:nvPr/>
        </p:nvSpPr>
        <p:spPr>
          <a:xfrm>
            <a:off x="7132320" y="370332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0" i="0">
                <a:solidFill>
                  <a:srgbClr val="132040"/>
                </a:solidFill>
                <a:latin typeface="Calibri"/>
              </a:rPr>
              <a:t>Caching</a:t>
            </a:r>
          </a:p>
        </p:txBody>
      </p:sp>
      <p:sp>
        <p:nvSpPr>
          <p:cNvPr id="25" name="Developer portal"/>
          <p:cNvSpPr/>
          <p:nvPr/>
        </p:nvSpPr>
        <p:spPr>
          <a:xfrm>
            <a:off x="4160520" y="5413248"/>
            <a:ext cx="4023360" cy="9144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ortal label"/>
          <p:cNvSpPr txBox="1"/>
          <p:nvPr/>
        </p:nvSpPr>
        <p:spPr>
          <a:xfrm>
            <a:off x="4206240" y="5431536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00" b="1" i="0">
                <a:solidFill>
                  <a:srgbClr val="132040"/>
                </a:solidFill>
                <a:latin typeface="Calibri"/>
              </a:rPr>
              <a:t>Developer portal</a:t>
            </a:r>
          </a:p>
          <a:p>
            <a:pPr algn="ctr"/>
            <a:r>
              <a:rPr sz="850" b="1" i="0">
                <a:solidFill>
                  <a:srgbClr val="132040"/>
                </a:solidFill>
                <a:latin typeface="Calibri"/>
              </a:rPr>
              <a:t>API Onboarding &amp; Discovery</a:t>
            </a:r>
          </a:p>
        </p:txBody>
      </p:sp>
      <p:sp>
        <p:nvSpPr>
          <p:cNvPr id="27" name="Portal item 1"/>
          <p:cNvSpPr/>
          <p:nvPr/>
        </p:nvSpPr>
        <p:spPr>
          <a:xfrm>
            <a:off x="4261104" y="5833872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API catalogue</a:t>
            </a:r>
          </a:p>
        </p:txBody>
      </p:sp>
      <p:sp>
        <p:nvSpPr>
          <p:cNvPr id="28" name="Portal item 2"/>
          <p:cNvSpPr/>
          <p:nvPr/>
        </p:nvSpPr>
        <p:spPr>
          <a:xfrm>
            <a:off x="5239512" y="5833872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4B1E3F"/>
                </a:solidFill>
                <a:latin typeface="Calibri"/>
              </a:rPr>
              <a:t>Documentation</a:t>
            </a:r>
          </a:p>
        </p:txBody>
      </p:sp>
      <p:sp>
        <p:nvSpPr>
          <p:cNvPr id="29" name="Portal item 3"/>
          <p:cNvSpPr/>
          <p:nvPr/>
        </p:nvSpPr>
        <p:spPr>
          <a:xfrm>
            <a:off x="6217920" y="5833872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API onboarding</a:t>
            </a:r>
          </a:p>
        </p:txBody>
      </p:sp>
      <p:sp>
        <p:nvSpPr>
          <p:cNvPr id="30" name="Portal item 4"/>
          <p:cNvSpPr/>
          <p:nvPr/>
        </p:nvSpPr>
        <p:spPr>
          <a:xfrm>
            <a:off x="7196328" y="5833872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4B1E3F"/>
                </a:solidFill>
                <a:latin typeface="Calibri"/>
              </a:rPr>
              <a:t>Usage &amp; insights</a:t>
            </a:r>
          </a:p>
        </p:txBody>
      </p:sp>
      <p:sp>
        <p:nvSpPr>
          <p:cNvPr id="31" name="Backend services"/>
          <p:cNvSpPr/>
          <p:nvPr/>
        </p:nvSpPr>
        <p:spPr>
          <a:xfrm>
            <a:off x="8915400" y="3291840"/>
            <a:ext cx="2743200" cy="1783080"/>
          </a:xfrm>
          <a:prstGeom prst="roundRect">
            <a:avLst>
              <a:gd name="adj" fmla="val 10256"/>
            </a:avLst>
          </a:prstGeom>
          <a:solidFill>
            <a:srgbClr val="E6E6E6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400"/>
              </a:spcAft>
            </a:pPr>
            <a:r>
              <a:rPr sz="1150" b="1" i="0">
                <a:solidFill>
                  <a:srgbClr val="132040"/>
                </a:solidFill>
                <a:latin typeface="Calibri"/>
              </a:rPr>
              <a:t>Backend services</a:t>
            </a:r>
          </a:p>
          <a:p>
            <a:pPr algn="ctr"/>
            <a:r>
              <a:rPr sz="1050" b="1" i="0">
                <a:solidFill>
                  <a:srgbClr val="132040"/>
                </a:solidFill>
                <a:latin typeface="Calibri"/>
              </a:rPr>
              <a:t>Functions · APIs · integration services· Logic Apps</a:t>
            </a:r>
          </a:p>
        </p:txBody>
      </p:sp>
      <p:sp>
        <p:nvSpPr>
          <p:cNvPr id="32" name="Consumers"/>
          <p:cNvSpPr/>
          <p:nvPr/>
        </p:nvSpPr>
        <p:spPr>
          <a:xfrm>
            <a:off x="685800" y="365760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E6E6E6"/>
          </a:solidFill>
          <a:ln w="1587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050" b="1" i="0">
                <a:solidFill>
                  <a:srgbClr val="132040"/>
                </a:solidFill>
                <a:latin typeface="Calibri"/>
              </a:rPr>
              <a:t>Consumers</a:t>
            </a:r>
          </a:p>
        </p:txBody>
      </p:sp>
      <p:sp>
        <p:nvSpPr>
          <p:cNvPr id="33" name="Azure Front Door"/>
          <p:cNvSpPr/>
          <p:nvPr/>
        </p:nvSpPr>
        <p:spPr>
          <a:xfrm>
            <a:off x="2240280" y="365760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E6E6E6"/>
          </a:solidFill>
          <a:ln w="1587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050" b="1" i="0">
                <a:solidFill>
                  <a:srgbClr val="132040"/>
                </a:solidFill>
                <a:latin typeface="Calibri"/>
              </a:rPr>
              <a:t>Azure Front Door</a:t>
            </a:r>
          </a:p>
        </p:txBody>
      </p:sp>
      <p:cxnSp>
        <p:nvCxnSpPr>
          <p:cNvPr id="34" name="Consumers to Front Door"/>
          <p:cNvCxnSpPr/>
          <p:nvPr/>
        </p:nvCxnSpPr>
        <p:spPr>
          <a:xfrm>
            <a:off x="1874520" y="4251960"/>
            <a:ext cx="365760" cy="0"/>
          </a:xfrm>
          <a:prstGeom prst="line">
            <a:avLst/>
          </a:prstGeom>
          <a:ln w="3810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ront Door to Gateway"/>
          <p:cNvCxnSpPr/>
          <p:nvPr/>
        </p:nvCxnSpPr>
        <p:spPr>
          <a:xfrm>
            <a:off x="3429000" y="4251960"/>
            <a:ext cx="731520" cy="0"/>
          </a:xfrm>
          <a:prstGeom prst="line">
            <a:avLst/>
          </a:prstGeom>
          <a:ln w="3810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456432" y="39593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1" i="0">
                <a:solidFill>
                  <a:srgbClr val="132040"/>
                </a:solidFill>
                <a:latin typeface="Calibri"/>
              </a:rPr>
              <a:t>Private Link</a:t>
            </a:r>
          </a:p>
        </p:txBody>
      </p:sp>
      <p:cxnSp>
        <p:nvCxnSpPr>
          <p:cNvPr id="37" name="Gateway to Backend"/>
          <p:cNvCxnSpPr/>
          <p:nvPr/>
        </p:nvCxnSpPr>
        <p:spPr>
          <a:xfrm>
            <a:off x="8183880" y="4206240"/>
            <a:ext cx="731520" cy="0"/>
          </a:xfrm>
          <a:prstGeom prst="line">
            <a:avLst/>
          </a:prstGeom>
          <a:ln w="3810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83880" y="39319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1" i="0">
                <a:solidFill>
                  <a:srgbClr val="132040"/>
                </a:solidFill>
                <a:latin typeface="Calibri"/>
              </a:rPr>
              <a:t>To Backend</a:t>
            </a:r>
          </a:p>
        </p:txBody>
      </p:sp>
      <p:cxnSp>
        <p:nvCxnSpPr>
          <p:cNvPr id="39" name="Config pushed down"/>
          <p:cNvCxnSpPr/>
          <p:nvPr/>
        </p:nvCxnSpPr>
        <p:spPr>
          <a:xfrm>
            <a:off x="6172200" y="2907792"/>
            <a:ext cx="0" cy="292608"/>
          </a:xfrm>
          <a:prstGeom prst="line">
            <a:avLst/>
          </a:prstGeom>
          <a:ln w="15875">
            <a:solidFill>
              <a:srgbClr val="B886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06240" y="289864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Calibri"/>
              </a:rPr>
              <a:t>config &amp; policy pushed down</a:t>
            </a:r>
          </a:p>
        </p:txBody>
      </p:sp>
      <p:cxnSp>
        <p:nvCxnSpPr>
          <p:cNvPr id="41" name="Management to Gateway"/>
          <p:cNvCxnSpPr/>
          <p:nvPr/>
        </p:nvCxnSpPr>
        <p:spPr>
          <a:xfrm>
            <a:off x="7955280" y="2907792"/>
            <a:ext cx="0" cy="292608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ateway to Portal"/>
          <p:cNvCxnSpPr/>
          <p:nvPr/>
        </p:nvCxnSpPr>
        <p:spPr>
          <a:xfrm>
            <a:off x="7955280" y="5166360"/>
            <a:ext cx="0" cy="246888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119872" y="513892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132040"/>
                </a:solidFill>
                <a:latin typeface="Calibri"/>
              </a:rPr>
              <a:t>Setting Pushed by Gateway</a:t>
            </a:r>
          </a:p>
        </p:txBody>
      </p:sp>
      <p:sp>
        <p:nvSpPr>
          <p:cNvPr id="44" name="Consumers to Management plane"/>
          <p:cNvSpPr/>
          <p:nvPr/>
        </p:nvSpPr>
        <p:spPr>
          <a:xfrm>
            <a:off x="1280160" y="2212848"/>
            <a:ext cx="2880360" cy="1444752"/>
          </a:xfrm>
          <a:custGeom>
            <a:avLst/>
            <a:gdLst/>
            <a:ahLst/>
            <a:cxnLst/>
            <a:rect l="l" t="t" r="r" b="b"/>
            <a:pathLst>
              <a:path w="2880360" h="1444752">
                <a:moveTo>
                  <a:pt x="0" y="1444752"/>
                </a:moveTo>
                <a:lnTo>
                  <a:pt x="0" y="0"/>
                </a:lnTo>
                <a:lnTo>
                  <a:pt x="2880360" y="0"/>
                </a:lnTo>
              </a:path>
            </a:pathLst>
          </a:cu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onsumers to Portal"/>
          <p:cNvSpPr/>
          <p:nvPr/>
        </p:nvSpPr>
        <p:spPr>
          <a:xfrm>
            <a:off x="1280160" y="4846320"/>
            <a:ext cx="2880360" cy="1024128"/>
          </a:xfrm>
          <a:custGeom>
            <a:avLst/>
            <a:gdLst/>
            <a:ahLst/>
            <a:cxnLst/>
            <a:rect l="l" t="t" r="r" b="b"/>
            <a:pathLst>
              <a:path w="2880360" h="1024128">
                <a:moveTo>
                  <a:pt x="0" y="0"/>
                </a:moveTo>
                <a:lnTo>
                  <a:pt x="0" y="1024128"/>
                </a:lnTo>
                <a:lnTo>
                  <a:pt x="2880360" y="1024128"/>
                </a:lnTo>
              </a:path>
            </a:pathLst>
          </a:cu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5.2  ·  LOGICAL ARCHITECTURE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Logical architecture: four layers, two shared services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Consumers, edge security, API Management and backends, with Entra ID and Key Vault shared by every layer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3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Band: Consumers"/>
          <p:cNvSpPr/>
          <p:nvPr/>
        </p:nvSpPr>
        <p:spPr>
          <a:xfrm>
            <a:off x="457200" y="1417320"/>
            <a:ext cx="8778240" cy="1005840"/>
          </a:xfrm>
          <a:prstGeom prst="roundRect">
            <a:avLst>
              <a:gd name="adj" fmla="val 6363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and label: Consumers"/>
          <p:cNvSpPr txBox="1"/>
          <p:nvPr/>
        </p:nvSpPr>
        <p:spPr>
          <a:xfrm>
            <a:off x="621792" y="14173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Consumers</a:t>
            </a:r>
          </a:p>
        </p:txBody>
      </p:sp>
      <p:sp>
        <p:nvSpPr>
          <p:cNvPr id="9" name="Consumers: Web App"/>
          <p:cNvSpPr/>
          <p:nvPr/>
        </p:nvSpPr>
        <p:spPr>
          <a:xfrm>
            <a:off x="3017520" y="157276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Web App</a:t>
            </a:r>
          </a:p>
        </p:txBody>
      </p:sp>
      <p:sp>
        <p:nvSpPr>
          <p:cNvPr id="10" name="Consumers: Mobile App"/>
          <p:cNvSpPr/>
          <p:nvPr/>
        </p:nvSpPr>
        <p:spPr>
          <a:xfrm>
            <a:off x="4526280" y="157276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Mobile App</a:t>
            </a:r>
          </a:p>
        </p:txBody>
      </p:sp>
      <p:sp>
        <p:nvSpPr>
          <p:cNvPr id="11" name="Consumers: Partner System"/>
          <p:cNvSpPr/>
          <p:nvPr/>
        </p:nvSpPr>
        <p:spPr>
          <a:xfrm>
            <a:off x="6035040" y="157276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Partner System</a:t>
            </a:r>
          </a:p>
        </p:txBody>
      </p:sp>
      <p:sp>
        <p:nvSpPr>
          <p:cNvPr id="12" name="Consumers: Internal Service"/>
          <p:cNvSpPr/>
          <p:nvPr/>
        </p:nvSpPr>
        <p:spPr>
          <a:xfrm>
            <a:off x="7543800" y="157276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Internal 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423160"/>
            <a:ext cx="0" cy="27432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and: Edge Security"/>
          <p:cNvSpPr/>
          <p:nvPr/>
        </p:nvSpPr>
        <p:spPr>
          <a:xfrm>
            <a:off x="457200" y="2697480"/>
            <a:ext cx="8778240" cy="1005840"/>
          </a:xfrm>
          <a:prstGeom prst="roundRect">
            <a:avLst>
              <a:gd name="adj" fmla="val 6363"/>
            </a:avLst>
          </a:prstGeom>
          <a:solidFill>
            <a:srgbClr val="0CB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and label: Edge Security"/>
          <p:cNvSpPr txBox="1"/>
          <p:nvPr/>
        </p:nvSpPr>
        <p:spPr>
          <a:xfrm>
            <a:off x="621792" y="269748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Edge Security</a:t>
            </a:r>
          </a:p>
        </p:txBody>
      </p:sp>
      <p:sp>
        <p:nvSpPr>
          <p:cNvPr id="16" name="Edge Security: Azure Front Door"/>
          <p:cNvSpPr/>
          <p:nvPr/>
        </p:nvSpPr>
        <p:spPr>
          <a:xfrm>
            <a:off x="3017520" y="285292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E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Azure Front Door</a:t>
            </a:r>
          </a:p>
        </p:txBody>
      </p:sp>
      <p:sp>
        <p:nvSpPr>
          <p:cNvPr id="17" name="Edge Security: Web Application Firewall"/>
          <p:cNvSpPr/>
          <p:nvPr/>
        </p:nvSpPr>
        <p:spPr>
          <a:xfrm>
            <a:off x="5029200" y="285292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E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Web Application Firewall</a:t>
            </a:r>
          </a:p>
        </p:txBody>
      </p:sp>
      <p:sp>
        <p:nvSpPr>
          <p:cNvPr id="18" name="Edge Security: Private / Public Endpoints"/>
          <p:cNvSpPr/>
          <p:nvPr/>
        </p:nvSpPr>
        <p:spPr>
          <a:xfrm>
            <a:off x="7040880" y="285292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E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Private / Public Endpoints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3703320"/>
            <a:ext cx="0" cy="27432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and: Azure API Management"/>
          <p:cNvSpPr/>
          <p:nvPr/>
        </p:nvSpPr>
        <p:spPr>
          <a:xfrm>
            <a:off x="457200" y="3977640"/>
            <a:ext cx="8778240" cy="1005840"/>
          </a:xfrm>
          <a:prstGeom prst="roundRect">
            <a:avLst>
              <a:gd name="adj" fmla="val 6363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and label: Azure API Management"/>
          <p:cNvSpPr txBox="1"/>
          <p:nvPr/>
        </p:nvSpPr>
        <p:spPr>
          <a:xfrm>
            <a:off x="621792" y="3977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Azure API Management</a:t>
            </a:r>
          </a:p>
        </p:txBody>
      </p:sp>
      <p:sp>
        <p:nvSpPr>
          <p:cNvPr id="22" name="Azure API Management: Gateway"/>
          <p:cNvSpPr/>
          <p:nvPr/>
        </p:nvSpPr>
        <p:spPr>
          <a:xfrm>
            <a:off x="3017520" y="413308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C8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Gateway</a:t>
            </a:r>
          </a:p>
        </p:txBody>
      </p:sp>
      <p:sp>
        <p:nvSpPr>
          <p:cNvPr id="23" name="Azure API Management: Policies"/>
          <p:cNvSpPr/>
          <p:nvPr/>
        </p:nvSpPr>
        <p:spPr>
          <a:xfrm>
            <a:off x="4526280" y="413308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C8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Policies</a:t>
            </a:r>
          </a:p>
        </p:txBody>
      </p:sp>
      <p:sp>
        <p:nvSpPr>
          <p:cNvPr id="24" name="Azure API Management: Developer Portal"/>
          <p:cNvSpPr/>
          <p:nvPr/>
        </p:nvSpPr>
        <p:spPr>
          <a:xfrm>
            <a:off x="6035040" y="413308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C8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Developer Portal</a:t>
            </a:r>
          </a:p>
        </p:txBody>
      </p:sp>
      <p:sp>
        <p:nvSpPr>
          <p:cNvPr id="25" name="Azure API Management: Products / APIs"/>
          <p:cNvSpPr/>
          <p:nvPr/>
        </p:nvSpPr>
        <p:spPr>
          <a:xfrm>
            <a:off x="7543800" y="413308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C8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Products / APIs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4983480"/>
            <a:ext cx="0" cy="27432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and: Backends"/>
          <p:cNvSpPr/>
          <p:nvPr/>
        </p:nvSpPr>
        <p:spPr>
          <a:xfrm>
            <a:off x="457200" y="5257800"/>
            <a:ext cx="8778240" cy="1005840"/>
          </a:xfrm>
          <a:prstGeom prst="roundRect">
            <a:avLst>
              <a:gd name="adj" fmla="val 6363"/>
            </a:avLst>
          </a:prstGeom>
          <a:solidFill>
            <a:srgbClr val="485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and label: Backends"/>
          <p:cNvSpPr txBox="1"/>
          <p:nvPr/>
        </p:nvSpPr>
        <p:spPr>
          <a:xfrm>
            <a:off x="621792" y="52578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Backends</a:t>
            </a:r>
          </a:p>
        </p:txBody>
      </p:sp>
      <p:sp>
        <p:nvSpPr>
          <p:cNvPr id="29" name="Backends: Services"/>
          <p:cNvSpPr/>
          <p:nvPr/>
        </p:nvSpPr>
        <p:spPr>
          <a:xfrm>
            <a:off x="3017520" y="541324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222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Services</a:t>
            </a:r>
          </a:p>
        </p:txBody>
      </p:sp>
      <p:sp>
        <p:nvSpPr>
          <p:cNvPr id="30" name="Backends: SaaS"/>
          <p:cNvSpPr/>
          <p:nvPr/>
        </p:nvSpPr>
        <p:spPr>
          <a:xfrm>
            <a:off x="5029200" y="541324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222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SaaS</a:t>
            </a:r>
          </a:p>
        </p:txBody>
      </p:sp>
      <p:sp>
        <p:nvSpPr>
          <p:cNvPr id="31" name="Backends: Partner APIs"/>
          <p:cNvSpPr/>
          <p:nvPr/>
        </p:nvSpPr>
        <p:spPr>
          <a:xfrm>
            <a:off x="7040880" y="541324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222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Partner APIs</a:t>
            </a:r>
          </a:p>
        </p:txBody>
      </p:sp>
      <p:sp>
        <p:nvSpPr>
          <p:cNvPr id="32" name="Shared services panel"/>
          <p:cNvSpPr/>
          <p:nvPr/>
        </p:nvSpPr>
        <p:spPr>
          <a:xfrm>
            <a:off x="9646920" y="1783080"/>
            <a:ext cx="2084832" cy="4206240"/>
          </a:xfrm>
          <a:prstGeom prst="roundRect">
            <a:avLst>
              <a:gd name="adj" fmla="val 19736"/>
            </a:avLst>
          </a:prstGeom>
          <a:solidFill>
            <a:srgbClr val="8CA8DC"/>
          </a:solidFill>
          <a:ln w="1587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icrosoft Entra ID"/>
          <p:cNvSpPr/>
          <p:nvPr/>
        </p:nvSpPr>
        <p:spPr>
          <a:xfrm>
            <a:off x="9784080" y="2240280"/>
            <a:ext cx="1810512" cy="1280160"/>
          </a:xfrm>
          <a:prstGeom prst="roundRect">
            <a:avLst>
              <a:gd name="adj" fmla="val 5000"/>
            </a:avLst>
          </a:prstGeom>
          <a:solidFill>
            <a:srgbClr val="BCD4EC"/>
          </a:solidFill>
          <a:ln w="2857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00" b="1" i="0">
                <a:solidFill>
                  <a:srgbClr val="1C2460"/>
                </a:solidFill>
                <a:latin typeface="Calibri"/>
              </a:rPr>
              <a:t>Microsoft Entra ID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Identity &amp; OAuth 2.0</a:t>
            </a:r>
          </a:p>
        </p:txBody>
      </p:sp>
      <p:sp>
        <p:nvSpPr>
          <p:cNvPr id="34" name="Azure Key Vault"/>
          <p:cNvSpPr/>
          <p:nvPr/>
        </p:nvSpPr>
        <p:spPr>
          <a:xfrm>
            <a:off x="9784080" y="4160520"/>
            <a:ext cx="1810512" cy="1188720"/>
          </a:xfrm>
          <a:prstGeom prst="roundRect">
            <a:avLst>
              <a:gd name="adj" fmla="val 5384"/>
            </a:avLst>
          </a:prstGeom>
          <a:solidFill>
            <a:srgbClr val="DEEAF6"/>
          </a:solidFill>
          <a:ln w="2857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00" b="1" i="0">
                <a:solidFill>
                  <a:srgbClr val="1C2460"/>
                </a:solidFill>
                <a:latin typeface="Calibri"/>
              </a:rPr>
              <a:t>Azure Key Vault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Secrets &amp; Certificates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5.3  ·  ACCESS AND SECURITY BOUNDARY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Access model and security boundary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API access model and security boundary, internal and external paths converging on the same internal-mode gateway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4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cxnSp>
        <p:nvCxnSpPr>
          <p:cNvPr id="7" name="Internet boundary line"/>
          <p:cNvCxnSpPr/>
          <p:nvPr/>
        </p:nvCxnSpPr>
        <p:spPr>
          <a:xfrm>
            <a:off x="2697480" y="1783080"/>
            <a:ext cx="0" cy="2834640"/>
          </a:xfrm>
          <a:prstGeom prst="line">
            <a:avLst/>
          </a:prstGeom>
          <a:ln w="28575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54480" y="14447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Internet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1">
                <a:solidFill>
                  <a:srgbClr val="C0392B"/>
                </a:solidFill>
                <a:latin typeface="Calibri"/>
              </a:rPr>
              <a:t>crossed only at the edge, by external traffic</a:t>
            </a:r>
          </a:p>
        </p:txBody>
      </p:sp>
      <p:sp>
        <p:nvSpPr>
          <p:cNvPr id="10" name="External consumer"/>
          <p:cNvSpPr/>
          <p:nvPr/>
        </p:nvSpPr>
        <p:spPr>
          <a:xfrm>
            <a:off x="457200" y="219456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1EEE7"/>
          </a:solidFill>
          <a:ln w="19050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3A352D"/>
                </a:solidFill>
                <a:latin typeface="Calibri"/>
              </a:rPr>
              <a:t>External consumer</a:t>
            </a:r>
          </a:p>
          <a:p>
            <a:pPr algn="ctr"/>
            <a:r>
              <a:rPr sz="1100" b="0" i="0">
                <a:solidFill>
                  <a:srgbClr val="6B655B"/>
                </a:solidFill>
                <a:latin typeface="Calibri"/>
              </a:rPr>
              <a:t>public client / partner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2560320"/>
            <a:ext cx="640080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ont Door + WAF"/>
          <p:cNvSpPr/>
          <p:nvPr/>
        </p:nvSpPr>
        <p:spPr>
          <a:xfrm>
            <a:off x="3017520" y="210312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1E3A6B"/>
                </a:solidFill>
                <a:latin typeface="Calibri"/>
              </a:rPr>
              <a:t>Front Door + WAF</a:t>
            </a:r>
          </a:p>
          <a:p>
            <a:pPr algn="ctr"/>
            <a:r>
              <a:rPr sz="1050" b="0" i="0">
                <a:solidFill>
                  <a:srgbClr val="2E6CA6"/>
                </a:solidFill>
                <a:latin typeface="Calibri"/>
              </a:rPr>
              <a:t>TLS termination, OWASP rules, rate limiting, IP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8745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Private Link</a:t>
            </a:r>
          </a:p>
        </p:txBody>
      </p:sp>
      <p:sp>
        <p:nvSpPr>
          <p:cNvPr id="14" name="Front Door to APIM (Private Link)"/>
          <p:cNvSpPr/>
          <p:nvPr/>
        </p:nvSpPr>
        <p:spPr>
          <a:xfrm>
            <a:off x="5532120" y="2560320"/>
            <a:ext cx="594360" cy="868680"/>
          </a:xfrm>
          <a:custGeom>
            <a:avLst/>
            <a:gdLst/>
            <a:ahLst/>
            <a:cxnLst/>
            <a:rect l="l" t="t" r="r" b="b"/>
            <a:pathLst>
              <a:path w="594360" h="868680">
                <a:moveTo>
                  <a:pt x="0" y="0"/>
                </a:moveTo>
                <a:lnTo>
                  <a:pt x="320040" y="0"/>
                </a:lnTo>
                <a:lnTo>
                  <a:pt x="320040" y="868680"/>
                </a:lnTo>
                <a:lnTo>
                  <a:pt x="594360" y="868680"/>
                </a:lnTo>
              </a:path>
            </a:pathLst>
          </a:custGeom>
          <a:noFill/>
          <a:ln w="22225">
            <a:solidFill>
              <a:srgbClr val="4A556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zure API Management"/>
          <p:cNvSpPr/>
          <p:nvPr/>
        </p:nvSpPr>
        <p:spPr>
          <a:xfrm>
            <a:off x="6126480" y="2880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3F3190"/>
                </a:solidFill>
                <a:latin typeface="Calibri"/>
              </a:rPr>
              <a:t>Azure API Management</a:t>
            </a:r>
          </a:p>
          <a:p>
            <a:pPr algn="ctr">
              <a:spcAft>
                <a:spcPts val="800"/>
              </a:spcAft>
            </a:pPr>
            <a:r>
              <a:rPr sz="1050" b="0" i="0">
                <a:solidFill>
                  <a:srgbClr val="5B4FA0"/>
                </a:solidFill>
                <a:latin typeface="Calibri"/>
              </a:rPr>
              <a:t>Internal VNet mode — one instance, no public endpoint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B4FA0"/>
                </a:solidFill>
                <a:latin typeface="Calibri"/>
              </a:rPr>
              <a:t>External calls: OAuth 2.0 token validated at the gateway</a:t>
            </a:r>
          </a:p>
          <a:p>
            <a:pPr algn="ctr"/>
            <a:r>
              <a:rPr sz="1000" b="0" i="0">
                <a:solidFill>
                  <a:srgbClr val="5B4FA0"/>
                </a:solidFill>
                <a:latin typeface="Calibri"/>
              </a:rPr>
              <a:t>Internal calls: Entra ID client credentials flow validated first</a:t>
            </a:r>
          </a:p>
        </p:txBody>
      </p:sp>
      <p:sp>
        <p:nvSpPr>
          <p:cNvPr id="16" name="Internal application"/>
          <p:cNvSpPr/>
          <p:nvPr/>
        </p:nvSpPr>
        <p:spPr>
          <a:xfrm>
            <a:off x="9098280" y="1554480"/>
            <a:ext cx="2606040" cy="777240"/>
          </a:xfrm>
          <a:prstGeom prst="roundRect">
            <a:avLst>
              <a:gd name="adj" fmla="val 11764"/>
            </a:avLst>
          </a:prstGeom>
          <a:solidFill>
            <a:srgbClr val="F1EEE7"/>
          </a:solidFill>
          <a:ln w="19050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3A352D"/>
                </a:solidFill>
                <a:latin typeface="Calibri"/>
              </a:rPr>
              <a:t>Internal application</a:t>
            </a:r>
          </a:p>
          <a:p>
            <a:pPr algn="ctr"/>
            <a:r>
              <a:rPr sz="1100" b="0" i="0">
                <a:solidFill>
                  <a:srgbClr val="6B655B"/>
                </a:solidFill>
                <a:latin typeface="Calibri"/>
              </a:rPr>
              <a:t>already inside the VNet</a:t>
            </a:r>
          </a:p>
        </p:txBody>
      </p:sp>
      <p:sp>
        <p:nvSpPr>
          <p:cNvPr id="17" name="Internal path (direct)"/>
          <p:cNvSpPr/>
          <p:nvPr/>
        </p:nvSpPr>
        <p:spPr>
          <a:xfrm>
            <a:off x="8732520" y="2331720"/>
            <a:ext cx="1645920" cy="822960"/>
          </a:xfrm>
          <a:custGeom>
            <a:avLst/>
            <a:gdLst/>
            <a:ahLst/>
            <a:cxnLst/>
            <a:rect l="l" t="t" r="r" b="b"/>
            <a:pathLst>
              <a:path w="1645920" h="822960">
                <a:moveTo>
                  <a:pt x="1645920" y="0"/>
                </a:moveTo>
                <a:lnTo>
                  <a:pt x="1645920" y="822960"/>
                </a:lnTo>
                <a:lnTo>
                  <a:pt x="0" y="822960"/>
                </a:lnTo>
              </a:path>
            </a:pathLst>
          </a:custGeom>
          <a:noFill/>
          <a:ln w="2540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42448" y="2606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direct, no edge hop</a:t>
            </a:r>
          </a:p>
        </p:txBody>
      </p:sp>
      <p:sp>
        <p:nvSpPr>
          <p:cNvPr id="19" name="Backend services"/>
          <p:cNvSpPr/>
          <p:nvPr/>
        </p:nvSpPr>
        <p:spPr>
          <a:xfrm>
            <a:off x="9144000" y="3657600"/>
            <a:ext cx="2560320" cy="1005840"/>
          </a:xfrm>
          <a:prstGeom prst="roundRect">
            <a:avLst>
              <a:gd name="adj" fmla="val 9090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1E5E43"/>
                </a:solidFill>
                <a:latin typeface="Calibri"/>
              </a:rPr>
              <a:t>Backend services</a:t>
            </a:r>
          </a:p>
          <a:p>
            <a:pPr algn="ctr"/>
            <a:r>
              <a:rPr sz="1050" b="0" i="0">
                <a:solidFill>
                  <a:srgbClr val="357058"/>
                </a:solidFill>
                <a:latin typeface="Calibri"/>
              </a:rPr>
              <a:t>Functions, integration services, Private Endpoint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4160520"/>
            <a:ext cx="41148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hared services container"/>
          <p:cNvSpPr/>
          <p:nvPr/>
        </p:nvSpPr>
        <p:spPr>
          <a:xfrm>
            <a:off x="457200" y="5257800"/>
            <a:ext cx="11274552" cy="1143000"/>
          </a:xfrm>
          <a:prstGeom prst="roundRect">
            <a:avLst>
              <a:gd name="adj" fmla="val 17600"/>
            </a:avLst>
          </a:prstGeom>
          <a:noFill/>
          <a:ln w="15875">
            <a:solidFill>
              <a:srgbClr val="9AA0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4A5568"/>
                </a:solidFill>
                <a:latin typeface="Calibri"/>
              </a:rPr>
              <a:t>Shared across every layer, inside the boundary</a:t>
            </a:r>
          </a:p>
        </p:txBody>
      </p:sp>
      <p:sp>
        <p:nvSpPr>
          <p:cNvPr id="23" name="Microsoft Entra ID"/>
          <p:cNvSpPr/>
          <p:nvPr/>
        </p:nvSpPr>
        <p:spPr>
          <a:xfrm>
            <a:off x="4206240" y="5577840"/>
            <a:ext cx="3017520" cy="731520"/>
          </a:xfrm>
          <a:prstGeom prst="roundRect">
            <a:avLst>
              <a:gd name="adj" fmla="val 11249"/>
            </a:avLst>
          </a:prstGeom>
          <a:solidFill>
            <a:srgbClr val="F8EBD6"/>
          </a:solidFill>
          <a:ln w="19050">
            <a:solidFill>
              <a:srgbClr val="B07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6A430E"/>
                </a:solidFill>
                <a:latin typeface="Calibri"/>
              </a:rPr>
              <a:t>Microsoft Entra ID</a:t>
            </a:r>
          </a:p>
          <a:p>
            <a:pPr algn="ctr"/>
            <a:r>
              <a:rPr sz="1050" b="0" i="0">
                <a:solidFill>
                  <a:srgbClr val="8A5A18"/>
                </a:solidFill>
                <a:latin typeface="Calibri"/>
              </a:rPr>
              <a:t>Identity for every layer</a:t>
            </a:r>
          </a:p>
        </p:txBody>
      </p:sp>
      <p:sp>
        <p:nvSpPr>
          <p:cNvPr id="24" name="Azure Key Vault"/>
          <p:cNvSpPr/>
          <p:nvPr/>
        </p:nvSpPr>
        <p:spPr>
          <a:xfrm>
            <a:off x="7955280" y="5577840"/>
            <a:ext cx="3017520" cy="731520"/>
          </a:xfrm>
          <a:prstGeom prst="roundRect">
            <a:avLst>
              <a:gd name="adj" fmla="val 11249"/>
            </a:avLst>
          </a:prstGeom>
          <a:solidFill>
            <a:srgbClr val="F8EBD6"/>
          </a:solidFill>
          <a:ln w="19050">
            <a:solidFill>
              <a:srgbClr val="B07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6A430E"/>
                </a:solidFill>
                <a:latin typeface="Calibri"/>
              </a:rPr>
              <a:t>Azure Key Vault</a:t>
            </a:r>
          </a:p>
          <a:p>
            <a:pPr algn="ctr"/>
            <a:r>
              <a:rPr sz="1050" b="0" i="0">
                <a:solidFill>
                  <a:srgbClr val="8A5A18"/>
                </a:solidFill>
                <a:latin typeface="Calibri"/>
              </a:rPr>
              <a:t>Secrets for every layer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760720" y="4709160"/>
            <a:ext cx="1645920" cy="868680"/>
          </a:xfrm>
          <a:prstGeom prst="line">
            <a:avLst/>
          </a:prstGeom>
          <a:ln w="19050">
            <a:solidFill>
              <a:srgbClr val="C9A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06640" y="4709160"/>
            <a:ext cx="2011680" cy="868680"/>
          </a:xfrm>
          <a:prstGeom prst="line">
            <a:avLst/>
          </a:prstGeom>
          <a:ln w="19050">
            <a:solidFill>
              <a:srgbClr val="C9A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766560" y="4663440"/>
            <a:ext cx="3657600" cy="914400"/>
          </a:xfrm>
          <a:prstGeom prst="line">
            <a:avLst/>
          </a:prstGeom>
          <a:ln w="19050">
            <a:solidFill>
              <a:srgbClr val="C9A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058400" y="4663440"/>
            <a:ext cx="365760" cy="914400"/>
          </a:xfrm>
          <a:prstGeom prst="line">
            <a:avLst/>
          </a:prstGeom>
          <a:ln w="19050">
            <a:solidFill>
              <a:srgbClr val="C9A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7.2  ·  CONNECTIVITY MATRIX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Traffic flows: external, internal, outbound, east-west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Flow 1 to Flow 4, the path each type of traffic takes through the platform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5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Flow 1 heading"/>
          <p:cNvSpPr txBox="1"/>
          <p:nvPr/>
        </p:nvSpPr>
        <p:spPr>
          <a:xfrm>
            <a:off x="457200" y="1371600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Flow 1: External Inbound</a:t>
            </a:r>
          </a:p>
        </p:txBody>
      </p:sp>
      <p:sp>
        <p:nvSpPr>
          <p:cNvPr id="8" name="Flow 1: External user"/>
          <p:cNvSpPr/>
          <p:nvPr/>
        </p:nvSpPr>
        <p:spPr>
          <a:xfrm>
            <a:off x="573329" y="1664208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3A352D"/>
                </a:solidFill>
                <a:latin typeface="Calibri"/>
              </a:rPr>
              <a:t>External user</a:t>
            </a:r>
          </a:p>
          <a:p>
            <a:pPr algn="ctr"/>
            <a:r>
              <a:rPr sz="1050" b="0" i="0">
                <a:solidFill>
                  <a:srgbClr val="6B655B"/>
                </a:solidFill>
                <a:latin typeface="Calibri"/>
              </a:rPr>
              <a:t>broker / market system</a:t>
            </a:r>
          </a:p>
        </p:txBody>
      </p:sp>
      <p:sp>
        <p:nvSpPr>
          <p:cNvPr id="9" name="Flow 1: Front Door + WAF"/>
          <p:cNvSpPr/>
          <p:nvPr/>
        </p:nvSpPr>
        <p:spPr>
          <a:xfrm>
            <a:off x="3424885" y="1664208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E3A6B"/>
                </a:solidFill>
                <a:latin typeface="Calibri"/>
              </a:rPr>
              <a:t>Front Door + WAF</a:t>
            </a:r>
          </a:p>
          <a:p>
            <a:pPr algn="ctr"/>
            <a:r>
              <a:rPr sz="1050" b="0" i="0">
                <a:solidFill>
                  <a:srgbClr val="2E6CA6"/>
                </a:solidFill>
                <a:latin typeface="Calibri"/>
              </a:rPr>
              <a:t>TLS, WAF, DDoS</a:t>
            </a:r>
          </a:p>
        </p:txBody>
      </p:sp>
      <p:sp>
        <p:nvSpPr>
          <p:cNvPr id="10" name="Flow 1: APIM internal"/>
          <p:cNvSpPr/>
          <p:nvPr/>
        </p:nvSpPr>
        <p:spPr>
          <a:xfrm>
            <a:off x="6276442" y="1664208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3F3190"/>
                </a:solidFill>
                <a:latin typeface="Calibri"/>
              </a:rPr>
              <a:t>APIM internal</a:t>
            </a:r>
          </a:p>
          <a:p>
            <a:pPr algn="ctr"/>
            <a:r>
              <a:rPr sz="1050" b="0" i="0">
                <a:solidFill>
                  <a:srgbClr val="5B4FA0"/>
                </a:solidFill>
                <a:latin typeface="Calibri"/>
              </a:rPr>
              <a:t>private endpoint</a:t>
            </a:r>
          </a:p>
        </p:txBody>
      </p:sp>
      <p:sp>
        <p:nvSpPr>
          <p:cNvPr id="11" name="Flow 1: Backend"/>
          <p:cNvSpPr/>
          <p:nvPr/>
        </p:nvSpPr>
        <p:spPr>
          <a:xfrm>
            <a:off x="9127998" y="1664208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E5E43"/>
                </a:solidFill>
                <a:latin typeface="Calibri"/>
              </a:rPr>
              <a:t>Backend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03958" y="1984248"/>
            <a:ext cx="1020927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12518" y="1691640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HTTPS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5514" y="1984248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4074" y="1691640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Private Link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07070" y="1984248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 1 caption"/>
          <p:cNvSpPr txBox="1"/>
          <p:nvPr/>
        </p:nvSpPr>
        <p:spPr>
          <a:xfrm>
            <a:off x="457200" y="2377440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Inbound never traverses the Palo Alto. Front Door WAF inspects; APIM accepts traffic only from the Front Door Private Link origin.</a:t>
            </a:r>
          </a:p>
        </p:txBody>
      </p:sp>
      <p:sp>
        <p:nvSpPr>
          <p:cNvPr id="18" name="Flow 2 heading"/>
          <p:cNvSpPr txBox="1"/>
          <p:nvPr/>
        </p:nvSpPr>
        <p:spPr>
          <a:xfrm>
            <a:off x="457200" y="2633472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Flow 2: Internal Inbound</a:t>
            </a:r>
          </a:p>
        </p:txBody>
      </p:sp>
      <p:sp>
        <p:nvSpPr>
          <p:cNvPr id="19" name="Flow 2: Internal / on-prem"/>
          <p:cNvSpPr/>
          <p:nvPr/>
        </p:nvSpPr>
        <p:spPr>
          <a:xfrm>
            <a:off x="573329" y="2926080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E3A6B"/>
                </a:solidFill>
                <a:latin typeface="Calibri"/>
              </a:rPr>
              <a:t>Internal / on-prem</a:t>
            </a:r>
          </a:p>
          <a:p>
            <a:pPr algn="ctr"/>
            <a:r>
              <a:rPr sz="1050" b="0" i="0">
                <a:solidFill>
                  <a:srgbClr val="2E6CA6"/>
                </a:solidFill>
                <a:latin typeface="Calibri"/>
              </a:rPr>
              <a:t>VNet peering / ExpressRoute</a:t>
            </a:r>
          </a:p>
        </p:txBody>
      </p:sp>
      <p:sp>
        <p:nvSpPr>
          <p:cNvPr id="20" name="Flow 2: APIM internal"/>
          <p:cNvSpPr/>
          <p:nvPr/>
        </p:nvSpPr>
        <p:spPr>
          <a:xfrm>
            <a:off x="3424885" y="2926080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3F3190"/>
                </a:solidFill>
                <a:latin typeface="Calibri"/>
              </a:rPr>
              <a:t>APIM internal</a:t>
            </a:r>
          </a:p>
          <a:p>
            <a:pPr algn="ctr"/>
            <a:r>
              <a:rPr sz="1050" b="0" i="0">
                <a:solidFill>
                  <a:srgbClr val="5B4FA0"/>
                </a:solidFill>
                <a:latin typeface="Calibri"/>
              </a:rPr>
              <a:t>auth + policy</a:t>
            </a:r>
          </a:p>
        </p:txBody>
      </p:sp>
      <p:sp>
        <p:nvSpPr>
          <p:cNvPr id="21" name="Flow 2: Backend"/>
          <p:cNvSpPr/>
          <p:nvPr/>
        </p:nvSpPr>
        <p:spPr>
          <a:xfrm>
            <a:off x="6276442" y="2926080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E5E43"/>
                </a:solidFill>
                <a:latin typeface="Calibri"/>
              </a:rPr>
              <a:t>Backend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03958" y="3246120"/>
            <a:ext cx="1020927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12518" y="2953512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private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55514" y="3246120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 2 caption"/>
          <p:cNvSpPr txBox="1"/>
          <p:nvPr/>
        </p:nvSpPr>
        <p:spPr>
          <a:xfrm>
            <a:off x="457200" y="3639312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Internal traffic stays private and does not go through the Palo Alto. Every internal call is still authenticated and policy-checked at APIM.</a:t>
            </a:r>
          </a:p>
        </p:txBody>
      </p:sp>
      <p:sp>
        <p:nvSpPr>
          <p:cNvPr id="26" name="Flow 3 heading"/>
          <p:cNvSpPr txBox="1"/>
          <p:nvPr/>
        </p:nvSpPr>
        <p:spPr>
          <a:xfrm>
            <a:off x="457200" y="3895344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Flow 3: External Outbound</a:t>
            </a:r>
          </a:p>
        </p:txBody>
      </p:sp>
      <p:sp>
        <p:nvSpPr>
          <p:cNvPr id="27" name="Flow 3: APIM / backend"/>
          <p:cNvSpPr/>
          <p:nvPr/>
        </p:nvSpPr>
        <p:spPr>
          <a:xfrm>
            <a:off x="573329" y="4187952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3F3190"/>
                </a:solidFill>
                <a:latin typeface="Calibri"/>
              </a:rPr>
              <a:t>APIM / backend</a:t>
            </a:r>
          </a:p>
        </p:txBody>
      </p:sp>
      <p:sp>
        <p:nvSpPr>
          <p:cNvPr id="28" name="Flow 3: Palo Alto"/>
          <p:cNvSpPr/>
          <p:nvPr/>
        </p:nvSpPr>
        <p:spPr>
          <a:xfrm>
            <a:off x="3424885" y="4187952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FBECEC"/>
          </a:solidFill>
          <a:ln w="22225">
            <a:solidFill>
              <a:srgbClr val="B55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6B1F25"/>
                </a:solidFill>
                <a:latin typeface="Calibri"/>
              </a:rPr>
              <a:t>Palo Alto</a:t>
            </a:r>
          </a:p>
          <a:p>
            <a:pPr algn="ctr"/>
            <a:r>
              <a:rPr sz="1050" b="0" i="0">
                <a:solidFill>
                  <a:srgbClr val="814449"/>
                </a:solidFill>
                <a:latin typeface="Calibri"/>
              </a:rPr>
              <a:t>egress + URL filter</a:t>
            </a:r>
          </a:p>
        </p:txBody>
      </p:sp>
      <p:sp>
        <p:nvSpPr>
          <p:cNvPr id="29" name="Flow 3: Internet / SaaS"/>
          <p:cNvSpPr/>
          <p:nvPr/>
        </p:nvSpPr>
        <p:spPr>
          <a:xfrm>
            <a:off x="6276442" y="4187952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3A352D"/>
                </a:solidFill>
                <a:latin typeface="Calibri"/>
              </a:rPr>
              <a:t>Internet / SaaS</a:t>
            </a:r>
          </a:p>
          <a:p>
            <a:pPr algn="ctr"/>
            <a:r>
              <a:rPr sz="1050" b="0" i="0">
                <a:solidFill>
                  <a:srgbClr val="6B655B"/>
                </a:solidFill>
                <a:latin typeface="Calibri"/>
              </a:rPr>
              <a:t>e.g. Salesforce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03958" y="4507992"/>
            <a:ext cx="1020927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12518" y="4215384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0.0.0.0/0 UDR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55514" y="4507992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64074" y="4215384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SNAT</a:t>
            </a:r>
          </a:p>
        </p:txBody>
      </p:sp>
      <p:sp>
        <p:nvSpPr>
          <p:cNvPr id="34" name="Flow 3 caption"/>
          <p:cNvSpPr txBox="1"/>
          <p:nvPr/>
        </p:nvSpPr>
        <p:spPr>
          <a:xfrm>
            <a:off x="457200" y="4901184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A UDR (0.0.0.0/0 to the Palo Alto internal LB) forces all outbound data-plane traffic through the firewall. Secrets stay in Key Vault.</a:t>
            </a:r>
          </a:p>
        </p:txBody>
      </p:sp>
      <p:sp>
        <p:nvSpPr>
          <p:cNvPr id="35" name="Flow 4 heading"/>
          <p:cNvSpPr txBox="1"/>
          <p:nvPr/>
        </p:nvSpPr>
        <p:spPr>
          <a:xfrm>
            <a:off x="457200" y="5157216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Flow 4: Internal Outbound</a:t>
            </a:r>
          </a:p>
        </p:txBody>
      </p:sp>
      <p:sp>
        <p:nvSpPr>
          <p:cNvPr id="36" name="Flow 4: APIM internal"/>
          <p:cNvSpPr/>
          <p:nvPr/>
        </p:nvSpPr>
        <p:spPr>
          <a:xfrm>
            <a:off x="573329" y="5449824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3F3190"/>
                </a:solidFill>
                <a:latin typeface="Calibri"/>
              </a:rPr>
              <a:t>APIM internal</a:t>
            </a:r>
          </a:p>
        </p:txBody>
      </p:sp>
      <p:sp>
        <p:nvSpPr>
          <p:cNvPr id="37" name="Flow 4: Palo Alto"/>
          <p:cNvSpPr/>
          <p:nvPr/>
        </p:nvSpPr>
        <p:spPr>
          <a:xfrm>
            <a:off x="3424885" y="5449824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FBECEC"/>
          </a:solidFill>
          <a:ln w="22225">
            <a:solidFill>
              <a:srgbClr val="B55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6B1F25"/>
                </a:solidFill>
                <a:latin typeface="Calibri"/>
              </a:rPr>
              <a:t>Palo Alto</a:t>
            </a:r>
          </a:p>
          <a:p>
            <a:pPr algn="ctr"/>
            <a:r>
              <a:rPr sz="1050" b="0" i="0">
                <a:solidFill>
                  <a:srgbClr val="814449"/>
                </a:solidFill>
                <a:latin typeface="Calibri"/>
              </a:rPr>
              <a:t>east-west inspection</a:t>
            </a:r>
          </a:p>
        </p:txBody>
      </p:sp>
      <p:sp>
        <p:nvSpPr>
          <p:cNvPr id="38" name="Flow 4: Private backend"/>
          <p:cNvSpPr/>
          <p:nvPr/>
        </p:nvSpPr>
        <p:spPr>
          <a:xfrm>
            <a:off x="6276442" y="5449824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E5E43"/>
                </a:solidFill>
                <a:latin typeface="Calibri"/>
              </a:rPr>
              <a:t>Private backend</a:t>
            </a:r>
          </a:p>
          <a:p>
            <a:pPr algn="ctr"/>
            <a:r>
              <a:rPr sz="1050" b="0" i="0">
                <a:solidFill>
                  <a:srgbClr val="357058"/>
                </a:solidFill>
                <a:latin typeface="Calibri"/>
              </a:rPr>
              <a:t>Functions / PaaS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03958" y="5769864"/>
            <a:ext cx="1020927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12518" y="5477256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East-west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255514" y="5769864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64074" y="5477256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Private Endpoint</a:t>
            </a:r>
          </a:p>
        </p:txBody>
      </p:sp>
      <p:sp>
        <p:nvSpPr>
          <p:cNvPr id="43" name="Flow 4 caption"/>
          <p:cNvSpPr txBox="1"/>
          <p:nvPr/>
        </p:nvSpPr>
        <p:spPr>
          <a:xfrm>
            <a:off x="457200" y="6163056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East-west traffic is routed through the central Palo Alto firewall before it reaches the private backend, so it is inspected and logged like any other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7.3  ·  INGRESS FLOW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Ingress flow: external request to backend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How a request travels from an external consumer through the edge and APIM to the backend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6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External consumer"/>
          <p:cNvSpPr/>
          <p:nvPr/>
        </p:nvSpPr>
        <p:spPr>
          <a:xfrm>
            <a:off x="685800" y="1463040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3A352D"/>
                </a:solidFill>
                <a:latin typeface="Calibri"/>
              </a:rPr>
              <a:t>External consumer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029968"/>
            <a:ext cx="0" cy="667512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0280" y="221284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1. request</a:t>
            </a:r>
          </a:p>
        </p:txBody>
      </p:sp>
      <p:sp>
        <p:nvSpPr>
          <p:cNvPr id="10" name="Edge security"/>
          <p:cNvSpPr/>
          <p:nvPr/>
        </p:nvSpPr>
        <p:spPr>
          <a:xfrm>
            <a:off x="685800" y="2697480"/>
            <a:ext cx="2834640" cy="1371600"/>
          </a:xfrm>
          <a:prstGeom prst="roundRect">
            <a:avLst>
              <a:gd name="adj" fmla="val 6666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700" b="1" i="0">
                <a:solidFill>
                  <a:srgbClr val="1E3A6B"/>
                </a:solidFill>
                <a:latin typeface="Calibri"/>
              </a:rPr>
              <a:t>Edge security</a:t>
            </a:r>
          </a:p>
          <a:p>
            <a:pPr algn="ctr"/>
            <a:r>
              <a:rPr sz="1200" b="0" i="0">
                <a:solidFill>
                  <a:srgbClr val="2E6CA6"/>
                </a:solidFill>
                <a:latin typeface="Calibri"/>
              </a:rPr>
              <a:t>Azure Front Door + WAF</a:t>
            </a:r>
          </a:p>
          <a:p>
            <a:pPr algn="ctr"/>
            <a:r>
              <a:rPr sz="1200" b="0" i="0">
                <a:solidFill>
                  <a:srgbClr val="2E6CA6"/>
                </a:solidFill>
                <a:latin typeface="Calibri"/>
              </a:rPr>
              <a:t>TLS, DDoS, bot protection</a:t>
            </a:r>
          </a:p>
        </p:txBody>
      </p:sp>
      <p:sp>
        <p:nvSpPr>
          <p:cNvPr id="11" name="Azure API Management"/>
          <p:cNvSpPr/>
          <p:nvPr/>
        </p:nvSpPr>
        <p:spPr>
          <a:xfrm>
            <a:off x="4727448" y="2697480"/>
            <a:ext cx="2834640" cy="1371600"/>
          </a:xfrm>
          <a:prstGeom prst="roundRect">
            <a:avLst>
              <a:gd name="adj" fmla="val 6666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700" b="1" i="0">
                <a:solidFill>
                  <a:srgbClr val="3F3190"/>
                </a:solidFill>
                <a:latin typeface="Calibri"/>
              </a:rPr>
              <a:t>Azure API Management</a:t>
            </a:r>
          </a:p>
          <a:p>
            <a:pPr algn="ctr"/>
            <a:r>
              <a:rPr sz="1200" b="0" i="0">
                <a:solidFill>
                  <a:srgbClr val="5B4FA0"/>
                </a:solidFill>
                <a:latin typeface="Calibri"/>
              </a:rPr>
              <a:t>Internal gateway</a:t>
            </a:r>
          </a:p>
          <a:p>
            <a:pPr algn="ctr"/>
            <a:r>
              <a:rPr sz="1200" b="0" i="0">
                <a:solidFill>
                  <a:srgbClr val="5B4FA0"/>
                </a:solidFill>
                <a:latin typeface="Calibri"/>
              </a:rPr>
              <a:t>Auth, policy, routing</a:t>
            </a:r>
          </a:p>
        </p:txBody>
      </p:sp>
      <p:sp>
        <p:nvSpPr>
          <p:cNvPr id="12" name="Backend services"/>
          <p:cNvSpPr/>
          <p:nvPr/>
        </p:nvSpPr>
        <p:spPr>
          <a:xfrm>
            <a:off x="8769096" y="2697480"/>
            <a:ext cx="2834640" cy="1371600"/>
          </a:xfrm>
          <a:prstGeom prst="roundRect">
            <a:avLst>
              <a:gd name="adj" fmla="val 6666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700" b="1" i="0">
                <a:solidFill>
                  <a:srgbClr val="1E5E43"/>
                </a:solidFill>
                <a:latin typeface="Calibri"/>
              </a:rPr>
              <a:t>Backend services</a:t>
            </a:r>
          </a:p>
          <a:p>
            <a:pPr algn="ctr"/>
            <a:r>
              <a:rPr sz="1200" b="0" i="0">
                <a:solidFill>
                  <a:srgbClr val="357058"/>
                </a:solidFill>
                <a:latin typeface="Calibri"/>
              </a:rPr>
              <a:t>Functions and</a:t>
            </a:r>
          </a:p>
          <a:p>
            <a:pPr algn="ctr"/>
            <a:r>
              <a:rPr sz="1200" b="0" i="0">
                <a:solidFill>
                  <a:srgbClr val="357058"/>
                </a:solidFill>
                <a:latin typeface="Calibri"/>
              </a:rPr>
              <a:t>integration services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20440" y="3383280"/>
            <a:ext cx="120700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20440" y="297180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456432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B3261E"/>
                </a:solidFill>
                <a:latin typeface="Calibri"/>
              </a:rPr>
              <a:t>Private Link</a:t>
            </a:r>
          </a:p>
          <a:p>
            <a:pPr algn="ctr"/>
            <a:r>
              <a:rPr sz="950" b="0" i="0">
                <a:solidFill>
                  <a:srgbClr val="B3261E"/>
                </a:solidFill>
                <a:latin typeface="Calibri"/>
              </a:rPr>
              <a:t>(Private Endpoint)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62088" y="3383280"/>
            <a:ext cx="120700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62088" y="297180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18" name="Shared services container"/>
          <p:cNvSpPr/>
          <p:nvPr/>
        </p:nvSpPr>
        <p:spPr>
          <a:xfrm>
            <a:off x="457200" y="4526280"/>
            <a:ext cx="11274552" cy="1828800"/>
          </a:xfrm>
          <a:prstGeom prst="roundRect">
            <a:avLst>
              <a:gd name="adj" fmla="val 11000"/>
            </a:avLst>
          </a:prstGeom>
          <a:noFill/>
          <a:ln w="15875">
            <a:solidFill>
              <a:srgbClr val="9AA7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4A5568"/>
                </a:solidFill>
                <a:latin typeface="Calibri"/>
              </a:rPr>
              <a:t>Shared across every layer</a:t>
            </a:r>
          </a:p>
        </p:txBody>
      </p:sp>
      <p:sp>
        <p:nvSpPr>
          <p:cNvPr id="20" name="Microsoft Entra ID"/>
          <p:cNvSpPr/>
          <p:nvPr/>
        </p:nvSpPr>
        <p:spPr>
          <a:xfrm>
            <a:off x="1188720" y="50292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600" b="1" i="0">
                <a:solidFill>
                  <a:srgbClr val="6B4510"/>
                </a:solidFill>
                <a:latin typeface="Calibri"/>
              </a:rPr>
              <a:t>Microsoft Entra ID</a:t>
            </a:r>
          </a:p>
          <a:p>
            <a:pPr algn="ctr"/>
            <a:r>
              <a:rPr sz="1200" b="0" i="0">
                <a:solidFill>
                  <a:srgbClr val="8A6A1F"/>
                </a:solidFill>
                <a:latin typeface="Calibri"/>
              </a:rPr>
              <a:t>Identity for every layer</a:t>
            </a:r>
          </a:p>
        </p:txBody>
      </p:sp>
      <p:sp>
        <p:nvSpPr>
          <p:cNvPr id="21" name="Azure Key Vault"/>
          <p:cNvSpPr/>
          <p:nvPr/>
        </p:nvSpPr>
        <p:spPr>
          <a:xfrm>
            <a:off x="6400800" y="50292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600" b="1" i="0">
                <a:solidFill>
                  <a:srgbClr val="6B4510"/>
                </a:solidFill>
                <a:latin typeface="Calibri"/>
              </a:rPr>
              <a:t>Azure Key Vault</a:t>
            </a:r>
          </a:p>
          <a:p>
            <a:pPr algn="ctr"/>
            <a:r>
              <a:rPr sz="1200" b="0" i="0">
                <a:solidFill>
                  <a:srgbClr val="8A6A1F"/>
                </a:solidFill>
                <a:latin typeface="Calibri"/>
              </a:rPr>
              <a:t>Secrets for every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7.4  ·  EGRESS FLOW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Egress flow: calls leaving Azure use the central path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Steps 1 to 3 are the enforced route to a third party. The red crossed path is the anti-pattern this design prevents.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7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Internal components"/>
          <p:cNvSpPr/>
          <p:nvPr/>
        </p:nvSpPr>
        <p:spPr>
          <a:xfrm>
            <a:off x="640080" y="20116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E1F4EC"/>
          </a:solidFill>
          <a:ln w="1905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sz="1500" b="1" i="0">
                <a:solidFill>
                  <a:srgbClr val="0A3B2D"/>
                </a:solidFill>
                <a:latin typeface="Calibri"/>
              </a:rPr>
              <a:t>Internal components</a:t>
            </a:r>
          </a:p>
          <a:p>
            <a:pPr algn="ctr"/>
            <a:r>
              <a:rPr sz="1250" b="0" i="0">
                <a:solidFill>
                  <a:srgbClr val="0F5C47"/>
                </a:solidFill>
                <a:latin typeface="Calibri"/>
              </a:rPr>
              <a:t>Functions,</a:t>
            </a:r>
          </a:p>
          <a:p>
            <a:pPr algn="ctr"/>
            <a:r>
              <a:rPr sz="1250" b="0" i="0">
                <a:solidFill>
                  <a:srgbClr val="0F5C47"/>
                </a:solidFill>
                <a:latin typeface="Calibri"/>
              </a:rPr>
              <a:t>integration services,</a:t>
            </a:r>
          </a:p>
          <a:p>
            <a:pPr algn="ctr"/>
            <a:r>
              <a:rPr sz="1250" b="0" i="0">
                <a:solidFill>
                  <a:srgbClr val="0F5C47"/>
                </a:solidFill>
                <a:latin typeface="Calibri"/>
              </a:rPr>
              <a:t>backend microservices</a:t>
            </a:r>
          </a:p>
        </p:txBody>
      </p:sp>
      <p:sp>
        <p:nvSpPr>
          <p:cNvPr id="8" name="APIM outbound"/>
          <p:cNvSpPr/>
          <p:nvPr/>
        </p:nvSpPr>
        <p:spPr>
          <a:xfrm>
            <a:off x="4434840" y="20116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3F3190"/>
                </a:solidFill>
                <a:latin typeface="Calibri"/>
              </a:rPr>
              <a:t>APIM outbound</a:t>
            </a:r>
          </a:p>
          <a:p>
            <a:pPr algn="ctr"/>
            <a:r>
              <a:rPr sz="1250" b="0" i="0">
                <a:solidFill>
                  <a:srgbClr val="5B4FA0"/>
                </a:solidFill>
                <a:latin typeface="Calibri"/>
              </a:rPr>
              <a:t>Egress policy, auth, secrets from Key Vault</a:t>
            </a:r>
          </a:p>
        </p:txBody>
      </p:sp>
      <p:sp>
        <p:nvSpPr>
          <p:cNvPr id="9" name="Firewall / edge egress"/>
          <p:cNvSpPr/>
          <p:nvPr/>
        </p:nvSpPr>
        <p:spPr>
          <a:xfrm>
            <a:off x="8229600" y="20116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BE9E7"/>
          </a:solidFill>
          <a:ln w="19050">
            <a:solidFill>
              <a:srgbClr val="B5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5A1A1E"/>
                </a:solidFill>
                <a:latin typeface="Calibri"/>
              </a:rPr>
              <a:t>Firewall / edge egress</a:t>
            </a:r>
          </a:p>
          <a:p>
            <a:pPr algn="ctr"/>
            <a:r>
              <a:rPr sz="1250" b="0" i="0">
                <a:solidFill>
                  <a:srgbClr val="6B1F25"/>
                </a:solidFill>
                <a:latin typeface="Calibri"/>
              </a:rPr>
              <a:t>Outbound inspection, URL filtering, egress control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880360"/>
            <a:ext cx="1051560" cy="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0" y="254203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78040" y="2880360"/>
            <a:ext cx="1051560" cy="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52360" y="254203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0" y="3749040"/>
            <a:ext cx="0" cy="100584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10928" y="4069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3</a:t>
            </a:r>
          </a:p>
        </p:txBody>
      </p:sp>
      <p:sp>
        <p:nvSpPr>
          <p:cNvPr id="16" name="External third party"/>
          <p:cNvSpPr/>
          <p:nvPr/>
        </p:nvSpPr>
        <p:spPr>
          <a:xfrm>
            <a:off x="8229600" y="4754880"/>
            <a:ext cx="2743200" cy="1417320"/>
          </a:xfrm>
          <a:prstGeom prst="roundRect">
            <a:avLst>
              <a:gd name="adj" fmla="val 6451"/>
            </a:avLst>
          </a:prstGeom>
          <a:solidFill>
            <a:srgbClr val="F0EDE6"/>
          </a:solidFill>
          <a:ln w="15875">
            <a:solidFill>
              <a:srgbClr val="9A9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2A2A28"/>
                </a:solidFill>
                <a:latin typeface="Calibri"/>
              </a:rPr>
              <a:t>External third party</a:t>
            </a:r>
          </a:p>
          <a:p>
            <a:pPr algn="ctr"/>
            <a:r>
              <a:rPr sz="1250" b="0" i="0">
                <a:solidFill>
                  <a:srgbClr val="5C5C58"/>
                </a:solidFill>
                <a:latin typeface="Calibri"/>
              </a:rPr>
              <a:t>SaaS API outside Azure</a:t>
            </a:r>
          </a:p>
          <a:p>
            <a:pPr algn="ctr"/>
            <a:r>
              <a:rPr sz="1250" b="0" i="0">
                <a:solidFill>
                  <a:srgbClr val="5C5C58"/>
                </a:solidFill>
                <a:latin typeface="Calibri"/>
              </a:rPr>
              <a:t>(e.g. payment / data provider)</a:t>
            </a:r>
          </a:p>
        </p:txBody>
      </p:sp>
      <p:sp>
        <p:nvSpPr>
          <p:cNvPr id="17" name="Not allowed"/>
          <p:cNvSpPr/>
          <p:nvPr/>
        </p:nvSpPr>
        <p:spPr>
          <a:xfrm>
            <a:off x="2834640" y="5029200"/>
            <a:ext cx="4480560" cy="777240"/>
          </a:xfrm>
          <a:prstGeom prst="roundRect">
            <a:avLst>
              <a:gd name="adj" fmla="val 9411"/>
            </a:avLst>
          </a:prstGeom>
          <a:solidFill>
            <a:srgbClr val="FBE9E7"/>
          </a:solidFill>
          <a:ln w="19050">
            <a:solidFill>
              <a:srgbClr val="B024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7C1410"/>
                </a:solidFill>
                <a:latin typeface="Calibri"/>
              </a:rPr>
              <a:t>Not allowed: components calling an external third party directly</a:t>
            </a:r>
          </a:p>
        </p:txBody>
      </p:sp>
      <p:sp>
        <p:nvSpPr>
          <p:cNvPr id="18" name="Direct call (not allowed)"/>
          <p:cNvSpPr/>
          <p:nvPr/>
        </p:nvSpPr>
        <p:spPr>
          <a:xfrm>
            <a:off x="2011680" y="3749039"/>
            <a:ext cx="822960" cy="1664209"/>
          </a:xfrm>
          <a:custGeom>
            <a:avLst/>
            <a:gdLst/>
            <a:ahLst/>
            <a:cxnLst/>
            <a:rect l="l" t="t" r="r" b="b"/>
            <a:pathLst>
              <a:path w="822960" h="1664209">
                <a:moveTo>
                  <a:pt x="0" y="0"/>
                </a:moveTo>
                <a:lnTo>
                  <a:pt x="0" y="1664209"/>
                </a:lnTo>
                <a:lnTo>
                  <a:pt x="822960" y="1664209"/>
                </a:lnTo>
              </a:path>
            </a:pathLst>
          </a:custGeom>
          <a:noFill/>
          <a:ln w="25400">
            <a:solidFill>
              <a:srgbClr val="B024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Direct call to third party (not allowed)"/>
          <p:cNvCxnSpPr/>
          <p:nvPr/>
        </p:nvCxnSpPr>
        <p:spPr>
          <a:xfrm>
            <a:off x="7315200" y="5413248"/>
            <a:ext cx="896112" cy="0"/>
          </a:xfrm>
          <a:prstGeom prst="line">
            <a:avLst/>
          </a:prstGeom>
          <a:ln w="25400">
            <a:solidFill>
              <a:srgbClr val="B024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Blocked mark a"/>
          <p:cNvCxnSpPr/>
          <p:nvPr/>
        </p:nvCxnSpPr>
        <p:spPr>
          <a:xfrm>
            <a:off x="8083296" y="5285232"/>
            <a:ext cx="256032" cy="256032"/>
          </a:xfrm>
          <a:prstGeom prst="line">
            <a:avLst/>
          </a:prstGeom>
          <a:ln w="50800">
            <a:solidFill>
              <a:srgbClr val="B02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Blocked mark b"/>
          <p:cNvCxnSpPr/>
          <p:nvPr/>
        </p:nvCxnSpPr>
        <p:spPr>
          <a:xfrm flipV="1">
            <a:off x="8083296" y="5285232"/>
            <a:ext cx="256032" cy="256032"/>
          </a:xfrm>
          <a:prstGeom prst="line">
            <a:avLst/>
          </a:prstGeom>
          <a:ln w="50800">
            <a:solidFill>
              <a:srgbClr val="B02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9893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1">
                <a:solidFill>
                  <a:srgbClr val="5A6B7D"/>
                </a:solidFill>
                <a:latin typeface="Calibri"/>
              </a:rPr>
              <a:t>Internal-only calls that never leave Azure do not egress and are shown separately as Flow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8.1  ·  SECURITY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Security model: defence in depth, seven layers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Security architecture: each layer owns a distinct job, and what it defends against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8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50" b="1" i="0">
                <a:solidFill>
                  <a:srgbClr val="5A6B7D"/>
                </a:solidFill>
                <a:latin typeface="Calibri"/>
              </a:rPr>
              <a:t>Defence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50" b="1" i="0">
                <a:solidFill>
                  <a:srgbClr val="5A6B7D"/>
                </a:solidFill>
                <a:latin typeface="Calibri"/>
              </a:rPr>
              <a:t>What it defends against</a:t>
            </a:r>
          </a:p>
        </p:txBody>
      </p:sp>
      <p:sp>
        <p:nvSpPr>
          <p:cNvPr id="9" name="Inbound request"/>
          <p:cNvSpPr/>
          <p:nvPr/>
        </p:nvSpPr>
        <p:spPr>
          <a:xfrm>
            <a:off x="2148840" y="1609344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Inbound request</a:t>
            </a:r>
          </a:p>
        </p:txBody>
      </p:sp>
      <p:sp>
        <p:nvSpPr>
          <p:cNvPr id="10" name="Freeform 9"/>
          <p:cNvSpPr/>
          <p:nvPr/>
        </p:nvSpPr>
        <p:spPr>
          <a:xfrm>
            <a:off x="2866644" y="1993392"/>
            <a:ext cx="118872" cy="91440"/>
          </a:xfrm>
          <a:custGeom>
            <a:avLst/>
            <a:gdLst/>
            <a:ahLst/>
            <a:cxnLst/>
            <a:rect l="l" t="t" r="r" b="b"/>
            <a:pathLst>
              <a:path w="118872" h="91440">
                <a:moveTo>
                  <a:pt x="0" y="0"/>
                </a:moveTo>
                <a:lnTo>
                  <a:pt x="118872" y="0"/>
                </a:lnTo>
                <a:lnTo>
                  <a:pt x="59436" y="9144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ayer 1 Transport"/>
          <p:cNvSpPr/>
          <p:nvPr/>
        </p:nvSpPr>
        <p:spPr>
          <a:xfrm>
            <a:off x="548640" y="2121408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DCE8F8"/>
          </a:solidFill>
          <a:ln w="12700">
            <a:solidFill>
              <a:srgbClr val="587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150" b="1" i="0">
                <a:solidFill>
                  <a:srgbClr val="20344C"/>
                </a:solidFill>
                <a:latin typeface="Calibri"/>
              </a:rPr>
              <a:t>1 Transport</a:t>
            </a:r>
          </a:p>
          <a:p>
            <a:pPr algn="ctr"/>
            <a:r>
              <a:rPr sz="950" b="0" i="0">
                <a:solidFill>
                  <a:srgbClr val="20344C"/>
                </a:solidFill>
                <a:latin typeface="Calibri"/>
              </a:rPr>
              <a:t>TLS 1.2 minimum everywhere; older protocols disabled</a:t>
            </a:r>
          </a:p>
        </p:txBody>
      </p:sp>
      <p:sp>
        <p:nvSpPr>
          <p:cNvPr id="12" name="Defends against: Data in transit"/>
          <p:cNvSpPr/>
          <p:nvPr/>
        </p:nvSpPr>
        <p:spPr>
          <a:xfrm>
            <a:off x="6355080" y="2121408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8FB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>
            <a:noAutofit/>
          </a:bodyPr>
          <a:lstStyle/>
          <a:p>
            <a:pPr algn="l"/>
            <a:r>
              <a:rPr sz="1150" b="1" i="0">
                <a:solidFill>
                  <a:srgbClr val="20344C"/>
                </a:solidFill>
                <a:latin typeface="Calibri"/>
              </a:rPr>
              <a:t>Data in transit</a:t>
            </a:r>
          </a:p>
          <a:p>
            <a:pPr algn="l"/>
            <a:r>
              <a:rPr sz="950" b="0" i="0">
                <a:solidFill>
                  <a:srgbClr val="20344C"/>
                </a:solidFill>
                <a:latin typeface="Calibri"/>
              </a:rPr>
              <a:t>Encrypts traffic; blocks eavesdropping and protocol-downgrade attacks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0" y="2350008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2871216" y="2578608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ayer 2 Edge"/>
          <p:cNvSpPr/>
          <p:nvPr/>
        </p:nvSpPr>
        <p:spPr>
          <a:xfrm>
            <a:off x="548640" y="2633472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DDEEE6"/>
          </a:solidFill>
          <a:ln w="12700">
            <a:solidFill>
              <a:srgbClr val="4A8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150" b="1" i="0">
                <a:solidFill>
                  <a:srgbClr val="1E4D3A"/>
                </a:solidFill>
                <a:latin typeface="Calibri"/>
              </a:rPr>
              <a:t>2 Edge</a:t>
            </a:r>
          </a:p>
          <a:p>
            <a:pPr algn="ctr"/>
            <a:r>
              <a:rPr sz="950" b="0" i="0">
                <a:solidFill>
                  <a:srgbClr val="1E4D3A"/>
                </a:solidFill>
                <a:latin typeface="Calibri"/>
              </a:rPr>
              <a:t>Front Door WAF (OWASP + bot rules) + Azure DDoS Protection</a:t>
            </a:r>
          </a:p>
        </p:txBody>
      </p:sp>
      <p:sp>
        <p:nvSpPr>
          <p:cNvPr id="16" name="Defends against: Malicious and volumetric traffic"/>
          <p:cNvSpPr/>
          <p:nvPr/>
        </p:nvSpPr>
        <p:spPr>
          <a:xfrm>
            <a:off x="6355080" y="2633472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EFF8F4"/>
          </a:solidFill>
          <a:ln w="12700">
            <a:solidFill>
              <a:srgbClr val="8DC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>
            <a:noAutofit/>
          </a:bodyPr>
          <a:lstStyle/>
          <a:p>
            <a:pPr algn="l"/>
            <a:r>
              <a:rPr sz="1150" b="1" i="0">
                <a:solidFill>
                  <a:srgbClr val="1E4D3A"/>
                </a:solidFill>
                <a:latin typeface="Calibri"/>
              </a:rPr>
              <a:t>Malicious and volumetric traffic</a:t>
            </a:r>
          </a:p>
          <a:p>
            <a:pPr algn="l"/>
            <a:r>
              <a:rPr sz="950" b="0" i="0">
                <a:solidFill>
                  <a:srgbClr val="1E4D3A"/>
                </a:solidFill>
                <a:latin typeface="Calibri"/>
              </a:rPr>
              <a:t>Filters common web attacks and absorbs DDoS before it reaches APIM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3520" y="2862072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871216" y="3090672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ayer 3 Identity"/>
          <p:cNvSpPr/>
          <p:nvPr/>
        </p:nvSpPr>
        <p:spPr>
          <a:xfrm>
            <a:off x="548640" y="3145536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EAE6F7"/>
          </a:solidFill>
          <a:ln w="12700">
            <a:solidFill>
              <a:srgbClr val="7B6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150" b="1" i="0">
                <a:solidFill>
                  <a:srgbClr val="2F2663"/>
                </a:solidFill>
                <a:latin typeface="Calibri"/>
              </a:rPr>
              <a:t>3 Identity</a:t>
            </a:r>
          </a:p>
          <a:p>
            <a:pPr algn="ctr"/>
            <a:r>
              <a:rPr sz="950" b="0" i="0">
                <a:solidFill>
                  <a:srgbClr val="2F2663"/>
                </a:solidFill>
                <a:latin typeface="Calibri"/>
              </a:rPr>
              <a:t>Microsoft Entra ID, single IdP for consumers and admins</a:t>
            </a:r>
          </a:p>
        </p:txBody>
      </p:sp>
      <p:sp>
        <p:nvSpPr>
          <p:cNvPr id="20" name="Defends against: Unknown / anonymous callers"/>
          <p:cNvSpPr/>
          <p:nvPr/>
        </p:nvSpPr>
        <p:spPr>
          <a:xfrm>
            <a:off x="6355080" y="3145536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 w="12700">
            <a:solidFill>
              <a:srgbClr val="B4A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>
            <a:noAutofit/>
          </a:bodyPr>
          <a:lstStyle/>
          <a:p>
            <a:pPr algn="l"/>
            <a:r>
              <a:rPr sz="1150" b="1" i="0">
                <a:solidFill>
                  <a:srgbClr val="2F2663"/>
                </a:solidFill>
                <a:latin typeface="Calibri"/>
              </a:rPr>
              <a:t>Unknown / anonymous callers</a:t>
            </a:r>
          </a:p>
          <a:p>
            <a:pPr algn="l"/>
            <a:r>
              <a:rPr sz="950" b="0" i="0">
                <a:solidFill>
                  <a:srgbClr val="2F2663"/>
                </a:solidFill>
                <a:latin typeface="Calibri"/>
              </a:rPr>
              <a:t>Proves who the caller is; no anonymous access to any 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03520" y="3374136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2871216" y="3602736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ayer 4 Gateway authZ"/>
          <p:cNvSpPr/>
          <p:nvPr/>
        </p:nvSpPr>
        <p:spPr>
          <a:xfrm>
            <a:off x="548640" y="3657600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DCE8F8"/>
          </a:solidFill>
          <a:ln w="12700">
            <a:solidFill>
              <a:srgbClr val="587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150" b="1" i="0">
                <a:solidFill>
                  <a:srgbClr val="20344C"/>
                </a:solidFill>
                <a:latin typeface="Calibri"/>
              </a:rPr>
              <a:t>4 Gateway authZ</a:t>
            </a:r>
          </a:p>
          <a:p>
            <a:pPr algn="ctr"/>
            <a:r>
              <a:rPr sz="950" b="0" i="0">
                <a:solidFill>
                  <a:srgbClr val="20344C"/>
                </a:solidFill>
                <a:latin typeface="Calibri"/>
              </a:rPr>
              <a:t>JWT signature / issuer / audience / expiry / scopes at APIM</a:t>
            </a:r>
          </a:p>
        </p:txBody>
      </p:sp>
      <p:sp>
        <p:nvSpPr>
          <p:cNvPr id="24" name="Defends against: Over-privileged / invalid access"/>
          <p:cNvSpPr/>
          <p:nvPr/>
        </p:nvSpPr>
        <p:spPr>
          <a:xfrm>
            <a:off x="6355080" y="3657600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8FB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>
            <a:noAutofit/>
          </a:bodyPr>
          <a:lstStyle/>
          <a:p>
            <a:pPr algn="l"/>
            <a:r>
              <a:rPr sz="1150" b="1" i="0">
                <a:solidFill>
                  <a:srgbClr val="20344C"/>
                </a:solidFill>
                <a:latin typeface="Calibri"/>
              </a:rPr>
              <a:t>Over-privileged / invalid access</a:t>
            </a:r>
          </a:p>
          <a:p>
            <a:pPr algn="l"/>
            <a:r>
              <a:rPr sz="950" b="0" i="0">
                <a:solidFill>
                  <a:srgbClr val="20344C"/>
                </a:solidFill>
                <a:latin typeface="Calibri"/>
              </a:rPr>
              <a:t>Confirms the caller is allowed to make this specific call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0" y="3886200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2871216" y="4114800"/>
            <a:ext cx="109728" cy="54863"/>
          </a:xfrm>
          <a:custGeom>
            <a:avLst/>
            <a:gdLst/>
            <a:ahLst/>
            <a:cxnLst/>
            <a:rect l="l" t="t" r="r" b="b"/>
            <a:pathLst>
              <a:path w="109728" h="54863">
                <a:moveTo>
                  <a:pt x="0" y="0"/>
                </a:moveTo>
                <a:lnTo>
                  <a:pt x="109728" y="0"/>
                </a:lnTo>
                <a:lnTo>
                  <a:pt x="54864" y="5486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Layer 5 Rate and quota"/>
          <p:cNvSpPr/>
          <p:nvPr/>
        </p:nvSpPr>
        <p:spPr>
          <a:xfrm>
            <a:off x="548640" y="4169664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F8EBD2"/>
          </a:solidFill>
          <a:ln w="12700">
            <a:solidFill>
              <a:srgbClr val="B48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150" b="1" i="0">
                <a:solidFill>
                  <a:srgbClr val="5A3E0A"/>
                </a:solidFill>
                <a:latin typeface="Calibri"/>
              </a:rPr>
              <a:t>5 Rate and quota</a:t>
            </a:r>
          </a:p>
          <a:p>
            <a:pPr algn="ctr"/>
            <a:r>
              <a:rPr sz="950" b="0" i="0">
                <a:solidFill>
                  <a:srgbClr val="5A3E0A"/>
                </a:solidFill>
                <a:latin typeface="Calibri"/>
              </a:rPr>
              <a:t>Per-subscription limits, one consumer cannot starve the platform</a:t>
            </a:r>
          </a:p>
        </p:txBody>
      </p:sp>
      <p:sp>
        <p:nvSpPr>
          <p:cNvPr id="28" name="Defends against: Abuse and resource exhaustion"/>
          <p:cNvSpPr/>
          <p:nvPr/>
        </p:nvSpPr>
        <p:spPr>
          <a:xfrm>
            <a:off x="6355080" y="4169664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BF6E8"/>
          </a:solidFill>
          <a:ln w="12700">
            <a:solidFill>
              <a:srgbClr val="D9B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>
            <a:noAutofit/>
          </a:bodyPr>
          <a:lstStyle/>
          <a:p>
            <a:pPr algn="l"/>
            <a:r>
              <a:rPr sz="1150" b="1" i="0">
                <a:solidFill>
                  <a:srgbClr val="5A3E0A"/>
                </a:solidFill>
                <a:latin typeface="Calibri"/>
              </a:rPr>
              <a:t>Abuse and resource exhaustion</a:t>
            </a:r>
          </a:p>
          <a:p>
            <a:pPr algn="l"/>
            <a:r>
              <a:rPr sz="950" b="0" i="0">
                <a:solidFill>
                  <a:srgbClr val="5A3E0A"/>
                </a:solidFill>
                <a:latin typeface="Calibri"/>
              </a:rPr>
              <a:t>Protects availability; stops one consumer overwhelming the platform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0" y="4398264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2871216" y="4626864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Layer 6 Network"/>
          <p:cNvSpPr/>
          <p:nvPr/>
        </p:nvSpPr>
        <p:spPr>
          <a:xfrm>
            <a:off x="548640" y="4681728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DCE8F8"/>
          </a:solidFill>
          <a:ln w="12700">
            <a:solidFill>
              <a:srgbClr val="587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150" b="1" i="0">
                <a:solidFill>
                  <a:srgbClr val="20344C"/>
                </a:solidFill>
                <a:latin typeface="Calibri"/>
              </a:rPr>
              <a:t>6 Network</a:t>
            </a:r>
          </a:p>
          <a:p>
            <a:pPr algn="ctr"/>
            <a:r>
              <a:rPr sz="950" b="0" i="0">
                <a:solidFill>
                  <a:srgbClr val="20344C"/>
                </a:solidFill>
                <a:latin typeface="Calibri"/>
              </a:rPr>
              <a:t>APIM internal mode; backends only via Private Endpoint + NSG</a:t>
            </a:r>
          </a:p>
        </p:txBody>
      </p:sp>
      <p:sp>
        <p:nvSpPr>
          <p:cNvPr id="32" name="Defends against: Public attack surface"/>
          <p:cNvSpPr/>
          <p:nvPr/>
        </p:nvSpPr>
        <p:spPr>
          <a:xfrm>
            <a:off x="6355080" y="4681728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8FB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>
            <a:noAutofit/>
          </a:bodyPr>
          <a:lstStyle/>
          <a:p>
            <a:pPr algn="l"/>
            <a:r>
              <a:rPr sz="1150" b="1" i="0">
                <a:solidFill>
                  <a:srgbClr val="20344C"/>
                </a:solidFill>
                <a:latin typeface="Calibri"/>
              </a:rPr>
              <a:t>Public attack surface</a:t>
            </a:r>
          </a:p>
          <a:p>
            <a:pPr algn="l"/>
            <a:r>
              <a:rPr sz="950" b="0" i="0">
                <a:solidFill>
                  <a:srgbClr val="20344C"/>
                </a:solidFill>
                <a:latin typeface="Calibri"/>
              </a:rPr>
              <a:t>Removes internet exposure; backends unreachable from outside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03520" y="4910328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871216" y="5138928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Layer 7 Secrets"/>
          <p:cNvSpPr/>
          <p:nvPr/>
        </p:nvSpPr>
        <p:spPr>
          <a:xfrm>
            <a:off x="548640" y="5193792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F7E0E0"/>
          </a:solidFill>
          <a:ln w="12700">
            <a:solidFill>
              <a:srgbClr val="C26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150" b="1" i="0">
                <a:solidFill>
                  <a:srgbClr val="6B1F25"/>
                </a:solidFill>
                <a:latin typeface="Calibri"/>
              </a:rPr>
              <a:t>7 Secrets</a:t>
            </a:r>
          </a:p>
          <a:p>
            <a:pPr algn="ctr"/>
            <a:r>
              <a:rPr sz="950" b="0" i="0">
                <a:solidFill>
                  <a:srgbClr val="6B1F25"/>
                </a:solidFill>
                <a:latin typeface="Calibri"/>
              </a:rPr>
              <a:t>Key Vault-backed named values; nothing sensitive in policy XML</a:t>
            </a:r>
          </a:p>
        </p:txBody>
      </p:sp>
      <p:sp>
        <p:nvSpPr>
          <p:cNvPr id="36" name="Defends against: Credential leakage"/>
          <p:cNvSpPr/>
          <p:nvPr/>
        </p:nvSpPr>
        <p:spPr>
          <a:xfrm>
            <a:off x="6355080" y="5193792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AF0F0"/>
          </a:solidFill>
          <a:ln w="12700">
            <a:solidFill>
              <a:srgbClr val="DD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>
            <a:noAutofit/>
          </a:bodyPr>
          <a:lstStyle/>
          <a:p>
            <a:pPr algn="l"/>
            <a:r>
              <a:rPr sz="1150" b="1" i="0">
                <a:solidFill>
                  <a:srgbClr val="6B1F25"/>
                </a:solidFill>
                <a:latin typeface="Calibri"/>
              </a:rPr>
              <a:t>Credential leakage</a:t>
            </a:r>
          </a:p>
          <a:p>
            <a:pPr algn="l"/>
            <a:r>
              <a:rPr sz="950" b="0" i="0">
                <a:solidFill>
                  <a:srgbClr val="6B1F25"/>
                </a:solidFill>
                <a:latin typeface="Calibri"/>
              </a:rPr>
              <a:t>Keeps secrets out of code and config; never exposed in policy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0" y="5422392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2866644" y="5650992"/>
            <a:ext cx="118872" cy="91439"/>
          </a:xfrm>
          <a:custGeom>
            <a:avLst/>
            <a:gdLst/>
            <a:ahLst/>
            <a:cxnLst/>
            <a:rect l="l" t="t" r="r" b="b"/>
            <a:pathLst>
              <a:path w="118872" h="91439">
                <a:moveTo>
                  <a:pt x="0" y="0"/>
                </a:moveTo>
                <a:lnTo>
                  <a:pt x="118872" y="0"/>
                </a:lnTo>
                <a:lnTo>
                  <a:pt x="59436" y="91439"/>
                </a:lnTo>
                <a:close/>
              </a:path>
            </a:pathLst>
          </a:custGeom>
          <a:solidFill>
            <a:srgbClr val="3E6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Backend"/>
          <p:cNvSpPr/>
          <p:nvPr/>
        </p:nvSpPr>
        <p:spPr>
          <a:xfrm>
            <a:off x="1600200" y="5751576"/>
            <a:ext cx="2651760" cy="438912"/>
          </a:xfrm>
          <a:prstGeom prst="roundRect">
            <a:avLst>
              <a:gd name="adj" fmla="val 16666"/>
            </a:avLst>
          </a:prstGeom>
          <a:solidFill>
            <a:srgbClr val="E6F2DC"/>
          </a:solidFill>
          <a:ln w="15875">
            <a:solidFill>
              <a:srgbClr val="4B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200" b="1" i="0">
                <a:solidFill>
                  <a:srgbClr val="2E4F10"/>
                </a:solidFill>
                <a:latin typeface="Calibri"/>
              </a:rPr>
              <a:t>Backend</a:t>
            </a:r>
          </a:p>
          <a:p>
            <a:pPr algn="ctr"/>
            <a:r>
              <a:rPr sz="950" b="0" i="0">
                <a:solidFill>
                  <a:srgbClr val="2E4F10"/>
                </a:solidFill>
                <a:latin typeface="Calibri"/>
              </a:rPr>
              <a:t>only pre-validated, policy-enforced calls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36208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Read top to bottom: a request passes every layer in turn.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6236208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Each right-hand box is the threat that layer removes.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SECTIONS 8.1 AND 8.5  ·  NON-OAUTH EXCEPTIONS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Non-OAuth consumers: approve once, then validate every call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11: Non-OAuth consumers, the one-time approval process and the resulting runtime ingress flow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9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8A5A14"/>
                </a:solidFill>
                <a:latin typeface="Calibri"/>
              </a:rPr>
              <a:t>1. Approval process (one-time)</a:t>
            </a:r>
          </a:p>
        </p:txBody>
      </p:sp>
      <p:sp>
        <p:nvSpPr>
          <p:cNvPr id="8" name="Approval step 1: Consumer cannot use OAuth 2.0"/>
          <p:cNvSpPr/>
          <p:nvPr/>
        </p:nvSpPr>
        <p:spPr>
          <a:xfrm>
            <a:off x="457200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3A352D"/>
                </a:solidFill>
                <a:latin typeface="Calibri"/>
              </a:rPr>
              <a:t>Consumer cannot use OAuth 2.0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423160"/>
            <a:ext cx="30175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pproval step 2: Exception request raised"/>
          <p:cNvSpPr/>
          <p:nvPr/>
        </p:nvSpPr>
        <p:spPr>
          <a:xfrm>
            <a:off x="2770632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1E3A6B"/>
                </a:solidFill>
                <a:latin typeface="Calibri"/>
              </a:rPr>
              <a:t>Exception request raised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82312" y="2423160"/>
            <a:ext cx="30175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pproval step 3: Security review"/>
          <p:cNvSpPr/>
          <p:nvPr/>
        </p:nvSpPr>
        <p:spPr>
          <a:xfrm>
            <a:off x="5084064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3F3190"/>
                </a:solidFill>
                <a:latin typeface="Calibri"/>
              </a:rPr>
              <a:t>Security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5744" y="2423160"/>
            <a:ext cx="30175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pproval step 4: Approved?"/>
          <p:cNvSpPr/>
          <p:nvPr/>
        </p:nvSpPr>
        <p:spPr>
          <a:xfrm>
            <a:off x="7397496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6B4510"/>
                </a:solidFill>
                <a:latin typeface="Calibri"/>
              </a:rPr>
              <a:t>Approved?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09176" y="2423160"/>
            <a:ext cx="30175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pproval step 5: mTLS / API key, time-boxed"/>
          <p:cNvSpPr/>
          <p:nvPr/>
        </p:nvSpPr>
        <p:spPr>
          <a:xfrm>
            <a:off x="9710928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1E5E43"/>
                </a:solidFill>
                <a:latin typeface="Calibri"/>
              </a:rPr>
              <a:t>mTLS / API key, time-boxed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D5FA8"/>
                </a:solidFill>
                <a:latin typeface="Calibri"/>
              </a:rPr>
              <a:t>2. Runtime ingress flow (every call)</a:t>
            </a:r>
          </a:p>
        </p:txBody>
      </p:sp>
      <p:sp>
        <p:nvSpPr>
          <p:cNvPr id="18" name="Runtime step 1: Non-OAuth consumer"/>
          <p:cNvSpPr/>
          <p:nvPr/>
        </p:nvSpPr>
        <p:spPr>
          <a:xfrm>
            <a:off x="457200" y="4023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50" b="1" i="0">
                <a:solidFill>
                  <a:srgbClr val="3A352D"/>
                </a:solidFill>
                <a:latin typeface="Calibri"/>
              </a:rPr>
              <a:t>Non-OAuth consumer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617720"/>
            <a:ext cx="54864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untime step 2: Front Door + WAF"/>
          <p:cNvSpPr/>
          <p:nvPr/>
        </p:nvSpPr>
        <p:spPr>
          <a:xfrm>
            <a:off x="3383280" y="4023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E2A5B"/>
          </a:solidFill>
          <a:ln w="22225">
            <a:solidFill>
              <a:srgbClr val="0E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Front Door + WAF</a:t>
            </a:r>
          </a:p>
          <a:p>
            <a:pPr algn="ctr"/>
            <a:r>
              <a:rPr sz="1100" b="0" i="0">
                <a:solidFill>
                  <a:srgbClr val="DCE6F7"/>
                </a:solidFill>
                <a:latin typeface="Calibri"/>
              </a:rPr>
              <a:t>TLS, WAF, DDoS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4617720"/>
            <a:ext cx="54864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untime step 3: APIM internal gateway"/>
          <p:cNvSpPr/>
          <p:nvPr/>
        </p:nvSpPr>
        <p:spPr>
          <a:xfrm>
            <a:off x="6309360" y="4023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50" b="1" i="0">
                <a:solidFill>
                  <a:srgbClr val="1E3A6B"/>
                </a:solidFill>
                <a:latin typeface="Calibri"/>
              </a:rPr>
              <a:t>APIM internal gateway</a:t>
            </a:r>
          </a:p>
          <a:p>
            <a:pPr algn="ctr"/>
            <a:r>
              <a:rPr sz="1100" b="0" i="0">
                <a:solidFill>
                  <a:srgbClr val="2E6CA6"/>
                </a:solidFill>
                <a:latin typeface="Calibri"/>
              </a:rPr>
              <a:t>validates cert / key (not JWT)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4617720"/>
            <a:ext cx="54864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untime step 4: Backend"/>
          <p:cNvSpPr/>
          <p:nvPr/>
        </p:nvSpPr>
        <p:spPr>
          <a:xfrm>
            <a:off x="9235440" y="4023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50" b="1" i="0">
                <a:solidFill>
                  <a:srgbClr val="1E5E43"/>
                </a:solidFill>
                <a:latin typeface="Calibri"/>
              </a:rPr>
              <a:t>Backend</a:t>
            </a:r>
          </a:p>
          <a:p>
            <a:pPr algn="ctr"/>
            <a:r>
              <a:rPr sz="1100" b="0" i="0">
                <a:solidFill>
                  <a:srgbClr val="357058"/>
                </a:solidFill>
                <a:latin typeface="Calibri"/>
              </a:rPr>
              <a:t>via Private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Same path as an OAuth consumer, but APIM validates a client certificate (mTLS) or API key instead of a JWT.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8.3  ·  SECRETS AND CERTIFICATES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Secrets and certificates: Key Vault to APIM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Automatic certificate rotation: no manual redeploy required when secrets expire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10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Azure Key Vault"/>
          <p:cNvSpPr/>
          <p:nvPr/>
        </p:nvSpPr>
        <p:spPr>
          <a:xfrm>
            <a:off x="457200" y="1737360"/>
            <a:ext cx="3383280" cy="1280160"/>
          </a:xfrm>
          <a:prstGeom prst="roundRect">
            <a:avLst>
              <a:gd name="adj" fmla="val 7142"/>
            </a:avLst>
          </a:prstGeom>
          <a:solidFill>
            <a:srgbClr val="1C2460"/>
          </a:solidFill>
          <a:ln w="1587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Azure Key Vault</a:t>
            </a:r>
          </a:p>
        </p:txBody>
      </p:sp>
      <p:sp>
        <p:nvSpPr>
          <p:cNvPr id="8" name="APIM Managed Identity"/>
          <p:cNvSpPr/>
          <p:nvPr/>
        </p:nvSpPr>
        <p:spPr>
          <a:xfrm>
            <a:off x="4389120" y="1737360"/>
            <a:ext cx="3383280" cy="1280160"/>
          </a:xfrm>
          <a:prstGeom prst="roundRect">
            <a:avLst>
              <a:gd name="adj" fmla="val 7142"/>
            </a:avLst>
          </a:prstGeom>
          <a:solidFill>
            <a:srgbClr val="C8DCFC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1C2460"/>
                </a:solidFill>
                <a:latin typeface="Calibri"/>
              </a:rPr>
              <a:t>APIM Managed Identity</a:t>
            </a:r>
          </a:p>
        </p:txBody>
      </p:sp>
      <p:sp>
        <p:nvSpPr>
          <p:cNvPr id="9" name="Named Values &amp; TLS Certificates"/>
          <p:cNvSpPr/>
          <p:nvPr/>
        </p:nvSpPr>
        <p:spPr>
          <a:xfrm>
            <a:off x="8321040" y="1737360"/>
            <a:ext cx="3383280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1C2460"/>
                </a:solidFill>
                <a:latin typeface="Calibri"/>
              </a:rPr>
              <a:t>Named Values &amp; TLS Certificates in APIM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377440"/>
            <a:ext cx="548640" cy="0"/>
          </a:xfrm>
          <a:prstGeom prst="line">
            <a:avLst/>
          </a:prstGeom>
          <a:ln w="25400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0" y="2377440"/>
            <a:ext cx="548640" cy="0"/>
          </a:xfrm>
          <a:prstGeom prst="line">
            <a:avLst/>
          </a:prstGeom>
          <a:ln w="25400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cret type: Backend API keys"/>
          <p:cNvSpPr/>
          <p:nvPr/>
        </p:nvSpPr>
        <p:spPr>
          <a:xfrm>
            <a:off x="457200" y="3657600"/>
            <a:ext cx="2606040" cy="1051560"/>
          </a:xfrm>
          <a:prstGeom prst="roundRect">
            <a:avLst>
              <a:gd name="adj" fmla="val 8695"/>
            </a:avLst>
          </a:prstGeom>
          <a:solidFill>
            <a:srgbClr val="FFF4E0"/>
          </a:solidFill>
          <a:ln w="25400">
            <a:solidFill>
              <a:srgbClr val="F4A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1C2460"/>
                </a:solidFill>
                <a:latin typeface="Calibri"/>
              </a:rPr>
              <a:t>Backend API keys</a:t>
            </a:r>
          </a:p>
        </p:txBody>
      </p:sp>
      <p:sp>
        <p:nvSpPr>
          <p:cNvPr id="13" name="Secret type: TLS / mTLS certificates"/>
          <p:cNvSpPr/>
          <p:nvPr/>
        </p:nvSpPr>
        <p:spPr>
          <a:xfrm>
            <a:off x="3328416" y="3657600"/>
            <a:ext cx="2606040" cy="1051560"/>
          </a:xfrm>
          <a:prstGeom prst="roundRect">
            <a:avLst>
              <a:gd name="adj" fmla="val 8695"/>
            </a:avLst>
          </a:prstGeom>
          <a:solidFill>
            <a:srgbClr val="FFF4E0"/>
          </a:solidFill>
          <a:ln w="25400">
            <a:solidFill>
              <a:srgbClr val="F4A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1C2460"/>
                </a:solidFill>
                <a:latin typeface="Calibri"/>
              </a:rPr>
              <a:t>TLS / mTLS certificates</a:t>
            </a:r>
          </a:p>
        </p:txBody>
      </p:sp>
      <p:sp>
        <p:nvSpPr>
          <p:cNvPr id="14" name="Secret type: Partner client secrets"/>
          <p:cNvSpPr/>
          <p:nvPr/>
        </p:nvSpPr>
        <p:spPr>
          <a:xfrm>
            <a:off x="6199632" y="3657600"/>
            <a:ext cx="2606040" cy="1051560"/>
          </a:xfrm>
          <a:prstGeom prst="roundRect">
            <a:avLst>
              <a:gd name="adj" fmla="val 8695"/>
            </a:avLst>
          </a:prstGeom>
          <a:solidFill>
            <a:srgbClr val="FFF4E0"/>
          </a:solidFill>
          <a:ln w="25400">
            <a:solidFill>
              <a:srgbClr val="F4A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1C2460"/>
                </a:solidFill>
                <a:latin typeface="Calibri"/>
              </a:rPr>
              <a:t>Partner client secrets</a:t>
            </a:r>
          </a:p>
        </p:txBody>
      </p:sp>
      <p:sp>
        <p:nvSpPr>
          <p:cNvPr id="15" name="Secret type: Signing keys"/>
          <p:cNvSpPr/>
          <p:nvPr/>
        </p:nvSpPr>
        <p:spPr>
          <a:xfrm>
            <a:off x="9070848" y="3657600"/>
            <a:ext cx="2606040" cy="1051560"/>
          </a:xfrm>
          <a:prstGeom prst="roundRect">
            <a:avLst>
              <a:gd name="adj" fmla="val 8695"/>
            </a:avLst>
          </a:prstGeom>
          <a:solidFill>
            <a:srgbClr val="FFF4E0"/>
          </a:solidFill>
          <a:ln w="25400">
            <a:solidFill>
              <a:srgbClr val="F4A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1C2460"/>
                </a:solidFill>
                <a:latin typeface="Calibri"/>
              </a:rPr>
              <a:t>Signing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1">
                <a:solidFill>
                  <a:srgbClr val="4A5578"/>
                </a:solidFill>
                <a:latin typeface="Calibri"/>
              </a:rPr>
              <a:t>Automatic certificate rotation — no manual redeploy required when secrets expire.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9.1  ·  GOVERNANCE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Access chain: API, product, group, subscription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17: The access model, the core chain plus what each construct controls, including Groups and Tags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11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cxnSp>
        <p:nvCxnSpPr>
          <p:cNvPr id="7" name="Groups link to Consumer group"/>
          <p:cNvCxnSpPr/>
          <p:nvPr/>
        </p:nvCxnSpPr>
        <p:spPr>
          <a:xfrm>
            <a:off x="2651760" y="3639312"/>
            <a:ext cx="548640" cy="2212848"/>
          </a:xfrm>
          <a:prstGeom prst="line">
            <a:avLst/>
          </a:prstGeom>
          <a:ln w="12700">
            <a:solidFill>
              <a:srgbClr val="5FA89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ags link to API"/>
          <p:cNvCxnSpPr/>
          <p:nvPr/>
        </p:nvCxnSpPr>
        <p:spPr>
          <a:xfrm>
            <a:off x="2743200" y="2029968"/>
            <a:ext cx="5486400" cy="3822192"/>
          </a:xfrm>
          <a:prstGeom prst="line">
            <a:avLst/>
          </a:prstGeom>
          <a:ln w="12700">
            <a:solidFill>
              <a:srgbClr val="C98A9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in: API"/>
          <p:cNvSpPr/>
          <p:nvPr/>
        </p:nvSpPr>
        <p:spPr>
          <a:xfrm>
            <a:off x="822960" y="1463040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3F3190"/>
                </a:solidFill>
                <a:latin typeface="Calibri"/>
              </a:rPr>
              <a:t>API</a:t>
            </a:r>
          </a:p>
        </p:txBody>
      </p:sp>
      <p:sp>
        <p:nvSpPr>
          <p:cNvPr id="10" name="What it controls: API"/>
          <p:cNvSpPr/>
          <p:nvPr/>
        </p:nvSpPr>
        <p:spPr>
          <a:xfrm>
            <a:off x="4480560" y="1463040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7F5FD"/>
          </a:solidFill>
          <a:ln w="12700">
            <a:solidFill>
              <a:srgbClr val="BDB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>
            <a:noAutofit/>
          </a:bodyPr>
          <a:lstStyle/>
          <a:p>
            <a:pPr algn="l"/>
            <a:r>
              <a:rPr sz="1200" b="1" i="0">
                <a:solidFill>
                  <a:srgbClr val="2F2663"/>
                </a:solidFill>
                <a:latin typeface="Calibri"/>
              </a:rPr>
              <a:t>The API</a:t>
            </a:r>
          </a:p>
          <a:p>
            <a:pPr algn="l"/>
            <a:r>
              <a:rPr sz="1100" b="0" i="0">
                <a:solidFill>
                  <a:srgbClr val="2F2663"/>
                </a:solidFill>
                <a:latin typeface="Calibri"/>
              </a:rPr>
              <a:t>The actual operation. Tagged for discovery and classification (see Tags below).</a:t>
            </a:r>
          </a:p>
        </p:txBody>
      </p:sp>
      <p:cxnSp>
        <p:nvCxnSpPr>
          <p:cNvPr id="11" name="Link: API to what it controls"/>
          <p:cNvCxnSpPr/>
          <p:nvPr/>
        </p:nvCxnSpPr>
        <p:spPr>
          <a:xfrm>
            <a:off x="3749040" y="1746504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86000" y="2029968"/>
            <a:ext cx="0" cy="23774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in: Product"/>
          <p:cNvSpPr/>
          <p:nvPr/>
        </p:nvSpPr>
        <p:spPr>
          <a:xfrm>
            <a:off x="822960" y="2267712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1E3A6B"/>
                </a:solidFill>
                <a:latin typeface="Calibri"/>
              </a:rPr>
              <a:t>Product</a:t>
            </a:r>
          </a:p>
        </p:txBody>
      </p:sp>
      <p:sp>
        <p:nvSpPr>
          <p:cNvPr id="14" name="What it controls: Product"/>
          <p:cNvSpPr/>
          <p:nvPr/>
        </p:nvSpPr>
        <p:spPr>
          <a:xfrm>
            <a:off x="4480560" y="2267712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EEF5FC"/>
          </a:solidFill>
          <a:ln w="12700">
            <a:solidFill>
              <a:srgbClr val="9CC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>
            <a:noAutofit/>
          </a:bodyPr>
          <a:lstStyle/>
          <a:p>
            <a:pPr algn="l"/>
            <a:r>
              <a:rPr sz="1200" b="1" i="0">
                <a:solidFill>
                  <a:srgbClr val="0E3F6E"/>
                </a:solidFill>
                <a:latin typeface="Calibri"/>
              </a:rPr>
              <a:t>The Product, packaging and throttling</a:t>
            </a:r>
          </a:p>
          <a:p>
            <a:pPr algn="l"/>
            <a:r>
              <a:rPr sz="1100" b="0" i="0">
                <a:solidFill>
                  <a:srgbClr val="0E3F6E"/>
                </a:solidFill>
                <a:latin typeface="Calibri"/>
              </a:rPr>
              <a:t>Bundles APIs for a consumer class; sets rate limits, quotas and the approval model.</a:t>
            </a:r>
          </a:p>
        </p:txBody>
      </p:sp>
      <p:cxnSp>
        <p:nvCxnSpPr>
          <p:cNvPr id="15" name="Link: Product to what it controls"/>
          <p:cNvCxnSpPr/>
          <p:nvPr/>
        </p:nvCxnSpPr>
        <p:spPr>
          <a:xfrm>
            <a:off x="3749040" y="2551176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2834640"/>
            <a:ext cx="0" cy="23774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in: Consumer group"/>
          <p:cNvSpPr/>
          <p:nvPr/>
        </p:nvSpPr>
        <p:spPr>
          <a:xfrm>
            <a:off x="822960" y="3072384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1E5E43"/>
                </a:solidFill>
                <a:latin typeface="Calibri"/>
              </a:rPr>
              <a:t>Consumer group</a:t>
            </a:r>
          </a:p>
        </p:txBody>
      </p:sp>
      <p:sp>
        <p:nvSpPr>
          <p:cNvPr id="18" name="What it controls: Consumer group"/>
          <p:cNvSpPr/>
          <p:nvPr/>
        </p:nvSpPr>
        <p:spPr>
          <a:xfrm>
            <a:off x="4480560" y="3072384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EAF6F1"/>
          </a:solidFill>
          <a:ln w="12700">
            <a:solidFill>
              <a:srgbClr val="8CC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>
            <a:noAutofit/>
          </a:bodyPr>
          <a:lstStyle/>
          <a:p>
            <a:pPr algn="l"/>
            <a:r>
              <a:rPr sz="1200" b="1" i="0">
                <a:solidFill>
                  <a:srgbClr val="04342C"/>
                </a:solidFill>
                <a:latin typeface="Calibri"/>
              </a:rPr>
              <a:t>The Consumer group, permission</a:t>
            </a:r>
          </a:p>
          <a:p>
            <a:pPr algn="l"/>
            <a:r>
              <a:rPr sz="1100" b="0" i="0">
                <a:solidFill>
                  <a:srgbClr val="04342C"/>
                </a:solidFill>
                <a:latin typeface="Calibri"/>
              </a:rPr>
              <a:t>An Entra ID group; decides which consumers can see and request the product.</a:t>
            </a:r>
          </a:p>
        </p:txBody>
      </p:sp>
      <p:cxnSp>
        <p:nvCxnSpPr>
          <p:cNvPr id="19" name="Link: Consumer group to what it controls"/>
          <p:cNvCxnSpPr/>
          <p:nvPr/>
        </p:nvCxnSpPr>
        <p:spPr>
          <a:xfrm>
            <a:off x="3749040" y="3355848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0" y="3639312"/>
            <a:ext cx="0" cy="23774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in: Subscription"/>
          <p:cNvSpPr/>
          <p:nvPr/>
        </p:nvSpPr>
        <p:spPr>
          <a:xfrm>
            <a:off x="822960" y="3877056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6B4510"/>
                </a:solidFill>
                <a:latin typeface="Calibri"/>
              </a:rPr>
              <a:t>Subscription</a:t>
            </a:r>
          </a:p>
        </p:txBody>
      </p:sp>
      <p:sp>
        <p:nvSpPr>
          <p:cNvPr id="22" name="What it controls: Subscription"/>
          <p:cNvSpPr/>
          <p:nvPr/>
        </p:nvSpPr>
        <p:spPr>
          <a:xfrm>
            <a:off x="4480560" y="3877056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DF3E1"/>
          </a:solidFill>
          <a:ln w="12700">
            <a:solidFill>
              <a:srgbClr val="D9B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>
            <a:noAutofit/>
          </a:bodyPr>
          <a:lstStyle/>
          <a:p>
            <a:pPr algn="l"/>
            <a:r>
              <a:rPr sz="1200" b="1" i="0">
                <a:solidFill>
                  <a:srgbClr val="5A3E0A"/>
                </a:solidFill>
                <a:latin typeface="Calibri"/>
              </a:rPr>
              <a:t>The Subscription, the key</a:t>
            </a:r>
          </a:p>
          <a:p>
            <a:pPr algn="l"/>
            <a:r>
              <a:rPr sz="1100" b="0" i="0">
                <a:solidFill>
                  <a:srgbClr val="5A3E0A"/>
                </a:solidFill>
                <a:latin typeface="Calibri"/>
              </a:rPr>
              <a:t>One key per consuming application; revocable in isolation without affecting others.</a:t>
            </a:r>
          </a:p>
        </p:txBody>
      </p:sp>
      <p:cxnSp>
        <p:nvCxnSpPr>
          <p:cNvPr id="23" name="Link: Subscription to what it controls"/>
          <p:cNvCxnSpPr/>
          <p:nvPr/>
        </p:nvCxnSpPr>
        <p:spPr>
          <a:xfrm>
            <a:off x="3749040" y="4160520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0" y="4443984"/>
            <a:ext cx="0" cy="23774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in: Access"/>
          <p:cNvSpPr/>
          <p:nvPr/>
        </p:nvSpPr>
        <p:spPr>
          <a:xfrm>
            <a:off x="822960" y="4681728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3A352D"/>
                </a:solidFill>
                <a:latin typeface="Calibri"/>
              </a:rPr>
              <a:t>Access</a:t>
            </a:r>
          </a:p>
        </p:txBody>
      </p:sp>
      <p:sp>
        <p:nvSpPr>
          <p:cNvPr id="26" name="What it controls: Access"/>
          <p:cNvSpPr/>
          <p:nvPr/>
        </p:nvSpPr>
        <p:spPr>
          <a:xfrm>
            <a:off x="4480560" y="4681728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5F4F0"/>
          </a:solidFill>
          <a:ln w="12700">
            <a:solidFill>
              <a:srgbClr val="BDB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>
            <a:noAutofit/>
          </a:bodyPr>
          <a:lstStyle/>
          <a:p>
            <a:pPr algn="l"/>
            <a:r>
              <a:rPr sz="1200" b="1" i="0">
                <a:solidFill>
                  <a:srgbClr val="3A352D"/>
                </a:solidFill>
                <a:latin typeface="Calibri"/>
              </a:rPr>
              <a:t>Access, the result</a:t>
            </a:r>
          </a:p>
          <a:p>
            <a:pPr algn="l"/>
            <a:r>
              <a:rPr sz="1100" b="0" i="0">
                <a:solidFill>
                  <a:srgbClr val="3A352D"/>
                </a:solidFill>
                <a:latin typeface="Calibri"/>
              </a:rPr>
              <a:t>The consumer can now call the APIs in that product, within its limits.</a:t>
            </a:r>
          </a:p>
        </p:txBody>
      </p:sp>
      <p:cxnSp>
        <p:nvCxnSpPr>
          <p:cNvPr id="27" name="Link: Access to what it controls"/>
          <p:cNvCxnSpPr/>
          <p:nvPr/>
        </p:nvCxnSpPr>
        <p:spPr>
          <a:xfrm>
            <a:off x="3749040" y="4965192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ross-cutting constructs"/>
          <p:cNvSpPr/>
          <p:nvPr/>
        </p:nvSpPr>
        <p:spPr>
          <a:xfrm>
            <a:off x="822960" y="5532120"/>
            <a:ext cx="10881360" cy="914400"/>
          </a:xfrm>
          <a:prstGeom prst="roundRect">
            <a:avLst>
              <a:gd name="adj" fmla="val 14000"/>
            </a:avLst>
          </a:prstGeom>
          <a:noFill/>
          <a:ln w="15875">
            <a:solidFill>
              <a:srgbClr val="B4B4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5595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6B6B6B"/>
                </a:solidFill>
                <a:latin typeface="Calibri"/>
              </a:rPr>
              <a:t>Cross-cutting constructs</a:t>
            </a:r>
          </a:p>
        </p:txBody>
      </p:sp>
      <p:sp>
        <p:nvSpPr>
          <p:cNvPr id="30" name="Groups (Entra ID)"/>
          <p:cNvSpPr/>
          <p:nvPr/>
        </p:nvSpPr>
        <p:spPr>
          <a:xfrm>
            <a:off x="1463040" y="5852160"/>
            <a:ext cx="4297680" cy="512064"/>
          </a:xfrm>
          <a:prstGeom prst="roundRect">
            <a:avLst>
              <a:gd name="adj" fmla="val 12500"/>
            </a:avLst>
          </a:prstGeom>
          <a:solidFill>
            <a:srgbClr val="E9F5F0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200" b="1" i="0">
                <a:solidFill>
                  <a:srgbClr val="04342C"/>
                </a:solidFill>
                <a:latin typeface="Calibri"/>
              </a:rPr>
              <a:t>Groups (Entra ID)</a:t>
            </a:r>
          </a:p>
          <a:p>
            <a:pPr algn="ctr"/>
            <a:r>
              <a:rPr sz="1050" b="0" i="0">
                <a:solidFill>
                  <a:srgbClr val="04342C"/>
                </a:solidFill>
                <a:latin typeface="Calibri"/>
              </a:rPr>
              <a:t>Drive product visibility and who may subscribe, enforcing</a:t>
            </a:r>
          </a:p>
        </p:txBody>
      </p:sp>
      <p:sp>
        <p:nvSpPr>
          <p:cNvPr id="31" name="Tags"/>
          <p:cNvSpPr/>
          <p:nvPr/>
        </p:nvSpPr>
        <p:spPr>
          <a:xfrm>
            <a:off x="6309360" y="5852160"/>
            <a:ext cx="4297680" cy="512064"/>
          </a:xfrm>
          <a:prstGeom prst="roundRect">
            <a:avLst>
              <a:gd name="adj" fmla="val 12500"/>
            </a:avLst>
          </a:prstGeom>
          <a:solidFill>
            <a:srgbClr val="FBE9EF"/>
          </a:solidFill>
          <a:ln w="12700">
            <a:solidFill>
              <a:srgbClr val="9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200" b="1" i="0">
                <a:solidFill>
                  <a:srgbClr val="5A1A35"/>
                </a:solidFill>
                <a:latin typeface="Calibri"/>
              </a:rPr>
              <a:t>Tags</a:t>
            </a:r>
          </a:p>
          <a:p>
            <a:pPr algn="ctr"/>
            <a:r>
              <a:rPr sz="1050" b="0" i="0">
                <a:solidFill>
                  <a:srgbClr val="5A1A35"/>
                </a:solidFill>
                <a:latin typeface="Calibri"/>
              </a:rPr>
              <a:t>Classify and organise APIs for discovery, informing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9.1  ·  GOVERNANCE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How the governance constructs fit together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How the governance constructs relate to each other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12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Governance constructs container"/>
          <p:cNvSpPr/>
          <p:nvPr/>
        </p:nvSpPr>
        <p:spPr>
          <a:xfrm>
            <a:off x="502920" y="1463040"/>
            <a:ext cx="11183112" cy="4069080"/>
          </a:xfrm>
          <a:prstGeom prst="roundRect">
            <a:avLst>
              <a:gd name="adj" fmla="val 2696"/>
            </a:avLst>
          </a:prstGeom>
          <a:noFill/>
          <a:ln w="15875">
            <a:solidFill>
              <a:srgbClr val="9A9A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amed values"/>
          <p:cNvSpPr/>
          <p:nvPr/>
        </p:nvSpPr>
        <p:spPr>
          <a:xfrm>
            <a:off x="873801" y="2514600"/>
            <a:ext cx="2539106" cy="1188720"/>
          </a:xfrm>
          <a:prstGeom prst="roundRect">
            <a:avLst>
              <a:gd name="adj" fmla="val 7692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800" b="1" i="0">
                <a:solidFill>
                  <a:srgbClr val="6B4510"/>
                </a:solidFill>
                <a:latin typeface="Calibri"/>
              </a:rPr>
              <a:t>Named values</a:t>
            </a:r>
          </a:p>
          <a:p>
            <a:pPr algn="ctr"/>
            <a:r>
              <a:rPr sz="1350" b="0" i="0">
                <a:solidFill>
                  <a:srgbClr val="8A6A1F"/>
                </a:solidFill>
                <a:latin typeface="Calibri"/>
              </a:rPr>
              <a:t>Config and secrets</a:t>
            </a:r>
          </a:p>
        </p:txBody>
      </p:sp>
      <p:sp>
        <p:nvSpPr>
          <p:cNvPr id="9" name="Products"/>
          <p:cNvSpPr/>
          <p:nvPr/>
        </p:nvSpPr>
        <p:spPr>
          <a:xfrm>
            <a:off x="3912169" y="2514600"/>
            <a:ext cx="2531974" cy="1188720"/>
          </a:xfrm>
          <a:prstGeom prst="roundRect">
            <a:avLst>
              <a:gd name="adj" fmla="val 7692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800" b="1" i="0">
                <a:solidFill>
                  <a:srgbClr val="3F3190"/>
                </a:solidFill>
                <a:latin typeface="Calibri"/>
              </a:rPr>
              <a:t>Products</a:t>
            </a:r>
          </a:p>
          <a:p>
            <a:pPr algn="ctr"/>
            <a:r>
              <a:rPr sz="1350" b="0" i="0">
                <a:solidFill>
                  <a:srgbClr val="5B4FA0"/>
                </a:solidFill>
                <a:latin typeface="Calibri"/>
              </a:rPr>
              <a:t>Bundle APIs + policy</a:t>
            </a:r>
          </a:p>
        </p:txBody>
      </p:sp>
      <p:sp>
        <p:nvSpPr>
          <p:cNvPr id="10" name="Groups"/>
          <p:cNvSpPr/>
          <p:nvPr/>
        </p:nvSpPr>
        <p:spPr>
          <a:xfrm>
            <a:off x="6936273" y="2514600"/>
            <a:ext cx="2539106" cy="1188720"/>
          </a:xfrm>
          <a:prstGeom prst="roundRect">
            <a:avLst>
              <a:gd name="adj" fmla="val 7692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800" b="1" i="0">
                <a:solidFill>
                  <a:srgbClr val="1E3A6B"/>
                </a:solidFill>
                <a:latin typeface="Calibri"/>
              </a:rPr>
              <a:t>Groups</a:t>
            </a:r>
          </a:p>
          <a:p>
            <a:pPr algn="ctr"/>
            <a:r>
              <a:rPr sz="1350" b="0" i="0">
                <a:solidFill>
                  <a:srgbClr val="2E6CA6"/>
                </a:solidFill>
                <a:latin typeface="Calibri"/>
              </a:rPr>
              <a:t>Entra ID membership</a:t>
            </a:r>
          </a:p>
        </p:txBody>
      </p:sp>
      <p:sp>
        <p:nvSpPr>
          <p:cNvPr id="11" name="Consumer"/>
          <p:cNvSpPr/>
          <p:nvPr/>
        </p:nvSpPr>
        <p:spPr>
          <a:xfrm>
            <a:off x="9974641" y="2514600"/>
            <a:ext cx="1348008" cy="1188720"/>
          </a:xfrm>
          <a:prstGeom prst="roundRect">
            <a:avLst>
              <a:gd name="adj" fmla="val 7692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800" b="1" i="0">
                <a:solidFill>
                  <a:srgbClr val="3A352D"/>
                </a:solidFill>
                <a:latin typeface="Calibri"/>
              </a:rPr>
              <a:t>Consumer</a:t>
            </a:r>
          </a:p>
          <a:p>
            <a:pPr algn="ctr"/>
            <a:r>
              <a:rPr sz="1350" b="0" i="0">
                <a:solidFill>
                  <a:srgbClr val="6B655B"/>
                </a:solidFill>
                <a:latin typeface="Calibri"/>
              </a:rPr>
              <a:t>access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12907" y="3108960"/>
            <a:ext cx="49926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21467" y="2788920"/>
            <a:ext cx="682142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feed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44143" y="3108960"/>
            <a:ext cx="49213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2703" y="2788920"/>
            <a:ext cx="675010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seen by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75379" y="3108960"/>
            <a:ext cx="49926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83939" y="2788920"/>
            <a:ext cx="682142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grants</a:t>
            </a:r>
          </a:p>
        </p:txBody>
      </p:sp>
      <p:sp>
        <p:nvSpPr>
          <p:cNvPr id="18" name="Tags"/>
          <p:cNvSpPr/>
          <p:nvPr/>
        </p:nvSpPr>
        <p:spPr>
          <a:xfrm>
            <a:off x="3740993" y="4389120"/>
            <a:ext cx="2874325" cy="731520"/>
          </a:xfrm>
          <a:prstGeom prst="roundRect">
            <a:avLst>
              <a:gd name="adj" fmla="val 12500"/>
            </a:avLst>
          </a:prstGeom>
          <a:solidFill>
            <a:srgbClr val="FBECEC"/>
          </a:solidFill>
          <a:ln w="19050">
            <a:solidFill>
              <a:srgbClr val="B55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600" b="1" i="0">
                <a:solidFill>
                  <a:srgbClr val="6B1F25"/>
                </a:solidFill>
                <a:latin typeface="Calibri"/>
              </a:rPr>
              <a:t>Tags</a:t>
            </a:r>
          </a:p>
          <a:p>
            <a:pPr algn="ctr"/>
            <a:r>
              <a:rPr sz="1250" b="0" i="0">
                <a:solidFill>
                  <a:srgbClr val="814449"/>
                </a:solidFill>
                <a:latin typeface="Calibri"/>
              </a:rPr>
              <a:t>Discovery only, enforces nothing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78156" y="3703320"/>
            <a:ext cx="0" cy="685800"/>
          </a:xfrm>
          <a:prstGeom prst="line">
            <a:avLst/>
          </a:prstGeom>
          <a:ln w="12700">
            <a:solidFill>
              <a:srgbClr val="9B3A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566928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0">
                <a:solidFill>
                  <a:srgbClr val="5A6B7D"/>
                </a:solidFill>
                <a:latin typeface="Calibri"/>
              </a:rPr>
              <a:t>Only Products, Groups  enforce anything. Tags help people find things; they are not a security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9.2  ·  DEVELOPER PORTAL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Developer portal reference architecture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How the portal relates to the management plane, identity providers, and the runtime gateway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13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Management plane"/>
          <p:cNvSpPr/>
          <p:nvPr/>
        </p:nvSpPr>
        <p:spPr>
          <a:xfrm>
            <a:off x="640409" y="1656308"/>
            <a:ext cx="2903403" cy="875629"/>
          </a:xfrm>
          <a:prstGeom prst="roundRect">
            <a:avLst>
              <a:gd name="adj" fmla="val 10442"/>
            </a:avLst>
          </a:prstGeom>
          <a:solidFill>
            <a:srgbClr val="EEF1FA"/>
          </a:solidFill>
          <a:ln w="19050">
            <a:solidFill>
              <a:srgbClr val="9DB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Management plane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5A6B7D"/>
                </a:solidFill>
                <a:latin typeface="Calibri"/>
              </a:rPr>
              <a:t>Platform + domain teams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define APIs, products, policies</a:t>
            </a:r>
          </a:p>
        </p:txBody>
      </p:sp>
      <p:sp>
        <p:nvSpPr>
          <p:cNvPr id="8" name="Developer portal"/>
          <p:cNvSpPr/>
          <p:nvPr/>
        </p:nvSpPr>
        <p:spPr>
          <a:xfrm>
            <a:off x="4401007" y="1656308"/>
            <a:ext cx="3272089" cy="875629"/>
          </a:xfrm>
          <a:prstGeom prst="roundRect">
            <a:avLst>
              <a:gd name="adj" fmla="val 10442"/>
            </a:avLst>
          </a:prstGeom>
          <a:solidFill>
            <a:srgbClr val="EAF1FA"/>
          </a:solidFill>
          <a:ln w="25400">
            <a:solidFill>
              <a:srgbClr val="2C6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Developer portal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5A6B7D"/>
                </a:solidFill>
                <a:latin typeface="Calibri"/>
              </a:rPr>
              <a:t>Microsoft-managed website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auto-generated, customisable</a:t>
            </a:r>
          </a:p>
        </p:txBody>
      </p:sp>
      <p:sp>
        <p:nvSpPr>
          <p:cNvPr id="9" name="Entra ID"/>
          <p:cNvSpPr/>
          <p:nvPr/>
        </p:nvSpPr>
        <p:spPr>
          <a:xfrm>
            <a:off x="8631680" y="1462747"/>
            <a:ext cx="2894186" cy="589898"/>
          </a:xfrm>
          <a:prstGeom prst="roundRect">
            <a:avLst>
              <a:gd name="adj" fmla="val 15500"/>
            </a:avLst>
          </a:prstGeom>
          <a:solidFill>
            <a:srgbClr val="FBF3E1"/>
          </a:solidFill>
          <a:ln w="19050">
            <a:solidFill>
              <a:srgbClr val="B88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50" b="1" i="0">
                <a:solidFill>
                  <a:srgbClr val="132040"/>
                </a:solidFill>
                <a:latin typeface="Calibri"/>
              </a:rPr>
              <a:t>Entra ID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Internal, corporate SSO</a:t>
            </a:r>
          </a:p>
        </p:txBody>
      </p:sp>
      <p:sp>
        <p:nvSpPr>
          <p:cNvPr id="10" name="Entra ID B2B guest"/>
          <p:cNvSpPr/>
          <p:nvPr/>
        </p:nvSpPr>
        <p:spPr>
          <a:xfrm>
            <a:off x="8631680" y="2200120"/>
            <a:ext cx="2894186" cy="580681"/>
          </a:xfrm>
          <a:prstGeom prst="roundRect">
            <a:avLst>
              <a:gd name="adj" fmla="val 15747"/>
            </a:avLst>
          </a:prstGeom>
          <a:solidFill>
            <a:srgbClr val="FBF3E1"/>
          </a:solidFill>
          <a:ln w="19050">
            <a:solidFill>
              <a:srgbClr val="B88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50" b="1" i="0">
                <a:solidFill>
                  <a:srgbClr val="132040"/>
                </a:solidFill>
                <a:latin typeface="Calibri"/>
              </a:rPr>
              <a:t>Entra ID B2B guest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External partner, own credentials</a:t>
            </a:r>
          </a:p>
        </p:txBody>
      </p:sp>
      <p:sp>
        <p:nvSpPr>
          <p:cNvPr id="11" name="Internal developer"/>
          <p:cNvSpPr/>
          <p:nvPr/>
        </p:nvSpPr>
        <p:spPr>
          <a:xfrm>
            <a:off x="4401007" y="3296961"/>
            <a:ext cx="1539264" cy="617549"/>
          </a:xfrm>
          <a:prstGeom prst="roundRect">
            <a:avLst>
              <a:gd name="adj" fmla="val 14806"/>
            </a:avLst>
          </a:prstGeom>
          <a:solidFill>
            <a:srgbClr val="F0EDE6"/>
          </a:solidFill>
          <a:ln w="15875">
            <a:solidFill>
              <a:srgbClr val="B4AE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50" b="1" i="0">
                <a:solidFill>
                  <a:srgbClr val="132040"/>
                </a:solidFill>
                <a:latin typeface="Calibri"/>
              </a:rPr>
              <a:t>Internal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developer</a:t>
            </a:r>
          </a:p>
        </p:txBody>
      </p:sp>
      <p:sp>
        <p:nvSpPr>
          <p:cNvPr id="12" name="External partner developer"/>
          <p:cNvSpPr/>
          <p:nvPr/>
        </p:nvSpPr>
        <p:spPr>
          <a:xfrm>
            <a:off x="6133832" y="3296961"/>
            <a:ext cx="1539264" cy="617549"/>
          </a:xfrm>
          <a:prstGeom prst="roundRect">
            <a:avLst>
              <a:gd name="adj" fmla="val 14806"/>
            </a:avLst>
          </a:prstGeom>
          <a:solidFill>
            <a:srgbClr val="F0EDE6"/>
          </a:solidFill>
          <a:ln w="15875">
            <a:solidFill>
              <a:srgbClr val="B4AE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50" b="1" i="0">
                <a:solidFill>
                  <a:srgbClr val="132040"/>
                </a:solidFill>
                <a:latin typeface="Calibri"/>
              </a:rPr>
              <a:t>External partner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developer (B2B guest)</a:t>
            </a:r>
          </a:p>
        </p:txBody>
      </p:sp>
      <p:sp>
        <p:nvSpPr>
          <p:cNvPr id="13" name="APIM gateway (data plane)"/>
          <p:cNvSpPr/>
          <p:nvPr/>
        </p:nvSpPr>
        <p:spPr>
          <a:xfrm>
            <a:off x="4401007" y="4550493"/>
            <a:ext cx="4046330" cy="866412"/>
          </a:xfrm>
          <a:prstGeom prst="roundRect">
            <a:avLst>
              <a:gd name="adj" fmla="val 10553"/>
            </a:avLst>
          </a:prstGeom>
          <a:solidFill>
            <a:srgbClr val="E0F4EC"/>
          </a:solidFill>
          <a:ln w="2540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APIM gateway (data plane)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5A6B7D"/>
                </a:solidFill>
                <a:latin typeface="Calibri"/>
              </a:rPr>
              <a:t>Runtime authN/authZ, rate limits,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policy enforcement on every call</a:t>
            </a:r>
          </a:p>
        </p:txBody>
      </p:sp>
      <p:sp>
        <p:nvSpPr>
          <p:cNvPr id="14" name="Backend services"/>
          <p:cNvSpPr/>
          <p:nvPr/>
        </p:nvSpPr>
        <p:spPr>
          <a:xfrm>
            <a:off x="9313749" y="4550493"/>
            <a:ext cx="2212116" cy="866412"/>
          </a:xfrm>
          <a:prstGeom prst="roundRect">
            <a:avLst>
              <a:gd name="adj" fmla="val 10553"/>
            </a:avLst>
          </a:prstGeom>
          <a:solidFill>
            <a:srgbClr val="E0F4EC"/>
          </a:solidFill>
          <a:ln w="2540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Backend services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43812" y="2089514"/>
            <a:ext cx="838761" cy="0"/>
          </a:xfrm>
          <a:prstGeom prst="line">
            <a:avLst/>
          </a:prstGeom>
          <a:ln w="28575">
            <a:solidFill>
              <a:srgbClr val="8A6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97726" y="1895954"/>
            <a:ext cx="884847" cy="1828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950" b="1" i="0">
                <a:solidFill>
                  <a:srgbClr val="8A6A1F"/>
                </a:solidFill>
                <a:latin typeface="Calibri"/>
              </a:rPr>
              <a:t>publishes catalogue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673096" y="1748479"/>
            <a:ext cx="921715" cy="294949"/>
          </a:xfrm>
          <a:prstGeom prst="line">
            <a:avLst/>
          </a:prstGeom>
          <a:ln w="25400">
            <a:solidFill>
              <a:srgbClr val="2C6C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73096" y="2236988"/>
            <a:ext cx="921715" cy="258080"/>
          </a:xfrm>
          <a:prstGeom prst="line">
            <a:avLst/>
          </a:prstGeom>
          <a:ln w="25400">
            <a:solidFill>
              <a:srgbClr val="2C6C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50496" y="2614891"/>
            <a:ext cx="119823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1" i="0">
                <a:solidFill>
                  <a:srgbClr val="2C6CA4"/>
                </a:solidFill>
                <a:latin typeface="Calibri"/>
              </a:rPr>
              <a:t>delegates sign-in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166031" y="2550371"/>
            <a:ext cx="396337" cy="746590"/>
          </a:xfrm>
          <a:prstGeom prst="line">
            <a:avLst/>
          </a:prstGeom>
          <a:ln w="25400">
            <a:solidFill>
              <a:srgbClr val="2C6C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6511735" y="2550371"/>
            <a:ext cx="387120" cy="746590"/>
          </a:xfrm>
          <a:prstGeom prst="line">
            <a:avLst/>
          </a:prstGeom>
          <a:ln w="25400">
            <a:solidFill>
              <a:srgbClr val="2C6C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91408" y="3094183"/>
            <a:ext cx="36868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2C6CA4"/>
                </a:solidFill>
                <a:latin typeface="Calibri"/>
              </a:rPr>
              <a:t>sign 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66031" y="3914510"/>
            <a:ext cx="0" cy="617549"/>
          </a:xfrm>
          <a:prstGeom prst="line">
            <a:avLst/>
          </a:prstGeom>
          <a:ln w="2540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797467" y="3914510"/>
            <a:ext cx="101388" cy="617549"/>
          </a:xfrm>
          <a:prstGeom prst="line">
            <a:avLst/>
          </a:prstGeom>
          <a:ln w="2540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16664" y="3997464"/>
            <a:ext cx="9217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50" b="1" i="0">
                <a:solidFill>
                  <a:srgbClr val="2E7D5B"/>
                </a:solidFill>
                <a:latin typeface="Calibri"/>
              </a:rPr>
              <a:t>runtime calls</a:t>
            </a:r>
          </a:p>
          <a:p>
            <a:pPr algn="r"/>
            <a:r>
              <a:rPr sz="850" b="0" i="0">
                <a:solidFill>
                  <a:srgbClr val="2E7D5B"/>
                </a:solidFill>
                <a:latin typeface="Calibri"/>
              </a:rPr>
              <a:t>(once subscribed)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7337" y="4974482"/>
            <a:ext cx="847978" cy="0"/>
          </a:xfrm>
          <a:prstGeom prst="line">
            <a:avLst/>
          </a:prstGeom>
          <a:ln w="2540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96841" y="5693420"/>
            <a:ext cx="645200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0" i="1">
                <a:solidFill>
                  <a:srgbClr val="5A6B7D"/>
                </a:solidFill>
                <a:latin typeface="Calibri"/>
              </a:rPr>
              <a:t>The portal publishes and mediates discovery and subscription; it is not in the runtime request path. Every call is authenticated and enforced at the gateway.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SECTIONS 9.2 AND 9.5  ·  INTERNAL ONBOARDING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Internal user onboarding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19b: Internal user onboarding, from request to credentials, and where the user lands in the portal groups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14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Header"/>
          <p:cNvSpPr/>
          <p:nvPr/>
        </p:nvSpPr>
        <p:spPr>
          <a:xfrm>
            <a:off x="548640" y="1417320"/>
            <a:ext cx="11064240" cy="384048"/>
          </a:xfrm>
          <a:prstGeom prst="roundRect">
            <a:avLst>
              <a:gd name="adj" fmla="val 14285"/>
            </a:avLst>
          </a:prstGeom>
          <a:solidFill>
            <a:srgbClr val="0F3F6E"/>
          </a:solidFill>
          <a:ln w="15875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INTERNAL USER ONBOARDING</a:t>
            </a:r>
          </a:p>
        </p:txBody>
      </p:sp>
      <p:sp>
        <p:nvSpPr>
          <p:cNvPr id="8" name="Panel"/>
          <p:cNvSpPr/>
          <p:nvPr/>
        </p:nvSpPr>
        <p:spPr>
          <a:xfrm>
            <a:off x="548640" y="1901952"/>
            <a:ext cx="11064240" cy="4480560"/>
          </a:xfrm>
          <a:prstGeom prst="roundRect">
            <a:avLst>
              <a:gd name="adj" fmla="val 2040"/>
            </a:avLst>
          </a:prstGeom>
          <a:solidFill>
            <a:srgbClr val="EEF1F8"/>
          </a:solidFill>
          <a:ln w="9525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ep 1: Request"/>
          <p:cNvSpPr/>
          <p:nvPr/>
        </p:nvSpPr>
        <p:spPr>
          <a:xfrm>
            <a:off x="731520" y="2011680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ep number 1"/>
          <p:cNvSpPr/>
          <p:nvPr/>
        </p:nvSpPr>
        <p:spPr>
          <a:xfrm>
            <a:off x="905256" y="2121408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tep text 1"/>
          <p:cNvSpPr txBox="1"/>
          <p:nvPr/>
        </p:nvSpPr>
        <p:spPr>
          <a:xfrm>
            <a:off x="1417320" y="2048256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Request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Manager or domain team identifies the product needed</a:t>
            </a:r>
          </a:p>
        </p:txBody>
      </p:sp>
      <p:sp>
        <p:nvSpPr>
          <p:cNvPr id="12" name="Freeform 11"/>
          <p:cNvSpPr/>
          <p:nvPr/>
        </p:nvSpPr>
        <p:spPr>
          <a:xfrm>
            <a:off x="996695" y="2578608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2: Group membership"/>
          <p:cNvSpPr/>
          <p:nvPr/>
        </p:nvSpPr>
        <p:spPr>
          <a:xfrm>
            <a:off x="731520" y="2706624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tep number 2"/>
          <p:cNvSpPr/>
          <p:nvPr/>
        </p:nvSpPr>
        <p:spPr>
          <a:xfrm>
            <a:off x="905256" y="2816352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Step text 2"/>
          <p:cNvSpPr txBox="1"/>
          <p:nvPr/>
        </p:nvSpPr>
        <p:spPr>
          <a:xfrm>
            <a:off x="1417320" y="2743200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Group membership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Added to the Entra ID group via joiner-mover-leaver; no APIM account</a:t>
            </a:r>
          </a:p>
        </p:txBody>
      </p:sp>
      <p:sp>
        <p:nvSpPr>
          <p:cNvPr id="16" name="Freeform 15"/>
          <p:cNvSpPr/>
          <p:nvPr/>
        </p:nvSpPr>
        <p:spPr>
          <a:xfrm>
            <a:off x="996695" y="3273552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tep 3: Sign-in"/>
          <p:cNvSpPr/>
          <p:nvPr/>
        </p:nvSpPr>
        <p:spPr>
          <a:xfrm>
            <a:off x="731520" y="3401568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number 3"/>
          <p:cNvSpPr/>
          <p:nvPr/>
        </p:nvSpPr>
        <p:spPr>
          <a:xfrm>
            <a:off x="905256" y="3511296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Step text 3"/>
          <p:cNvSpPr txBox="1"/>
          <p:nvPr/>
        </p:nvSpPr>
        <p:spPr>
          <a:xfrm>
            <a:off x="1417320" y="3438144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Sign-in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Signs in with corporate SSO; automatically a Developer</a:t>
            </a:r>
          </a:p>
        </p:txBody>
      </p:sp>
      <p:sp>
        <p:nvSpPr>
          <p:cNvPr id="20" name="Freeform 19"/>
          <p:cNvSpPr/>
          <p:nvPr/>
        </p:nvSpPr>
        <p:spPr>
          <a:xfrm>
            <a:off x="996695" y="3968496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ep 4: Discover &amp; subscribe"/>
          <p:cNvSpPr/>
          <p:nvPr/>
        </p:nvSpPr>
        <p:spPr>
          <a:xfrm>
            <a:off x="731520" y="4096512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tep number 4"/>
          <p:cNvSpPr/>
          <p:nvPr/>
        </p:nvSpPr>
        <p:spPr>
          <a:xfrm>
            <a:off x="905256" y="4206240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Step text 4"/>
          <p:cNvSpPr txBox="1"/>
          <p:nvPr/>
        </p:nvSpPr>
        <p:spPr>
          <a:xfrm>
            <a:off x="1417320" y="4133088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Discover &amp; subscribe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Sees only permitted products; internal products typically auto-approved</a:t>
            </a:r>
          </a:p>
        </p:txBody>
      </p:sp>
      <p:sp>
        <p:nvSpPr>
          <p:cNvPr id="24" name="Freeform 23"/>
          <p:cNvSpPr/>
          <p:nvPr/>
        </p:nvSpPr>
        <p:spPr>
          <a:xfrm>
            <a:off x="996695" y="4663440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tep 5: Credentials"/>
          <p:cNvSpPr/>
          <p:nvPr/>
        </p:nvSpPr>
        <p:spPr>
          <a:xfrm>
            <a:off x="731520" y="4791456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Step number 5"/>
          <p:cNvSpPr/>
          <p:nvPr/>
        </p:nvSpPr>
        <p:spPr>
          <a:xfrm>
            <a:off x="905256" y="4901184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Step text 5"/>
          <p:cNvSpPr txBox="1"/>
          <p:nvPr/>
        </p:nvSpPr>
        <p:spPr>
          <a:xfrm>
            <a:off x="1417320" y="4828032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Credentials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Subscription key issued; OAuth token from Entra ID</a:t>
            </a:r>
          </a:p>
        </p:txBody>
      </p:sp>
      <p:sp>
        <p:nvSpPr>
          <p:cNvPr id="28" name="Lands as"/>
          <p:cNvSpPr/>
          <p:nvPr/>
        </p:nvSpPr>
        <p:spPr>
          <a:xfrm>
            <a:off x="731520" y="5577840"/>
            <a:ext cx="10698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00" b="1" i="0">
                <a:solidFill>
                  <a:srgbClr val="0F3F6E"/>
                </a:solidFill>
                <a:latin typeface="Calibri"/>
              </a:rPr>
              <a:t>Lands as: Developer + custom Entra ID group (e.g. Claims-Team)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portal group + Entra ID group (visibility scoped to permitted products)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SECTIONS 9.2 AND 9.6  ·  PARTNER ONBOARDING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External (partner, B2B) user onboarding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19c: External (partner, B2B) user onboarding, from sponsorship to credentials, and where the partner lands in the portal groups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15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Header"/>
          <p:cNvSpPr/>
          <p:nvPr/>
        </p:nvSpPr>
        <p:spPr>
          <a:xfrm>
            <a:off x="548640" y="1417320"/>
            <a:ext cx="11064240" cy="384048"/>
          </a:xfrm>
          <a:prstGeom prst="roundRect">
            <a:avLst>
              <a:gd name="adj" fmla="val 14285"/>
            </a:avLst>
          </a:prstGeom>
          <a:solidFill>
            <a:srgbClr val="8B6914"/>
          </a:solidFill>
          <a:ln w="15875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EXTERNAL USER ONBOARDING (PARTNER, B2B)</a:t>
            </a:r>
          </a:p>
        </p:txBody>
      </p:sp>
      <p:sp>
        <p:nvSpPr>
          <p:cNvPr id="8" name="Panel"/>
          <p:cNvSpPr/>
          <p:nvPr/>
        </p:nvSpPr>
        <p:spPr>
          <a:xfrm>
            <a:off x="548640" y="1901952"/>
            <a:ext cx="11064240" cy="4480560"/>
          </a:xfrm>
          <a:prstGeom prst="roundRect">
            <a:avLst>
              <a:gd name="adj" fmla="val 2040"/>
            </a:avLst>
          </a:prstGeom>
          <a:solidFill>
            <a:srgbClr val="FAF2E0"/>
          </a:solidFill>
          <a:ln w="9525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ep 1: Sponsorship"/>
          <p:cNvSpPr/>
          <p:nvPr/>
        </p:nvSpPr>
        <p:spPr>
          <a:xfrm>
            <a:off x="731520" y="2011680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ep number 1"/>
          <p:cNvSpPr/>
          <p:nvPr/>
        </p:nvSpPr>
        <p:spPr>
          <a:xfrm>
            <a:off x="905256" y="2121408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tep text 1"/>
          <p:cNvSpPr txBox="1"/>
          <p:nvPr/>
        </p:nvSpPr>
        <p:spPr>
          <a:xfrm>
            <a:off x="1417320" y="2048256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Sponsorship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Named internal owner sponsors the partner and confirms product access</a:t>
            </a:r>
          </a:p>
        </p:txBody>
      </p:sp>
      <p:sp>
        <p:nvSpPr>
          <p:cNvPr id="12" name="Freeform 11"/>
          <p:cNvSpPr/>
          <p:nvPr/>
        </p:nvSpPr>
        <p:spPr>
          <a:xfrm>
            <a:off x="996695" y="2578608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2: Guest invitation"/>
          <p:cNvSpPr/>
          <p:nvPr/>
        </p:nvSpPr>
        <p:spPr>
          <a:xfrm>
            <a:off x="731520" y="2706624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tep number 2"/>
          <p:cNvSpPr/>
          <p:nvPr/>
        </p:nvSpPr>
        <p:spPr>
          <a:xfrm>
            <a:off x="905256" y="2816352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Step text 2"/>
          <p:cNvSpPr txBox="1"/>
          <p:nvPr/>
        </p:nvSpPr>
        <p:spPr>
          <a:xfrm>
            <a:off x="1417320" y="2743200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Guest invitation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Invited as a Microsoft Entra ID B2B guest; own organisation credentials</a:t>
            </a:r>
          </a:p>
        </p:txBody>
      </p:sp>
      <p:sp>
        <p:nvSpPr>
          <p:cNvPr id="16" name="Freeform 15"/>
          <p:cNvSpPr/>
          <p:nvPr/>
        </p:nvSpPr>
        <p:spPr>
          <a:xfrm>
            <a:off x="996695" y="3273552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tep 3: Group membership"/>
          <p:cNvSpPr/>
          <p:nvPr/>
        </p:nvSpPr>
        <p:spPr>
          <a:xfrm>
            <a:off x="731520" y="3401568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number 3"/>
          <p:cNvSpPr/>
          <p:nvPr/>
        </p:nvSpPr>
        <p:spPr>
          <a:xfrm>
            <a:off x="905256" y="3511296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Step text 3"/>
          <p:cNvSpPr txBox="1"/>
          <p:nvPr/>
        </p:nvSpPr>
        <p:spPr>
          <a:xfrm>
            <a:off x="1417320" y="3438144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Group membership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Guest identity added to a per-partner Entra ID group</a:t>
            </a:r>
          </a:p>
        </p:txBody>
      </p:sp>
      <p:sp>
        <p:nvSpPr>
          <p:cNvPr id="20" name="Freeform 19"/>
          <p:cNvSpPr/>
          <p:nvPr/>
        </p:nvSpPr>
        <p:spPr>
          <a:xfrm>
            <a:off x="996695" y="3968496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ep 4: Sign-in &amp; subscribe"/>
          <p:cNvSpPr/>
          <p:nvPr/>
        </p:nvSpPr>
        <p:spPr>
          <a:xfrm>
            <a:off x="731520" y="4096512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tep number 4"/>
          <p:cNvSpPr/>
          <p:nvPr/>
        </p:nvSpPr>
        <p:spPr>
          <a:xfrm>
            <a:off x="905256" y="4206240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Step text 4"/>
          <p:cNvSpPr txBox="1"/>
          <p:nvPr/>
        </p:nvSpPr>
        <p:spPr>
          <a:xfrm>
            <a:off x="1417320" y="4133088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Sign-in &amp; subscribe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Signs in via B2B guest SSO; subscription gated by approval</a:t>
            </a:r>
          </a:p>
        </p:txBody>
      </p:sp>
      <p:sp>
        <p:nvSpPr>
          <p:cNvPr id="24" name="Freeform 23"/>
          <p:cNvSpPr/>
          <p:nvPr/>
        </p:nvSpPr>
        <p:spPr>
          <a:xfrm>
            <a:off x="996695" y="4663440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tep 5: Credentials"/>
          <p:cNvSpPr/>
          <p:nvPr/>
        </p:nvSpPr>
        <p:spPr>
          <a:xfrm>
            <a:off x="731520" y="4791456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Step number 5"/>
          <p:cNvSpPr/>
          <p:nvPr/>
        </p:nvSpPr>
        <p:spPr>
          <a:xfrm>
            <a:off x="905256" y="4901184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Step text 5"/>
          <p:cNvSpPr txBox="1"/>
          <p:nvPr/>
        </p:nvSpPr>
        <p:spPr>
          <a:xfrm>
            <a:off x="1417320" y="4828032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Credentials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On approval: subscription key + OAuth token from Entra ID</a:t>
            </a:r>
          </a:p>
        </p:txBody>
      </p:sp>
      <p:sp>
        <p:nvSpPr>
          <p:cNvPr id="28" name="Lands as"/>
          <p:cNvSpPr/>
          <p:nvPr/>
        </p:nvSpPr>
        <p:spPr>
          <a:xfrm>
            <a:off x="731520" y="5577840"/>
            <a:ext cx="10698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00" b="1" i="0">
                <a:solidFill>
                  <a:srgbClr val="8B6914"/>
                </a:solidFill>
                <a:latin typeface="Calibri"/>
              </a:rPr>
              <a:t>Lands as: Developer + per-partner Entra ID group (e.g. Partner-XYZ)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portal group + Entra ID group (visibility scoped to permitted products)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9.2  ·  DEVELOPER PORTAL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 consumer journey: ten steps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20: The API consumer journey, ten steps from access granted to steady-state use, support and versioning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16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1. Access granted"/>
          <p:cNvSpPr/>
          <p:nvPr/>
        </p:nvSpPr>
        <p:spPr>
          <a:xfrm>
            <a:off x="457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6F1FB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E2A5B"/>
                </a:solidFill>
                <a:latin typeface="Calibri"/>
              </a:rPr>
              <a:t>1. Access granted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Added to the right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Entra ID group</a:t>
            </a:r>
          </a:p>
        </p:txBody>
      </p:sp>
      <p:sp>
        <p:nvSpPr>
          <p:cNvPr id="8" name="2. Discover"/>
          <p:cNvSpPr/>
          <p:nvPr/>
        </p:nvSpPr>
        <p:spPr>
          <a:xfrm>
            <a:off x="2743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6F1FB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E2A5B"/>
                </a:solidFill>
                <a:latin typeface="Calibri"/>
              </a:rPr>
              <a:t>2. Discover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Sign in (SSO);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see permitted products</a:t>
            </a:r>
          </a:p>
        </p:txBody>
      </p:sp>
      <p:sp>
        <p:nvSpPr>
          <p:cNvPr id="9" name="3. Subscribe"/>
          <p:cNvSpPr/>
          <p:nvPr/>
        </p:nvSpPr>
        <p:spPr>
          <a:xfrm>
            <a:off x="5029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6F1FB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E2A5B"/>
                </a:solidFill>
                <a:latin typeface="Calibri"/>
              </a:rPr>
              <a:t>3. Subscribe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Request subscription;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approval gate for external</a:t>
            </a:r>
          </a:p>
        </p:txBody>
      </p:sp>
      <p:sp>
        <p:nvSpPr>
          <p:cNvPr id="10" name="4. Credentials"/>
          <p:cNvSpPr/>
          <p:nvPr/>
        </p:nvSpPr>
        <p:spPr>
          <a:xfrm>
            <a:off x="7315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A3B2D"/>
                </a:solidFill>
                <a:latin typeface="Calibri"/>
              </a:rPr>
              <a:t>4. Credentials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Subscription key;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app gets OAuth token</a:t>
            </a:r>
          </a:p>
        </p:txBody>
      </p:sp>
      <p:sp>
        <p:nvSpPr>
          <p:cNvPr id="11" name="5. Test"/>
          <p:cNvSpPr/>
          <p:nvPr/>
        </p:nvSpPr>
        <p:spPr>
          <a:xfrm>
            <a:off x="9601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A3B2D"/>
                </a:solidFill>
                <a:latin typeface="Calibri"/>
              </a:rPr>
              <a:t>5. Test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Interactive console;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validate against contract</a:t>
            </a:r>
          </a:p>
        </p:txBody>
      </p:sp>
      <p:sp>
        <p:nvSpPr>
          <p:cNvPr id="12" name="6. Integrate and call"/>
          <p:cNvSpPr/>
          <p:nvPr/>
        </p:nvSpPr>
        <p:spPr>
          <a:xfrm>
            <a:off x="457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A3B2D"/>
                </a:solidFill>
                <a:latin typeface="Calibri"/>
              </a:rPr>
              <a:t>6. Integrate and call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Call via APIM; JWT +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rate-limit at the gateway</a:t>
            </a:r>
          </a:p>
        </p:txBody>
      </p:sp>
      <p:sp>
        <p:nvSpPr>
          <p:cNvPr id="13" name="7. Handle limits"/>
          <p:cNvSpPr/>
          <p:nvPr/>
        </p:nvSpPr>
        <p:spPr>
          <a:xfrm>
            <a:off x="2743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AEEDA"/>
          </a:solidFill>
          <a:ln w="1587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4A2E08"/>
                </a:solidFill>
                <a:latin typeface="Calibri"/>
              </a:rPr>
              <a:t>7. Handle limits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Back off on 429/5xx;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read rate-limit headers</a:t>
            </a:r>
          </a:p>
        </p:txBody>
      </p:sp>
      <p:sp>
        <p:nvSpPr>
          <p:cNvPr id="14" name="8. Observe"/>
          <p:cNvSpPr/>
          <p:nvPr/>
        </p:nvSpPr>
        <p:spPr>
          <a:xfrm>
            <a:off x="5029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AEEDA"/>
          </a:solidFill>
          <a:ln w="1587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4A2E08"/>
                </a:solidFill>
                <a:latin typeface="Calibri"/>
              </a:rPr>
              <a:t>8. Observe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Correlation IDs;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per-consumer usage</a:t>
            </a:r>
          </a:p>
        </p:txBody>
      </p:sp>
      <p:sp>
        <p:nvSpPr>
          <p:cNvPr id="15" name="9. Version changes"/>
          <p:cNvSpPr/>
          <p:nvPr/>
        </p:nvSpPr>
        <p:spPr>
          <a:xfrm>
            <a:off x="7315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AEEDA"/>
          </a:solidFill>
          <a:ln w="1587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4A2E08"/>
                </a:solidFill>
                <a:latin typeface="Calibri"/>
              </a:rPr>
              <a:t>9. Version changes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Sunset headers;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migrate to /v2</a:t>
            </a:r>
          </a:p>
        </p:txBody>
      </p:sp>
      <p:sp>
        <p:nvSpPr>
          <p:cNvPr id="16" name="10. Support &amp; renew"/>
          <p:cNvSpPr/>
          <p:nvPr/>
        </p:nvSpPr>
        <p:spPr>
          <a:xfrm>
            <a:off x="9601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3A352D"/>
                </a:solidFill>
                <a:latin typeface="Calibri"/>
              </a:rPr>
              <a:t>10. Support &amp; renew</a:t>
            </a:r>
          </a:p>
          <a:p>
            <a:pPr algn="ctr"/>
            <a:r>
              <a:rPr sz="1050" b="0" i="0">
                <a:solidFill>
                  <a:srgbClr val="3A352D"/>
                </a:solidFill>
                <a:latin typeface="Calibri"/>
              </a:rPr>
              <a:t>Portal: rotate keys,</a:t>
            </a:r>
          </a:p>
          <a:p>
            <a:pPr algn="ctr"/>
            <a:r>
              <a:rPr sz="1050" b="0" i="0">
                <a:solidFill>
                  <a:srgbClr val="3A352D"/>
                </a:solidFill>
                <a:latin typeface="Calibri"/>
              </a:rPr>
              <a:t>manage subscriptions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42032" y="221284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28032" y="221284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14032" y="221284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00032" y="221284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42032" y="440740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28032" y="440740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114032" y="440740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00032" y="440740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ep 5 to step 6"/>
          <p:cNvSpPr/>
          <p:nvPr/>
        </p:nvSpPr>
        <p:spPr>
          <a:xfrm>
            <a:off x="1499616" y="2697480"/>
            <a:ext cx="9144000" cy="1234440"/>
          </a:xfrm>
          <a:custGeom>
            <a:avLst/>
            <a:gdLst/>
            <a:ahLst/>
            <a:cxnLst/>
            <a:rect l="l" t="t" r="r" b="b"/>
            <a:pathLst>
              <a:path w="9144000" h="1234440">
                <a:moveTo>
                  <a:pt x="9144000" y="0"/>
                </a:moveTo>
                <a:lnTo>
                  <a:pt x="9144000" y="548640"/>
                </a:lnTo>
                <a:lnTo>
                  <a:pt x="0" y="548640"/>
                </a:lnTo>
                <a:lnTo>
                  <a:pt x="0" y="1234440"/>
                </a:lnTo>
              </a:path>
            </a:pathLst>
          </a:custGeom>
          <a:noFill/>
          <a:ln w="15875">
            <a:solidFill>
              <a:srgbClr val="40404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10.5  ·  LIFECYCLE AND VERSIONING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 lifecycle: seven stages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Design to retire, with usage analytics feeding the next design cycle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17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Stage number 1"/>
          <p:cNvSpPr/>
          <p:nvPr/>
        </p:nvSpPr>
        <p:spPr>
          <a:xfrm>
            <a:off x="1019556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Design"/>
          <p:cNvSpPr/>
          <p:nvPr/>
        </p:nvSpPr>
        <p:spPr>
          <a:xfrm>
            <a:off x="502920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ge number 2"/>
          <p:cNvSpPr/>
          <p:nvPr/>
        </p:nvSpPr>
        <p:spPr>
          <a:xfrm>
            <a:off x="2647188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Develop"/>
          <p:cNvSpPr/>
          <p:nvPr/>
        </p:nvSpPr>
        <p:spPr>
          <a:xfrm>
            <a:off x="2130552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Develop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47872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ge number 3"/>
          <p:cNvSpPr/>
          <p:nvPr/>
        </p:nvSpPr>
        <p:spPr>
          <a:xfrm>
            <a:off x="4274820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st"/>
          <p:cNvSpPr/>
          <p:nvPr/>
        </p:nvSpPr>
        <p:spPr>
          <a:xfrm>
            <a:off x="3758184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75504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ge number 4"/>
          <p:cNvSpPr/>
          <p:nvPr/>
        </p:nvSpPr>
        <p:spPr>
          <a:xfrm>
            <a:off x="5902452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Publish"/>
          <p:cNvSpPr/>
          <p:nvPr/>
        </p:nvSpPr>
        <p:spPr>
          <a:xfrm>
            <a:off x="5385816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Publish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03136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ge number 5"/>
          <p:cNvSpPr/>
          <p:nvPr/>
        </p:nvSpPr>
        <p:spPr>
          <a:xfrm>
            <a:off x="7530084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Version"/>
          <p:cNvSpPr/>
          <p:nvPr/>
        </p:nvSpPr>
        <p:spPr>
          <a:xfrm>
            <a:off x="7013448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Version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30768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tage number 6"/>
          <p:cNvSpPr/>
          <p:nvPr/>
        </p:nvSpPr>
        <p:spPr>
          <a:xfrm>
            <a:off x="9157716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Monitor"/>
          <p:cNvSpPr/>
          <p:nvPr/>
        </p:nvSpPr>
        <p:spPr>
          <a:xfrm>
            <a:off x="8641080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Monitor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0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age number 7"/>
          <p:cNvSpPr/>
          <p:nvPr/>
        </p:nvSpPr>
        <p:spPr>
          <a:xfrm>
            <a:off x="10785348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Retire"/>
          <p:cNvSpPr/>
          <p:nvPr/>
        </p:nvSpPr>
        <p:spPr>
          <a:xfrm>
            <a:off x="10268712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Retire</a:t>
            </a:r>
          </a:p>
        </p:txBody>
      </p:sp>
      <p:cxnSp>
        <p:nvCxnSpPr>
          <p:cNvPr id="27" name="Feedback loop"/>
          <p:cNvCxnSpPr/>
          <p:nvPr/>
        </p:nvCxnSpPr>
        <p:spPr>
          <a:xfrm>
            <a:off x="1188720" y="4434840"/>
            <a:ext cx="9875520" cy="0"/>
          </a:xfrm>
          <a:prstGeom prst="line">
            <a:avLst/>
          </a:prstGeom>
          <a:ln w="22225">
            <a:solidFill>
              <a:srgbClr val="F4A42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1">
                <a:solidFill>
                  <a:srgbClr val="3F4B73"/>
                </a:solidFill>
                <a:latin typeface="Calibri"/>
              </a:rPr>
              <a:t>Feedback loop: usage analytics inform the next design cycle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11.1  ·  ENVIRONMENT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APIM CI/CD model (APIOps)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APIM CI/CD model, APIOps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18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Step number 1"/>
          <p:cNvSpPr/>
          <p:nvPr/>
        </p:nvSpPr>
        <p:spPr>
          <a:xfrm>
            <a:off x="1298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Git Repo"/>
          <p:cNvSpPr/>
          <p:nvPr/>
        </p:nvSpPr>
        <p:spPr>
          <a:xfrm>
            <a:off x="502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32040"/>
                </a:solidFill>
                <a:latin typeface="Calibri"/>
              </a:rPr>
              <a:t>Git Repo</a:t>
            </a:r>
          </a:p>
          <a:p>
            <a:pPr algn="ctr"/>
            <a:r>
              <a:rPr sz="1200" b="0" i="0">
                <a:solidFill>
                  <a:srgbClr val="5A6B8C"/>
                </a:solidFill>
                <a:latin typeface="Calibri"/>
              </a:rPr>
              <a:t>(APIM config as code)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990088"/>
            <a:ext cx="274320" cy="0"/>
          </a:xfrm>
          <a:prstGeom prst="line">
            <a:avLst/>
          </a:prstGeom>
          <a:ln w="28575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ep number 2"/>
          <p:cNvSpPr/>
          <p:nvPr/>
        </p:nvSpPr>
        <p:spPr>
          <a:xfrm>
            <a:off x="3584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Pull Request"/>
          <p:cNvSpPr/>
          <p:nvPr/>
        </p:nvSpPr>
        <p:spPr>
          <a:xfrm>
            <a:off x="2788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32040"/>
                </a:solidFill>
                <a:latin typeface="Calibri"/>
              </a:rPr>
              <a:t>Pull Request</a:t>
            </a:r>
          </a:p>
          <a:p>
            <a:pPr algn="ctr"/>
            <a:r>
              <a:rPr sz="1200" b="0" i="0">
                <a:solidFill>
                  <a:srgbClr val="5A6B8C"/>
                </a:solidFill>
                <a:latin typeface="Calibri"/>
              </a:rPr>
              <a:t>+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990088"/>
            <a:ext cx="274320" cy="0"/>
          </a:xfrm>
          <a:prstGeom prst="line">
            <a:avLst/>
          </a:prstGeom>
          <a:ln w="28575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ep number 3"/>
          <p:cNvSpPr/>
          <p:nvPr/>
        </p:nvSpPr>
        <p:spPr>
          <a:xfrm>
            <a:off x="5870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CI Build"/>
          <p:cNvSpPr/>
          <p:nvPr/>
        </p:nvSpPr>
        <p:spPr>
          <a:xfrm>
            <a:off x="5074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32040"/>
                </a:solidFill>
                <a:latin typeface="Calibri"/>
              </a:rPr>
              <a:t>CI Build</a:t>
            </a:r>
          </a:p>
          <a:p>
            <a:pPr algn="ctr"/>
            <a:r>
              <a:rPr sz="1200" b="0" i="0">
                <a:solidFill>
                  <a:srgbClr val="5A6B8C"/>
                </a:solidFill>
                <a:latin typeface="Calibri"/>
              </a:rPr>
              <a:t>+ Policy Lint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990088"/>
            <a:ext cx="274320" cy="0"/>
          </a:xfrm>
          <a:prstGeom prst="line">
            <a:avLst/>
          </a:prstGeom>
          <a:ln w="28575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ep number 4"/>
          <p:cNvSpPr/>
          <p:nvPr/>
        </p:nvSpPr>
        <p:spPr>
          <a:xfrm>
            <a:off x="8156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Automated Tests"/>
          <p:cNvSpPr/>
          <p:nvPr/>
        </p:nvSpPr>
        <p:spPr>
          <a:xfrm>
            <a:off x="7360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32040"/>
                </a:solidFill>
                <a:latin typeface="Calibri"/>
              </a:rPr>
              <a:t>Automated Tests</a:t>
            </a:r>
          </a:p>
          <a:p>
            <a:pPr algn="ctr"/>
            <a:r>
              <a:rPr sz="1200" b="0" i="0">
                <a:solidFill>
                  <a:srgbClr val="5A6B8C"/>
                </a:solidFill>
                <a:latin typeface="Calibri"/>
              </a:rPr>
              <a:t>(contract / security)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990088"/>
            <a:ext cx="274320" cy="0"/>
          </a:xfrm>
          <a:prstGeom prst="line">
            <a:avLst/>
          </a:prstGeom>
          <a:ln w="28575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ep number 5"/>
          <p:cNvSpPr/>
          <p:nvPr/>
        </p:nvSpPr>
        <p:spPr>
          <a:xfrm>
            <a:off x="10442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CD Release"/>
          <p:cNvSpPr/>
          <p:nvPr/>
        </p:nvSpPr>
        <p:spPr>
          <a:xfrm>
            <a:off x="9646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32040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CD Release</a:t>
            </a:r>
          </a:p>
          <a:p>
            <a:pPr algn="ctr"/>
            <a:r>
              <a:rPr sz="1200" b="0" i="0">
                <a:solidFill>
                  <a:srgbClr val="AFC0E6"/>
                </a:solidFill>
                <a:latin typeface="Calibri"/>
              </a:rPr>
              <a:t>to APIM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1">
                <a:solidFill>
                  <a:srgbClr val="4A5578"/>
                </a:solidFill>
                <a:latin typeface="Calibri"/>
              </a:rPr>
              <a:t>APIOps treats API definitions, policies, and products as code, the same rigour as application software.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11.1  ·  ENVIRONMENT MODEL  ·  1 OF 2 IN THE HLD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APIOps: configuration as code, promoted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APIOps deployment pipeline, from development through to production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19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Development"/>
          <p:cNvSpPr/>
          <p:nvPr/>
        </p:nvSpPr>
        <p:spPr>
          <a:xfrm>
            <a:off x="502920" y="1828800"/>
            <a:ext cx="1856506" cy="1463040"/>
          </a:xfrm>
          <a:prstGeom prst="roundRect">
            <a:avLst>
              <a:gd name="adj" fmla="val 6250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700" b="1" i="0">
                <a:solidFill>
                  <a:srgbClr val="1E3A6B"/>
                </a:solidFill>
                <a:latin typeface="Calibri"/>
              </a:rPr>
              <a:t>Development</a:t>
            </a:r>
          </a:p>
          <a:p>
            <a:pPr algn="ctr"/>
            <a:r>
              <a:rPr sz="1300" b="0" i="0">
                <a:solidFill>
                  <a:srgbClr val="2E6CA6"/>
                </a:solidFill>
                <a:latin typeface="Calibri"/>
              </a:rPr>
              <a:t>build &amp; change APIs</a:t>
            </a:r>
          </a:p>
        </p:txBody>
      </p:sp>
      <p:sp>
        <p:nvSpPr>
          <p:cNvPr id="8" name="Git repository"/>
          <p:cNvSpPr/>
          <p:nvPr/>
        </p:nvSpPr>
        <p:spPr>
          <a:xfrm>
            <a:off x="3269620" y="1828800"/>
            <a:ext cx="2232142" cy="1463040"/>
          </a:xfrm>
          <a:prstGeom prst="roundRect">
            <a:avLst>
              <a:gd name="adj" fmla="val 6250"/>
            </a:avLst>
          </a:prstGeom>
          <a:solidFill>
            <a:srgbClr val="0E2A5B"/>
          </a:solidFill>
          <a:ln w="15875">
            <a:solidFill>
              <a:srgbClr val="0E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Git repository</a:t>
            </a:r>
          </a:p>
          <a:p>
            <a:pPr algn="ctr"/>
            <a:r>
              <a:rPr sz="1250" b="0" i="0">
                <a:solidFill>
                  <a:srgbClr val="DCE6F7"/>
                </a:solidFill>
                <a:latin typeface="Calibri"/>
              </a:rPr>
              <a:t>single source of truth</a:t>
            </a:r>
          </a:p>
          <a:p>
            <a:pPr algn="ctr"/>
            <a:r>
              <a:rPr sz="1250" b="0" i="0">
                <a:solidFill>
                  <a:srgbClr val="DCE6F7"/>
                </a:solidFill>
                <a:latin typeface="Calibri"/>
              </a:rPr>
              <a:t>(APIs, policies, products)</a:t>
            </a:r>
          </a:p>
        </p:txBody>
      </p:sp>
      <p:sp>
        <p:nvSpPr>
          <p:cNvPr id="9" name="Dev -&gt; UAT -&gt; Prod"/>
          <p:cNvSpPr/>
          <p:nvPr/>
        </p:nvSpPr>
        <p:spPr>
          <a:xfrm>
            <a:off x="6404732" y="1828800"/>
            <a:ext cx="2232142" cy="1463040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E5E43"/>
                </a:solidFill>
                <a:latin typeface="Calibri"/>
              </a:rPr>
              <a:t>Dev -&gt; UAT -&gt; Prod</a:t>
            </a:r>
          </a:p>
          <a:p>
            <a:pPr algn="ctr"/>
            <a:r>
              <a:rPr sz="1250" b="0" i="0">
                <a:solidFill>
                  <a:srgbClr val="1E5E43"/>
                </a:solidFill>
                <a:latin typeface="Calibri"/>
              </a:rPr>
              <a:t>same config promoted</a:t>
            </a:r>
          </a:p>
          <a:p>
            <a:pPr algn="ctr"/>
            <a:r>
              <a:rPr sz="1250" b="0" i="0">
                <a:solidFill>
                  <a:srgbClr val="1E5E43"/>
                </a:solidFill>
                <a:latin typeface="Calibri"/>
              </a:rPr>
              <a:t>through each environment</a:t>
            </a:r>
          </a:p>
        </p:txBody>
      </p:sp>
      <p:sp>
        <p:nvSpPr>
          <p:cNvPr id="10" name="Production"/>
          <p:cNvSpPr/>
          <p:nvPr/>
        </p:nvSpPr>
        <p:spPr>
          <a:xfrm>
            <a:off x="9539844" y="1828800"/>
            <a:ext cx="2044324" cy="1463040"/>
          </a:xfrm>
          <a:prstGeom prst="roundRect">
            <a:avLst>
              <a:gd name="adj" fmla="val 6250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700" b="1" i="0">
                <a:solidFill>
                  <a:srgbClr val="6B4510"/>
                </a:solidFill>
                <a:latin typeface="Calibri"/>
              </a:rPr>
              <a:t>Production</a:t>
            </a:r>
          </a:p>
          <a:p>
            <a:pPr algn="ctr"/>
            <a:r>
              <a:rPr sz="1250" b="0" i="0">
                <a:solidFill>
                  <a:srgbClr val="8A6A1F"/>
                </a:solidFill>
                <a:latin typeface="Calibri"/>
              </a:rPr>
              <a:t>explicit approval</a:t>
            </a:r>
          </a:p>
          <a:p>
            <a:pPr algn="ctr"/>
            <a:r>
              <a:rPr sz="1250" b="0" i="0">
                <a:solidFill>
                  <a:srgbClr val="8A6A1F"/>
                </a:solidFill>
                <a:latin typeface="Calibri"/>
              </a:rPr>
              <a:t>required to deploy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9426" y="2560320"/>
            <a:ext cx="910194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67986" y="2249424"/>
            <a:ext cx="1093074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extractor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01762" y="2560320"/>
            <a:ext cx="90297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10322" y="2249424"/>
            <a:ext cx="1085850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publisher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36874" y="2560320"/>
            <a:ext cx="90297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nge process"/>
          <p:cNvSpPr txBox="1"/>
          <p:nvPr/>
        </p:nvSpPr>
        <p:spPr>
          <a:xfrm>
            <a:off x="502920" y="388620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Change process:  </a:t>
            </a:r>
            <a:r>
              <a:rPr sz="1300" b="0" i="0">
                <a:solidFill>
                  <a:srgbClr val="5A6B7D"/>
                </a:solidFill>
                <a:latin typeface="Calibri"/>
              </a:rPr>
              <a:t>change made in Dev, reviewed via pull request, automated validation runs, merged on approval, then the same approved config is deployed through Dev, UAT and Production. No direct Production changes; secrets never committed to source control.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11.1  ·  ENVIRONMENT MODEL  ·  2 OF 2 IN THE HLD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APIOps: configuration as code, promoted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APIOps deployment pipeline, from development through to production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20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Development"/>
          <p:cNvSpPr/>
          <p:nvPr/>
        </p:nvSpPr>
        <p:spPr>
          <a:xfrm>
            <a:off x="502920" y="1828800"/>
            <a:ext cx="1856506" cy="1463040"/>
          </a:xfrm>
          <a:prstGeom prst="roundRect">
            <a:avLst>
              <a:gd name="adj" fmla="val 6250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700" b="1" i="0">
                <a:solidFill>
                  <a:srgbClr val="1E3A6B"/>
                </a:solidFill>
                <a:latin typeface="Calibri"/>
              </a:rPr>
              <a:t>Development</a:t>
            </a:r>
          </a:p>
          <a:p>
            <a:pPr algn="ctr"/>
            <a:r>
              <a:rPr sz="1300" b="0" i="0">
                <a:solidFill>
                  <a:srgbClr val="2E6CA6"/>
                </a:solidFill>
                <a:latin typeface="Calibri"/>
              </a:rPr>
              <a:t>build &amp; change APIs</a:t>
            </a:r>
          </a:p>
        </p:txBody>
      </p:sp>
      <p:sp>
        <p:nvSpPr>
          <p:cNvPr id="8" name="Azure repository"/>
          <p:cNvSpPr/>
          <p:nvPr/>
        </p:nvSpPr>
        <p:spPr>
          <a:xfrm>
            <a:off x="3269620" y="1828800"/>
            <a:ext cx="2232142" cy="1463040"/>
          </a:xfrm>
          <a:prstGeom prst="roundRect">
            <a:avLst>
              <a:gd name="adj" fmla="val 6250"/>
            </a:avLst>
          </a:prstGeom>
          <a:solidFill>
            <a:srgbClr val="0E2A5B"/>
          </a:solidFill>
          <a:ln w="15875">
            <a:solidFill>
              <a:srgbClr val="0E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Azure repository</a:t>
            </a:r>
          </a:p>
          <a:p>
            <a:pPr algn="ctr"/>
            <a:r>
              <a:rPr sz="1250" b="0" i="0">
                <a:solidFill>
                  <a:srgbClr val="DCE6F7"/>
                </a:solidFill>
                <a:latin typeface="Calibri"/>
              </a:rPr>
              <a:t>single source of truth</a:t>
            </a:r>
          </a:p>
          <a:p>
            <a:pPr algn="ctr"/>
            <a:r>
              <a:rPr sz="1250" b="0" i="0">
                <a:solidFill>
                  <a:srgbClr val="DCE6F7"/>
                </a:solidFill>
                <a:latin typeface="Calibri"/>
              </a:rPr>
              <a:t>(APIs, policies, products)</a:t>
            </a:r>
          </a:p>
        </p:txBody>
      </p:sp>
      <p:sp>
        <p:nvSpPr>
          <p:cNvPr id="9" name="Dev -&gt; SIT-&gt; UAT -&gt; Prod"/>
          <p:cNvSpPr/>
          <p:nvPr/>
        </p:nvSpPr>
        <p:spPr>
          <a:xfrm>
            <a:off x="6404732" y="1828800"/>
            <a:ext cx="2232142" cy="1463040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E5E43"/>
                </a:solidFill>
                <a:latin typeface="Calibri"/>
              </a:rPr>
              <a:t>Dev -&gt; SIT-&gt; UAT -&gt; Prod</a:t>
            </a:r>
          </a:p>
          <a:p>
            <a:pPr algn="ctr"/>
            <a:r>
              <a:rPr sz="1250" b="0" i="0">
                <a:solidFill>
                  <a:srgbClr val="1E5E43"/>
                </a:solidFill>
                <a:latin typeface="Calibri"/>
              </a:rPr>
              <a:t>same config promoted</a:t>
            </a:r>
          </a:p>
          <a:p>
            <a:pPr algn="ctr"/>
            <a:r>
              <a:rPr sz="1250" b="0" i="0">
                <a:solidFill>
                  <a:srgbClr val="1E5E43"/>
                </a:solidFill>
                <a:latin typeface="Calibri"/>
              </a:rPr>
              <a:t>through each environment</a:t>
            </a:r>
          </a:p>
        </p:txBody>
      </p:sp>
      <p:sp>
        <p:nvSpPr>
          <p:cNvPr id="10" name="Production"/>
          <p:cNvSpPr/>
          <p:nvPr/>
        </p:nvSpPr>
        <p:spPr>
          <a:xfrm>
            <a:off x="9539844" y="1828800"/>
            <a:ext cx="2044324" cy="1463040"/>
          </a:xfrm>
          <a:prstGeom prst="roundRect">
            <a:avLst>
              <a:gd name="adj" fmla="val 6250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700" b="1" i="0">
                <a:solidFill>
                  <a:srgbClr val="6B4510"/>
                </a:solidFill>
                <a:latin typeface="Calibri"/>
              </a:rPr>
              <a:t>Production</a:t>
            </a:r>
          </a:p>
          <a:p>
            <a:pPr algn="ctr"/>
            <a:r>
              <a:rPr sz="1250" b="0" i="0">
                <a:solidFill>
                  <a:srgbClr val="8A6A1F"/>
                </a:solidFill>
                <a:latin typeface="Calibri"/>
              </a:rPr>
              <a:t>explicit approval</a:t>
            </a:r>
          </a:p>
          <a:p>
            <a:pPr algn="ctr"/>
            <a:r>
              <a:rPr sz="1250" b="0" i="0">
                <a:solidFill>
                  <a:srgbClr val="8A6A1F"/>
                </a:solidFill>
                <a:latin typeface="Calibri"/>
              </a:rPr>
              <a:t>required to deploy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9426" y="2560320"/>
            <a:ext cx="910194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67986" y="2249424"/>
            <a:ext cx="1093074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extractor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01762" y="2560320"/>
            <a:ext cx="90297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10322" y="2249424"/>
            <a:ext cx="1085850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publisher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36874" y="2560320"/>
            <a:ext cx="90297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nge process"/>
          <p:cNvSpPr txBox="1"/>
          <p:nvPr/>
        </p:nvSpPr>
        <p:spPr>
          <a:xfrm>
            <a:off x="502920" y="388620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Change process:  </a:t>
            </a:r>
            <a:r>
              <a:rPr sz="1300" b="0" i="0">
                <a:solidFill>
                  <a:srgbClr val="5A6B7D"/>
                </a:solidFill>
                <a:latin typeface="Calibri"/>
              </a:rPr>
              <a:t>change made in Dev, reviewed via pull request, automated validation runs, merged on approval, then the same approved config is deployed through Dev, UAT and Production. No direct Production changes; secrets never committed to source control.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11.1  ·  ENVIRONMENT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Environment promotion strategy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Environment promotion strategy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21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Dev"/>
          <p:cNvSpPr/>
          <p:nvPr/>
        </p:nvSpPr>
        <p:spPr>
          <a:xfrm>
            <a:off x="502920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8D8F4"/>
          </a:solidFill>
          <a:ln w="2222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132040"/>
                </a:solidFill>
                <a:latin typeface="Calibri"/>
              </a:rPr>
              <a:t>Dev</a:t>
            </a:r>
          </a:p>
          <a:p>
            <a:pPr algn="ctr"/>
            <a:r>
              <a:rPr sz="1450" b="0" i="0">
                <a:solidFill>
                  <a:srgbClr val="4A5578"/>
                </a:solidFill>
                <a:latin typeface="Calibri"/>
              </a:rPr>
              <a:t>Continuous deploy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971800"/>
            <a:ext cx="246888" cy="0"/>
          </a:xfrm>
          <a:prstGeom prst="line">
            <a:avLst/>
          </a:prstGeom>
          <a:ln w="31750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st / QA"/>
          <p:cNvSpPr/>
          <p:nvPr/>
        </p:nvSpPr>
        <p:spPr>
          <a:xfrm>
            <a:off x="3355848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8D8F4"/>
          </a:solidFill>
          <a:ln w="2222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132040"/>
                </a:solidFill>
                <a:latin typeface="Calibri"/>
              </a:rPr>
              <a:t>Test / QA</a:t>
            </a:r>
          </a:p>
          <a:p>
            <a:pPr algn="ctr"/>
            <a:r>
              <a:rPr sz="1450" b="0" i="0">
                <a:solidFill>
                  <a:srgbClr val="4A5578"/>
                </a:solidFill>
                <a:latin typeface="Calibri"/>
              </a:rPr>
              <a:t>Automated test gate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61888" y="2971800"/>
            <a:ext cx="246888" cy="0"/>
          </a:xfrm>
          <a:prstGeom prst="line">
            <a:avLst/>
          </a:prstGeom>
          <a:ln w="31750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AT"/>
          <p:cNvSpPr/>
          <p:nvPr/>
        </p:nvSpPr>
        <p:spPr>
          <a:xfrm>
            <a:off x="6208776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8D8F4"/>
          </a:solidFill>
          <a:ln w="2222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132040"/>
                </a:solidFill>
                <a:latin typeface="Calibri"/>
              </a:rPr>
              <a:t>UAT</a:t>
            </a:r>
          </a:p>
          <a:p>
            <a:pPr algn="ctr"/>
            <a:r>
              <a:rPr sz="1450" b="0" i="0">
                <a:solidFill>
                  <a:srgbClr val="4A5578"/>
                </a:solidFill>
                <a:latin typeface="Calibri"/>
              </a:rPr>
              <a:t>Business sign-off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14816" y="2971800"/>
            <a:ext cx="246888" cy="0"/>
          </a:xfrm>
          <a:prstGeom prst="line">
            <a:avLst/>
          </a:prstGeom>
          <a:ln w="31750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duction"/>
          <p:cNvSpPr/>
          <p:nvPr/>
        </p:nvSpPr>
        <p:spPr>
          <a:xfrm>
            <a:off x="9061704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32040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Production</a:t>
            </a:r>
          </a:p>
          <a:p>
            <a:pPr algn="ctr"/>
            <a:r>
              <a:rPr sz="1450" b="0" i="0">
                <a:solidFill>
                  <a:srgbClr val="DCE6F7"/>
                </a:solidFill>
                <a:latin typeface="Calibri"/>
              </a:rPr>
              <a:t>Approval + change window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13.1  ·  RESILIENCE TIERS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Resilience tier: Bronze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32a: Bronze — single region, single unit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22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Tier description"/>
          <p:cNvSpPr txBox="1"/>
          <p:nvPr/>
        </p:nvSpPr>
        <p:spPr>
          <a:xfrm>
            <a:off x="548640" y="1417320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0" i="0">
                <a:solidFill>
                  <a:srgbClr val="5A6B7D"/>
                </a:solidFill>
                <a:latin typeface="Calibri"/>
              </a:rPr>
              <a:t>Primary region runs one unit. No secondary region; recovery relies on standard platform restoration from IaC.</a:t>
            </a:r>
          </a:p>
        </p:txBody>
      </p:sp>
      <p:sp>
        <p:nvSpPr>
          <p:cNvPr id="8" name="Tier badge"/>
          <p:cNvSpPr/>
          <p:nvPr/>
        </p:nvSpPr>
        <p:spPr>
          <a:xfrm>
            <a:off x="10241280" y="14173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B88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9" name="Cost and RTO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B2745"/>
                </a:solidFill>
                <a:latin typeface="Calibri"/>
              </a:rPr>
              <a:t>Cost: minimal (no standby). RTO: longer — rebuild and restore on DR.</a:t>
            </a:r>
          </a:p>
        </p:txBody>
      </p:sp>
      <p:sp>
        <p:nvSpPr>
          <p:cNvPr id="10" name="Front Door + WAF"/>
          <p:cNvSpPr/>
          <p:nvPr/>
        </p:nvSpPr>
        <p:spPr>
          <a:xfrm>
            <a:off x="822960" y="292608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15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Front Door</a:t>
            </a:r>
          </a:p>
          <a:p>
            <a:pPr algn="ctr"/>
            <a:r>
              <a:rPr sz="1000" b="0" i="0">
                <a:solidFill>
                  <a:srgbClr val="DCE6F7"/>
                </a:solidFill>
                <a:latin typeface="Calibri"/>
              </a:rPr>
              <a:t>+ WAF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172968"/>
            <a:ext cx="1188720" cy="0"/>
          </a:xfrm>
          <a:prstGeom prst="line">
            <a:avLst/>
          </a:prstGeom>
          <a:ln w="25400">
            <a:solidFill>
              <a:srgbClr val="2E6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imary region"/>
          <p:cNvSpPr/>
          <p:nvPr/>
        </p:nvSpPr>
        <p:spPr>
          <a:xfrm>
            <a:off x="3749040" y="2103120"/>
            <a:ext cx="6766560" cy="2651760"/>
          </a:xfrm>
          <a:prstGeom prst="roundRect">
            <a:avLst>
              <a:gd name="adj" fmla="val 6206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224028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PRIMARY REGION (live)</a:t>
            </a:r>
          </a:p>
        </p:txBody>
      </p:sp>
      <p:sp>
        <p:nvSpPr>
          <p:cNvPr id="14" name="Zone 1"/>
          <p:cNvSpPr/>
          <p:nvPr/>
        </p:nvSpPr>
        <p:spPr>
          <a:xfrm>
            <a:off x="5394960" y="2926080"/>
            <a:ext cx="3474720" cy="1097280"/>
          </a:xfrm>
          <a:prstGeom prst="roundRect">
            <a:avLst>
              <a:gd name="adj" fmla="val 5833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1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APIM Developer/Premium v2 · 1 unit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13.1  ·  RESILIENCE TIERS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Resilience tier: Silver (chosen baseline)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32b: Silver — single region, multiple units across zones (chosen baseline)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23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Tier description"/>
          <p:cNvSpPr txBox="1"/>
          <p:nvPr/>
        </p:nvSpPr>
        <p:spPr>
          <a:xfrm>
            <a:off x="548640" y="1417320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0" i="0">
                <a:solidFill>
                  <a:srgbClr val="5A6B7D"/>
                </a:solidFill>
                <a:latin typeface="Calibri"/>
              </a:rPr>
              <a:t>Zone-redundant in the primary region across Availability Zones. Survives loss of a single datacentre; no secondary region.</a:t>
            </a:r>
          </a:p>
        </p:txBody>
      </p:sp>
      <p:sp>
        <p:nvSpPr>
          <p:cNvPr id="8" name="Tier badge"/>
          <p:cNvSpPr/>
          <p:nvPr/>
        </p:nvSpPr>
        <p:spPr>
          <a:xfrm>
            <a:off x="10241280" y="14173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7A8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9" name="Cost and RTO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B2745"/>
                </a:solidFill>
                <a:latin typeface="Calibri"/>
              </a:rPr>
              <a:t>Cost: primary region only (no standby). RTO: short in-region; longer for a full regional outage.</a:t>
            </a:r>
          </a:p>
        </p:txBody>
      </p:sp>
      <p:sp>
        <p:nvSpPr>
          <p:cNvPr id="10" name="Front Door + WAF"/>
          <p:cNvSpPr/>
          <p:nvPr/>
        </p:nvSpPr>
        <p:spPr>
          <a:xfrm>
            <a:off x="822960" y="292608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15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Front Door</a:t>
            </a:r>
          </a:p>
          <a:p>
            <a:pPr algn="ctr"/>
            <a:r>
              <a:rPr sz="1000" b="0" i="0">
                <a:solidFill>
                  <a:srgbClr val="DCE6F7"/>
                </a:solidFill>
                <a:latin typeface="Calibri"/>
              </a:rPr>
              <a:t>+ WAF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172968"/>
            <a:ext cx="1188720" cy="0"/>
          </a:xfrm>
          <a:prstGeom prst="line">
            <a:avLst/>
          </a:prstGeom>
          <a:ln w="25400">
            <a:solidFill>
              <a:srgbClr val="2E6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imary region"/>
          <p:cNvSpPr/>
          <p:nvPr/>
        </p:nvSpPr>
        <p:spPr>
          <a:xfrm>
            <a:off x="3749040" y="2103120"/>
            <a:ext cx="7498080" cy="2834640"/>
          </a:xfrm>
          <a:prstGeom prst="roundRect">
            <a:avLst>
              <a:gd name="adj" fmla="val 5806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224028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PRIMARY REGION (live)</a:t>
            </a:r>
          </a:p>
        </p:txBody>
      </p:sp>
      <p:sp>
        <p:nvSpPr>
          <p:cNvPr id="14" name="Zone 1"/>
          <p:cNvSpPr/>
          <p:nvPr/>
        </p:nvSpPr>
        <p:spPr>
          <a:xfrm>
            <a:off x="4114800" y="3017520"/>
            <a:ext cx="3200400" cy="1188720"/>
          </a:xfrm>
          <a:prstGeom prst="roundRect">
            <a:avLst>
              <a:gd name="adj" fmla="val 5384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1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APIM - unit 1</a:t>
            </a:r>
          </a:p>
        </p:txBody>
      </p:sp>
      <p:sp>
        <p:nvSpPr>
          <p:cNvPr id="15" name="Zone 2"/>
          <p:cNvSpPr/>
          <p:nvPr/>
        </p:nvSpPr>
        <p:spPr>
          <a:xfrm>
            <a:off x="7680960" y="3017520"/>
            <a:ext cx="3200400" cy="1188720"/>
          </a:xfrm>
          <a:prstGeom prst="roundRect">
            <a:avLst>
              <a:gd name="adj" fmla="val 5384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2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APIM - unit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13.1  ·  RESILIENCE TIERS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Resilience tier: Gold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32c: Gold — active-active across two regions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24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Tier description"/>
          <p:cNvSpPr txBox="1"/>
          <p:nvPr/>
        </p:nvSpPr>
        <p:spPr>
          <a:xfrm>
            <a:off x="548640" y="1417320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0" i="0">
                <a:solidFill>
                  <a:srgbClr val="5A6B7D"/>
                </a:solidFill>
                <a:latin typeface="Calibri"/>
              </a:rPr>
              <a:t>Both regions live and serving. Front Door health-probes both and fails over automatically — near-zero RTO.</a:t>
            </a:r>
          </a:p>
        </p:txBody>
      </p:sp>
      <p:sp>
        <p:nvSpPr>
          <p:cNvPr id="8" name="Tier badge"/>
          <p:cNvSpPr/>
          <p:nvPr/>
        </p:nvSpPr>
        <p:spPr>
          <a:xfrm>
            <a:off x="10241280" y="14173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9" name="Cost and RTO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B2745"/>
                </a:solidFill>
                <a:latin typeface="Calibri"/>
              </a:rPr>
              <a:t>Cost: highest (both regions live). RTO: near-zero, automatic geographic failover. For mission-critical APIs only.</a:t>
            </a:r>
          </a:p>
        </p:txBody>
      </p:sp>
      <p:sp>
        <p:nvSpPr>
          <p:cNvPr id="10" name="Front Door + WAF"/>
          <p:cNvSpPr/>
          <p:nvPr/>
        </p:nvSpPr>
        <p:spPr>
          <a:xfrm>
            <a:off x="5212080" y="196596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15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Front Door</a:t>
            </a:r>
          </a:p>
          <a:p>
            <a:pPr algn="ctr"/>
            <a:r>
              <a:rPr sz="1000" b="0" i="0">
                <a:solidFill>
                  <a:srgbClr val="DCE6F7"/>
                </a:solidFill>
                <a:latin typeface="Calibri"/>
              </a:rPr>
              <a:t>+ WAF</a:t>
            </a:r>
          </a:p>
        </p:txBody>
      </p:sp>
      <p:sp>
        <p:nvSpPr>
          <p:cNvPr id="11" name="Region"/>
          <p:cNvSpPr/>
          <p:nvPr/>
        </p:nvSpPr>
        <p:spPr>
          <a:xfrm>
            <a:off x="640080" y="3246120"/>
            <a:ext cx="5029200" cy="2286000"/>
          </a:xfrm>
          <a:prstGeom prst="roundRect">
            <a:avLst>
              <a:gd name="adj" fmla="val 6400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gion"/>
          <p:cNvSpPr/>
          <p:nvPr/>
        </p:nvSpPr>
        <p:spPr>
          <a:xfrm>
            <a:off x="6492240" y="3246120"/>
            <a:ext cx="5029200" cy="2286000"/>
          </a:xfrm>
          <a:prstGeom prst="roundRect">
            <a:avLst>
              <a:gd name="adj" fmla="val 6400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REGION 1 (active)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375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REGION 2 (active)</a:t>
            </a:r>
          </a:p>
        </p:txBody>
      </p:sp>
      <p:sp>
        <p:nvSpPr>
          <p:cNvPr id="15" name="Zone 1"/>
          <p:cNvSpPr/>
          <p:nvPr/>
        </p:nvSpPr>
        <p:spPr>
          <a:xfrm>
            <a:off x="868680" y="3931920"/>
            <a:ext cx="2194560" cy="1097280"/>
          </a:xfrm>
          <a:prstGeom prst="roundRect">
            <a:avLst>
              <a:gd name="adj" fmla="val 5833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1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unit</a:t>
            </a:r>
          </a:p>
        </p:txBody>
      </p:sp>
      <p:sp>
        <p:nvSpPr>
          <p:cNvPr id="17" name="Zone 1"/>
          <p:cNvSpPr/>
          <p:nvPr/>
        </p:nvSpPr>
        <p:spPr>
          <a:xfrm>
            <a:off x="7863840" y="3921369"/>
            <a:ext cx="2194560" cy="1097280"/>
          </a:xfrm>
          <a:prstGeom prst="roundRect">
            <a:avLst>
              <a:gd name="adj" fmla="val 5833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1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unit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154680" y="2468880"/>
            <a:ext cx="2148840" cy="777240"/>
          </a:xfrm>
          <a:prstGeom prst="line">
            <a:avLst/>
          </a:prstGeom>
          <a:ln w="22225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2468880"/>
            <a:ext cx="2148840" cy="777240"/>
          </a:xfrm>
          <a:prstGeom prst="line">
            <a:avLst/>
          </a:prstGeom>
          <a:ln w="22225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80560" y="257860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0" i="0">
                <a:solidFill>
                  <a:srgbClr val="2E7D5B"/>
                </a:solidFill>
                <a:latin typeface="Calibri"/>
              </a:rPr>
              <a:t>anycast - health-based routing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0" y="4389120"/>
            <a:ext cx="822960" cy="0"/>
          </a:xfrm>
          <a:prstGeom prst="line">
            <a:avLst/>
          </a:prstGeom>
          <a:ln w="1905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0" y="406908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0" i="0" dirty="0">
                <a:solidFill>
                  <a:srgbClr val="2E7D5B"/>
                </a:solidFill>
                <a:latin typeface="Calibri"/>
              </a:rPr>
              <a:t>active-active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14.1  ·  MONITORING ARCHITECTURE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Monitoring architecture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Monitoring architecture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25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APIM Gateway Metrics"/>
          <p:cNvSpPr/>
          <p:nvPr/>
        </p:nvSpPr>
        <p:spPr>
          <a:xfrm>
            <a:off x="548640" y="1600200"/>
            <a:ext cx="329184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APIM Gateway Metrics</a:t>
            </a:r>
          </a:p>
        </p:txBody>
      </p:sp>
      <p:sp>
        <p:nvSpPr>
          <p:cNvPr id="8" name="Application Insights"/>
          <p:cNvSpPr/>
          <p:nvPr/>
        </p:nvSpPr>
        <p:spPr>
          <a:xfrm>
            <a:off x="548640" y="2560320"/>
            <a:ext cx="329184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Application Insights</a:t>
            </a:r>
          </a:p>
        </p:txBody>
      </p:sp>
      <p:sp>
        <p:nvSpPr>
          <p:cNvPr id="9" name="Azure Front Door / WAF"/>
          <p:cNvSpPr/>
          <p:nvPr/>
        </p:nvSpPr>
        <p:spPr>
          <a:xfrm>
            <a:off x="548640" y="3520440"/>
            <a:ext cx="329184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Azure Front Door / WAF</a:t>
            </a:r>
          </a:p>
        </p:txBody>
      </p:sp>
      <p:sp>
        <p:nvSpPr>
          <p:cNvPr id="10" name="Diagnostics"/>
          <p:cNvSpPr/>
          <p:nvPr/>
        </p:nvSpPr>
        <p:spPr>
          <a:xfrm>
            <a:off x="548640" y="4480560"/>
            <a:ext cx="329184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Diagnostics</a:t>
            </a:r>
          </a:p>
        </p:txBody>
      </p:sp>
      <p:sp>
        <p:nvSpPr>
          <p:cNvPr id="11" name="Azure Monitor / Log Analytics"/>
          <p:cNvSpPr/>
          <p:nvPr/>
        </p:nvSpPr>
        <p:spPr>
          <a:xfrm>
            <a:off x="5486400" y="2948940"/>
            <a:ext cx="2926080" cy="1005840"/>
          </a:xfrm>
          <a:prstGeom prst="roundRect">
            <a:avLst>
              <a:gd name="adj" fmla="val 7272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Azure Monitor / Log Analytics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011680"/>
            <a:ext cx="1645920" cy="1440180"/>
          </a:xfrm>
          <a:prstGeom prst="line">
            <a:avLst/>
          </a:prstGeom>
          <a:ln w="22225">
            <a:solidFill>
              <a:srgbClr val="102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2971800"/>
            <a:ext cx="1645920" cy="480060"/>
          </a:xfrm>
          <a:prstGeom prst="line">
            <a:avLst/>
          </a:prstGeom>
          <a:ln w="22225">
            <a:solidFill>
              <a:srgbClr val="102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40480" y="3451860"/>
            <a:ext cx="1645920" cy="480060"/>
          </a:xfrm>
          <a:prstGeom prst="line">
            <a:avLst/>
          </a:prstGeom>
          <a:ln w="22225">
            <a:solidFill>
              <a:srgbClr val="102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840480" y="3451860"/>
            <a:ext cx="1645920" cy="1440180"/>
          </a:xfrm>
          <a:prstGeom prst="line">
            <a:avLst/>
          </a:prstGeom>
          <a:ln w="22225">
            <a:solidFill>
              <a:srgbClr val="102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shboards and Workbooks"/>
          <p:cNvSpPr/>
          <p:nvPr/>
        </p:nvSpPr>
        <p:spPr>
          <a:xfrm>
            <a:off x="9144000" y="2948940"/>
            <a:ext cx="2560320" cy="1005840"/>
          </a:xfrm>
          <a:prstGeom prst="roundRect">
            <a:avLst>
              <a:gd name="adj" fmla="val 7272"/>
            </a:avLst>
          </a:prstGeom>
          <a:solidFill>
            <a:srgbClr val="C8D8F4"/>
          </a:solidFill>
          <a:ln w="1587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Dashboards and Workbooks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3451860"/>
            <a:ext cx="731520" cy="0"/>
          </a:xfrm>
          <a:prstGeom prst="line">
            <a:avLst/>
          </a:prstGeom>
          <a:ln w="28575">
            <a:solidFill>
              <a:srgbClr val="10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14.1  ·  MONITORING ARCHITECTURE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Telemetry collection and retention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Telemetry Collection and Retention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26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Gateway request logs"/>
          <p:cNvSpPr/>
          <p:nvPr/>
        </p:nvSpPr>
        <p:spPr>
          <a:xfrm>
            <a:off x="548640" y="1645920"/>
            <a:ext cx="32004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Gateway request logs</a:t>
            </a:r>
          </a:p>
        </p:txBody>
      </p:sp>
      <p:sp>
        <p:nvSpPr>
          <p:cNvPr id="8" name="Policy trace (dev only)"/>
          <p:cNvSpPr/>
          <p:nvPr/>
        </p:nvSpPr>
        <p:spPr>
          <a:xfrm>
            <a:off x="548640" y="2606040"/>
            <a:ext cx="32004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Policy trace (dev only)</a:t>
            </a:r>
          </a:p>
        </p:txBody>
      </p:sp>
      <p:sp>
        <p:nvSpPr>
          <p:cNvPr id="9" name="WAF / Front Door logs"/>
          <p:cNvSpPr/>
          <p:nvPr/>
        </p:nvSpPr>
        <p:spPr>
          <a:xfrm>
            <a:off x="548640" y="3566160"/>
            <a:ext cx="32004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WAF / Front Door logs</a:t>
            </a:r>
          </a:p>
        </p:txBody>
      </p:sp>
      <p:sp>
        <p:nvSpPr>
          <p:cNvPr id="10" name="Backend dependency calls"/>
          <p:cNvSpPr/>
          <p:nvPr/>
        </p:nvSpPr>
        <p:spPr>
          <a:xfrm>
            <a:off x="548640" y="4526280"/>
            <a:ext cx="32004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Backend dependency calls</a:t>
            </a:r>
          </a:p>
        </p:txBody>
      </p:sp>
      <p:sp>
        <p:nvSpPr>
          <p:cNvPr id="11" name="Diagnostic settings"/>
          <p:cNvSpPr/>
          <p:nvPr/>
        </p:nvSpPr>
        <p:spPr>
          <a:xfrm>
            <a:off x="4754880" y="2994660"/>
            <a:ext cx="2743200" cy="1005840"/>
          </a:xfrm>
          <a:prstGeom prst="roundRect">
            <a:avLst>
              <a:gd name="adj" fmla="val 7272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Diagnostic settings</a:t>
            </a:r>
          </a:p>
          <a:p>
            <a:pPr algn="ctr"/>
            <a:r>
              <a:rPr sz="1100" b="0" i="0">
                <a:solidFill>
                  <a:srgbClr val="DCE6F7"/>
                </a:solidFill>
                <a:latin typeface="Calibri"/>
              </a:rPr>
              <a:t>correlation ID on every record</a:t>
            </a:r>
          </a:p>
        </p:txBody>
      </p:sp>
      <p:sp>
        <p:nvSpPr>
          <p:cNvPr id="12" name="Log Analytics"/>
          <p:cNvSpPr/>
          <p:nvPr/>
        </p:nvSpPr>
        <p:spPr>
          <a:xfrm>
            <a:off x="8595360" y="187452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C8D8F4"/>
          </a:solidFill>
          <a:ln w="1587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02040"/>
                </a:solidFill>
                <a:latin typeface="Calibri"/>
              </a:rPr>
              <a:t>Log Analytics</a:t>
            </a:r>
          </a:p>
          <a:p>
            <a:pPr algn="l"/>
            <a:r>
              <a:rPr sz="1150" b="0" i="0">
                <a:solidFill>
                  <a:srgbClr val="4A5578"/>
                </a:solidFill>
                <a:latin typeface="Calibri"/>
              </a:rPr>
              <a:t>audit + query, 90-day hot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498080" y="2331720"/>
            <a:ext cx="1097280" cy="116586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pplication Insights"/>
          <p:cNvSpPr/>
          <p:nvPr/>
        </p:nvSpPr>
        <p:spPr>
          <a:xfrm>
            <a:off x="8595360" y="306324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C8D8F4"/>
          </a:solidFill>
          <a:ln w="1587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02040"/>
                </a:solidFill>
                <a:latin typeface="Calibri"/>
              </a:rPr>
              <a:t>Application Insights</a:t>
            </a:r>
          </a:p>
          <a:p>
            <a:pPr algn="l"/>
            <a:r>
              <a:rPr sz="1150" b="0" i="0">
                <a:solidFill>
                  <a:srgbClr val="4A5578"/>
                </a:solidFill>
                <a:latin typeface="Calibri"/>
              </a:rPr>
              <a:t>end-to-end tracing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0" y="3497580"/>
            <a:ext cx="1097280" cy="2286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ucer SIEM"/>
          <p:cNvSpPr/>
          <p:nvPr/>
        </p:nvSpPr>
        <p:spPr>
          <a:xfrm>
            <a:off x="8595360" y="425196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CF0E0"/>
          </a:solidFill>
          <a:ln w="15875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02040"/>
                </a:solidFill>
                <a:latin typeface="Calibri"/>
              </a:rPr>
              <a:t>Chaucer SIEM</a:t>
            </a:r>
          </a:p>
          <a:p>
            <a:pPr algn="l"/>
            <a:r>
              <a:rPr sz="1150" b="0" i="0">
                <a:solidFill>
                  <a:srgbClr val="4A5578"/>
                </a:solidFill>
                <a:latin typeface="Calibri"/>
              </a:rPr>
              <a:t>security events, long-term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0" y="3497580"/>
            <a:ext cx="1097280" cy="121158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49040" y="2057400"/>
            <a:ext cx="1005840" cy="144018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49040" y="3017520"/>
            <a:ext cx="1005840" cy="48006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749040" y="3497580"/>
            <a:ext cx="1005840" cy="48006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49040" y="3497580"/>
            <a:ext cx="1005840" cy="144018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15.1  ·  CAPACITY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Indicative monthly platform cost by environment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Indicative UK South list prices, to be validated against current Microsoft pricing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27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graphicFrame>
        <p:nvGraphicFramePr>
          <p:cNvPr id="7" name="Capacity cost chart" descr="Column chart of indicative monthly platform cost: Dev 40 pounds, SIT 40 pounds, UAT 2,400 pounds, Prod 2,600 pounds.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Footnote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1">
                <a:solidFill>
                  <a:srgbClr val="5A6B7D"/>
                </a:solidFill>
                <a:latin typeface="Calibri"/>
              </a:rPr>
              <a:t>Indicative monthly platform cost; Dev and SIT on Developer tier, UAT and Production on Premium v2. Confirm against current Azure pricing.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17.1  ·  IMPLEMENTATION STAGES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Implementation stages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Implementation stages for the APIM platform, from foundation to production go-live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28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grpSp>
        <p:nvGrpSpPr>
          <p:cNvPr id="7" name="Stage 1 - Foundation" descr="Stage 1, Foundation: Stand up the platform. Landing-zone networking; APIM instance; Azure Front Door; Key Vault; Identity integration (Entra ID). Result: Platform provisioned as code."/>
          <p:cNvGrpSpPr/>
          <p:nvPr/>
        </p:nvGrpSpPr>
        <p:grpSpPr>
          <a:xfrm>
            <a:off x="1006297" y="1544117"/>
            <a:ext cx="2033016" cy="3897782"/>
            <a:chOff x="1006297" y="1544117"/>
            <a:chExt cx="2033016" cy="3897782"/>
          </a:xfrm>
        </p:grpSpPr>
        <p:sp>
          <p:nvSpPr>
            <p:cNvPr id="8" name="Card"/>
            <p:cNvSpPr/>
            <p:nvPr/>
          </p:nvSpPr>
          <p:spPr>
            <a:xfrm>
              <a:off x="1006297" y="1544117"/>
              <a:ext cx="2033016" cy="3897782"/>
            </a:xfrm>
            <a:prstGeom prst="roundRect">
              <a:avLst>
                <a:gd name="adj" fmla="val 6206"/>
              </a:avLst>
            </a:prstGeom>
            <a:solidFill>
              <a:srgbClr val="FFFFFF"/>
            </a:solidFill>
            <a:ln w="25400">
              <a:solidFill>
                <a:srgbClr val="3574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Body"/>
            <p:cNvSpPr/>
            <p:nvPr/>
          </p:nvSpPr>
          <p:spPr>
            <a:xfrm>
              <a:off x="1016813" y="2273198"/>
              <a:ext cx="2011985" cy="2327453"/>
            </a:xfrm>
            <a:prstGeom prst="rect">
              <a:avLst/>
            </a:prstGeom>
            <a:solidFill>
              <a:srgbClr val="EAF2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0" name="Divider"/>
            <p:cNvCxnSpPr/>
            <p:nvPr/>
          </p:nvCxnSpPr>
          <p:spPr>
            <a:xfrm>
              <a:off x="1016813" y="4600651"/>
              <a:ext cx="2011985" cy="0"/>
            </a:xfrm>
            <a:prstGeom prst="line">
              <a:avLst/>
            </a:prstGeom>
            <a:ln w="19050">
              <a:solidFill>
                <a:srgbClr val="3574C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Header"/>
            <p:cNvSpPr/>
            <p:nvPr/>
          </p:nvSpPr>
          <p:spPr>
            <a:xfrm>
              <a:off x="1006297" y="1544117"/>
              <a:ext cx="2033016" cy="729082"/>
            </a:xfrm>
            <a:prstGeom prst="round2SameRect">
              <a:avLst>
                <a:gd name="adj1" fmla="val 17307"/>
                <a:gd name="adj2" fmla="val 0"/>
              </a:avLst>
            </a:prstGeom>
            <a:solidFill>
              <a:srgbClr val="3574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Badge"/>
            <p:cNvSpPr/>
            <p:nvPr/>
          </p:nvSpPr>
          <p:spPr>
            <a:xfrm>
              <a:off x="1146505" y="1712366"/>
              <a:ext cx="392582" cy="3925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3574C8"/>
                  </a:solidFill>
                  <a:latin typeface="Calibri"/>
                </a:rPr>
                <a:t>1</a:t>
              </a:r>
            </a:p>
          </p:txBody>
        </p:sp>
        <p:sp>
          <p:nvSpPr>
            <p:cNvPr id="13" name="Stage title"/>
            <p:cNvSpPr txBox="1"/>
            <p:nvPr/>
          </p:nvSpPr>
          <p:spPr>
            <a:xfrm>
              <a:off x="1637233" y="1544117"/>
              <a:ext cx="1331976" cy="7290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50" b="1" i="0">
                  <a:solidFill>
                    <a:srgbClr val="FFFFFF"/>
                  </a:solidFill>
                  <a:latin typeface="Calibri"/>
                </a:rPr>
                <a:t>Foundation</a:t>
              </a:r>
            </a:p>
          </p:txBody>
        </p:sp>
        <p:sp>
          <p:nvSpPr>
            <p:cNvPr id="14" name="Stage content"/>
            <p:cNvSpPr txBox="1"/>
            <p:nvPr/>
          </p:nvSpPr>
          <p:spPr>
            <a:xfrm>
              <a:off x="1146505" y="2357323"/>
              <a:ext cx="1752600" cy="2201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</a:pPr>
              <a:r>
                <a:rPr sz="1100" b="0" i="1">
                  <a:solidFill>
                    <a:srgbClr val="1F509A"/>
                  </a:solidFill>
                  <a:latin typeface="Calibri"/>
                </a:rPr>
                <a:t>Stand up the platform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Landing-zone networking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APIM instance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Azure Front Door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Key Vault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Identity integration (Entra ID)</a:t>
              </a:r>
            </a:p>
          </p:txBody>
        </p:sp>
        <p:sp>
          <p:nvSpPr>
            <p:cNvPr id="15" name="Check badge"/>
            <p:cNvSpPr/>
            <p:nvPr/>
          </p:nvSpPr>
          <p:spPr>
            <a:xfrm>
              <a:off x="1146505" y="4705807"/>
              <a:ext cx="168250" cy="168250"/>
            </a:xfrm>
            <a:prstGeom prst="ellipse">
              <a:avLst/>
            </a:prstGeom>
            <a:solidFill>
              <a:srgbClr val="3574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Check mark"/>
            <p:cNvSpPr/>
            <p:nvPr/>
          </p:nvSpPr>
          <p:spPr>
            <a:xfrm>
              <a:off x="1188567" y="4758385"/>
              <a:ext cx="84125" cy="66599"/>
            </a:xfrm>
            <a:custGeom>
              <a:avLst/>
              <a:gdLst/>
              <a:ahLst/>
              <a:cxnLst/>
              <a:rect l="l" t="t" r="r" b="b"/>
              <a:pathLst>
                <a:path w="84125" h="66599">
                  <a:moveTo>
                    <a:pt x="0" y="38557"/>
                  </a:moveTo>
                  <a:lnTo>
                    <a:pt x="31547" y="66599"/>
                  </a:lnTo>
                  <a:lnTo>
                    <a:pt x="84125" y="0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sult label"/>
            <p:cNvSpPr txBox="1"/>
            <p:nvPr/>
          </p:nvSpPr>
          <p:spPr>
            <a:xfrm>
              <a:off x="1384859" y="4705807"/>
              <a:ext cx="1051560" cy="168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850" b="1" i="0">
                  <a:solidFill>
                    <a:srgbClr val="3574C8"/>
                  </a:solidFill>
                  <a:latin typeface="Calibri"/>
                </a:rPr>
                <a:t>RESULT</a:t>
              </a:r>
            </a:p>
          </p:txBody>
        </p:sp>
        <p:sp>
          <p:nvSpPr>
            <p:cNvPr id="18" name="Result text"/>
            <p:cNvSpPr txBox="1"/>
            <p:nvPr/>
          </p:nvSpPr>
          <p:spPr>
            <a:xfrm>
              <a:off x="1146505" y="4951171"/>
              <a:ext cx="1752600" cy="4346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Platform provisioned</a:t>
              </a:r>
            </a:p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as code</a:t>
              </a:r>
            </a:p>
          </p:txBody>
        </p:sp>
      </p:grpSp>
      <p:sp>
        <p:nvSpPr>
          <p:cNvPr id="19" name="Arrow 1"/>
          <p:cNvSpPr/>
          <p:nvPr/>
        </p:nvSpPr>
        <p:spPr>
          <a:xfrm>
            <a:off x="3088386" y="1810512"/>
            <a:ext cx="121700" cy="196291"/>
          </a:xfrm>
          <a:custGeom>
            <a:avLst/>
            <a:gdLst/>
            <a:ahLst/>
            <a:cxnLst/>
            <a:rect l="l" t="t" r="r" b="b"/>
            <a:pathLst>
              <a:path w="121700" h="196291">
                <a:moveTo>
                  <a:pt x="0" y="0"/>
                </a:moveTo>
                <a:lnTo>
                  <a:pt x="121700" y="98145"/>
                </a:lnTo>
                <a:lnTo>
                  <a:pt x="0" y="196291"/>
                </a:lnTo>
                <a:close/>
              </a:path>
            </a:pathLst>
          </a:custGeom>
          <a:solidFill>
            <a:srgbClr val="2A6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Stage 2 - Platform configuration" descr="Stage 2, Platform configuration: Set up governance and delivery. Global and product policies; Developer portal; APIOps pipeline; Repository structure. Result: Policies, portal and pipeline in place."/>
          <p:cNvGrpSpPr/>
          <p:nvPr/>
        </p:nvGrpSpPr>
        <p:grpSpPr>
          <a:xfrm>
            <a:off x="3235604" y="1544117"/>
            <a:ext cx="2033016" cy="3897782"/>
            <a:chOff x="3235604" y="1544117"/>
            <a:chExt cx="2033016" cy="3897782"/>
          </a:xfrm>
        </p:grpSpPr>
        <p:sp>
          <p:nvSpPr>
            <p:cNvPr id="21" name="Card"/>
            <p:cNvSpPr/>
            <p:nvPr/>
          </p:nvSpPr>
          <p:spPr>
            <a:xfrm>
              <a:off x="3235604" y="1544117"/>
              <a:ext cx="2033016" cy="3897782"/>
            </a:xfrm>
            <a:prstGeom prst="roundRect">
              <a:avLst>
                <a:gd name="adj" fmla="val 6206"/>
              </a:avLst>
            </a:prstGeom>
            <a:solidFill>
              <a:srgbClr val="FFFFFF"/>
            </a:solidFill>
            <a:ln w="25400">
              <a:solidFill>
                <a:srgbClr val="2A62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Body"/>
            <p:cNvSpPr/>
            <p:nvPr/>
          </p:nvSpPr>
          <p:spPr>
            <a:xfrm>
              <a:off x="3246120" y="2273198"/>
              <a:ext cx="2011985" cy="2327453"/>
            </a:xfrm>
            <a:prstGeom prst="rect">
              <a:avLst/>
            </a:prstGeom>
            <a:solidFill>
              <a:srgbClr val="EAF2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" name="Divider"/>
            <p:cNvCxnSpPr/>
            <p:nvPr/>
          </p:nvCxnSpPr>
          <p:spPr>
            <a:xfrm>
              <a:off x="3246120" y="4600651"/>
              <a:ext cx="2011985" cy="0"/>
            </a:xfrm>
            <a:prstGeom prst="line">
              <a:avLst/>
            </a:prstGeom>
            <a:ln w="19050">
              <a:solidFill>
                <a:srgbClr val="2A62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Header"/>
            <p:cNvSpPr/>
            <p:nvPr/>
          </p:nvSpPr>
          <p:spPr>
            <a:xfrm>
              <a:off x="3235604" y="1544117"/>
              <a:ext cx="2033016" cy="729082"/>
            </a:xfrm>
            <a:prstGeom prst="round2SameRect">
              <a:avLst>
                <a:gd name="adj1" fmla="val 17307"/>
                <a:gd name="adj2" fmla="val 0"/>
              </a:avLst>
            </a:prstGeom>
            <a:solidFill>
              <a:srgbClr val="2A6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Badge"/>
            <p:cNvSpPr/>
            <p:nvPr/>
          </p:nvSpPr>
          <p:spPr>
            <a:xfrm>
              <a:off x="3375812" y="1712366"/>
              <a:ext cx="392582" cy="3925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2A62B0"/>
                  </a:solidFill>
                  <a:latin typeface="Calibri"/>
                </a:rPr>
                <a:t>2</a:t>
              </a:r>
            </a:p>
          </p:txBody>
        </p:sp>
        <p:sp>
          <p:nvSpPr>
            <p:cNvPr id="26" name="Stage title"/>
            <p:cNvSpPr txBox="1"/>
            <p:nvPr/>
          </p:nvSpPr>
          <p:spPr>
            <a:xfrm>
              <a:off x="3866540" y="1544117"/>
              <a:ext cx="1331976" cy="7290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50" b="1" i="0">
                  <a:solidFill>
                    <a:srgbClr val="FFFFFF"/>
                  </a:solidFill>
                  <a:latin typeface="Calibri"/>
                </a:rPr>
                <a:t>Platform configuration</a:t>
              </a:r>
            </a:p>
          </p:txBody>
        </p:sp>
        <p:sp>
          <p:nvSpPr>
            <p:cNvPr id="27" name="Stage content"/>
            <p:cNvSpPr txBox="1"/>
            <p:nvPr/>
          </p:nvSpPr>
          <p:spPr>
            <a:xfrm>
              <a:off x="3375812" y="2357323"/>
              <a:ext cx="1752600" cy="2201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</a:pPr>
              <a:r>
                <a:rPr sz="1100" b="0" i="1">
                  <a:solidFill>
                    <a:srgbClr val="1B4A8F"/>
                  </a:solidFill>
                  <a:latin typeface="Calibri"/>
                </a:rPr>
                <a:t>Set up governance and delivery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2A62B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Global and product policies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2A62B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Developer portal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2A62B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APIOps pipeline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2A62B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Repository structure</a:t>
              </a:r>
            </a:p>
          </p:txBody>
        </p:sp>
        <p:sp>
          <p:nvSpPr>
            <p:cNvPr id="28" name="Check badge"/>
            <p:cNvSpPr/>
            <p:nvPr/>
          </p:nvSpPr>
          <p:spPr>
            <a:xfrm>
              <a:off x="3375812" y="4705807"/>
              <a:ext cx="168250" cy="168250"/>
            </a:xfrm>
            <a:prstGeom prst="ellipse">
              <a:avLst/>
            </a:prstGeom>
            <a:solidFill>
              <a:srgbClr val="2A6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Check mark"/>
            <p:cNvSpPr/>
            <p:nvPr/>
          </p:nvSpPr>
          <p:spPr>
            <a:xfrm>
              <a:off x="3417874" y="4758385"/>
              <a:ext cx="84125" cy="66599"/>
            </a:xfrm>
            <a:custGeom>
              <a:avLst/>
              <a:gdLst/>
              <a:ahLst/>
              <a:cxnLst/>
              <a:rect l="l" t="t" r="r" b="b"/>
              <a:pathLst>
                <a:path w="84125" h="66599">
                  <a:moveTo>
                    <a:pt x="0" y="38557"/>
                  </a:moveTo>
                  <a:lnTo>
                    <a:pt x="31547" y="66599"/>
                  </a:lnTo>
                  <a:lnTo>
                    <a:pt x="84125" y="0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sult label"/>
            <p:cNvSpPr txBox="1"/>
            <p:nvPr/>
          </p:nvSpPr>
          <p:spPr>
            <a:xfrm>
              <a:off x="3614166" y="4705807"/>
              <a:ext cx="1051560" cy="168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850" b="1" i="0">
                  <a:solidFill>
                    <a:srgbClr val="2A62B0"/>
                  </a:solidFill>
                  <a:latin typeface="Calibri"/>
                </a:rPr>
                <a:t>RESULT</a:t>
              </a:r>
            </a:p>
          </p:txBody>
        </p:sp>
        <p:sp>
          <p:nvSpPr>
            <p:cNvPr id="31" name="Result text"/>
            <p:cNvSpPr txBox="1"/>
            <p:nvPr/>
          </p:nvSpPr>
          <p:spPr>
            <a:xfrm>
              <a:off x="3375812" y="4951171"/>
              <a:ext cx="1752600" cy="4346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Policies, portal and</a:t>
              </a:r>
            </a:p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pipeline in place</a:t>
              </a:r>
            </a:p>
          </p:txBody>
        </p:sp>
      </p:grpSp>
      <p:sp>
        <p:nvSpPr>
          <p:cNvPr id="32" name="Arrow 2"/>
          <p:cNvSpPr/>
          <p:nvPr/>
        </p:nvSpPr>
        <p:spPr>
          <a:xfrm>
            <a:off x="5317693" y="1810512"/>
            <a:ext cx="121700" cy="196291"/>
          </a:xfrm>
          <a:custGeom>
            <a:avLst/>
            <a:gdLst/>
            <a:ahLst/>
            <a:cxnLst/>
            <a:rect l="l" t="t" r="r" b="b"/>
            <a:pathLst>
              <a:path w="121700" h="196291">
                <a:moveTo>
                  <a:pt x="0" y="0"/>
                </a:moveTo>
                <a:lnTo>
                  <a:pt x="121700" y="98145"/>
                </a:lnTo>
                <a:lnTo>
                  <a:pt x="0" y="196291"/>
                </a:lnTo>
                <a:close/>
              </a:path>
            </a:pathLst>
          </a:custGeom>
          <a:solidFill>
            <a:srgbClr val="2A6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Stage 3 - Pilot onboarding" descr="Stage 3, Pilot onboarding: Prove it with real consumers. An initial internal API; A pilot partner (external); Access flows; Security flows; Onboarding flows. Result: Flows validated end to end."/>
          <p:cNvGrpSpPr/>
          <p:nvPr/>
        </p:nvGrpSpPr>
        <p:grpSpPr>
          <a:xfrm>
            <a:off x="5464912" y="1544117"/>
            <a:ext cx="2033016" cy="3897782"/>
            <a:chOff x="5464912" y="1544117"/>
            <a:chExt cx="2033016" cy="3897782"/>
          </a:xfrm>
        </p:grpSpPr>
        <p:sp>
          <p:nvSpPr>
            <p:cNvPr id="34" name="Card"/>
            <p:cNvSpPr/>
            <p:nvPr/>
          </p:nvSpPr>
          <p:spPr>
            <a:xfrm>
              <a:off x="5464912" y="1544117"/>
              <a:ext cx="2033016" cy="3897782"/>
            </a:xfrm>
            <a:prstGeom prst="roundRect">
              <a:avLst>
                <a:gd name="adj" fmla="val 6206"/>
              </a:avLst>
            </a:prstGeom>
            <a:solidFill>
              <a:srgbClr val="FFFFFF"/>
            </a:solidFill>
            <a:ln w="25400">
              <a:solidFill>
                <a:srgbClr val="1F50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Body"/>
            <p:cNvSpPr/>
            <p:nvPr/>
          </p:nvSpPr>
          <p:spPr>
            <a:xfrm>
              <a:off x="5475427" y="2273198"/>
              <a:ext cx="2011985" cy="2327453"/>
            </a:xfrm>
            <a:prstGeom prst="rect">
              <a:avLst/>
            </a:prstGeom>
            <a:solidFill>
              <a:srgbClr val="EAF2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" name="Divider"/>
            <p:cNvCxnSpPr/>
            <p:nvPr/>
          </p:nvCxnSpPr>
          <p:spPr>
            <a:xfrm>
              <a:off x="5475427" y="4600651"/>
              <a:ext cx="2011985" cy="0"/>
            </a:xfrm>
            <a:prstGeom prst="line">
              <a:avLst/>
            </a:prstGeom>
            <a:ln w="19050">
              <a:solidFill>
                <a:srgbClr val="1F509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Header"/>
            <p:cNvSpPr/>
            <p:nvPr/>
          </p:nvSpPr>
          <p:spPr>
            <a:xfrm>
              <a:off x="5464912" y="1544117"/>
              <a:ext cx="2033016" cy="729082"/>
            </a:xfrm>
            <a:prstGeom prst="round2SameRect">
              <a:avLst>
                <a:gd name="adj1" fmla="val 17307"/>
                <a:gd name="adj2" fmla="val 0"/>
              </a:avLst>
            </a:prstGeom>
            <a:solidFill>
              <a:srgbClr val="1F5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Badge"/>
            <p:cNvSpPr/>
            <p:nvPr/>
          </p:nvSpPr>
          <p:spPr>
            <a:xfrm>
              <a:off x="5605120" y="1712366"/>
              <a:ext cx="392582" cy="3925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1F509A"/>
                  </a:solidFill>
                  <a:latin typeface="Calibri"/>
                </a:rPr>
                <a:t>3</a:t>
              </a:r>
            </a:p>
          </p:txBody>
        </p:sp>
        <p:sp>
          <p:nvSpPr>
            <p:cNvPr id="39" name="Stage title"/>
            <p:cNvSpPr txBox="1"/>
            <p:nvPr/>
          </p:nvSpPr>
          <p:spPr>
            <a:xfrm>
              <a:off x="6095848" y="1544117"/>
              <a:ext cx="1331976" cy="7290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50" b="1" i="0">
                  <a:solidFill>
                    <a:srgbClr val="FFFFFF"/>
                  </a:solidFill>
                  <a:latin typeface="Calibri"/>
                </a:rPr>
                <a:t>Pilot onboarding</a:t>
              </a:r>
            </a:p>
          </p:txBody>
        </p:sp>
        <p:sp>
          <p:nvSpPr>
            <p:cNvPr id="40" name="Stage content"/>
            <p:cNvSpPr txBox="1"/>
            <p:nvPr/>
          </p:nvSpPr>
          <p:spPr>
            <a:xfrm>
              <a:off x="5605120" y="2357323"/>
              <a:ext cx="1752600" cy="2201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</a:pPr>
              <a:r>
                <a:rPr sz="1100" b="0" i="1">
                  <a:solidFill>
                    <a:srgbClr val="143D80"/>
                  </a:solidFill>
                  <a:latin typeface="Calibri"/>
                </a:rPr>
                <a:t>Prove it with real consumers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An initial internal API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 pilot partner (external)</a:t>
              </a:r>
            </a:p>
            <a:p>
              <a:pPr algn="l">
                <a:spcBef>
                  <a:spcPts val="600"/>
                </a:spcBef>
                <a:spcAft>
                  <a:spcPts val="200"/>
                </a:spcAft>
              </a:pPr>
              <a:r>
                <a:rPr sz="1100" b="1" i="0">
                  <a:solidFill>
                    <a:srgbClr val="143D80"/>
                  </a:solidFill>
                  <a:latin typeface="Calibri"/>
                </a:rPr>
                <a:t>Validating end to end: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Access flows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Security flows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Onboarding flows</a:t>
              </a:r>
            </a:p>
          </p:txBody>
        </p:sp>
        <p:sp>
          <p:nvSpPr>
            <p:cNvPr id="41" name="Check badge"/>
            <p:cNvSpPr/>
            <p:nvPr/>
          </p:nvSpPr>
          <p:spPr>
            <a:xfrm>
              <a:off x="5605120" y="4705807"/>
              <a:ext cx="168250" cy="168250"/>
            </a:xfrm>
            <a:prstGeom prst="ellipse">
              <a:avLst/>
            </a:prstGeom>
            <a:solidFill>
              <a:srgbClr val="1F5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Check mark"/>
            <p:cNvSpPr/>
            <p:nvPr/>
          </p:nvSpPr>
          <p:spPr>
            <a:xfrm>
              <a:off x="5647182" y="4758385"/>
              <a:ext cx="84124" cy="66599"/>
            </a:xfrm>
            <a:custGeom>
              <a:avLst/>
              <a:gdLst/>
              <a:ahLst/>
              <a:cxnLst/>
              <a:rect l="l" t="t" r="r" b="b"/>
              <a:pathLst>
                <a:path w="84124" h="66599">
                  <a:moveTo>
                    <a:pt x="0" y="38557"/>
                  </a:moveTo>
                  <a:lnTo>
                    <a:pt x="31546" y="66599"/>
                  </a:lnTo>
                  <a:lnTo>
                    <a:pt x="84124" y="0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sult label"/>
            <p:cNvSpPr txBox="1"/>
            <p:nvPr/>
          </p:nvSpPr>
          <p:spPr>
            <a:xfrm>
              <a:off x="5843473" y="4705807"/>
              <a:ext cx="1051560" cy="168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850" b="1" i="0">
                  <a:solidFill>
                    <a:srgbClr val="1F509A"/>
                  </a:solidFill>
                  <a:latin typeface="Calibri"/>
                </a:rPr>
                <a:t>RESULT</a:t>
              </a:r>
            </a:p>
          </p:txBody>
        </p:sp>
        <p:sp>
          <p:nvSpPr>
            <p:cNvPr id="44" name="Result text"/>
            <p:cNvSpPr txBox="1"/>
            <p:nvPr/>
          </p:nvSpPr>
          <p:spPr>
            <a:xfrm>
              <a:off x="5605120" y="4951171"/>
              <a:ext cx="1752600" cy="4346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Flows validated</a:t>
              </a:r>
            </a:p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end to end</a:t>
              </a:r>
            </a:p>
          </p:txBody>
        </p:sp>
      </p:grpSp>
      <p:sp>
        <p:nvSpPr>
          <p:cNvPr id="45" name="Arrow 3"/>
          <p:cNvSpPr/>
          <p:nvPr/>
        </p:nvSpPr>
        <p:spPr>
          <a:xfrm>
            <a:off x="7547000" y="1810512"/>
            <a:ext cx="121700" cy="196291"/>
          </a:xfrm>
          <a:custGeom>
            <a:avLst/>
            <a:gdLst/>
            <a:ahLst/>
            <a:cxnLst/>
            <a:rect l="l" t="t" r="r" b="b"/>
            <a:pathLst>
              <a:path w="121700" h="196291">
                <a:moveTo>
                  <a:pt x="0" y="0"/>
                </a:moveTo>
                <a:lnTo>
                  <a:pt x="121700" y="98145"/>
                </a:lnTo>
                <a:lnTo>
                  <a:pt x="0" y="196291"/>
                </a:lnTo>
                <a:close/>
              </a:path>
            </a:pathLst>
          </a:custGeom>
          <a:solidFill>
            <a:srgbClr val="2A6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6" name="Stage 4 - Production readiness" descr="Stage 4, Production readiness: Confirm it is ready to go live. Readiness criteria completed; Resilience testing; Observability in place. Result: Ready for production go-live."/>
          <p:cNvGrpSpPr/>
          <p:nvPr/>
        </p:nvGrpSpPr>
        <p:grpSpPr>
          <a:xfrm>
            <a:off x="7694219" y="1544117"/>
            <a:ext cx="2033016" cy="3897782"/>
            <a:chOff x="7694219" y="1544117"/>
            <a:chExt cx="2033016" cy="3897782"/>
          </a:xfrm>
        </p:grpSpPr>
        <p:sp>
          <p:nvSpPr>
            <p:cNvPr id="47" name="Card"/>
            <p:cNvSpPr/>
            <p:nvPr/>
          </p:nvSpPr>
          <p:spPr>
            <a:xfrm>
              <a:off x="7694219" y="1544117"/>
              <a:ext cx="2033016" cy="3897782"/>
            </a:xfrm>
            <a:prstGeom prst="roundRect">
              <a:avLst>
                <a:gd name="adj" fmla="val 6206"/>
              </a:avLst>
            </a:prstGeom>
            <a:solidFill>
              <a:srgbClr val="FFFFFF"/>
            </a:solidFill>
            <a:ln w="25400">
              <a:solidFill>
                <a:srgbClr val="143D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Body"/>
            <p:cNvSpPr/>
            <p:nvPr/>
          </p:nvSpPr>
          <p:spPr>
            <a:xfrm>
              <a:off x="7704734" y="2273198"/>
              <a:ext cx="2011985" cy="2327453"/>
            </a:xfrm>
            <a:prstGeom prst="rect">
              <a:avLst/>
            </a:prstGeom>
            <a:solidFill>
              <a:srgbClr val="EAF2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" name="Divider"/>
            <p:cNvCxnSpPr/>
            <p:nvPr/>
          </p:nvCxnSpPr>
          <p:spPr>
            <a:xfrm>
              <a:off x="7704734" y="4600651"/>
              <a:ext cx="2011985" cy="0"/>
            </a:xfrm>
            <a:prstGeom prst="line">
              <a:avLst/>
            </a:prstGeom>
            <a:ln w="19050">
              <a:solidFill>
                <a:srgbClr val="143D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Header"/>
            <p:cNvSpPr/>
            <p:nvPr/>
          </p:nvSpPr>
          <p:spPr>
            <a:xfrm>
              <a:off x="7694219" y="1544117"/>
              <a:ext cx="2033016" cy="729082"/>
            </a:xfrm>
            <a:prstGeom prst="round2SameRect">
              <a:avLst>
                <a:gd name="adj1" fmla="val 17307"/>
                <a:gd name="adj2" fmla="val 0"/>
              </a:avLst>
            </a:prstGeom>
            <a:solidFill>
              <a:srgbClr val="143D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Badge"/>
            <p:cNvSpPr/>
            <p:nvPr/>
          </p:nvSpPr>
          <p:spPr>
            <a:xfrm>
              <a:off x="7834427" y="1712366"/>
              <a:ext cx="392582" cy="3925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143D80"/>
                  </a:solidFill>
                  <a:latin typeface="Calibri"/>
                </a:rPr>
                <a:t>4</a:t>
              </a:r>
            </a:p>
          </p:txBody>
        </p:sp>
        <p:sp>
          <p:nvSpPr>
            <p:cNvPr id="52" name="Stage title"/>
            <p:cNvSpPr txBox="1"/>
            <p:nvPr/>
          </p:nvSpPr>
          <p:spPr>
            <a:xfrm>
              <a:off x="8325155" y="1544117"/>
              <a:ext cx="1331976" cy="7290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50" b="1" i="0">
                  <a:solidFill>
                    <a:srgbClr val="FFFFFF"/>
                  </a:solidFill>
                  <a:latin typeface="Calibri"/>
                </a:rPr>
                <a:t>Production readiness</a:t>
              </a:r>
            </a:p>
          </p:txBody>
        </p:sp>
        <p:sp>
          <p:nvSpPr>
            <p:cNvPr id="53" name="Stage content"/>
            <p:cNvSpPr txBox="1"/>
            <p:nvPr/>
          </p:nvSpPr>
          <p:spPr>
            <a:xfrm>
              <a:off x="7834427" y="2357323"/>
              <a:ext cx="1752600" cy="2201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</a:pPr>
              <a:r>
                <a:rPr sz="1100" b="0" i="1">
                  <a:solidFill>
                    <a:srgbClr val="0B2A5B"/>
                  </a:solidFill>
                  <a:latin typeface="Calibri"/>
                </a:rPr>
                <a:t>Confirm it is ready to go live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143D8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Readiness criteria completed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143D8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Resilience testing</a:t>
              </a:r>
            </a:p>
            <a:p>
              <a:pPr marL="155448" indent="-155448" algn="l">
                <a:spcAft>
                  <a:spcPts val="200"/>
                </a:spcAft>
                <a:buClr>
                  <a:srgbClr val="143D8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Observability in place</a:t>
              </a:r>
            </a:p>
          </p:txBody>
        </p:sp>
        <p:sp>
          <p:nvSpPr>
            <p:cNvPr id="54" name="Check badge"/>
            <p:cNvSpPr/>
            <p:nvPr/>
          </p:nvSpPr>
          <p:spPr>
            <a:xfrm>
              <a:off x="7834427" y="4705807"/>
              <a:ext cx="168250" cy="168250"/>
            </a:xfrm>
            <a:prstGeom prst="ellipse">
              <a:avLst/>
            </a:prstGeom>
            <a:solidFill>
              <a:srgbClr val="143D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Check mark"/>
            <p:cNvSpPr/>
            <p:nvPr/>
          </p:nvSpPr>
          <p:spPr>
            <a:xfrm>
              <a:off x="7876489" y="4758385"/>
              <a:ext cx="84124" cy="66599"/>
            </a:xfrm>
            <a:custGeom>
              <a:avLst/>
              <a:gdLst/>
              <a:ahLst/>
              <a:cxnLst/>
              <a:rect l="l" t="t" r="r" b="b"/>
              <a:pathLst>
                <a:path w="84124" h="66599">
                  <a:moveTo>
                    <a:pt x="0" y="38557"/>
                  </a:moveTo>
                  <a:lnTo>
                    <a:pt x="31547" y="66599"/>
                  </a:lnTo>
                  <a:lnTo>
                    <a:pt x="84124" y="0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sult label"/>
            <p:cNvSpPr txBox="1"/>
            <p:nvPr/>
          </p:nvSpPr>
          <p:spPr>
            <a:xfrm>
              <a:off x="8072780" y="4705807"/>
              <a:ext cx="1051560" cy="168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850" b="1" i="0">
                  <a:solidFill>
                    <a:srgbClr val="143D80"/>
                  </a:solidFill>
                  <a:latin typeface="Calibri"/>
                </a:rPr>
                <a:t>RESULT</a:t>
              </a:r>
            </a:p>
          </p:txBody>
        </p:sp>
        <p:sp>
          <p:nvSpPr>
            <p:cNvPr id="57" name="Result text"/>
            <p:cNvSpPr txBox="1"/>
            <p:nvPr/>
          </p:nvSpPr>
          <p:spPr>
            <a:xfrm>
              <a:off x="7834427" y="4951171"/>
              <a:ext cx="1752600" cy="4346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Ready for production</a:t>
              </a:r>
            </a:p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go-live</a:t>
              </a:r>
            </a:p>
          </p:txBody>
        </p:sp>
      </p:grpSp>
      <p:sp>
        <p:nvSpPr>
          <p:cNvPr id="58" name="Arrow 4"/>
          <p:cNvSpPr/>
          <p:nvPr/>
        </p:nvSpPr>
        <p:spPr>
          <a:xfrm>
            <a:off x="9776307" y="1810512"/>
            <a:ext cx="121701" cy="196291"/>
          </a:xfrm>
          <a:custGeom>
            <a:avLst/>
            <a:gdLst/>
            <a:ahLst/>
            <a:cxnLst/>
            <a:rect l="l" t="t" r="r" b="b"/>
            <a:pathLst>
              <a:path w="121701" h="196291">
                <a:moveTo>
                  <a:pt x="0" y="0"/>
                </a:moveTo>
                <a:lnTo>
                  <a:pt x="121701" y="98145"/>
                </a:lnTo>
                <a:lnTo>
                  <a:pt x="0" y="196291"/>
                </a:lnTo>
                <a:close/>
              </a:path>
            </a:pathLst>
          </a:custGeom>
          <a:solidFill>
            <a:srgbClr val="2A6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9" name="Production go-live" descr="End point of the roadmap: production go-live."/>
          <p:cNvGrpSpPr/>
          <p:nvPr/>
        </p:nvGrpSpPr>
        <p:grpSpPr>
          <a:xfrm>
            <a:off x="9923526" y="1544117"/>
            <a:ext cx="1261872" cy="3897782"/>
            <a:chOff x="9923526" y="1544117"/>
            <a:chExt cx="1261872" cy="3897782"/>
          </a:xfrm>
        </p:grpSpPr>
        <p:sp>
          <p:nvSpPr>
            <p:cNvPr id="60" name="Finish block"/>
            <p:cNvSpPr/>
            <p:nvPr/>
          </p:nvSpPr>
          <p:spPr>
            <a:xfrm>
              <a:off x="9923526" y="1544117"/>
              <a:ext cx="1261872" cy="3897782"/>
            </a:xfrm>
            <a:prstGeom prst="roundRect">
              <a:avLst>
                <a:gd name="adj" fmla="val 10000"/>
              </a:avLst>
            </a:prstGeom>
            <a:solidFill>
              <a:srgbClr val="0B2A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Flag pole"/>
            <p:cNvSpPr/>
            <p:nvPr/>
          </p:nvSpPr>
          <p:spPr>
            <a:xfrm>
              <a:off x="10372192" y="2932176"/>
              <a:ext cx="35052" cy="6870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Flag"/>
            <p:cNvSpPr/>
            <p:nvPr/>
          </p:nvSpPr>
          <p:spPr>
            <a:xfrm>
              <a:off x="10407243" y="2932176"/>
              <a:ext cx="427634" cy="280416"/>
            </a:xfrm>
            <a:custGeom>
              <a:avLst/>
              <a:gdLst/>
              <a:ahLst/>
              <a:cxnLst/>
              <a:rect l="l" t="t" r="r" b="b"/>
              <a:pathLst>
                <a:path w="427634" h="280416">
                  <a:moveTo>
                    <a:pt x="0" y="0"/>
                  </a:moveTo>
                  <a:lnTo>
                    <a:pt x="427634" y="126187"/>
                  </a:lnTo>
                  <a:lnTo>
                    <a:pt x="0" y="2804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Finish label"/>
            <p:cNvSpPr txBox="1"/>
            <p:nvPr/>
          </p:nvSpPr>
          <p:spPr>
            <a:xfrm>
              <a:off x="9923526" y="3759403"/>
              <a:ext cx="1261872" cy="5468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450" b="1" i="0">
                  <a:solidFill>
                    <a:srgbClr val="FFFFFF"/>
                  </a:solidFill>
                  <a:latin typeface="Calibri"/>
                </a:rPr>
                <a:t>Production</a:t>
              </a:r>
            </a:p>
            <a:p>
              <a:pPr algn="ctr"/>
              <a:r>
                <a:rPr sz="1450" b="1" i="0">
                  <a:solidFill>
                    <a:srgbClr val="FFFFFF"/>
                  </a:solidFill>
                  <a:latin typeface="Calibri"/>
                </a:rPr>
                <a:t>go-live</a:t>
              </a:r>
            </a:p>
          </p:txBody>
        </p:sp>
      </p:grpSp>
      <p:sp>
        <p:nvSpPr>
          <p:cNvPr id="64" name="Footer band"/>
          <p:cNvSpPr/>
          <p:nvPr/>
        </p:nvSpPr>
        <p:spPr>
          <a:xfrm>
            <a:off x="1006297" y="5610149"/>
            <a:ext cx="10179101" cy="602894"/>
          </a:xfrm>
          <a:prstGeom prst="roundRect">
            <a:avLst>
              <a:gd name="adj" fmla="val 16279"/>
            </a:avLst>
          </a:prstGeom>
          <a:solidFill>
            <a:srgbClr val="EAF2FC"/>
          </a:solidFill>
          <a:ln w="19050">
            <a:solidFill>
              <a:srgbClr val="A9C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B2A5B"/>
                </a:solidFill>
                <a:latin typeface="Calibri"/>
              </a:rPr>
              <a:t>Each stage builds on the last, and the platform is provisioned and changed as code.</a:t>
            </a:r>
          </a:p>
          <a:p>
            <a:pPr algn="l"/>
            <a:r>
              <a:rPr sz="1150" b="0" i="0">
                <a:solidFill>
                  <a:srgbClr val="2A62B0"/>
                </a:solidFill>
                <a:latin typeface="Calibri"/>
              </a:rPr>
              <a:t>Detailed implementation planning is delivered through the project’s delivery governance.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APPENDIX 19.4  ·  API ONBOARDING CHECKLIST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Platform build and API onboarding swim lane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34: APIM platform builds and API onboarding swim lane, from business requirement to production consumption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29</a:t>
            </a:fld>
            <a:endParaRPr lang="en-GB" sz="90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7" name="Column 1"/>
          <p:cNvSpPr/>
          <p:nvPr/>
        </p:nvSpPr>
        <p:spPr>
          <a:xfrm>
            <a:off x="2011680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1. Business requirement</a:t>
            </a:r>
          </a:p>
        </p:txBody>
      </p:sp>
      <p:sp>
        <p:nvSpPr>
          <p:cNvPr id="8" name="Column 2"/>
          <p:cNvSpPr/>
          <p:nvPr/>
        </p:nvSpPr>
        <p:spPr>
          <a:xfrm>
            <a:off x="3401568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2. Architecture 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55848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umn 3"/>
          <p:cNvSpPr/>
          <p:nvPr/>
        </p:nvSpPr>
        <p:spPr>
          <a:xfrm>
            <a:off x="4791456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3. Platform build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45736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lumn 4"/>
          <p:cNvSpPr/>
          <p:nvPr/>
        </p:nvSpPr>
        <p:spPr>
          <a:xfrm>
            <a:off x="6181344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4. Security 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35624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lumn 5"/>
          <p:cNvSpPr/>
          <p:nvPr/>
        </p:nvSpPr>
        <p:spPr>
          <a:xfrm>
            <a:off x="7571232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5. Operational readiness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25512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lumn 6"/>
          <p:cNvSpPr/>
          <p:nvPr/>
        </p:nvSpPr>
        <p:spPr>
          <a:xfrm>
            <a:off x="8961120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6. Platform go-live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15400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lumn 7"/>
          <p:cNvSpPr/>
          <p:nvPr/>
        </p:nvSpPr>
        <p:spPr>
          <a:xfrm>
            <a:off x="10351008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0C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7. API onboarding (ongoing)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05288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ane 1: Business / Product owner"/>
          <p:cNvSpPr/>
          <p:nvPr/>
        </p:nvSpPr>
        <p:spPr>
          <a:xfrm>
            <a:off x="365760" y="181965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Business / Product owner</a:t>
            </a:r>
          </a:p>
        </p:txBody>
      </p:sp>
      <p:sp>
        <p:nvSpPr>
          <p:cNvPr id="21" name="Lane 2: Enterprise / Solution architect"/>
          <p:cNvSpPr/>
          <p:nvPr/>
        </p:nvSpPr>
        <p:spPr>
          <a:xfrm>
            <a:off x="365760" y="236829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Enterprise / Solution architect</a:t>
            </a:r>
          </a:p>
        </p:txBody>
      </p:sp>
      <p:sp>
        <p:nvSpPr>
          <p:cNvPr id="22" name="Lane 3: Technical Design Authority (TDA)"/>
          <p:cNvSpPr/>
          <p:nvPr/>
        </p:nvSpPr>
        <p:spPr>
          <a:xfrm>
            <a:off x="365760" y="291693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Technical Design Authority (TDA)</a:t>
            </a:r>
          </a:p>
        </p:txBody>
      </p:sp>
      <p:sp>
        <p:nvSpPr>
          <p:cNvPr id="23" name="Lane 4: Platform engineering"/>
          <p:cNvSpPr/>
          <p:nvPr/>
        </p:nvSpPr>
        <p:spPr>
          <a:xfrm>
            <a:off x="365760" y="346557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Platform engineering</a:t>
            </a:r>
          </a:p>
        </p:txBody>
      </p:sp>
      <p:sp>
        <p:nvSpPr>
          <p:cNvPr id="24" name="Lane 5: Network / Infrastructure"/>
          <p:cNvSpPr/>
          <p:nvPr/>
        </p:nvSpPr>
        <p:spPr>
          <a:xfrm>
            <a:off x="365760" y="401421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Network / Infrastructure</a:t>
            </a:r>
          </a:p>
        </p:txBody>
      </p:sp>
      <p:sp>
        <p:nvSpPr>
          <p:cNvPr id="25" name="Lane 6: Security"/>
          <p:cNvSpPr/>
          <p:nvPr/>
        </p:nvSpPr>
        <p:spPr>
          <a:xfrm>
            <a:off x="365760" y="456285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Security</a:t>
            </a:r>
          </a:p>
        </p:txBody>
      </p:sp>
      <p:sp>
        <p:nvSpPr>
          <p:cNvPr id="26" name="Lane 7: Operations / SRE"/>
          <p:cNvSpPr/>
          <p:nvPr/>
        </p:nvSpPr>
        <p:spPr>
          <a:xfrm>
            <a:off x="365760" y="511149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Operations / SRE</a:t>
            </a:r>
          </a:p>
        </p:txBody>
      </p:sp>
      <p:sp>
        <p:nvSpPr>
          <p:cNvPr id="27" name="Lane 8: Application / API teams"/>
          <p:cNvSpPr/>
          <p:nvPr/>
        </p:nvSpPr>
        <p:spPr>
          <a:xfrm>
            <a:off x="365760" y="566013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0F4EC"/>
          </a:solidFill>
          <a:ln w="9525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>
            <a:noAutofit/>
          </a:bodyPr>
          <a:lstStyle/>
          <a:p>
            <a:pPr algn="l"/>
            <a:r>
              <a:rPr sz="950" b="1" i="0">
                <a:solidFill>
                  <a:srgbClr val="0A3B2D"/>
                </a:solidFill>
                <a:latin typeface="Calibri"/>
              </a:rPr>
              <a:t>Application / API teams</a:t>
            </a:r>
          </a:p>
        </p:txBody>
      </p:sp>
      <p:sp>
        <p:nvSpPr>
          <p:cNvPr id="28" name="Handover 1"/>
          <p:cNvSpPr/>
          <p:nvPr/>
        </p:nvSpPr>
        <p:spPr>
          <a:xfrm>
            <a:off x="3255264" y="2084831"/>
            <a:ext cx="201168" cy="548641"/>
          </a:xfrm>
          <a:custGeom>
            <a:avLst/>
            <a:gdLst/>
            <a:ahLst/>
            <a:cxnLst/>
            <a:rect l="l" t="t" r="r" b="b"/>
            <a:pathLst>
              <a:path w="201168" h="548641">
                <a:moveTo>
                  <a:pt x="0" y="0"/>
                </a:moveTo>
                <a:lnTo>
                  <a:pt x="100584" y="0"/>
                </a:lnTo>
                <a:lnTo>
                  <a:pt x="100584" y="548641"/>
                </a:lnTo>
                <a:lnTo>
                  <a:pt x="201168" y="548641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Handover 2"/>
          <p:cNvCxnSpPr/>
          <p:nvPr/>
        </p:nvCxnSpPr>
        <p:spPr>
          <a:xfrm>
            <a:off x="4050792" y="2862072"/>
            <a:ext cx="0" cy="91440"/>
          </a:xfrm>
          <a:prstGeom prst="line">
            <a:avLst/>
          </a:prstGeom>
          <a:ln w="19050">
            <a:solidFill>
              <a:srgbClr val="B070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Handover 3"/>
          <p:cNvSpPr/>
          <p:nvPr/>
        </p:nvSpPr>
        <p:spPr>
          <a:xfrm>
            <a:off x="4645152" y="3182111"/>
            <a:ext cx="201168" cy="548641"/>
          </a:xfrm>
          <a:custGeom>
            <a:avLst/>
            <a:gdLst/>
            <a:ahLst/>
            <a:cxnLst/>
            <a:rect l="l" t="t" r="r" b="b"/>
            <a:pathLst>
              <a:path w="201168" h="548641">
                <a:moveTo>
                  <a:pt x="0" y="0"/>
                </a:moveTo>
                <a:lnTo>
                  <a:pt x="100584" y="0"/>
                </a:lnTo>
                <a:lnTo>
                  <a:pt x="100584" y="548641"/>
                </a:lnTo>
                <a:lnTo>
                  <a:pt x="201168" y="548641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Handover 4"/>
          <p:cNvCxnSpPr/>
          <p:nvPr/>
        </p:nvCxnSpPr>
        <p:spPr>
          <a:xfrm>
            <a:off x="5440680" y="3959352"/>
            <a:ext cx="0" cy="91440"/>
          </a:xfrm>
          <a:prstGeom prst="line">
            <a:avLst/>
          </a:prstGeom>
          <a:ln w="19050">
            <a:solidFill>
              <a:srgbClr val="B070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Handover 5"/>
          <p:cNvSpPr/>
          <p:nvPr/>
        </p:nvSpPr>
        <p:spPr>
          <a:xfrm>
            <a:off x="6035040" y="4279392"/>
            <a:ext cx="201168" cy="548640"/>
          </a:xfrm>
          <a:custGeom>
            <a:avLst/>
            <a:gdLst/>
            <a:ahLst/>
            <a:cxnLst/>
            <a:rect l="l" t="t" r="r" b="b"/>
            <a:pathLst>
              <a:path w="201168" h="548640">
                <a:moveTo>
                  <a:pt x="0" y="0"/>
                </a:moveTo>
                <a:lnTo>
                  <a:pt x="100584" y="0"/>
                </a:lnTo>
                <a:lnTo>
                  <a:pt x="100584" y="548640"/>
                </a:lnTo>
                <a:lnTo>
                  <a:pt x="201168" y="548640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Handover 6"/>
          <p:cNvSpPr/>
          <p:nvPr/>
        </p:nvSpPr>
        <p:spPr>
          <a:xfrm>
            <a:off x="7424928" y="3730752"/>
            <a:ext cx="201168" cy="1097280"/>
          </a:xfrm>
          <a:custGeom>
            <a:avLst/>
            <a:gdLst/>
            <a:ahLst/>
            <a:cxnLst/>
            <a:rect l="l" t="t" r="r" b="b"/>
            <a:pathLst>
              <a:path w="201168" h="1097280">
                <a:moveTo>
                  <a:pt x="0" y="1097280"/>
                </a:moveTo>
                <a:lnTo>
                  <a:pt x="100584" y="1097280"/>
                </a:lnTo>
                <a:lnTo>
                  <a:pt x="100584" y="0"/>
                </a:lnTo>
                <a:lnTo>
                  <a:pt x="201168" y="0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Handover 7"/>
          <p:cNvCxnSpPr/>
          <p:nvPr/>
        </p:nvCxnSpPr>
        <p:spPr>
          <a:xfrm>
            <a:off x="8220456" y="3959352"/>
            <a:ext cx="0" cy="1188720"/>
          </a:xfrm>
          <a:prstGeom prst="line">
            <a:avLst/>
          </a:prstGeom>
          <a:ln w="19050">
            <a:solidFill>
              <a:srgbClr val="B070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Handover 8"/>
          <p:cNvSpPr/>
          <p:nvPr/>
        </p:nvSpPr>
        <p:spPr>
          <a:xfrm>
            <a:off x="8814816" y="3182111"/>
            <a:ext cx="201168" cy="2194561"/>
          </a:xfrm>
          <a:custGeom>
            <a:avLst/>
            <a:gdLst/>
            <a:ahLst/>
            <a:cxnLst/>
            <a:rect l="l" t="t" r="r" b="b"/>
            <a:pathLst>
              <a:path w="201168" h="2194561">
                <a:moveTo>
                  <a:pt x="0" y="2194561"/>
                </a:moveTo>
                <a:lnTo>
                  <a:pt x="100584" y="2194561"/>
                </a:lnTo>
                <a:lnTo>
                  <a:pt x="100584" y="0"/>
                </a:lnTo>
                <a:lnTo>
                  <a:pt x="201168" y="0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Go-live to API onboarding"/>
          <p:cNvSpPr/>
          <p:nvPr/>
        </p:nvSpPr>
        <p:spPr>
          <a:xfrm>
            <a:off x="10204704" y="3182111"/>
            <a:ext cx="201168" cy="2743201"/>
          </a:xfrm>
          <a:custGeom>
            <a:avLst/>
            <a:gdLst/>
            <a:ahLst/>
            <a:cxnLst/>
            <a:rect l="l" t="t" r="r" b="b"/>
            <a:pathLst>
              <a:path w="201168" h="2743201">
                <a:moveTo>
                  <a:pt x="0" y="0"/>
                </a:moveTo>
                <a:lnTo>
                  <a:pt x="100584" y="0"/>
                </a:lnTo>
                <a:lnTo>
                  <a:pt x="100584" y="2743201"/>
                </a:lnTo>
                <a:lnTo>
                  <a:pt x="201168" y="2743201"/>
                </a:lnTo>
              </a:path>
            </a:pathLst>
          </a:custGeom>
          <a:noFill/>
          <a:ln w="22225">
            <a:solidFill>
              <a:srgbClr val="8B3A1E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ilestone link"/>
          <p:cNvSpPr/>
          <p:nvPr/>
        </p:nvSpPr>
        <p:spPr>
          <a:xfrm>
            <a:off x="9610344" y="4169663"/>
            <a:ext cx="694944" cy="1527049"/>
          </a:xfrm>
          <a:custGeom>
            <a:avLst/>
            <a:gdLst/>
            <a:ahLst/>
            <a:cxnLst/>
            <a:rect l="l" t="t" r="r" b="b"/>
            <a:pathLst>
              <a:path w="694944" h="1527049">
                <a:moveTo>
                  <a:pt x="0" y="1527049"/>
                </a:moveTo>
                <a:lnTo>
                  <a:pt x="0" y="0"/>
                </a:lnTo>
                <a:lnTo>
                  <a:pt x="694944" y="0"/>
                </a:lnTo>
              </a:path>
            </a:pathLst>
          </a:custGeom>
          <a:noFill/>
          <a:ln w="9525">
            <a:solidFill>
              <a:srgbClr val="7070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ol 1 / Lane 1"/>
          <p:cNvSpPr/>
          <p:nvPr/>
        </p:nvSpPr>
        <p:spPr>
          <a:xfrm>
            <a:off x="2066544" y="18562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1270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5A3E0A"/>
                </a:solidFill>
                <a:latin typeface="Calibri"/>
              </a:rPr>
              <a:t>Define business need for an API platform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8A5A14"/>
                </a:solidFill>
                <a:latin typeface="Calibri"/>
              </a:rPr>
              <a:t>See sections 3, 4</a:t>
            </a:r>
          </a:p>
        </p:txBody>
      </p:sp>
      <p:sp>
        <p:nvSpPr>
          <p:cNvPr id="39" name="Col 2 / Lane 2"/>
          <p:cNvSpPr/>
          <p:nvPr/>
        </p:nvSpPr>
        <p:spPr>
          <a:xfrm>
            <a:off x="3456432" y="240487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1270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0E3F6E"/>
                </a:solidFill>
                <a:latin typeface="Calibri"/>
              </a:rPr>
              <a:t>Produce HLD: edge, network, security, tier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1E5FA8"/>
                </a:solidFill>
                <a:latin typeface="Calibri"/>
              </a:rPr>
              <a:t>See sections 5-7, 9, 16</a:t>
            </a:r>
          </a:p>
        </p:txBody>
      </p:sp>
      <p:sp>
        <p:nvSpPr>
          <p:cNvPr id="40" name="Col 2 / Lane 3"/>
          <p:cNvSpPr/>
          <p:nvPr/>
        </p:nvSpPr>
        <p:spPr>
          <a:xfrm>
            <a:off x="3456432" y="2953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BE9EF"/>
          </a:solidFill>
          <a:ln w="12700">
            <a:solidFill>
              <a:srgbClr val="B5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5A1A2E"/>
                </a:solidFill>
                <a:latin typeface="Calibri"/>
              </a:rPr>
              <a:t>Gate: approve design and assumptions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A03A5E"/>
                </a:solidFill>
                <a:latin typeface="Calibri"/>
              </a:rPr>
              <a:t>See section 17</a:t>
            </a:r>
          </a:p>
        </p:txBody>
      </p:sp>
      <p:sp>
        <p:nvSpPr>
          <p:cNvPr id="41" name="Col 3 / Lane 4"/>
          <p:cNvSpPr/>
          <p:nvPr/>
        </p:nvSpPr>
        <p:spPr>
          <a:xfrm>
            <a:off x="4846320" y="350215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EEBFB"/>
          </a:solidFill>
          <a:ln w="12700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2F2663"/>
                </a:solidFill>
                <a:latin typeface="Calibri"/>
              </a:rPr>
              <a:t>Deploy APIM, Front Door, Key Vault (IaC)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5B4FA0"/>
                </a:solidFill>
                <a:latin typeface="Calibri"/>
              </a:rPr>
              <a:t>See sections 6, 16</a:t>
            </a:r>
          </a:p>
        </p:txBody>
      </p:sp>
      <p:sp>
        <p:nvSpPr>
          <p:cNvPr id="42" name="Col 3 / Lane 5"/>
          <p:cNvSpPr/>
          <p:nvPr/>
        </p:nvSpPr>
        <p:spPr>
          <a:xfrm>
            <a:off x="4846320" y="405079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1270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0E3F6E"/>
                </a:solidFill>
                <a:latin typeface="Calibri"/>
              </a:rPr>
              <a:t>Build VNet, subnets, firewall routes, DNS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1E5FA8"/>
                </a:solidFill>
                <a:latin typeface="Calibri"/>
              </a:rPr>
              <a:t>See section 7 + Appendix</a:t>
            </a:r>
          </a:p>
        </p:txBody>
      </p:sp>
      <p:sp>
        <p:nvSpPr>
          <p:cNvPr id="43" name="Col 4 / Lane 6"/>
          <p:cNvSpPr/>
          <p:nvPr/>
        </p:nvSpPr>
        <p:spPr>
          <a:xfrm>
            <a:off x="6236208" y="45994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2700">
            <a:solidFill>
              <a:srgbClr val="B5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5A1A1E"/>
                </a:solidFill>
                <a:latin typeface="Calibri"/>
              </a:rPr>
              <a:t>Validate WAF, identity, secrets, threat model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A03A3E"/>
                </a:solidFill>
                <a:latin typeface="Calibri"/>
              </a:rPr>
              <a:t>See section 9 + Appendix</a:t>
            </a:r>
          </a:p>
        </p:txBody>
      </p:sp>
      <p:sp>
        <p:nvSpPr>
          <p:cNvPr id="44" name="Col 5 / Lane 4"/>
          <p:cNvSpPr/>
          <p:nvPr/>
        </p:nvSpPr>
        <p:spPr>
          <a:xfrm>
            <a:off x="7626096" y="350215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EEBFB"/>
          </a:solidFill>
          <a:ln w="12700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2F2663"/>
                </a:solidFill>
                <a:latin typeface="Calibri"/>
              </a:rPr>
              <a:t>Set up APIOps pipeline, workspaces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5B4FA0"/>
                </a:solidFill>
                <a:latin typeface="Calibri"/>
              </a:rPr>
              <a:t>See sections 10, 14</a:t>
            </a:r>
          </a:p>
        </p:txBody>
      </p:sp>
      <p:sp>
        <p:nvSpPr>
          <p:cNvPr id="45" name="Col 5 / Lane 7"/>
          <p:cNvSpPr/>
          <p:nvPr/>
        </p:nvSpPr>
        <p:spPr>
          <a:xfrm>
            <a:off x="7626096" y="514807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1EEE7"/>
          </a:solidFill>
          <a:ln w="12700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3A352D"/>
                </a:solidFill>
                <a:latin typeface="Calibri"/>
              </a:rPr>
              <a:t>Set up monitoring, alerts, DR test, runbooks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6B655B"/>
                </a:solidFill>
                <a:latin typeface="Calibri"/>
              </a:rPr>
              <a:t>See sections 13, 15</a:t>
            </a:r>
          </a:p>
        </p:txBody>
      </p:sp>
      <p:sp>
        <p:nvSpPr>
          <p:cNvPr id="46" name="Col 6 / Lane 3"/>
          <p:cNvSpPr/>
          <p:nvPr/>
        </p:nvSpPr>
        <p:spPr>
          <a:xfrm>
            <a:off x="9015984" y="2953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BE9EF"/>
          </a:solidFill>
          <a:ln w="12700">
            <a:solidFill>
              <a:srgbClr val="B5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5A1A2E"/>
                </a:solidFill>
                <a:latin typeface="Calibri"/>
              </a:rPr>
              <a:t>Gate: approve go-live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A03A5E"/>
                </a:solidFill>
                <a:latin typeface="Calibri"/>
              </a:rPr>
              <a:t>See sections 15, 17</a:t>
            </a:r>
          </a:p>
        </p:txBody>
      </p:sp>
      <p:sp>
        <p:nvSpPr>
          <p:cNvPr id="47" name="Col 6 / Lane 8"/>
          <p:cNvSpPr/>
          <p:nvPr/>
        </p:nvSpPr>
        <p:spPr>
          <a:xfrm>
            <a:off x="9015984" y="56967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6F2D6"/>
          </a:solidFill>
          <a:ln w="12700">
            <a:solidFill>
              <a:srgbClr val="5B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2E4F10"/>
                </a:solidFill>
                <a:latin typeface="Calibri"/>
              </a:rPr>
              <a:t>Milestone: platform ready for API onboarding</a:t>
            </a:r>
          </a:p>
        </p:txBody>
      </p:sp>
      <p:sp>
        <p:nvSpPr>
          <p:cNvPr id="48" name="Col 7 / Lane 1"/>
          <p:cNvSpPr/>
          <p:nvPr/>
        </p:nvSpPr>
        <p:spPr>
          <a:xfrm>
            <a:off x="10405872" y="18562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0F4EC"/>
          </a:solidFill>
          <a:ln w="1270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0A3B2D"/>
                </a:solidFill>
                <a:latin typeface="Calibri"/>
              </a:rPr>
              <a:t>Realise business value from APIs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0F6E54"/>
                </a:solidFill>
                <a:latin typeface="Calibri"/>
              </a:rPr>
              <a:t>See section 10</a:t>
            </a:r>
          </a:p>
        </p:txBody>
      </p:sp>
      <p:sp>
        <p:nvSpPr>
          <p:cNvPr id="49" name="Col 7 / Lane 4"/>
          <p:cNvSpPr/>
          <p:nvPr/>
        </p:nvSpPr>
        <p:spPr>
          <a:xfrm>
            <a:off x="10405872" y="350215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EEBFB"/>
          </a:solidFill>
          <a:ln w="12700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2F2663"/>
                </a:solidFill>
                <a:latin typeface="Calibri"/>
              </a:rPr>
              <a:t>Govern platform, approve products, run portal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5B4FA0"/>
                </a:solidFill>
                <a:latin typeface="Calibri"/>
              </a:rPr>
              <a:t>See sections 10, 11</a:t>
            </a:r>
          </a:p>
        </p:txBody>
      </p:sp>
      <p:sp>
        <p:nvSpPr>
          <p:cNvPr id="50" name="Col 7 / Lane 6"/>
          <p:cNvSpPr/>
          <p:nvPr/>
        </p:nvSpPr>
        <p:spPr>
          <a:xfrm>
            <a:off x="10405872" y="45994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2700">
            <a:solidFill>
              <a:srgbClr val="B5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5A1A1E"/>
                </a:solidFill>
                <a:latin typeface="Calibri"/>
              </a:rPr>
              <a:t>Review each API at its design gate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A03A3E"/>
                </a:solidFill>
                <a:latin typeface="Calibri"/>
              </a:rPr>
              <a:t>See sections 9, 11</a:t>
            </a:r>
          </a:p>
        </p:txBody>
      </p:sp>
      <p:sp>
        <p:nvSpPr>
          <p:cNvPr id="51" name="Col 7 / Lane 7"/>
          <p:cNvSpPr/>
          <p:nvPr/>
        </p:nvSpPr>
        <p:spPr>
          <a:xfrm>
            <a:off x="10405872" y="514807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1EEE7"/>
          </a:solidFill>
          <a:ln w="12700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3A352D"/>
                </a:solidFill>
                <a:latin typeface="Calibri"/>
              </a:rPr>
              <a:t>Operate, monitor, support in production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6B655B"/>
                </a:solidFill>
                <a:latin typeface="Calibri"/>
              </a:rPr>
              <a:t>See section 13</a:t>
            </a:r>
          </a:p>
        </p:txBody>
      </p:sp>
      <p:sp>
        <p:nvSpPr>
          <p:cNvPr id="52" name="Col 7 / Lane 8"/>
          <p:cNvSpPr/>
          <p:nvPr/>
        </p:nvSpPr>
        <p:spPr>
          <a:xfrm>
            <a:off x="10405872" y="56967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0F4EC"/>
          </a:solidFill>
          <a:ln w="1270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0A3B2D"/>
                </a:solidFill>
                <a:latin typeface="Calibri"/>
              </a:rPr>
              <a:t>Onboard APIs: design, publish, version, consume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0F6E54"/>
                </a:solidFill>
                <a:latin typeface="Calibri"/>
              </a:rPr>
              <a:t>See sections 10, 11, 12</a:t>
            </a:r>
          </a:p>
        </p:txBody>
      </p:sp>
      <p:sp>
        <p:nvSpPr>
          <p:cNvPr id="53" name="Decision gate marker"/>
          <p:cNvSpPr/>
          <p:nvPr/>
        </p:nvSpPr>
        <p:spPr>
          <a:xfrm>
            <a:off x="4590288" y="3127248"/>
            <a:ext cx="109728" cy="109728"/>
          </a:xfrm>
          <a:prstGeom prst="ellipse">
            <a:avLst/>
          </a:prstGeom>
          <a:solidFill>
            <a:srgbClr val="8B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Decision gate marker"/>
          <p:cNvSpPr/>
          <p:nvPr/>
        </p:nvSpPr>
        <p:spPr>
          <a:xfrm>
            <a:off x="10149840" y="3127248"/>
            <a:ext cx="109728" cy="109728"/>
          </a:xfrm>
          <a:prstGeom prst="ellipse">
            <a:avLst/>
          </a:prstGeom>
          <a:solidFill>
            <a:srgbClr val="8B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57200" y="6318504"/>
            <a:ext cx="91440" cy="91440"/>
          </a:xfrm>
          <a:prstGeom prst="ellipse">
            <a:avLst/>
          </a:prstGeom>
          <a:solidFill>
            <a:srgbClr val="8B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627278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A6B7D"/>
                </a:solidFill>
                <a:latin typeface="Calibri"/>
              </a:rPr>
              <a:t>Decision gate / approval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743200" y="6364224"/>
            <a:ext cx="365760" cy="0"/>
          </a:xfrm>
          <a:prstGeom prst="line">
            <a:avLst/>
          </a:prstGeom>
          <a:ln w="19050">
            <a:solidFill>
              <a:srgbClr val="B070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200400" y="627278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A6B7D"/>
                </a:solidFill>
                <a:latin typeface="Calibri"/>
              </a:rPr>
              <a:t>Handover between teams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6291072"/>
            <a:ext cx="201168" cy="146304"/>
          </a:xfrm>
          <a:prstGeom prst="rect">
            <a:avLst/>
          </a:prstGeom>
          <a:solidFill>
            <a:srgbClr val="E6F2D6"/>
          </a:solidFill>
          <a:ln w="9525">
            <a:solidFill>
              <a:srgbClr val="5B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394960" y="627278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A6B7D"/>
                </a:solidFill>
                <a:latin typeface="Calibri"/>
              </a:rPr>
              <a:t>Readiness milestone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627278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1" i="0">
                <a:solidFill>
                  <a:srgbClr val="5048B4"/>
                </a:solidFill>
                <a:latin typeface="Calibri"/>
              </a:rPr>
              <a:t>See section 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80" y="62727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A6B7D"/>
                </a:solidFill>
                <a:latin typeface="Calibri"/>
              </a:rPr>
              <a:t>= where to read how in this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3f81c8-e39b-4405-bcc1-3e407ba7283f">
      <Terms xmlns="http://schemas.microsoft.com/office/infopath/2007/PartnerControls"/>
    </lcf76f155ced4ddcb4097134ff3c332f>
    <TaxCatchAll xmlns="de42048b-ec37-4ba8-8c7d-cce609e5a17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02D86F343BD43911FD1ECE89E1A90" ma:contentTypeVersion="16" ma:contentTypeDescription="Create a new document." ma:contentTypeScope="" ma:versionID="8f538629485a383281b2d1038e3d32e9">
  <xsd:schema xmlns:xsd="http://www.w3.org/2001/XMLSchema" xmlns:xs="http://www.w3.org/2001/XMLSchema" xmlns:p="http://schemas.microsoft.com/office/2006/metadata/properties" xmlns:ns2="fb3f81c8-e39b-4405-bcc1-3e407ba7283f" xmlns:ns3="de42048b-ec37-4ba8-8c7d-cce609e5a17c" targetNamespace="http://schemas.microsoft.com/office/2006/metadata/properties" ma:root="true" ma:fieldsID="7770fb56b414f1dd5a021295642aef5f" ns2:_="" ns3:_="">
    <xsd:import namespace="fb3f81c8-e39b-4405-bcc1-3e407ba7283f"/>
    <xsd:import namespace="de42048b-ec37-4ba8-8c7d-cce609e5a1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f81c8-e39b-4405-bcc1-3e407ba728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3dc6bb4-515a-48b9-9df5-06b9cdb163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2048b-ec37-4ba8-8c7d-cce609e5a17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1c5ceb05-ac89-4e37-8be6-f389aa604244}" ma:internalName="TaxCatchAll" ma:showField="CatchAllData" ma:web="de42048b-ec37-4ba8-8c7d-cce609e5a1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FD4625-EF5B-4622-A784-FA7FF80DF6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D4B518-AAE0-495A-B86F-91CE9666EA15}">
  <ds:schemaRefs>
    <ds:schemaRef ds:uri="http://schemas.microsoft.com/office/2006/metadata/properties"/>
    <ds:schemaRef ds:uri="http://schemas.microsoft.com/office/infopath/2007/PartnerControls"/>
    <ds:schemaRef ds:uri="fb3f81c8-e39b-4405-bcc1-3e407ba7283f"/>
    <ds:schemaRef ds:uri="de42048b-ec37-4ba8-8c7d-cce609e5a17c"/>
  </ds:schemaRefs>
</ds:datastoreItem>
</file>

<file path=customXml/itemProps3.xml><?xml version="1.0" encoding="utf-8"?>
<ds:datastoreItem xmlns:ds="http://schemas.openxmlformats.org/officeDocument/2006/customXml" ds:itemID="{83C8CE23-7E1B-4F2E-8B58-A03B2DA80C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3f81c8-e39b-4405-bcc1-3e407ba7283f"/>
    <ds:schemaRef ds:uri="de42048b-ec37-4ba8-8c7d-cce609e5a1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3743</Words>
  <Application>Microsoft Office PowerPoint</Application>
  <PresentationFormat>Widescreen</PresentationFormat>
  <Paragraphs>777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API Management HLD - editable diagrams</dc:title>
  <dc:subject>All HLD diagrams rebuilt as native, editable PowerPoint objects</dc:subject>
  <dc:creator>PptxGenJS</dc:creator>
  <cp:lastModifiedBy>Puneet Kumar</cp:lastModifiedBy>
  <cp:revision>5</cp:revision>
  <dcterms:created xsi:type="dcterms:W3CDTF">2026-10-01T09:09:28Z</dcterms:created>
  <dcterms:modified xsi:type="dcterms:W3CDTF">2026-10-05T20:36:20Z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034dab-5829-4c7a-a87e-18a6fc150b18_Enabled">
    <vt:lpwstr>true</vt:lpwstr>
  </property>
  <property fmtid="{D5CDD505-2E9C-101B-9397-08002B2CF9AE}" pid="3" name="MSIP_Label_66034dab-5829-4c7a-a87e-18a6fc150b18_SetDate">
    <vt:lpwstr>2026-10-01T10:36:07Z</vt:lpwstr>
  </property>
  <property fmtid="{D5CDD505-2E9C-101B-9397-08002B2CF9AE}" pid="4" name="MSIP_Label_66034dab-5829-4c7a-a87e-18a6fc150b18_Method">
    <vt:lpwstr>Standard</vt:lpwstr>
  </property>
  <property fmtid="{D5CDD505-2E9C-101B-9397-08002B2CF9AE}" pid="5" name="MSIP_Label_66034dab-5829-4c7a-a87e-18a6fc150b18_Name">
    <vt:lpwstr>Internal</vt:lpwstr>
  </property>
  <property fmtid="{D5CDD505-2E9C-101B-9397-08002B2CF9AE}" pid="6" name="MSIP_Label_66034dab-5829-4c7a-a87e-18a6fc150b18_SiteId">
    <vt:lpwstr>7c2d3141-755f-485a-aaae-ca6b3055ca0c</vt:lpwstr>
  </property>
  <property fmtid="{D5CDD505-2E9C-101B-9397-08002B2CF9AE}" pid="7" name="MSIP_Label_66034dab-5829-4c7a-a87e-18a6fc150b18_ActionId">
    <vt:lpwstr>a013a08c-c3e9-4465-bbe5-e0b7c01fdc28</vt:lpwstr>
  </property>
  <property fmtid="{D5CDD505-2E9C-101B-9397-08002B2CF9AE}" pid="8" name="MSIP_Label_66034dab-5829-4c7a-a87e-18a6fc150b18_ContentBits">
    <vt:lpwstr>0</vt:lpwstr>
  </property>
  <property fmtid="{D5CDD505-2E9C-101B-9397-08002B2CF9AE}" pid="9" name="MSIP_Label_66034dab-5829-4c7a-a87e-18a6fc150b18_Tag">
    <vt:lpwstr>10, 3, 0, 1</vt:lpwstr>
  </property>
  <property fmtid="{D5CDD505-2E9C-101B-9397-08002B2CF9AE}" pid="10" name="ContentTypeId">
    <vt:lpwstr>0x010100B6902D86F343BD43911FD1ECE89E1A90</vt:lpwstr>
  </property>
  <property fmtid="{D5CDD505-2E9C-101B-9397-08002B2CF9AE}" pid="11" name="MediaServiceImageTags">
    <vt:lpwstr/>
  </property>
</Properties>
</file>