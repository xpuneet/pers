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90" r:id="rId35"/>
    <p:sldId id="302" r:id="rId36"/>
    <p:sldId id="291" r:id="rId37"/>
    <p:sldId id="292" r:id="rId38"/>
    <p:sldId id="293" r:id="rId39"/>
    <p:sldId id="294" r:id="rId40"/>
    <p:sldId id="295" r:id="rId41"/>
    <p:sldId id="296" r:id="rId42"/>
    <p:sldId id="298" r:id="rId43"/>
    <p:sldId id="303" r:id="rId44"/>
    <p:sldId id="304" r:id="rId45"/>
    <p:sldId id="305" r:id="rId46"/>
    <p:sldId id="306" r:id="rId47"/>
    <p:sldId id="299" r:id="rId48"/>
    <p:sldId id="300" r:id="rId49"/>
    <p:sldId id="301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307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Staged import, platform-driven ingestion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 dirty="0">
                <a:solidFill>
                  <a:srgbClr val="33414F"/>
                </a:solidFill>
                <a:latin typeface="Arial"/>
              </a:rPr>
              <a:t>Framework</a:t>
            </a:r>
          </a:p>
          <a:p>
            <a:pPr algn="ctr"/>
            <a:r>
              <a:rPr sz="1336" b="0" i="0" dirty="0">
                <a:solidFill>
                  <a:srgbClr val="33414F"/>
                </a:solidFill>
                <a:latin typeface="Arial"/>
              </a:rPr>
              <a:t>source systems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Stage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ADLS / Blob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 dirty="0">
                <a:solidFill>
                  <a:srgbClr val="5A6675"/>
                </a:solidFill>
                <a:latin typeface="Arial"/>
              </a:rPr>
              <a:t>write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 dirty="0">
                <a:solidFill>
                  <a:srgbClr val="7A828F"/>
                </a:solidFill>
                <a:latin typeface="Arial"/>
              </a:rPr>
              <a:t>The stage is the contract. The platform ingests on its own schedule.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Direct streaming connector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Framework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event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25019">
            <a:solidFill>
              <a:srgbClr val="C05621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1336" b="0" i="0">
                <a:solidFill>
                  <a:srgbClr val="7B3410"/>
                </a:solidFill>
                <a:latin typeface="Arial"/>
              </a:rPr>
              <a:t>Kafka surface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Snowpipe 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>
                <a:solidFill>
                  <a:srgbClr val="7A828F"/>
                </a:solidFill>
                <a:latin typeface="Arial"/>
              </a:rPr>
              <a:t>Governed exception. Named, owned and time-bound.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Governed API write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 Management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governed write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24865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controlled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Bulk unload to a serving store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Serving store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ADLS / Blob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Framework services</a:t>
            </a:r>
          </a:p>
        </p:txBody>
      </p:sp>
      <p:sp>
        <p:nvSpPr>
          <p:cNvPr id="7" name="Can 6"/>
          <p:cNvSpPr/>
          <p:nvPr/>
        </p:nvSpPr>
        <p:spPr>
          <a:xfrm>
            <a:off x="895383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bulk unload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>
                <a:solidFill>
                  <a:srgbClr val="7A828F"/>
                </a:solidFill>
                <a:latin typeface="Arial"/>
              </a:rPr>
              <a:t>The store is the contract. The platform stays off the live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Curated reads through API Management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 Management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curated read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24865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or serving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curated query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API Composition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8515151" y="2691420"/>
            <a:ext cx="846096" cy="105762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515151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515151" y="3749040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aggregator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232125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Client sys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Policy sys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4436492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Claims 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0919" y="300870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API Facade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broker 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Backend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policy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invoke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Async request-reply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812489" y="3378873"/>
            <a:ext cx="856671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988" b="0" i="0">
                <a:solidFill>
                  <a:srgbClr val="1F3864"/>
                </a:solidFill>
                <a:latin typeface="Arial"/>
              </a:rPr>
              <a:t>202 +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+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8567" y="3167349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callback /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Bordereaux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9148509" y="3224527"/>
            <a:ext cx="671376" cy="41961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148509" y="3644137"/>
            <a:ext cx="671376" cy="41961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77291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Coverholder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MGA / DCA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Validate &amp; map</a:t>
            </a:r>
          </a:p>
          <a:p>
            <a:pPr algn="ctr"/>
            <a:r>
              <a:rPr sz="784" b="0" i="0">
                <a:solidFill>
                  <a:srgbClr val="4A2E7A"/>
                </a:solidFill>
                <a:latin typeface="Arial"/>
              </a:rPr>
              <a:t>to canonical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Canonical events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293080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Policy admin</a:t>
            </a:r>
          </a:p>
        </p:txBody>
      </p:sp>
      <p:sp>
        <p:nvSpPr>
          <p:cNvPr id="12" name="Can 11"/>
          <p:cNvSpPr/>
          <p:nvPr/>
        </p:nvSpPr>
        <p:spPr>
          <a:xfrm>
            <a:off x="3043185" y="335041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3" name="Can 12"/>
          <p:cNvSpPr/>
          <p:nvPr/>
        </p:nvSpPr>
        <p:spPr>
          <a:xfrm>
            <a:off x="9840866" y="377002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9236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bordereaux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130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1024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6917" y="326648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distribute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567" y="47088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67" b="0" i="1">
                <a:solidFill>
                  <a:srgbClr val="7A828F"/>
                </a:solidFill>
                <a:latin typeface="Arial"/>
              </a:rPr>
              <a:t>Target state: coverholder API capture-at-source replaces manual bordereaux re-key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Bulk Boundary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FF1F4"/>
          </a:solidFill>
          <a:ln w="25019">
            <a:solidFill>
              <a:srgbClr val="AEB6C2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828F"/>
                </a:solidFill>
                <a:latin typeface="Arial"/>
              </a:rPr>
              <a:t>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FF1F4"/>
          </a:solidFill>
          <a:ln w="25019">
            <a:solidFill>
              <a:srgbClr val="AEB6C2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828F"/>
                </a:solidFill>
                <a:latin typeface="Arial"/>
              </a:rPr>
              <a:t>Data Platform</a:t>
            </a:r>
          </a:p>
          <a:p>
            <a:pPr algn="ctr"/>
            <a:r>
              <a:rPr sz="1336" b="0" i="0">
                <a:solidFill>
                  <a:srgbClr val="7A828F"/>
                </a:solidFill>
                <a:latin typeface="Arial"/>
              </a:rPr>
              <a:t>ELT (not SIF)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bulk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>
                <a:solidFill>
                  <a:srgbClr val="7A828F"/>
                </a:solidFill>
                <a:latin typeface="Arial"/>
              </a:rPr>
              <a:t>Owned by the Data Platform; the SIF only raises a trigger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Canonical Contract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5186042" y="2650611"/>
            <a:ext cx="1764470" cy="1102794"/>
          </a:xfrm>
          <a:prstGeom prst="line">
            <a:avLst/>
          </a:prstGeom>
          <a:ln w="41354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186042" y="3753405"/>
            <a:ext cx="1764470" cy="1102794"/>
          </a:xfrm>
          <a:prstGeom prst="line">
            <a:avLst/>
          </a:prstGeom>
          <a:ln w="41354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050565" y="2981449"/>
            <a:ext cx="4135477" cy="1543911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38597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2713" b="1" i="0">
                <a:solidFill>
                  <a:srgbClr val="1D5253"/>
                </a:solidFill>
                <a:latin typeface="Arial"/>
              </a:rPr>
              <a:t>Canonical events</a:t>
            </a:r>
          </a:p>
          <a:p>
            <a:pPr algn="ctr"/>
            <a:r>
              <a:rPr sz="2062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5652" y="1878655"/>
            <a:ext cx="4135477" cy="1543911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38597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2713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2062" b="0" i="0">
                <a:solidFill>
                  <a:srgbClr val="33414F"/>
                </a:solidFill>
                <a:latin typeface="Arial"/>
              </a:rPr>
              <a:t>systems</a:t>
            </a:r>
          </a:p>
        </p:txBody>
      </p:sp>
      <p:sp>
        <p:nvSpPr>
          <p:cNvPr id="7" name="Can 6"/>
          <p:cNvSpPr/>
          <p:nvPr/>
        </p:nvSpPr>
        <p:spPr>
          <a:xfrm>
            <a:off x="7005652" y="4084243"/>
            <a:ext cx="4135477" cy="1543911"/>
          </a:xfrm>
          <a:prstGeom prst="can">
            <a:avLst/>
          </a:prstGeom>
          <a:solidFill>
            <a:srgbClr val="E8EDF3"/>
          </a:solidFill>
          <a:ln w="38597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2713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2062" b="0" i="0">
                <a:solidFill>
                  <a:srgbClr val="33414F"/>
                </a:solidFill>
                <a:latin typeface="Arial"/>
              </a:rPr>
              <a:t>data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0997" y="27608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170" b="0" i="0">
                <a:solidFill>
                  <a:srgbClr val="5A6675"/>
                </a:solidFill>
                <a:latin typeface="Arial"/>
              </a:rPr>
              <a:t>one shared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8567" y="6551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279" b="0" i="1">
                <a:solidFill>
                  <a:srgbClr val="7A828F"/>
                </a:solidFill>
                <a:latin typeface="Arial"/>
              </a:rPr>
              <a:t>The canonical model is the contract for operational and analytical consumers alike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Canonical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2559218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804007" y="3616837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515151" y="3088027"/>
            <a:ext cx="846096" cy="52881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15151" y="3616837"/>
            <a:ext cx="846096" cy="52881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0971" y="2189051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Broker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EDI / XML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971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Coverholder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bordereaux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971" y="430429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Bureau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ACORD / CDR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Translator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2717861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Policy sys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87687" y="377548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Claims sys</a:t>
            </a:r>
          </a:p>
        </p:txBody>
      </p:sp>
      <p:sp>
        <p:nvSpPr>
          <p:cNvPr id="15" name="Can 14"/>
          <p:cNvSpPr/>
          <p:nvPr/>
        </p:nvSpPr>
        <p:spPr>
          <a:xfrm>
            <a:off x="6532115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Canonical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9775" y="287650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canonical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0919" y="314090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distribute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5487501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93" b="0" i="1">
                <a:solidFill>
                  <a:srgbClr val="7A828F"/>
                </a:solidFill>
                <a:latin typeface="Arial"/>
              </a:rPr>
              <a:t>One translator per format; internal systems see only the canonical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CDC Ingest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CDC connector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log-based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988" b="0" i="0">
                <a:solidFill>
                  <a:srgbClr val="7B3410"/>
                </a:solidFill>
                <a:latin typeface="Arial"/>
              </a:rPr>
              <a:t>change stream</a:t>
            </a:r>
          </a:p>
        </p:txBody>
      </p:sp>
      <p:sp>
        <p:nvSpPr>
          <p:cNvPr id="8" name="Can 7"/>
          <p:cNvSpPr/>
          <p:nvPr/>
        </p:nvSpPr>
        <p:spPr>
          <a:xfrm>
            <a:off x="820971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Operational DB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source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change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93" b="0" i="1">
                <a:solidFill>
                  <a:srgbClr val="7A828F"/>
                </a:solidFill>
                <a:latin typeface="Arial"/>
              </a:rPr>
              <a:t>Only when the source cannot emit domain events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Claim Check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95488" y="2633771"/>
            <a:ext cx="1115268" cy="0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44962" y="2633771"/>
            <a:ext cx="1115268" cy="0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46373" y="3137441"/>
            <a:ext cx="3219887" cy="1223197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6725434" y="3137441"/>
            <a:ext cx="3219887" cy="1223197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7258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183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70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46732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183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70" b="1" i="0">
                <a:solidFill>
                  <a:srgbClr val="1D5253"/>
                </a:solidFill>
                <a:latin typeface="Arial"/>
              </a:rPr>
              <a:t>Queue: reference</a:t>
            </a:r>
          </a:p>
          <a:p>
            <a:pPr algn="ctr"/>
            <a:r>
              <a:rPr sz="1345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6206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183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70" b="1" i="0">
                <a:solidFill>
                  <a:srgbClr val="7A4F12"/>
                </a:solidFill>
                <a:latin typeface="Arial"/>
              </a:rPr>
              <a:t>Consumer</a:t>
            </a:r>
          </a:p>
          <a:p>
            <a:pPr algn="ctr"/>
            <a:r>
              <a:rPr sz="1345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0" name="Can 9"/>
          <p:cNvSpPr/>
          <p:nvPr/>
        </p:nvSpPr>
        <p:spPr>
          <a:xfrm>
            <a:off x="4746732" y="4360638"/>
            <a:ext cx="2698229" cy="1007339"/>
          </a:xfrm>
          <a:prstGeom prst="can">
            <a:avLst/>
          </a:prstGeom>
          <a:solidFill>
            <a:srgbClr val="E8EDF3"/>
          </a:solidFill>
          <a:ln w="25183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70" b="1" i="0">
                <a:solidFill>
                  <a:srgbClr val="33414F"/>
                </a:solidFill>
                <a:latin typeface="Arial"/>
              </a:rPr>
              <a:t>Blob store</a:t>
            </a:r>
          </a:p>
          <a:p>
            <a:pPr algn="ctr"/>
            <a:r>
              <a:rPr sz="1345" b="0" i="0">
                <a:solidFill>
                  <a:srgbClr val="33414F"/>
                </a:solidFill>
                <a:latin typeface="Arial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5842" y="23459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16" b="0" i="0">
                <a:solidFill>
                  <a:srgbClr val="5A6675"/>
                </a:solidFill>
                <a:latin typeface="Arial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5316" y="23459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16" b="0" i="0">
                <a:solidFill>
                  <a:srgbClr val="5A6675"/>
                </a:solidFill>
                <a:latin typeface="Arial"/>
              </a:rP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9037" y="346122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16" b="0" i="0">
                <a:solidFill>
                  <a:srgbClr val="5A6675"/>
                </a:solidFill>
                <a:latin typeface="Arial"/>
              </a:rPr>
              <a:t>store payload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098" y="346122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16" b="0" i="0">
                <a:solidFill>
                  <a:srgbClr val="5A6675"/>
                </a:solidFill>
                <a:latin typeface="Arial"/>
              </a:rPr>
              <a:t>fetch payload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Compensation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095847" y="4249428"/>
            <a:ext cx="3860138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orchestrator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Bind policy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System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Post to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8636" y="396349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on failure → compensate (void bind)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Competing Consumers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1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2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3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compete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Content Router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Router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SB / Event Grid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Motor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Property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Casualty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message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route by content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Data Product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Serving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Function / cache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curated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Decision Tree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69389" y="1875941"/>
            <a:ext cx="0" cy="284269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759781" y="2558187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69389" y="2956165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59781" y="3752119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69389" y="4150096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59781" y="4946051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869389" y="5344028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59781" y="6139982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69389" y="6537960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59781" y="7333914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869389" y="7731891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59781" y="8527846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997" y="1307402"/>
            <a:ext cx="3780783" cy="568538"/>
          </a:xfrm>
          <a:prstGeom prst="roundRect">
            <a:avLst>
              <a:gd name="adj" fmla="val 25000"/>
            </a:avLst>
          </a:prstGeom>
          <a:solidFill>
            <a:srgbClr val="DCE7F5"/>
          </a:solidFill>
          <a:ln w="21320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98" b="1" i="0">
                <a:solidFill>
                  <a:srgbClr val="1F3864"/>
                </a:solidFill>
                <a:latin typeface="Arial"/>
              </a:rPr>
              <a:t>New integration requirement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997" y="2160210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Bulk, analytical or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historical data?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1240" y="2160210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Data Platform (Snowflake)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outside SIF; only triggers/notifies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997" y="3354142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Multi-step, stateful process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across systems?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1240" y="3354142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Orchestration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Logic Apps (Standard) + Functions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997" y="4548073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Synchronous reply needed AND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work is short/bounded?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1240" y="4548073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Request / Response API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API Management (+ Functions)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997" y="5742005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Synchronous reply needed but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work is long-running?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1240" y="5742005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Asynchronous Request-Reply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APIM + Service Bus (202 + status)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997" y="6935937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A command directed to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one known consumer?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1240" y="6935937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Asynchronous Messaging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Service Bus queue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997" y="8129868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A broadcast event for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any interested consumer?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1240" y="8129868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Event-Driven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Event Grid / SB Topics / Event Hubs (see §5.3)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997" y="9238519"/>
            <a:ext cx="3780783" cy="568538"/>
          </a:xfrm>
          <a:prstGeom prst="roundRect">
            <a:avLst>
              <a:gd name="adj" fmla="val 25000"/>
            </a:avLst>
          </a:prstGeom>
          <a:solidFill>
            <a:srgbClr val="EEF1F5"/>
          </a:solidFill>
          <a:ln w="21320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31" b="1" i="0">
                <a:solidFill>
                  <a:srgbClr val="33414F"/>
                </a:solidFill>
                <a:latin typeface="Arial"/>
              </a:rPr>
              <a:t>Revisit requirement /</a:t>
            </a:r>
          </a:p>
          <a:p>
            <a:pPr algn="ctr"/>
            <a:r>
              <a:rPr sz="1231" b="0" i="0">
                <a:solidFill>
                  <a:srgbClr val="33414F"/>
                </a:solidFill>
                <a:latin typeface="Arial"/>
              </a:rPr>
              <a:t>combine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3230" y="244448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5817" y="2998805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230" y="3638411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817" y="419273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3230" y="483234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5817" y="538666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3230" y="6026275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85817" y="658060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3230" y="722020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85817" y="77745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3230" y="8414138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19" b="1" i="0">
                <a:solidFill>
                  <a:srgbClr val="1C5138"/>
                </a:solidFill>
                <a:latin typeface="Arial"/>
              </a:rPr>
              <a:t>Yes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Event Notification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40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3034199"/>
            <a:ext cx="1143744" cy="71484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40"/>
            <a:ext cx="1143744" cy="71484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Source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e.g. Blob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25019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C5138"/>
                </a:solidFill>
                <a:latin typeface="Arial"/>
              </a:rPr>
              <a:t>Event Grid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5659" y="253381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Handler 1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396349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Handler 2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emits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0765" y="310568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routes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Event Offload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7B3410"/>
                </a:solidFill>
                <a:latin typeface="Arial"/>
              </a:rPr>
              <a:t>Event Hubs /</a:t>
            </a:r>
          </a:p>
          <a:p>
            <a:pPr algn="ctr"/>
            <a:r>
              <a:rPr sz="1249" b="1" i="0">
                <a:solidFill>
                  <a:srgbClr val="7B3410"/>
                </a:solidFill>
                <a:latin typeface="Arial"/>
              </a:rPr>
              <a:t>Service 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Capture /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load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Exp1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847691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11015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07327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9778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4865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44865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6419" y="3989070"/>
            <a:ext cx="0" cy="0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86419" y="3810762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86419" y="3989070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n 11"/>
          <p:cNvSpPr/>
          <p:nvPr/>
        </p:nvSpPr>
        <p:spPr>
          <a:xfrm>
            <a:off x="5821527" y="3687318"/>
            <a:ext cx="548640" cy="603503"/>
          </a:xfrm>
          <a:prstGeom prst="can">
            <a:avLst/>
          </a:prstGeom>
          <a:solidFill>
            <a:srgbClr val="7EB1E0"/>
          </a:solidFill>
          <a:ln w="19202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50411" y="263118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1" i="0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0411" y="501091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26" b="0" i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6723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0411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COPY INTO (unload)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6723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read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2255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8567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Blob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8567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SIF serving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4879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4879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Function / Logic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Bulk or large result sets. The platform unloads a curated extract into the SIF-owned serving store; the SIF reads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Exp2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78892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49627" y="388620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0050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20050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98567" y="25283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1" i="0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490804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26" b="0" i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255" y="212369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4879" y="212369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255" y="356387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356387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read via Private 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4879" y="356387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serve to consumer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4099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0411" y="377647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4" b="1" i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0411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SQL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0411" y="449656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Snowflake SQL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6723" y="3749039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728" b="1" i="0">
                <a:solidFill>
                  <a:srgbClr val="FFFFFF"/>
                </a:solidFill>
                <a:latin typeface="Arial"/>
              </a:rPr>
              <a:t>&lt;/&gt;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6723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APIM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6723" y="449656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gateway +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3035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43035" y="449656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consumer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98567" y="513435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On-demand, small, low-latency reads. APIM fronts and caches. Curated and eventually-consistent; watch warehouse cost under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8567" y="53400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load.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File Egress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Records /</a:t>
            </a:r>
          </a:p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events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render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Partner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collects</a:t>
            </a:r>
          </a:p>
        </p:txBody>
      </p:sp>
      <p:sp>
        <p:nvSpPr>
          <p:cNvPr id="11" name="Can 10"/>
          <p:cNvSpPr/>
          <p:nvPr/>
        </p:nvSpPr>
        <p:spPr>
          <a:xfrm>
            <a:off x="7574972" y="3455313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SFTP / 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collect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deliver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File Ingestion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Partner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via SFTP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9078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14686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C5138"/>
                </a:solidFill>
                <a:latin typeface="Arial"/>
              </a:rPr>
              <a:t>Event Grid</a:t>
            </a:r>
          </a:p>
          <a:p>
            <a:pPr algn="ctr"/>
            <a:r>
              <a:rPr sz="784" b="0" i="0">
                <a:solidFill>
                  <a:srgbClr val="1C5138"/>
                </a:solidFill>
                <a:latin typeface="Arial"/>
              </a:rPr>
              <a:t>blob-created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74972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784" b="0" i="0">
                <a:solidFill>
                  <a:srgbClr val="4A2E7A"/>
                </a:solidFill>
                <a:latin typeface="Arial"/>
              </a:rPr>
              <a:t>+ Function: parse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0866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Service Bus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records</a:t>
            </a:r>
          </a:p>
        </p:txBody>
      </p:sp>
      <p:sp>
        <p:nvSpPr>
          <p:cNvPr id="11" name="Can 10"/>
          <p:cNvSpPr/>
          <p:nvPr/>
        </p:nvSpPr>
        <p:spPr>
          <a:xfrm>
            <a:off x="3043185" y="335041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drop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on arrival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orchestrate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4762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emit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428928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67" b="0" i="1">
                <a:solidFill>
                  <a:srgbClr val="7A828F"/>
                </a:solidFill>
                <a:latin typeface="Arial"/>
              </a:rPr>
              <a:t>A file is a transport: react on arrival, decompose into messages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Human Approval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Approver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Teams /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Continue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/ reject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request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decision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45639" y="3989070"/>
            <a:ext cx="0" cy="0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145639" y="3810762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45639" y="3989070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53856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n 12"/>
          <p:cNvSpPr/>
          <p:nvPr/>
        </p:nvSpPr>
        <p:spPr>
          <a:xfrm>
            <a:off x="4573371" y="3687318"/>
            <a:ext cx="548640" cy="603503"/>
          </a:xfrm>
          <a:prstGeom prst="can">
            <a:avLst/>
          </a:prstGeom>
          <a:solidFill>
            <a:srgbClr val="7EB1E0"/>
          </a:solidFill>
          <a:ln w="19202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98567" y="263118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1" i="0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501091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26" b="0" i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4879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write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Event Grid notify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4879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COPY into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4099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4099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Logic App /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0411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Blob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0411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ADLS external 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6723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Snowpipe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6723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auto-ingest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3035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Preferred for batch and near-real-time. SIF owns the stage object; the platform's Snowpipe ingests on notification.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44003" y="278892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11015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07327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90407" y="388620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44128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44128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46723" y="25283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1" i="0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6723" y="490804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26" b="0" i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0411" y="212369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4879" y="212369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411" y="356387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load / 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6723" y="356387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Snowpipe Streaming /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592" b="1" i="1">
                <a:solidFill>
                  <a:srgbClr val="FFFFFF"/>
                </a:solidFill>
                <a:latin typeface="Arial"/>
              </a:rPr>
              <a:t>ƒx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255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255" y="449656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Function / driver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567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Connector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449656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Snowflake driver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4879" y="426339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8567" y="513435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Direct load via a Snowflake connector or driver. Use only for sub-second streams or where a connector is required; no Blob,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8567" y="53400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no APIM. Governed by exception.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53856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98567" y="263118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1" i="0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501091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26" b="0" i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4879" y="222656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small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governed call (OAuth)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4879" y="36667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41" b="0" i="0">
                <a:solidFill>
                  <a:srgbClr val="3A4557"/>
                </a:solidFill>
                <a:latin typeface="Arial"/>
              </a:rPr>
              <a:t>INSERT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4099" y="376961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592" b="1" i="1">
                <a:solidFill>
                  <a:srgbClr val="FFFFFF"/>
                </a:solidFill>
                <a:latin typeface="Arial"/>
              </a:rPr>
              <a:t>ƒx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4099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4099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event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0411" y="385191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728" b="1" i="0">
                <a:solidFill>
                  <a:srgbClr val="FFFFFF"/>
                </a:solidFill>
                <a:latin typeface="Arial"/>
              </a:rPr>
              <a:t>&lt;/&gt;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0411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APIM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50411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6723" y="3879341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4" b="1" i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6723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SQL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6723" y="459943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34" b="0" i="0">
                <a:solidFill>
                  <a:srgbClr val="5A6470"/>
                </a:solidFill>
                <a:latin typeface="Arial"/>
              </a:rPr>
              <a:t>Snowflake SQL 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3035" y="4366260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50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88" b="0" i="1">
                <a:solidFill>
                  <a:srgbClr val="5A6470"/>
                </a:solidFill>
                <a:latin typeface="Arial"/>
              </a:rPr>
              <a:t>Small, event-driven writes fronted by APIM. Low-volume and governed only; not for bulk. Trigger: a SIF event.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Inbound Webhook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Partner /</a:t>
            </a:r>
          </a:p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SaaS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6EEF0"/>
          </a:solidFill>
          <a:ln w="14686">
            <a:solidFill>
              <a:srgbClr val="2C6E8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94155"/>
                </a:solidFill>
                <a:latin typeface="Arial"/>
              </a:rPr>
              <a:t>Front Door</a:t>
            </a:r>
          </a:p>
          <a:p>
            <a:pPr algn="ctr"/>
            <a:r>
              <a:rPr sz="784" b="0" i="0">
                <a:solidFill>
                  <a:srgbClr val="194155"/>
                </a:solidFill>
                <a:latin typeface="Arial"/>
              </a:rPr>
              <a:t>+ WAF / DDoS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4686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784" b="0" i="0">
                <a:solidFill>
                  <a:srgbClr val="1F3864"/>
                </a:solidFill>
                <a:latin typeface="Arial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991" b="1" i="0">
                <a:solidFill>
                  <a:srgbClr val="1D5253"/>
                </a:solidFill>
                <a:latin typeface="Arial"/>
              </a:rPr>
              <a:t>Event Grid /</a:t>
            </a:r>
          </a:p>
          <a:p>
            <a:pPr algn="ctr"/>
            <a:r>
              <a:rPr sz="991" b="1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HTTPS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async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Orch Impl Sep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control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logic / compute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delegates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invokes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>
                <a:solidFill>
                  <a:srgbClr val="7A828F"/>
                </a:solidFill>
                <a:latin typeface="Arial"/>
              </a:rPr>
              <a:t>Process control in Logic Apps; business logic in Functions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Orchestration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Standard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 →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Service Bus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async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coordinates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Outbound Webhook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Event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25019">
            <a:solidFill>
              <a:srgbClr val="2F855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688" b="1" i="0">
                <a:solidFill>
                  <a:srgbClr val="1C5138"/>
                </a:solidFill>
                <a:latin typeface="Arial"/>
              </a:rPr>
              <a:t>Event Grid /</a:t>
            </a:r>
          </a:p>
          <a:p>
            <a:pPr algn="ctr"/>
            <a:r>
              <a:rPr sz="1688" b="1" i="0">
                <a:solidFill>
                  <a:srgbClr val="1C5138"/>
                </a:solidFill>
                <a:latin typeface="Arial"/>
              </a:rPr>
              <a:t>Logic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External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subscriber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event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push (HTTPS)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Protocol Mediation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Modern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 / Function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translate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Legacy SOAP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REST/JSON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SOAP/XML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Principle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8686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DCE7F5"/>
          </a:solidFill>
          <a:ln w="17780">
            <a:solidFill>
              <a:srgbClr val="2E5496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Arial"/>
              </a:rPr>
              <a:t>Global Enterprise Architecture Principles</a:t>
            </a:r>
          </a:p>
          <a:p>
            <a:pPr algn="ctr"/>
            <a:r>
              <a:rPr sz="1000">
                <a:solidFill>
                  <a:srgbClr val="33414F"/>
                </a:solidFill>
                <a:latin typeface="Arial"/>
              </a:rPr>
              <a:t>Enterprise-first  •  SaaS &gt; PaaS &gt; IaaS  •  API-first  •  open standards  •  reuse before build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4476" y="1627632"/>
            <a:ext cx="0" cy="585216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sp>
        <p:nvSpPr>
          <p:cNvPr id="5" name="TextBox 4"/>
          <p:cNvSpPr txBox="1"/>
          <p:nvPr/>
        </p:nvSpPr>
        <p:spPr>
          <a:xfrm>
            <a:off x="548640" y="1975104"/>
            <a:ext cx="3657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7A828F"/>
                </a:solidFill>
                <a:latin typeface="Arial"/>
              </a:rPr>
              <a:t>Domain principles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035454" cy="8229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3A"/>
                </a:solidFill>
                <a:latin typeface="Arial"/>
              </a:rPr>
              <a:t>Integration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mediated, central, reusable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2694" y="2240280"/>
            <a:ext cx="2035454" cy="8229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3A"/>
                </a:solidFill>
                <a:latin typeface="Arial"/>
              </a:rPr>
              <a:t>Application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expose as APIs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748" y="2240280"/>
            <a:ext cx="2035454" cy="8229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3A"/>
                </a:solidFill>
                <a:latin typeface="Arial"/>
              </a:rPr>
              <a:t>Data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FAIR, platform-owned bulk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40803" y="2240280"/>
            <a:ext cx="2035454" cy="8229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3A"/>
                </a:solidFill>
                <a:latin typeface="Arial"/>
              </a:rPr>
              <a:t>Technology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exploit cloud, open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4857" y="2240280"/>
            <a:ext cx="2035454" cy="8229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3A"/>
                </a:solidFill>
                <a:latin typeface="Arial"/>
              </a:rPr>
              <a:t>Security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shift-left, Zero Trust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66367" y="3081528"/>
            <a:ext cx="0" cy="603504"/>
          </a:xfrm>
          <a:prstGeom prst="line">
            <a:avLst/>
          </a:prstGeom>
          <a:ln w="30480">
            <a:solidFill>
              <a:srgbClr val="2E5496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1874519" y="3383280"/>
            <a:ext cx="3657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7A828F"/>
                </a:solidFill>
                <a:latin typeface="Arial"/>
              </a:rPr>
              <a:t>Domain architecture frameworks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2035454" cy="8686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20320">
            <a:solidFill>
              <a:srgbClr val="14284D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Systems Integration Framework</a:t>
            </a:r>
          </a:p>
          <a:p>
            <a:pPr algn="ctr"/>
            <a:r>
              <a:rPr sz="850">
                <a:solidFill>
                  <a:srgbClr val="D6E0F5"/>
                </a:solidFill>
                <a:latin typeface="Arial"/>
              </a:rPr>
              <a:t>patterns • decision tree • guardrails • exceptions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2694" y="3703320"/>
            <a:ext cx="2035454" cy="86868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3970">
            <a:solidFill>
              <a:srgbClr val="AEB6C2"/>
            </a:solidFill>
            <a:prstDash val="dash"/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7A828F"/>
                </a:solidFill>
                <a:latin typeface="Arial"/>
              </a:rPr>
              <a:t>Application</a:t>
            </a:r>
          </a:p>
          <a:p>
            <a:pPr algn="ctr"/>
            <a:r>
              <a:rPr sz="850">
                <a:solidFill>
                  <a:srgbClr val="AEB6C2"/>
                </a:solidFill>
                <a:latin typeface="Arial"/>
              </a:rPr>
              <a:t>domain framework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6748" y="3703320"/>
            <a:ext cx="2035454" cy="86868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3970">
            <a:solidFill>
              <a:srgbClr val="AEB6C2"/>
            </a:solidFill>
            <a:prstDash val="dash"/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7A828F"/>
                </a:solidFill>
                <a:latin typeface="Arial"/>
              </a:rPr>
              <a:t>Data</a:t>
            </a:r>
          </a:p>
          <a:p>
            <a:pPr algn="ctr"/>
            <a:r>
              <a:rPr sz="850">
                <a:solidFill>
                  <a:srgbClr val="AEB6C2"/>
                </a:solidFill>
                <a:latin typeface="Arial"/>
              </a:rPr>
              <a:t>domain framework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0803" y="3703320"/>
            <a:ext cx="2035454" cy="86868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3970">
            <a:solidFill>
              <a:srgbClr val="AEB6C2"/>
            </a:solidFill>
            <a:prstDash val="dash"/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7A828F"/>
                </a:solidFill>
                <a:latin typeface="Arial"/>
              </a:rPr>
              <a:t>Technology</a:t>
            </a:r>
          </a:p>
          <a:p>
            <a:pPr algn="ctr"/>
            <a:r>
              <a:rPr sz="850">
                <a:solidFill>
                  <a:srgbClr val="AEB6C2"/>
                </a:solidFill>
                <a:latin typeface="Arial"/>
              </a:rPr>
              <a:t>domain framework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4857" y="3703320"/>
            <a:ext cx="2035454" cy="86868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3970">
            <a:solidFill>
              <a:srgbClr val="AEB6C2"/>
            </a:solidFill>
            <a:prstDash val="dash"/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7A828F"/>
                </a:solidFill>
                <a:latin typeface="Arial"/>
              </a:rPr>
              <a:t>Security</a:t>
            </a:r>
          </a:p>
          <a:p>
            <a:pPr algn="ctr"/>
            <a:r>
              <a:rPr sz="850">
                <a:solidFill>
                  <a:srgbClr val="AEB6C2"/>
                </a:solidFill>
                <a:latin typeface="Arial"/>
              </a:rPr>
              <a:t>domain framework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66367" y="4572000"/>
            <a:ext cx="0" cy="566928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1730959" y="4700016"/>
            <a:ext cx="10972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5A6675"/>
                </a:solidFill>
                <a:latin typeface="Arial"/>
              </a:rPr>
              <a:t>applies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3892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BF1DA"/>
          </a:solidFill>
          <a:ln w="17780">
            <a:solidFill>
              <a:srgbClr val="B7791F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7A4F12"/>
                </a:solidFill>
                <a:latin typeface="Arial"/>
              </a:rPr>
              <a:t>Engineering Standards (Cloud)</a:t>
            </a:r>
          </a:p>
          <a:p>
            <a:pPr algn="ctr"/>
            <a:r>
              <a:rPr sz="1000">
                <a:solidFill>
                  <a:srgbClr val="7A4F12"/>
                </a:solidFill>
                <a:latin typeface="Arial"/>
              </a:rPr>
              <a:t>vWAN hub-spoke  •  Managed Identity (no keys)  •  Key Vault  •  WAF/DDoS  •  IaC/DevSecOps  •  ASR/ZRS/GRS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53328"/>
            <a:ext cx="1109167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7A828F"/>
                </a:solidFill>
                <a:latin typeface="Arial"/>
              </a:rPr>
              <a:t>The SIF is the Integration domain framework. It applies the enterprise and domain principles and is realised through the engineering standards.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Pub/sub Fanout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Publisher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Topic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Finance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Doc gen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Analytics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publish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subscriptions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Queue Leveling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4686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consumer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submit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dequeue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26" b="0" i="0">
                <a:solidFill>
                  <a:srgbClr val="5A6675"/>
                </a:solidFill>
                <a:latin typeface="Arial"/>
              </a:rPr>
              <a:t>process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Reference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79279" y="2350970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79279" y="3506002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79279" y="4661033"/>
            <a:ext cx="0" cy="231007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86373" y="1744578"/>
            <a:ext cx="288758" cy="0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79279" y="5816065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98205" y="1426945"/>
            <a:ext cx="1588168" cy="635267"/>
          </a:xfrm>
          <a:prstGeom prst="roundRect">
            <a:avLst>
              <a:gd name="adj" fmla="val 20454"/>
            </a:avLst>
          </a:prstGeom>
          <a:solidFill>
            <a:srgbClr val="EEF1F5"/>
          </a:solidFill>
          <a:ln w="2165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0" b="1" i="0">
                <a:solidFill>
                  <a:srgbClr val="33414F"/>
                </a:solidFill>
                <a:latin typeface="Arial"/>
              </a:rPr>
              <a:t>Consumers /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5131" y="1426945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DCE7F5"/>
          </a:solidFill>
          <a:ln w="21656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64" b="1" i="0">
                <a:solidFill>
                  <a:srgbClr val="1F3864"/>
                </a:solidFill>
                <a:latin typeface="Arial"/>
              </a:rPr>
              <a:t>Exposure</a:t>
            </a:r>
          </a:p>
          <a:p>
            <a:pPr algn="ctr"/>
            <a:r>
              <a:rPr sz="1364" b="0" i="0">
                <a:solidFill>
                  <a:srgbClr val="1F3864"/>
                </a:solidFill>
                <a:latin typeface="Arial"/>
              </a:rPr>
              <a:t>API Management  •  (shared, non-public)</a:t>
            </a:r>
          </a:p>
          <a:p>
            <a:pPr algn="ctr"/>
            <a:r>
              <a:rPr sz="1080" b="0" i="1">
                <a:solidFill>
                  <a:srgbClr val="1F3864"/>
                </a:solidFill>
                <a:latin typeface="Arial"/>
              </a:rPr>
              <a:t>Front Door + WAF + DDoS for public ingress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5131" y="2581976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E9E2F5"/>
          </a:solidFill>
          <a:ln w="21656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64" b="1" i="0">
                <a:solidFill>
                  <a:srgbClr val="4A2E7A"/>
                </a:solidFill>
                <a:latin typeface="Arial"/>
              </a:rPr>
              <a:t>Orchestration</a:t>
            </a:r>
          </a:p>
          <a:p>
            <a:pPr algn="ctr"/>
            <a:r>
              <a:rPr sz="1364" b="0" i="0">
                <a:solidFill>
                  <a:srgbClr val="4A2E7A"/>
                </a:solidFill>
                <a:latin typeface="Arial"/>
              </a:rPr>
              <a:t>Logic Apps (Standard)</a:t>
            </a:r>
          </a:p>
          <a:p>
            <a:pPr algn="ctr"/>
            <a:r>
              <a:rPr sz="1080" b="0" i="1">
                <a:solidFill>
                  <a:srgbClr val="4A2E7A"/>
                </a:solidFill>
                <a:latin typeface="Arial"/>
              </a:rPr>
              <a:t>Stateful control flow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75131" y="3737008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D6ECEC"/>
          </a:solidFill>
          <a:ln w="21656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64" b="1" i="0">
                <a:solidFill>
                  <a:srgbClr val="1D5253"/>
                </a:solidFill>
                <a:latin typeface="Arial"/>
              </a:rPr>
              <a:t>Messaging &amp; Eventing</a:t>
            </a:r>
          </a:p>
          <a:p>
            <a:pPr algn="ctr"/>
            <a:r>
              <a:rPr sz="1364" b="0" i="0">
                <a:solidFill>
                  <a:srgbClr val="1D5253"/>
                </a:solidFill>
                <a:latin typeface="Arial"/>
              </a:rPr>
              <a:t>Service Bus   •   Event Grid   •   Event Hubs</a:t>
            </a:r>
          </a:p>
          <a:p>
            <a:pPr algn="ctr"/>
            <a:r>
              <a:rPr sz="1080" b="0" i="1">
                <a:solidFill>
                  <a:srgbClr val="1D5253"/>
                </a:solidFill>
                <a:latin typeface="Arial"/>
              </a:rPr>
              <a:t>Async, pub/sub,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5131" y="4892040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FBF1DA"/>
          </a:solidFill>
          <a:ln w="21656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64" b="1" i="0">
                <a:solidFill>
                  <a:srgbClr val="7A4F12"/>
                </a:solidFill>
                <a:latin typeface="Arial"/>
              </a:rPr>
              <a:t>Implementation</a:t>
            </a:r>
          </a:p>
          <a:p>
            <a:pPr algn="ctr"/>
            <a:r>
              <a:rPr sz="1364" b="0" i="0">
                <a:solidFill>
                  <a:srgbClr val="7A4F12"/>
                </a:solidFill>
                <a:latin typeface="Arial"/>
              </a:rPr>
              <a:t>Azure Functions  (Python / .NET)</a:t>
            </a:r>
          </a:p>
          <a:p>
            <a:pPr algn="ctr"/>
            <a:r>
              <a:rPr sz="1080" b="0" i="1">
                <a:solidFill>
                  <a:srgbClr val="7A4F12"/>
                </a:solidFill>
                <a:latin typeface="Arial"/>
              </a:rPr>
              <a:t>Logic, transform, compute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5131" y="6047071"/>
            <a:ext cx="6208294" cy="808522"/>
          </a:xfrm>
          <a:prstGeom prst="roundRect">
            <a:avLst>
              <a:gd name="adj" fmla="val 17857"/>
            </a:avLst>
          </a:prstGeom>
          <a:solidFill>
            <a:srgbClr val="F3F5F8"/>
          </a:solidFill>
          <a:ln w="21656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64" b="1" i="0">
                <a:solidFill>
                  <a:srgbClr val="33414F"/>
                </a:solidFill>
                <a:latin typeface="Arial"/>
              </a:rPr>
              <a:t>Data Platform Exchange (boundary)</a:t>
            </a:r>
          </a:p>
          <a:p>
            <a:pPr algn="ctr"/>
            <a:r>
              <a:rPr sz="1364" b="0" i="0">
                <a:solidFill>
                  <a:srgbClr val="33414F"/>
                </a:solidFill>
                <a:latin typeface="Arial"/>
              </a:rPr>
              <a:t>Snowflake: events in / curated products out, via defined patterns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43308" y="1426945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Entra ID +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Managed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43308" y="2437597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Key Vault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(Cyber sub)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43308" y="3448250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Monitor /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Log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3308" y="4458903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vWAN + Private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8870" y="1159844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93" b="1" i="0">
                <a:solidFill>
                  <a:srgbClr val="5A6675"/>
                </a:solidFill>
                <a:latin typeface="Arial"/>
              </a:rPr>
              <a:t>Cross-cutting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Reliable Messaging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sessions, dedup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Idempotent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consumer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System of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send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apply once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Reverse Etl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Pipeline /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Service Bus /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APIM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87687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system</a:t>
            </a:r>
          </a:p>
        </p:txBody>
      </p:sp>
      <p:sp>
        <p:nvSpPr>
          <p:cNvPr id="9" name="Can 8"/>
          <p:cNvSpPr/>
          <p:nvPr/>
        </p:nvSpPr>
        <p:spPr>
          <a:xfrm>
            <a:off x="820971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curated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93" b="0" i="1">
                <a:solidFill>
                  <a:srgbClr val="7A828F"/>
                </a:solidFill>
                <a:latin typeface="Arial"/>
              </a:rPr>
              <a:t>Analytics informs operations — it does not overwrite the system of record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Scheduled Trigger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Schedule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recurrence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8508">
            <a:solidFill>
              <a:srgbClr val="6D4AA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988" b="0" i="0">
                <a:solidFill>
                  <a:srgbClr val="4A2E7A"/>
                </a:solidFill>
                <a:latin typeface="Arial"/>
              </a:rPr>
              <a:t>Standard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 /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687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fires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93" b="0" i="1">
                <a:solidFill>
                  <a:srgbClr val="7A828F"/>
                </a:solidFill>
                <a:latin typeface="Arial"/>
              </a:rPr>
              <a:t>Use only where there is no event to react to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Streaming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Feeds /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988" b="0" i="0">
                <a:solidFill>
                  <a:srgbClr val="7B3410"/>
                </a:solidFill>
                <a:latin typeface="Arial"/>
              </a:rPr>
              <a:t>partitioned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Processor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Functions / ASA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40" b="0" i="0">
                <a:solidFill>
                  <a:srgbClr val="5A6675"/>
                </a:solidFill>
                <a:latin typeface="Arial"/>
              </a:rPr>
              <a:t>offload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5DB775-C2B1-2717-65C2-2C4696BDF2D7}"/>
              </a:ext>
            </a:extLst>
          </p:cNvPr>
          <p:cNvSpPr txBox="1"/>
          <p:nvPr/>
        </p:nvSpPr>
        <p:spPr>
          <a:xfrm>
            <a:off x="3048000" y="3302042"/>
            <a:ext cx="6096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3 Security and Trust Boundary Architecture</a:t>
            </a:r>
            <a:endParaRPr lang="en-IN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73152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Security and Trust Boundary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286000" y="1188720"/>
            <a:ext cx="0" cy="3977640"/>
          </a:xfrm>
          <a:prstGeom prst="line">
            <a:avLst/>
          </a:prstGeom>
          <a:ln w="20320">
            <a:solidFill>
              <a:srgbClr val="C0392B"/>
            </a:solidFill>
            <a:prstDash val="dash"/>
          </a:ln>
        </p:spPr>
      </p:cxnSp>
      <p:sp>
        <p:nvSpPr>
          <p:cNvPr id="4" name="TextBox 3"/>
          <p:cNvSpPr txBox="1"/>
          <p:nvPr/>
        </p:nvSpPr>
        <p:spPr>
          <a:xfrm>
            <a:off x="1417320" y="896112"/>
            <a:ext cx="27432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Arial"/>
              </a:rPr>
              <a:t>Internet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5230368"/>
            <a:ext cx="29260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0392B"/>
                </a:solidFill>
                <a:latin typeface="Arial"/>
              </a:rPr>
              <a:t>crossed only at the 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889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 w="17780">
            <a:solidFill>
              <a:srgbClr val="7C8BA0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0">
                <a:solidFill>
                  <a:srgbClr val="33414F"/>
                </a:solidFill>
                <a:latin typeface="Arial"/>
              </a:rPr>
              <a:t>Internet / partners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7889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EEF2FA"/>
          </a:solidFill>
          <a:ln w="17780">
            <a:solidFill>
              <a:srgbClr val="7C8BA0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50" b="1" dirty="0">
                <a:solidFill>
                  <a:srgbClr val="1F3864"/>
                </a:solidFill>
                <a:latin typeface="Arial"/>
              </a:rPr>
              <a:t>Perimeter edge</a:t>
            </a:r>
          </a:p>
          <a:p>
            <a:pPr algn="ctr"/>
            <a:r>
              <a:rPr sz="950" dirty="0">
                <a:solidFill>
                  <a:srgbClr val="5A6675"/>
                </a:solidFill>
                <a:latin typeface="Arial"/>
              </a:rPr>
              <a:t>internet-facing ingress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27889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DCE7F5"/>
          </a:solidFill>
          <a:ln w="17780">
            <a:solidFill>
              <a:srgbClr val="2E5496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1F3864"/>
                </a:solidFill>
                <a:latin typeface="Arial"/>
              </a:rPr>
              <a:t>API Management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governed 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487168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DCEBE7"/>
          </a:solidFill>
          <a:ln w="17780">
            <a:solidFill>
              <a:srgbClr val="4C9A8A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6B5E"/>
                </a:solidFill>
                <a:latin typeface="Arial"/>
              </a:rPr>
              <a:t>Integration platform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Logic Apps, Functions</a:t>
            </a:r>
          </a:p>
          <a:p>
            <a:pPr algn="ctr"/>
            <a:r>
              <a:rPr sz="950">
                <a:solidFill>
                  <a:srgbClr val="5A6675"/>
                </a:solidFill>
                <a:latin typeface="Arial"/>
              </a:rPr>
              <a:t>Service Bus, Event Grid, Event Hubs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2788920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 w="17780">
            <a:solidFill>
              <a:srgbClr val="7C8BA0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33414F"/>
                </a:solidFill>
                <a:latin typeface="Arial"/>
              </a:rPr>
              <a:t>Backend systems</a:t>
            </a:r>
          </a:p>
          <a:p>
            <a:pPr algn="ctr"/>
            <a:r>
              <a:rPr sz="900">
                <a:solidFill>
                  <a:srgbClr val="5A6675"/>
                </a:solidFill>
                <a:latin typeface="Arial"/>
              </a:rPr>
              <a:t>via Private Endpoint</a:t>
            </a:r>
          </a:p>
          <a:p>
            <a:pPr algn="ctr"/>
            <a:r>
              <a:rPr sz="900">
                <a:solidFill>
                  <a:srgbClr val="5A6675"/>
                </a:solidFill>
                <a:latin typeface="Arial"/>
              </a:rPr>
              <a:t>Data platform via Private Link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57400" y="3223260"/>
            <a:ext cx="64008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cxnSp>
        <p:nvCxnSpPr>
          <p:cNvPr id="15" name="Connector 14"/>
          <p:cNvCxnSpPr/>
          <p:nvPr/>
        </p:nvCxnSpPr>
        <p:spPr>
          <a:xfrm>
            <a:off x="4526280" y="3223260"/>
            <a:ext cx="2743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cxnSp>
        <p:nvCxnSpPr>
          <p:cNvPr id="16" name="Connector 15"/>
          <p:cNvCxnSpPr/>
          <p:nvPr/>
        </p:nvCxnSpPr>
        <p:spPr>
          <a:xfrm>
            <a:off x="6629400" y="3223260"/>
            <a:ext cx="2743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cxnSp>
        <p:nvCxnSpPr>
          <p:cNvPr id="17" name="Connector 16"/>
          <p:cNvCxnSpPr/>
          <p:nvPr/>
        </p:nvCxnSpPr>
        <p:spPr>
          <a:xfrm>
            <a:off x="9189720" y="3223260"/>
            <a:ext cx="36576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cxnSp>
        <p:nvCxnSpPr>
          <p:cNvPr id="18" name="Connector 17"/>
          <p:cNvCxnSpPr/>
          <p:nvPr/>
        </p:nvCxnSpPr>
        <p:spPr>
          <a:xfrm>
            <a:off x="8046720" y="3904487"/>
            <a:ext cx="0" cy="713233"/>
          </a:xfrm>
          <a:prstGeom prst="line">
            <a:avLst/>
          </a:prstGeom>
          <a:ln w="20320">
            <a:solidFill>
              <a:srgbClr val="8A97A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8183879" y="4133087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5A6675"/>
                </a:solidFill>
                <a:latin typeface="Arial"/>
              </a:rPr>
              <a:t>MI + KV ref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46177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BF1DA"/>
          </a:solidFill>
          <a:ln w="17780">
            <a:solidFill>
              <a:srgbClr val="B7791F"/>
            </a:solidFill>
          </a:ln>
          <a:effectLst/>
        </p:spPr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7A4F12"/>
                </a:solidFill>
                <a:latin typeface="Arial"/>
              </a:rPr>
              <a:t>Key Vault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48640" y="2651760"/>
            <a:ext cx="2464308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7780">
            <a:solidFill>
              <a:srgbClr val="2E5496"/>
            </a:solidFill>
          </a:ln>
          <a:effectLst/>
        </p:spPr>
        <p:txBody>
          <a:bodyPr wrap="square" lIns="118872" tIns="384048" rIns="118872" bIns="91440" rtlCol="0" anchor="t"/>
          <a:lstStyle/>
          <a:p>
            <a:pPr algn="ctr"/>
            <a:r>
              <a:rPr sz="1400" b="1">
                <a:solidFill>
                  <a:srgbClr val="1F3864"/>
                </a:solidFill>
                <a:latin typeface="Arial"/>
              </a:rPr>
              <a:t>Raise</a:t>
            </a:r>
          </a:p>
          <a:p>
            <a:pPr algn="ctr">
              <a:spcBef>
                <a:spcPts val="400"/>
              </a:spcBef>
            </a:pPr>
            <a:r>
              <a:rPr sz="950">
                <a:solidFill>
                  <a:srgbClr val="33414F"/>
                </a:solidFill>
                <a:latin typeface="Arial"/>
              </a:rPr>
              <a:t>Document the deviation, the rationale and the proposed compensating controls.</a:t>
            </a:r>
          </a:p>
        </p:txBody>
      </p:sp>
      <p:sp>
        <p:nvSpPr>
          <p:cNvPr id="4" name="Oval 3"/>
          <p:cNvSpPr/>
          <p:nvPr/>
        </p:nvSpPr>
        <p:spPr>
          <a:xfrm>
            <a:off x="1543050" y="2414015"/>
            <a:ext cx="475488" cy="475488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4428" y="2651760"/>
            <a:ext cx="2464308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7780">
            <a:solidFill>
              <a:srgbClr val="2E5496"/>
            </a:solidFill>
          </a:ln>
          <a:effectLst/>
        </p:spPr>
        <p:txBody>
          <a:bodyPr wrap="square" lIns="118872" tIns="384048" rIns="118872" bIns="91440" rtlCol="0" anchor="t"/>
          <a:lstStyle/>
          <a:p>
            <a:pPr algn="ctr"/>
            <a:r>
              <a:rPr sz="1400" b="1">
                <a:solidFill>
                  <a:srgbClr val="1F3864"/>
                </a:solidFill>
                <a:latin typeface="Arial"/>
              </a:rPr>
              <a:t>Assess</a:t>
            </a:r>
          </a:p>
          <a:p>
            <a:pPr algn="ctr">
              <a:spcBef>
                <a:spcPts val="400"/>
              </a:spcBef>
            </a:pPr>
            <a:r>
              <a:rPr sz="950">
                <a:solidFill>
                  <a:srgbClr val="33414F"/>
                </a:solidFill>
                <a:latin typeface="Arial"/>
              </a:rPr>
              <a:t>Security and risk assessment, with escalation to the risk register where the posture is affected.</a:t>
            </a:r>
          </a:p>
        </p:txBody>
      </p:sp>
      <p:sp>
        <p:nvSpPr>
          <p:cNvPr id="6" name="Oval 5"/>
          <p:cNvSpPr/>
          <p:nvPr/>
        </p:nvSpPr>
        <p:spPr>
          <a:xfrm>
            <a:off x="4418838" y="2414015"/>
            <a:ext cx="475488" cy="475488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2651760"/>
            <a:ext cx="2464308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7780">
            <a:solidFill>
              <a:srgbClr val="2E5496"/>
            </a:solidFill>
          </a:ln>
          <a:effectLst/>
        </p:spPr>
        <p:txBody>
          <a:bodyPr wrap="square" lIns="118872" tIns="384048" rIns="118872" bIns="91440" rtlCol="0" anchor="t"/>
          <a:lstStyle/>
          <a:p>
            <a:pPr algn="ctr"/>
            <a:r>
              <a:rPr sz="1400" b="1">
                <a:solidFill>
                  <a:srgbClr val="1F3864"/>
                </a:solidFill>
                <a:latin typeface="Arial"/>
              </a:rPr>
              <a:t>Approve</a:t>
            </a:r>
          </a:p>
          <a:p>
            <a:pPr algn="ctr">
              <a:spcBef>
                <a:spcPts val="400"/>
              </a:spcBef>
            </a:pPr>
            <a:r>
              <a:rPr sz="950">
                <a:solidFill>
                  <a:srgbClr val="33414F"/>
                </a:solidFill>
                <a:latin typeface="Arial"/>
              </a:rPr>
              <a:t>Security approval and, where required, senior leadership. Record owner and expiry.</a:t>
            </a:r>
          </a:p>
        </p:txBody>
      </p:sp>
      <p:sp>
        <p:nvSpPr>
          <p:cNvPr id="8" name="Oval 7"/>
          <p:cNvSpPr/>
          <p:nvPr/>
        </p:nvSpPr>
        <p:spPr>
          <a:xfrm>
            <a:off x="7294626" y="2414015"/>
            <a:ext cx="475488" cy="475488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76004" y="2651760"/>
            <a:ext cx="2464308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7780">
            <a:solidFill>
              <a:srgbClr val="2E5496"/>
            </a:solidFill>
          </a:ln>
          <a:effectLst/>
        </p:spPr>
        <p:txBody>
          <a:bodyPr wrap="square" lIns="118872" tIns="384048" rIns="118872" bIns="91440" rtlCol="0" anchor="t"/>
          <a:lstStyle/>
          <a:p>
            <a:pPr algn="ctr"/>
            <a:r>
              <a:rPr sz="1400" b="1">
                <a:solidFill>
                  <a:srgbClr val="1F3864"/>
                </a:solidFill>
                <a:latin typeface="Arial"/>
              </a:rPr>
              <a:t>Review</a:t>
            </a:r>
          </a:p>
          <a:p>
            <a:pPr algn="ctr">
              <a:spcBef>
                <a:spcPts val="400"/>
              </a:spcBef>
            </a:pPr>
            <a:r>
              <a:rPr sz="950">
                <a:solidFill>
                  <a:srgbClr val="33414F"/>
                </a:solidFill>
                <a:latin typeface="Arial"/>
              </a:rPr>
              <a:t>Re-examine at expiry, and remediate to the standard pattern where possible.</a:t>
            </a:r>
          </a:p>
        </p:txBody>
      </p:sp>
      <p:sp>
        <p:nvSpPr>
          <p:cNvPr id="10" name="Oval 9"/>
          <p:cNvSpPr/>
          <p:nvPr/>
        </p:nvSpPr>
        <p:spPr>
          <a:xfrm>
            <a:off x="10170414" y="2414015"/>
            <a:ext cx="475488" cy="475488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2948" y="3360420"/>
            <a:ext cx="411480" cy="0"/>
          </a:xfrm>
          <a:prstGeom prst="line">
            <a:avLst/>
          </a:prstGeom>
          <a:ln w="30480">
            <a:solidFill>
              <a:srgbClr val="8A97A8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5888736" y="3360420"/>
            <a:ext cx="411480" cy="0"/>
          </a:xfrm>
          <a:prstGeom prst="line">
            <a:avLst/>
          </a:prstGeom>
          <a:ln w="30480">
            <a:solidFill>
              <a:srgbClr val="8A97A8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>
            <a:off x="8764524" y="3360420"/>
            <a:ext cx="411480" cy="0"/>
          </a:xfrm>
          <a:prstGeom prst="line">
            <a:avLst/>
          </a:prstGeom>
          <a:ln w="30480">
            <a:solidFill>
              <a:srgbClr val="8A97A8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10408158" y="4069080"/>
            <a:ext cx="0" cy="566928"/>
          </a:xfrm>
          <a:prstGeom prst="line">
            <a:avLst/>
          </a:prstGeom>
          <a:ln w="25400">
            <a:solidFill>
              <a:srgbClr val="9AA6B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780794" y="4636008"/>
            <a:ext cx="8627364" cy="0"/>
          </a:xfrm>
          <a:prstGeom prst="line">
            <a:avLst/>
          </a:prstGeom>
          <a:ln w="25400">
            <a:solidFill>
              <a:srgbClr val="9AA6B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780794" y="4069080"/>
            <a:ext cx="0" cy="566928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548640" y="4361688"/>
            <a:ext cx="11091672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5A6675"/>
                </a:solidFill>
                <a:latin typeface="Arial"/>
              </a:rPr>
              <a:t>re-examine at expiry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0056"/>
            <a:ext cx="11091672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7A828F"/>
                </a:solidFill>
                <a:latin typeface="Arial"/>
              </a:rPr>
              <a:t>Every exception is time-bound, with a named owner and an expiry.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Arial"/>
              </a:rPr>
              <a:t>Integration Pattern Decision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7A828F"/>
                </a:solidFill>
                <a:latin typeface="Arial"/>
              </a:rPr>
              <a:t>Read from the top. The first yes resolves the pattern family. No technology is chosen here. The matrix in 7.2 maps a family to Azure capabilities.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6070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Does a consumer need an immediate, synchronous answer?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06070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Synchronous request-reply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SFINT1 to SFINT4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03520" y="133502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7" name="TextBox 6"/>
          <p:cNvSpPr txBox="1"/>
          <p:nvPr/>
        </p:nvSpPr>
        <p:spPr>
          <a:xfrm>
            <a:off x="5349240" y="106070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26080" y="1609343"/>
            <a:ext cx="0" cy="274321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9" name="TextBox 8"/>
          <p:cNvSpPr txBox="1"/>
          <p:nvPr/>
        </p:nvSpPr>
        <p:spPr>
          <a:xfrm>
            <a:off x="3035808" y="165506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8366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Is the main purpose analytics, or bulk movement across the data boundary?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88366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Data platform exchange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SFINT21 to SFINT23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03520" y="215798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13" name="TextBox 12"/>
          <p:cNvSpPr txBox="1"/>
          <p:nvPr/>
        </p:nvSpPr>
        <p:spPr>
          <a:xfrm>
            <a:off x="5349240" y="188366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432304"/>
            <a:ext cx="0" cy="274320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3035808" y="2478024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0662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Is it primarily transferring a file or batch?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70662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File transfer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SFINT19 to SFINT20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98094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5349240" y="270662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255264"/>
            <a:ext cx="0" cy="274320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21" name="TextBox 20"/>
          <p:cNvSpPr txBox="1"/>
          <p:nvPr/>
        </p:nvSpPr>
        <p:spPr>
          <a:xfrm>
            <a:off x="3035808" y="3300984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958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Does it span multiple systems, or need long-running state and retries?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352958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Orchestration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SFINT16 to SFINT18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20" y="380390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349240" y="352958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26080" y="4078224"/>
            <a:ext cx="0" cy="274320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27" name="TextBox 26"/>
          <p:cNvSpPr txBox="1"/>
          <p:nvPr/>
        </p:nvSpPr>
        <p:spPr>
          <a:xfrm>
            <a:off x="3035808" y="4123944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5254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Is it a notification or fan-out, or a high-volume stream?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35254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Eventing and streaming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SFINT11 to SFINT15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03520" y="462686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5349240" y="435254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926080" y="4901183"/>
            <a:ext cx="0" cy="274321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035808" y="4946904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75504"/>
            <a:ext cx="4754880" cy="54864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7780">
            <a:solidFill>
              <a:srgbClr val="2E5496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00" b="0">
                <a:solidFill>
                  <a:srgbClr val="1F3864"/>
                </a:solidFill>
                <a:latin typeface="Arial"/>
              </a:rPr>
              <a:t>Does it need guaranteed delivery, decoupling or load levelling?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5175504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Asynchronous messaging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SFINT5 to SFINT10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0" y="5449824"/>
            <a:ext cx="1645920" cy="0"/>
          </a:xfrm>
          <a:prstGeom prst="line">
            <a:avLst/>
          </a:prstGeom>
          <a:ln w="25400">
            <a:solidFill>
              <a:srgbClr val="8A97A8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5349240" y="5175504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5A6675"/>
                </a:solidFill>
                <a:latin typeface="Arial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926080" y="5724144"/>
            <a:ext cx="0" cy="329184"/>
          </a:xfrm>
          <a:prstGeom prst="line">
            <a:avLst/>
          </a:prstGeom>
          <a:ln w="25400">
            <a:solidFill>
              <a:srgbClr val="9AA6B5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3035808" y="5797296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828F"/>
                </a:solidFill>
                <a:latin typeface="Arial"/>
              </a:rPr>
              <a:t>no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6053328"/>
            <a:ext cx="475488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7780">
            <a:solidFill>
              <a:srgbClr val="14284D"/>
            </a:solidFill>
          </a:ln>
          <a:effectLst/>
        </p:spPr>
        <p:txBody>
          <a:bodyPr wrap="square" tIns="18288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Transformation and routing</a:t>
            </a:r>
          </a:p>
          <a:p>
            <a:pPr algn="ctr"/>
            <a:r>
              <a:rPr sz="900" b="0">
                <a:solidFill>
                  <a:srgbClr val="D6E0F5"/>
                </a:solidFill>
                <a:latin typeface="Arial"/>
              </a:rPr>
              <a:t>SFINT24 to SFINT25  ·  a supporting concern within another flow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Arial"/>
              </a:rPr>
              <a:t>Delivery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7A828F"/>
                </a:solidFill>
                <a:latin typeface="Arial"/>
              </a:rPr>
              <a:t>Every integration follows the same pipeline. One immutable artefact is built once and promoted unchanged through each environment.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889150" cy="105156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20320">
            <a:solidFill>
              <a:srgbClr val="14284D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Pull request validation</a:t>
            </a:r>
          </a:p>
          <a:p>
            <a:pPr algn="ctr"/>
            <a:r>
              <a:rPr sz="950" b="0">
                <a:solidFill>
                  <a:srgbClr val="D6E0F5"/>
                </a:solidFill>
                <a:latin typeface="Arial"/>
              </a:rPr>
              <a:t>lint, build, test, scan, approve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49270" y="1874519"/>
            <a:ext cx="1889150" cy="1051560"/>
          </a:xfrm>
          <a:prstGeom prst="roundRect">
            <a:avLst>
              <a:gd name="adj" fmla="val 10000"/>
            </a:avLst>
          </a:prstGeom>
          <a:solidFill>
            <a:srgbClr val="FBF1DA"/>
          </a:solidFill>
          <a:ln w="17780">
            <a:solidFill>
              <a:srgbClr val="B7791F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250" b="1">
                <a:solidFill>
                  <a:srgbClr val="7A4F12"/>
                </a:solidFill>
                <a:latin typeface="Arial"/>
              </a:rPr>
              <a:t>Immutable artefact</a:t>
            </a:r>
          </a:p>
          <a:p>
            <a:pPr algn="ctr"/>
            <a:r>
              <a:rPr sz="950" b="0">
                <a:solidFill>
                  <a:srgbClr val="7A4F12"/>
                </a:solidFill>
                <a:latin typeface="Arial"/>
              </a:rPr>
              <a:t>built once, versioned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49900" y="1874519"/>
            <a:ext cx="1889150" cy="10515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250" b="1">
                <a:solidFill>
                  <a:srgbClr val="2E6B3A"/>
                </a:solidFill>
                <a:latin typeface="Arial"/>
              </a:rPr>
              <a:t>Development</a:t>
            </a:r>
          </a:p>
          <a:p>
            <a:pPr algn="ctr"/>
            <a:r>
              <a:rPr sz="950" b="0">
                <a:solidFill>
                  <a:srgbClr val="5A6675"/>
                </a:solidFill>
                <a:latin typeface="Arial"/>
              </a:rPr>
              <a:t>deploy and 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0531" y="1874519"/>
            <a:ext cx="1889150" cy="10515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250" b="1">
                <a:solidFill>
                  <a:srgbClr val="2E6B3A"/>
                </a:solidFill>
                <a:latin typeface="Arial"/>
              </a:rPr>
              <a:t>Test</a:t>
            </a:r>
          </a:p>
          <a:p>
            <a:pPr algn="ctr"/>
            <a:r>
              <a:rPr sz="950" b="0">
                <a:solidFill>
                  <a:srgbClr val="5A6675"/>
                </a:solidFill>
                <a:latin typeface="Arial"/>
              </a:rPr>
              <a:t>verify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1161" y="1874519"/>
            <a:ext cx="1889150" cy="105156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7780">
            <a:solidFill>
              <a:srgbClr val="3A8341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250" b="1">
                <a:solidFill>
                  <a:srgbClr val="2E6B3A"/>
                </a:solidFill>
                <a:latin typeface="Arial"/>
              </a:rPr>
              <a:t>Production</a:t>
            </a:r>
          </a:p>
          <a:p>
            <a:pPr algn="ctr"/>
            <a:r>
              <a:rPr sz="950" b="0">
                <a:solidFill>
                  <a:srgbClr val="5A6675"/>
                </a:solidFill>
                <a:latin typeface="Arial"/>
              </a:rPr>
              <a:t>change 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37790" y="2400300"/>
            <a:ext cx="411480" cy="0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2094890" y="2107692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5A6675"/>
                </a:solidFill>
                <a:latin typeface="Arial"/>
              </a:rPr>
              <a:t>merge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38420" y="2400300"/>
            <a:ext cx="411480" cy="0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4395520" y="2107692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5A6675"/>
                </a:solidFill>
                <a:latin typeface="Arial"/>
              </a:rPr>
              <a:t>deploy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39051" y="2400300"/>
            <a:ext cx="411480" cy="0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9339681" y="2400300"/>
            <a:ext cx="411480" cy="0"/>
          </a:xfrm>
          <a:prstGeom prst="line">
            <a:avLst/>
          </a:prstGeom>
          <a:ln w="27940">
            <a:solidFill>
              <a:srgbClr val="8A97A8"/>
            </a:solidFill>
            <a:tailEnd type="triangle" w="med" len="med"/>
          </a:ln>
        </p:spPr>
      </p:cxnSp>
      <p:sp>
        <p:nvSpPr>
          <p:cNvPr id="15" name="Diamond 14"/>
          <p:cNvSpPr/>
          <p:nvPr/>
        </p:nvSpPr>
        <p:spPr>
          <a:xfrm>
            <a:off x="7135063" y="2290572"/>
            <a:ext cx="219456" cy="219456"/>
          </a:xfrm>
          <a:prstGeom prst="diamond">
            <a:avLst/>
          </a:prstGeom>
          <a:solidFill>
            <a:srgbClr val="FBE7D6"/>
          </a:solidFill>
          <a:ln w="15240">
            <a:solidFill>
              <a:srgbClr val="C0562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96151" y="2089404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5A6675"/>
                </a:solidFill>
                <a:latin typeface="Arial"/>
              </a:rPr>
              <a:t>promote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7591" y="2555748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C05621"/>
                </a:solidFill>
                <a:latin typeface="Arial"/>
              </a:rPr>
              <a:t>gate</a:t>
            </a:r>
          </a:p>
        </p:txBody>
      </p:sp>
      <p:sp>
        <p:nvSpPr>
          <p:cNvPr id="18" name="Diamond 17"/>
          <p:cNvSpPr/>
          <p:nvPr/>
        </p:nvSpPr>
        <p:spPr>
          <a:xfrm>
            <a:off x="9435693" y="2290572"/>
            <a:ext cx="219456" cy="219456"/>
          </a:xfrm>
          <a:prstGeom prst="diamond">
            <a:avLst/>
          </a:prstGeom>
          <a:solidFill>
            <a:srgbClr val="FBE7D6"/>
          </a:solidFill>
          <a:ln w="15240">
            <a:solidFill>
              <a:srgbClr val="C0562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96781" y="2089404"/>
            <a:ext cx="10972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5A6675"/>
                </a:solidFill>
                <a:latin typeface="Arial"/>
              </a:rPr>
              <a:t>promote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221" y="2555748"/>
            <a:ext cx="914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C05621"/>
                </a:solidFill>
                <a:latin typeface="Arial"/>
              </a:rPr>
              <a:t>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9900" y="3794760"/>
            <a:ext cx="6490411" cy="96012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 w="15240">
            <a:solidFill>
              <a:srgbClr val="7C8BA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r>
              <a:rPr sz="1050" b="0">
                <a:solidFill>
                  <a:srgbClr val="33414F"/>
                </a:solidFill>
                <a:latin typeface="Arial"/>
              </a:rPr>
              <a:t>Every environment runs integration and automation tests, environment validation, and security testing with SonarQube and JFrog.</a:t>
            </a:r>
          </a:p>
          <a:p>
            <a:pPr algn="ctr"/>
            <a:r>
              <a:rPr sz="1050" b="1">
                <a:solidFill>
                  <a:srgbClr val="1F3864"/>
                </a:solidFill>
                <a:latin typeface="Arial"/>
              </a:rPr>
              <a:t>Promotion between environments is gated and approved.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95106" y="2926079"/>
            <a:ext cx="0" cy="868681"/>
          </a:xfrm>
          <a:prstGeom prst="line">
            <a:avLst/>
          </a:prstGeom>
          <a:ln w="20320">
            <a:solidFill>
              <a:srgbClr val="9AA6B5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457200" y="3035808"/>
            <a:ext cx="207203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0" i="1">
                <a:solidFill>
                  <a:srgbClr val="7A828F"/>
                </a:solidFill>
                <a:latin typeface="Arial"/>
              </a:rPr>
              <a:t>at validation, before merge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Sync request-reply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7" b="0" i="0">
                <a:solidFill>
                  <a:srgbClr val="5A6675"/>
                </a:solidFill>
                <a:latin typeface="Arial"/>
              </a:rPr>
              <a:t>invoke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77" b="0" i="1">
                <a:solidFill>
                  <a:srgbClr val="7A828F"/>
                </a:solidFill>
                <a:latin typeface="Arial"/>
              </a:rPr>
              <a:t>Caller blocks for a short, bounded response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5207" y="2651760"/>
            <a:ext cx="4389120" cy="1828800"/>
          </a:xfrm>
          <a:prstGeom prst="roundRect">
            <a:avLst>
              <a:gd name="adj" fmla="val 16000"/>
            </a:avLst>
          </a:prstGeom>
          <a:solidFill>
            <a:srgbClr val="DCE7F5"/>
          </a:solidFill>
          <a:ln w="54864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3744" b="0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T2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5207" y="2651760"/>
            <a:ext cx="4389120" cy="1828800"/>
          </a:xfrm>
          <a:prstGeom prst="roundRect">
            <a:avLst>
              <a:gd name="adj" fmla="val 16000"/>
            </a:avLst>
          </a:prstGeom>
          <a:solidFill>
            <a:srgbClr val="DCE7F5"/>
          </a:solidFill>
          <a:ln w="54864">
            <a:solidFill>
              <a:srgbClr val="2E5496"/>
            </a:solidFill>
          </a:ln>
          <a:effectLst/>
        </p:spPr>
        <p:txBody>
          <a:bodyPr wrap="square" lIns="27432" tIns="9144" rIns="27432" bIns="9144" rtlCol="0" anchor="ctr"/>
          <a:lstStyle/>
          <a:p>
            <a:pPr algn="ctr"/>
            <a:r>
              <a:rPr sz="3744" b="0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1809</Words>
  <Application>Microsoft Office PowerPoint</Application>
  <PresentationFormat>Widescreen</PresentationFormat>
  <Paragraphs>653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Puneet Kumar</cp:lastModifiedBy>
  <cp:revision>3</cp:revision>
  <dcterms:created xsi:type="dcterms:W3CDTF">2013-01-27T09:14:16Z</dcterms:created>
  <dcterms:modified xsi:type="dcterms:W3CDTF">2026-09-07T12:05:36Z</dcterms:modified>
  <cp:category/>
</cp:coreProperties>
</file>