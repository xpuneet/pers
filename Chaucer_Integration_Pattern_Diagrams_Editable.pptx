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000">
                <a:solidFill>
                  <a:srgbClr val="1F3864"/>
                </a:solidFill>
                <a:latin typeface="Aptos"/>
              </a:rPr>
              <a:t>Integration Pattern Diagrams</a:t>
            </a:r>
          </a:p>
          <a:p>
            <a:r>
              <a:rPr sz="1800">
                <a:solidFill>
                  <a:srgbClr val="55606E"/>
                </a:solidFill>
                <a:latin typeface="Aptos"/>
              </a:rPr>
              <a:t>Chaucer Systems Integration Framework  ·  editable source (Sections 7 and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5B626C"/>
                </a:solidFill>
                <a:latin typeface="Aptos"/>
              </a:rPr>
              <a:t>One labelled slide per pattern. Every box, arrow and label is a native shape, so you can edit text, recolour, or restructure any diagram directly and re-export.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DEEF0"/>
          </a:solidFill>
          <a:ln w="15875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External actor /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DCE7F6"/>
          </a:solidFill>
          <a:ln w="15875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Gateway / APIM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3749039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D9EFE6"/>
          </a:solidFill>
          <a:ln w="15875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37307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Messaging / event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FBEBCB"/>
          </a:solidFill>
          <a:ln w="15875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Compute / function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8E1F6"/>
          </a:solidFill>
          <a:ln w="15875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Orchestration / logic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4434840"/>
            <a:ext cx="502920" cy="384048"/>
          </a:xfrm>
          <a:prstGeom prst="roundRect">
            <a:avLst>
              <a:gd name="adj" fmla="val 12000"/>
            </a:avLst>
          </a:prstGeom>
          <a:solidFill>
            <a:srgbClr val="E4EEF9"/>
          </a:solidFill>
          <a:ln w="15875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416552"/>
            <a:ext cx="2834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>
                <a:solidFill>
                  <a:srgbClr val="333A45"/>
                </a:solidFill>
                <a:latin typeface="Aptos"/>
              </a:rPr>
              <a:t>Data platform / store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</a:t>
            </a:r>
            <a:r>
              <a:rPr b="0" sz="2000">
                <a:solidFill>
                  <a:srgbClr val="55606E"/>
                </a:solidFill>
                <a:latin typeface="Aptos"/>
              </a:rPr>
              <a:t>   Managed API facade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broker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Backend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policy system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invoke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</a:t>
            </a:r>
            <a:r>
              <a:rPr b="0" sz="2000">
                <a:solidFill>
                  <a:srgbClr val="55606E"/>
                </a:solidFill>
                <a:latin typeface="Aptos"/>
              </a:rPr>
              <a:t>   API composition / aggregation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aggregator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5143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3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aggregate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361045" y="2423160"/>
            <a:ext cx="784098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30134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361045" y="3611880"/>
            <a:ext cx="784098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65167" y="4059935"/>
            <a:ext cx="0" cy="457201"/>
          </a:xfrm>
          <a:prstGeom prst="line">
            <a:avLst/>
          </a:prstGeom>
          <a:ln w="22225">
            <a:solidFill>
              <a:srgbClr val="2E7D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2106549" y="4517136"/>
            <a:ext cx="2658618" cy="0"/>
          </a:xfrm>
          <a:prstGeom prst="line">
            <a:avLst/>
          </a:prstGeom>
          <a:ln w="22225">
            <a:solidFill>
              <a:srgbClr val="2E7D5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06549" y="4059935"/>
            <a:ext cx="0" cy="457201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64257" y="4553712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SFINT3</a:t>
            </a:r>
            <a:r>
              <a:rPr b="0" sz="2000">
                <a:solidFill>
                  <a:srgbClr val="55606E"/>
                </a:solidFill>
                <a:latin typeface="Aptos"/>
              </a:rPr>
              <a:t>   Protocol / format mediation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Modern 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 / 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translate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Legacy SOAP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backend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REST / JSON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SOAP / XML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SFINT5</a:t>
            </a:r>
            <a:r>
              <a:rPr b="0" sz="2000">
                <a:solidFill>
                  <a:srgbClr val="55606E"/>
                </a:solidFill>
                <a:latin typeface="Aptos"/>
              </a:rPr>
              <a:t>   Queue-based load levelling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256946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Internal producer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writes directly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39" y="375818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External party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submit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32734" y="375818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external only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consumer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Backend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dequeue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process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5534" y="3017520"/>
            <a:ext cx="258409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44621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017520"/>
            <a:ext cx="457200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81174" y="3483864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optional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5534" y="420624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81174" y="391363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submit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4802428" y="3611880"/>
            <a:ext cx="457200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08068" y="361645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SFINT6</a:t>
            </a:r>
            <a:r>
              <a:rPr b="0" sz="2000">
                <a:solidFill>
                  <a:srgbClr val="55606E"/>
                </a:solidFill>
                <a:latin typeface="Aptos"/>
              </a:rPr>
              <a:t>   Competing consumers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1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2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Worker 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compete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SFINT7</a:t>
            </a:r>
            <a:r>
              <a:rPr b="0" sz="2000">
                <a:solidFill>
                  <a:srgbClr val="55606E"/>
                </a:solidFill>
                <a:latin typeface="Aptos"/>
              </a:rPr>
              <a:t>   Asynchronous request-reply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202 +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+ backend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process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082403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106549" y="2706624"/>
            <a:ext cx="7975854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6549" y="2706624"/>
            <a:ext cx="0" cy="457200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2876" y="2487168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callback /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SFINT8</a:t>
            </a:r>
            <a:r>
              <a:rPr b="0" sz="2000">
                <a:solidFill>
                  <a:srgbClr val="55606E"/>
                </a:solidFill>
                <a:latin typeface="Aptos"/>
              </a:rPr>
              <a:t>   Claim-check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Queue: reference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Can 6"/>
          <p:cNvSpPr/>
          <p:nvPr/>
        </p:nvSpPr>
        <p:spPr>
          <a:xfrm>
            <a:off x="5157216" y="375818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Blob store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payload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86912" y="301752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9104" y="2688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reference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31736" y="301752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3928" y="2688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reference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49652" y="3465576"/>
            <a:ext cx="2607564" cy="740664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30474" y="356158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8A93A0"/>
                </a:solidFill>
                <a:latin typeface="Aptos"/>
              </a:rPr>
              <a:t>store payload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7031736" y="3465576"/>
            <a:ext cx="2607564" cy="740664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512557" y="356158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8A93A0"/>
                </a:solidFill>
                <a:latin typeface="Aptos"/>
              </a:rPr>
              <a:t>fetch payload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SFINT9</a:t>
            </a:r>
            <a:r>
              <a:rPr b="0" sz="2000">
                <a:solidFill>
                  <a:srgbClr val="55606E"/>
                </a:solidFill>
                <a:latin typeface="Aptos"/>
              </a:rPr>
              <a:t>   Reliable messaging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Queue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sessions, dedup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Idempotent consumer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System of record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send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deliver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apply once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SFINT10</a:t>
            </a:r>
            <a:r>
              <a:rPr b="0" sz="2000">
                <a:solidFill>
                  <a:srgbClr val="55606E"/>
                </a:solidFill>
                <a:latin typeface="Aptos"/>
              </a:rPr>
              <a:t>   Scheduled / timed trigger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Schedule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recurrence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 / Function / WebJob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scheduled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 / Service Bus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Target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fires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dispatch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Use only where there is no event to react 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SFINT11</a:t>
            </a:r>
            <a:r>
              <a:rPr b="0" sz="2000">
                <a:solidFill>
                  <a:srgbClr val="55606E"/>
                </a:solidFill>
                <a:latin typeface="Aptos"/>
              </a:rPr>
              <a:t>   Publish / subscribe fan-out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Publisher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Topic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Service Bus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Finance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Doc gen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Analytics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subscription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publish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subscriptions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SFINT12</a:t>
            </a:r>
            <a:r>
              <a:rPr b="0" sz="2000">
                <a:solidFill>
                  <a:srgbClr val="55606E"/>
                </a:solidFill>
                <a:latin typeface="Aptos"/>
              </a:rPr>
              <a:t>   Discrete event notification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e.g. Blob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Handler 1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75818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Handler 2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emits event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7031736" y="3017520"/>
            <a:ext cx="167030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043928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routes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31736" y="3611880"/>
            <a:ext cx="1670304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SFINT13</a:t>
            </a:r>
            <a:r>
              <a:rPr b="0" sz="2000">
                <a:solidFill>
                  <a:srgbClr val="55606E"/>
                </a:solidFill>
                <a:latin typeface="Aptos"/>
              </a:rPr>
              <a:t>   Inbound webhook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 / SaaS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Network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validate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 / Service Bus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process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HTTPS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verify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enqueue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SFINT14</a:t>
            </a:r>
            <a:r>
              <a:rPr b="0" sz="2000">
                <a:solidFill>
                  <a:srgbClr val="55606E"/>
                </a:solidFill>
                <a:latin typeface="Aptos"/>
              </a:rPr>
              <a:t>   Outbound webhook / notification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Event 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Event Grid / Logic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External subscriber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event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push (HTTPS)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SFINT15</a:t>
            </a:r>
            <a:r>
              <a:rPr b="0" sz="2000">
                <a:solidFill>
                  <a:srgbClr val="55606E"/>
                </a:solidFill>
                <a:latin typeface="Aptos"/>
              </a:rPr>
              <a:t>   Stream / telemetry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Feeds / producers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Hubs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partitioned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Processor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Functions / ASA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5143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landing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stream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3013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offload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SFINT16</a:t>
            </a:r>
            <a:r>
              <a:rPr b="0" sz="2000">
                <a:solidFill>
                  <a:srgbClr val="55606E"/>
                </a:solidFill>
                <a:latin typeface="Aptos"/>
              </a:rPr>
              <a:t>   Stateful process orchestration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Trigger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Orchestrator Layer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Durable Functions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 to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Service Bus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async 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start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coordinates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SFINT17</a:t>
            </a:r>
            <a:r>
              <a:rPr b="0" sz="2000">
                <a:solidFill>
                  <a:srgbClr val="55606E"/>
                </a:solidFill>
                <a:latin typeface="Aptos"/>
              </a:rPr>
              <a:t>   Process with compensation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orchestrator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Bind policy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System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Post to finance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step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step 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39300" y="4059935"/>
            <a:ext cx="0" cy="457201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549652" y="4517136"/>
            <a:ext cx="7089648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2549652" y="4059935"/>
            <a:ext cx="0" cy="457201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722876" y="4553712"/>
            <a:ext cx="27432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compensate (void bind) on failure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SFINT18</a:t>
            </a:r>
            <a:r>
              <a:rPr b="0" sz="2000">
                <a:solidFill>
                  <a:srgbClr val="55606E"/>
                </a:solidFill>
                <a:latin typeface="Aptos"/>
              </a:rPr>
              <a:t>   Human-in-the-loop / approval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Approver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Teams /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Continue / reject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 approval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decision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SFINT19</a:t>
            </a:r>
            <a:r>
              <a:rPr b="0" sz="2000">
                <a:solidFill>
                  <a:srgbClr val="55606E"/>
                </a:solidFill>
                <a:latin typeface="Aptos"/>
              </a:rPr>
              <a:t>   Event-driven file ingestion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via SFTP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Blob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landing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Event Grid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blob-created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+ Function parse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Service Bus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records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drop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on arrival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orchestrate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send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A file is a transport; react on arrival; decompose into messages.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SFINT20</a:t>
            </a:r>
            <a:r>
              <a:rPr b="0" sz="2000">
                <a:solidFill>
                  <a:srgbClr val="55606E"/>
                </a:solidFill>
                <a:latin typeface="Aptos"/>
              </a:rPr>
              <a:t>   File generation and delivery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39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Records /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2734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Logic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9628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render file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86523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SFTP / Blob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13417" y="3163824"/>
            <a:ext cx="1669694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Partner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collects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5534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08117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collect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2428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20806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format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29323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34963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write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56217" y="3611880"/>
            <a:ext cx="45720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61857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deliver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SFINT21</a:t>
            </a:r>
            <a:r>
              <a:rPr b="0" sz="2000">
                <a:solidFill>
                  <a:srgbClr val="55606E"/>
                </a:solidFill>
                <a:latin typeface="Aptos"/>
              </a:rPr>
              <a:t>   Canonical data model and message translator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Broker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EDI / XML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Coverholder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bordereaux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69289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Bureau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ACORD / CDR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Translator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7A551A"/>
                </a:solidFill>
                <a:latin typeface="Aptos"/>
              </a:rPr>
              <a:t>Functions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Canonical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5143" y="256946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Policy sys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5143" y="375818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Claims sys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71515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canonical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361045" y="3017520"/>
            <a:ext cx="784098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30134" y="302209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distribute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61045" y="3611880"/>
            <a:ext cx="784098" cy="5943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43809" y="2423160"/>
            <a:ext cx="784097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12897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map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43809" y="3611880"/>
            <a:ext cx="784097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One translator per format; internal systems see only the canonical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SFINT22</a:t>
            </a:r>
            <a:r>
              <a:rPr b="0" sz="2000">
                <a:solidFill>
                  <a:srgbClr val="55606E"/>
                </a:solidFill>
                <a:latin typeface="Aptos"/>
              </a:rPr>
              <a:t>   Content-based routing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Router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SB / Event Grid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197510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Motor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Property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02040" y="435254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Casualty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LOB 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message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7031736" y="242316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2724912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route by content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31736" y="3611880"/>
            <a:ext cx="1670304" cy="118872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SFDEINT1</a:t>
            </a:r>
            <a:r>
              <a:rPr sz="2000">
                <a:solidFill>
                  <a:srgbClr val="55606E"/>
                </a:solidFill>
                <a:latin typeface="Aptos"/>
              </a:rPr>
              <a:t>   Streaming ingestion (Function or Kafka)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10896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Event 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Event Hub / SB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4028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Azure Function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Streaming SDK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434340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Kafka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topic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2880360"/>
            <a:ext cx="2240280" cy="123444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697480" y="2697480"/>
            <a:ext cx="731520" cy="82296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49240" y="2697480"/>
            <a:ext cx="3931920" cy="57150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46520" y="2672334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stream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97480" y="3703320"/>
            <a:ext cx="4206240" cy="109728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31920" y="4343400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publish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8686800" y="3817620"/>
            <a:ext cx="594360" cy="98298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5080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2040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03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SFDEINT2</a:t>
            </a:r>
            <a:r>
              <a:rPr b="0" sz="2000">
                <a:solidFill>
                  <a:srgbClr val="55606E"/>
                </a:solidFill>
                <a:latin typeface="Aptos"/>
              </a:rPr>
              <a:t>   Streaming ingestion via Kafka Connect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Producer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topic write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9EFE6"/>
          </a:solidFill>
          <a:ln w="19050">
            <a:solidFill>
              <a:srgbClr val="2E8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D5B49"/>
                </a:solidFill>
                <a:latin typeface="Aptos"/>
              </a:rPr>
              <a:t>Kafka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D5B49"/>
                </a:solidFill>
                <a:latin typeface="Aptos"/>
              </a:rPr>
              <a:t>topic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Kafka Connect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Snowflake sink</a:t>
            </a:r>
          </a:p>
        </p:txBody>
      </p:sp>
      <p:sp>
        <p:nvSpPr>
          <p:cNvPr id="7" name="Can 6"/>
          <p:cNvSpPr/>
          <p:nvPr/>
        </p:nvSpPr>
        <p:spPr>
          <a:xfrm>
            <a:off x="9145143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raw schema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611880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702426" y="3611880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61045" y="3611880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SFDEINT3</a:t>
            </a:r>
            <a:r>
              <a:rPr sz="2000">
                <a:solidFill>
                  <a:srgbClr val="55606E"/>
                </a:solidFill>
                <a:latin typeface="Aptos"/>
              </a:rPr>
              <a:t>   File ingestion (landing to data platform)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34440" y="31089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file drop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3108960"/>
            <a:ext cx="2103120" cy="91440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Landing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971800"/>
            <a:ext cx="2286000" cy="118872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54680" y="3566160"/>
            <a:ext cx="146304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720840" y="3566160"/>
            <a:ext cx="214884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926579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auto-ingest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79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06240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3019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313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SFDEINT4</a:t>
            </a:r>
            <a:r>
              <a:rPr sz="2000">
                <a:solidFill>
                  <a:srgbClr val="55606E"/>
                </a:solidFill>
                <a:latin typeface="Aptos"/>
              </a:rPr>
              <a:t>   Scheduled batch: CDC / watermark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10896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system of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3108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Scheduled Extractor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Function / Logic App / ADF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31089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Stage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2971800"/>
            <a:ext cx="2240280" cy="118872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3566160"/>
            <a:ext cx="50292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034539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extract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20640" y="3566160"/>
            <a:ext cx="59436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4914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35240" y="3566160"/>
            <a:ext cx="128016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675120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212079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5940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SFDEINT5</a:t>
            </a:r>
            <a:r>
              <a:rPr sz="2000">
                <a:solidFill>
                  <a:srgbClr val="55606E"/>
                </a:solidFill>
                <a:latin typeface="Aptos"/>
              </a:rPr>
              <a:t>   Staged multi-source ingestion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3108960"/>
            <a:ext cx="178308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Sources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multi-system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3108960"/>
            <a:ext cx="1965960" cy="914400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Orchestrator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extract &amp;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31089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Stage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Gen2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2971800"/>
            <a:ext cx="2240280" cy="118872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3566160"/>
            <a:ext cx="50292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3566160"/>
            <a:ext cx="59436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4914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stage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3566160"/>
            <a:ext cx="128016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0664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load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12079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5940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SFDEINT6</a:t>
            </a:r>
            <a:r>
              <a:rPr sz="2000">
                <a:solidFill>
                  <a:srgbClr val="55606E"/>
                </a:solidFill>
                <a:latin typeface="Aptos"/>
              </a:rPr>
              <a:t>   Governed API import (write)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1089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31089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 Management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governed write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971800"/>
            <a:ext cx="2286000" cy="118872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controlled path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383280" y="3566160"/>
            <a:ext cx="132588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17754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write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720840" y="3566160"/>
            <a:ext cx="178308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74370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land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0920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897880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895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SFDEINT7</a:t>
            </a:r>
            <a:r>
              <a:rPr b="0" sz="2000">
                <a:solidFill>
                  <a:srgbClr val="55606E"/>
                </a:solidFill>
                <a:latin typeface="Aptos"/>
              </a:rPr>
              <a:t>   Consume platform data via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69289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790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6525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FBEBCB"/>
          </a:solidFill>
          <a:ln w="19050">
            <a:solidFill>
              <a:srgbClr val="C999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7A551A"/>
                </a:solidFill>
                <a:latin typeface="Aptos"/>
              </a:rPr>
              <a:t>Serving Function / cache</a:t>
            </a:r>
          </a:p>
        </p:txBody>
      </p:sp>
      <p:sp>
        <p:nvSpPr>
          <p:cNvPr id="7" name="Can 6"/>
          <p:cNvSpPr/>
          <p:nvPr/>
        </p:nvSpPr>
        <p:spPr>
          <a:xfrm>
            <a:off x="9145143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curated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3809" y="3483864"/>
            <a:ext cx="784097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12897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043809" y="3758184"/>
            <a:ext cx="784097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612897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02426" y="3483864"/>
            <a:ext cx="784099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71515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5702426" y="3758184"/>
            <a:ext cx="784099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361045" y="3483864"/>
            <a:ext cx="784098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93013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query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8361045" y="3758184"/>
            <a:ext cx="784098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15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SFDEINT8</a:t>
            </a:r>
            <a:r>
              <a:rPr sz="2000">
                <a:solidFill>
                  <a:srgbClr val="55606E"/>
                </a:solidFill>
                <a:latin typeface="Aptos"/>
              </a:rPr>
              <a:t>   Scheduled data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971800"/>
            <a:ext cx="2194560" cy="118872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Data platform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export task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3108960"/>
            <a:ext cx="1920240" cy="914400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ADLS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Parquet /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1089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8E1F6"/>
          </a:solidFill>
          <a:ln w="19050">
            <a:solidFill>
              <a:srgbClr val="7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422C7A"/>
                </a:solidFill>
                <a:latin typeface="Aptos"/>
              </a:rPr>
              <a:t>Orchestration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422C7A"/>
                </a:solidFill>
                <a:latin typeface="Aptos"/>
              </a:rPr>
              <a:t>Event Grid /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3108960"/>
            <a:ext cx="2011680" cy="914400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Downstream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any consumer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39" y="3566160"/>
            <a:ext cx="960121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7462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unload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3566160"/>
            <a:ext cx="73152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068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notify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86800" y="3566160"/>
            <a:ext cx="731520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83880" y="3236976"/>
            <a:ext cx="1737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trigger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0424160" y="2606039"/>
            <a:ext cx="0" cy="502921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983480" y="2606039"/>
            <a:ext cx="5440680" cy="0"/>
          </a:xfrm>
          <a:prstGeom prst="line">
            <a:avLst/>
          </a:prstGeom>
          <a:ln w="22225">
            <a:solidFill>
              <a:srgbClr val="8A93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983480" y="2606039"/>
            <a:ext cx="0" cy="502921"/>
          </a:xfrm>
          <a:prstGeom prst="line">
            <a:avLst/>
          </a:prstGeom>
          <a:ln w="22225">
            <a:solidFill>
              <a:srgbClr val="8A93A0"/>
            </a:solidFill>
            <a:tailEnd type="triangle" w="med" len="med"/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06540" y="2350007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i="1">
                <a:solidFill>
                  <a:srgbClr val="8A93A0"/>
                </a:solidFill>
                <a:latin typeface="Aptos"/>
              </a:rPr>
              <a:t>reads files (pull)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83480" y="1481328"/>
            <a:ext cx="0" cy="4279392"/>
          </a:xfrm>
          <a:prstGeom prst="line">
            <a:avLst/>
          </a:prstGeom>
          <a:ln w="28575">
            <a:solidFill>
              <a:srgbClr val="B0453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20440" y="1261872"/>
            <a:ext cx="29260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1">
                <a:solidFill>
                  <a:srgbClr val="B0453B"/>
                </a:solidFill>
                <a:latin typeface="Aptos"/>
              </a:rPr>
              <a:t>Data handoff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Data platform 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5504688"/>
            <a:ext cx="3657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6B7280"/>
                </a:solidFill>
                <a:latin typeface="Aptos"/>
              </a:rPr>
              <a:t>Integration team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SFDEINT9</a:t>
            </a:r>
            <a:r>
              <a:rPr b="0" sz="2000">
                <a:solidFill>
                  <a:srgbClr val="55606E"/>
                </a:solidFill>
                <a:latin typeface="Aptos"/>
              </a:rPr>
              <a:t>   Data serving store (bulk unload)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n 3"/>
          <p:cNvSpPr/>
          <p:nvPr/>
        </p:nvSpPr>
        <p:spPr>
          <a:xfrm>
            <a:off x="1612392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</p:txBody>
      </p:sp>
      <p:sp>
        <p:nvSpPr>
          <p:cNvPr id="5" name="Can 4"/>
          <p:cNvSpPr/>
          <p:nvPr/>
        </p:nvSpPr>
        <p:spPr>
          <a:xfrm>
            <a:off x="5157216" y="3163824"/>
            <a:ext cx="1874519" cy="896112"/>
          </a:xfrm>
          <a:prstGeom prst="can">
            <a:avLst/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Serving store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ADLS / Blob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Framework services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bulk unload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31736" y="3611880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43928" y="328269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The store is the contract. The platform stays off the live path.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1F3864"/>
                </a:solidFill>
                <a:latin typeface="Aptos"/>
              </a:rPr>
              <a:t>SFDEINT9b</a:t>
            </a:r>
            <a:r>
              <a:rPr b="0" sz="2000">
                <a:solidFill>
                  <a:srgbClr val="55606E"/>
                </a:solidFill>
                <a:latin typeface="Aptos"/>
              </a:rPr>
              <a:t>   Serve curated data (synchronous request / response)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" y="1188720"/>
            <a:ext cx="11365992" cy="480060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392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DEEF0"/>
          </a:solidFill>
          <a:ln w="19050">
            <a:solidFill>
              <a:srgbClr val="7C86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2E3742"/>
                </a:solidFill>
                <a:latin typeface="Aptos"/>
              </a:rPr>
              <a:t>Consumer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2E3742"/>
                </a:solidFill>
                <a:latin typeface="Aptos"/>
              </a:rPr>
              <a:t>analytical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57216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DCE7F6"/>
          </a:solidFill>
          <a:ln w="19050">
            <a:solidFill>
              <a:srgbClr val="2E6B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F73"/>
                </a:solidFill>
                <a:latin typeface="Aptos"/>
              </a:rPr>
              <a:t>APIM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F73"/>
                </a:solidFill>
                <a:latin typeface="Aptos"/>
              </a:rPr>
              <a:t>System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02040" y="3163824"/>
            <a:ext cx="1874519" cy="896112"/>
          </a:xfrm>
          <a:prstGeom prst="roundRect">
            <a:avLst>
              <a:gd name="adj" fmla="val 9000"/>
            </a:avLst>
          </a:prstGeom>
          <a:solidFill>
            <a:srgbClr val="E4EEF9"/>
          </a:solidFill>
          <a:ln w="19050">
            <a:solidFill>
              <a:srgbClr val="3E6E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b="1" sz="1250">
                <a:solidFill>
                  <a:srgbClr val="1F3864"/>
                </a:solidFill>
                <a:latin typeface="Aptos"/>
              </a:rPr>
              <a:t>Snowflake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F3864"/>
                </a:solidFill>
                <a:latin typeface="Aptos"/>
              </a:rPr>
              <a:t>SQL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86912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9104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request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86912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9104" y="3831336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2E7D57"/>
                </a:solidFill>
                <a:latin typeface="Aptos"/>
              </a:rPr>
              <a:t>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31736" y="3483864"/>
            <a:ext cx="1670304" cy="0"/>
          </a:xfrm>
          <a:prstGeom prst="line">
            <a:avLst/>
          </a:prstGeom>
          <a:ln w="22225">
            <a:solidFill>
              <a:srgbClr val="5A647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043928" y="3172968"/>
            <a:ext cx="16459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00">
                <a:solidFill>
                  <a:srgbClr val="444B55"/>
                </a:solidFill>
                <a:latin typeface="Aptos"/>
              </a:rPr>
              <a:t>query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7031736" y="3758184"/>
            <a:ext cx="1670304" cy="0"/>
          </a:xfrm>
          <a:prstGeom prst="line">
            <a:avLst/>
          </a:prstGeom>
          <a:ln w="22225">
            <a:solidFill>
              <a:srgbClr val="2E7D5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i="1">
                <a:solidFill>
                  <a:srgbClr val="5B626C"/>
                </a:solidFill>
                <a:latin typeface="Aptos"/>
              </a:rPr>
              <a:t>Synchronous request / response  ·  JSON payload  ·  warehouse sits in the request path, reserve for low-QPS or front with a serving store.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