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  <p:sldMasterId id="2147483732" r:id="rId2"/>
  </p:sldMasterIdLst>
  <p:notesMasterIdLst>
    <p:notesMasterId r:id="rId13"/>
  </p:notesMasterIdLst>
  <p:sldIdLst>
    <p:sldId id="256" r:id="rId3"/>
    <p:sldId id="257" r:id="rId4"/>
    <p:sldId id="258" r:id="rId5"/>
    <p:sldId id="259" r:id="rId6"/>
    <p:sldId id="260" r:id="rId7"/>
    <p:sldId id="261" r:id="rId8"/>
    <p:sldId id="265" r:id="rId9"/>
    <p:sldId id="262" r:id="rId10"/>
    <p:sldId id="263" r:id="rId11"/>
    <p:sldId id="264" r:id="rId12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212EBE8-5CAC-B1C3-4280-693B2DB146A5}" v="41" dt="2026-09-22T17:56:52.623"/>
    <p1510:client id="{6F564A72-6055-41CE-A404-23964EFAFFF2}" v="2031" dt="2026-09-22T16:16:29.644"/>
    <p1510:client id="{815FA138-CA79-4562-8F6D-58E85FC7DA3A}" v="114" dt="2026-09-22T18:00:27.26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8" Type="http://schemas.microsoft.com/office/2015/10/relationships/revisionInfo" Target="revisionInfo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330708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Greenfield APIM build. Five decisions: reference architecture and edge, hosting model, ingress, egress, HA/DR.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APIM is the single control point for external APIs. Front Door is the only public surface; APIM sits private behind Private Link and aligns to the SIF layering.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Hosting model is Premium classic, managed gateway, VNet injection, Internal mode. Self-hosted gateway is an add-on for on-prem and data-residency backends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 WAF at the edge, APIM for identity and quota. App Gateway only by exception. Palo Alto deliberately out of the HTTPS ingress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Routing intent removes per-spoke UDR management. Palo Alto inspects north-south egress and east-west. PaaS never hairpins through the hub or the internet.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units means 2 zones. Warm standby is billed as a full unit 24/7, so the cheapest credible DR is rebuild-on-demand from IaC plus backups, validated by a quarterly drill.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pen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264203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19502C-567E-E748-8DF4-E5FBC27E3B5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B5D587-6A6C-4975-AF4F-7459FB84816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84000" y="2232000"/>
            <a:ext cx="7668000" cy="576000"/>
          </a:xfrm>
        </p:spPr>
        <p:txBody>
          <a:bodyPr anchor="t" anchorCtr="0">
            <a:noAutofit/>
          </a:bodyPr>
          <a:lstStyle>
            <a:lvl1pPr algn="l">
              <a:defRPr sz="45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Presentation 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F24ED0-E62B-4C25-B719-7CF88B56AD6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84000" y="2816041"/>
            <a:ext cx="7668000" cy="576000"/>
          </a:xfrm>
        </p:spPr>
        <p:txBody>
          <a:bodyPr>
            <a:noAutofit/>
          </a:bodyPr>
          <a:lstStyle>
            <a:lvl1pPr marL="0" indent="0" algn="l">
              <a:buNone/>
              <a:defRPr sz="45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7F50A6-DF49-40FB-AD77-B8B225007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58FD96F-21B2-46E2-AE53-1EAD3D1198D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2391E2A-4CDA-8844-93BC-12BACE14FBC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284000" y="432000"/>
            <a:ext cx="3240000" cy="288000"/>
          </a:xfrm>
        </p:spPr>
        <p:txBody>
          <a:bodyPr>
            <a:normAutofit/>
          </a:bodyPr>
          <a:lstStyle>
            <a:lvl1pPr marL="0" indent="0">
              <a:buNone/>
              <a:defRPr sz="225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GB" dirty="0"/>
              <a:t>01 Month 2020</a:t>
            </a:r>
          </a:p>
        </p:txBody>
      </p:sp>
    </p:spTree>
    <p:extLst>
      <p:ext uri="{BB962C8B-B14F-4D97-AF65-F5344CB8AC3E}">
        <p14:creationId xmlns:p14="http://schemas.microsoft.com/office/powerpoint/2010/main" val="2272185059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5D587-6A6C-4975-AF4F-7459FB84816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84000" y="2232000"/>
            <a:ext cx="7668000" cy="576000"/>
          </a:xfrm>
        </p:spPr>
        <p:txBody>
          <a:bodyPr anchor="t" anchorCtr="0">
            <a:noAutofit/>
          </a:bodyPr>
          <a:lstStyle>
            <a:lvl1pPr algn="l">
              <a:defRPr sz="45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Divider page 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F24ED0-E62B-4C25-B719-7CF88B56AD6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84000" y="2816041"/>
            <a:ext cx="7668000" cy="576000"/>
          </a:xfrm>
        </p:spPr>
        <p:txBody>
          <a:bodyPr>
            <a:noAutofit/>
          </a:bodyPr>
          <a:lstStyle>
            <a:lvl1pPr marL="0" indent="0" algn="l">
              <a:buNone/>
              <a:defRPr sz="45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Subtitle</a:t>
            </a:r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7F50A6-DF49-40FB-AD77-B8B225007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58FD96F-21B2-46E2-AE53-1EAD3D1198D4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ED0C494-4023-7F4E-A0BC-142346DC3376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299" y="6323484"/>
            <a:ext cx="857758" cy="318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1687591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Text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71477FD-E8A8-ED47-8E80-E5021B465AE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5352D4-4DE5-4E9D-A342-AA7CF37CD0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396000"/>
            <a:ext cx="11664000" cy="324000"/>
          </a:xfrm>
        </p:spPr>
        <p:txBody>
          <a:bodyPr>
            <a:no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455495-2822-4D2C-8BD8-20BB02CB5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FD96F-21B2-46E2-AE53-1EAD3D1198D4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4515FF2-736A-034B-9FA6-AD18C7530C7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87998" y="1260000"/>
            <a:ext cx="11664001" cy="5040000"/>
          </a:xfrm>
        </p:spPr>
        <p:txBody>
          <a:bodyPr numCol="2" spcCol="54000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F905A3-DF64-8B43-A11B-C17B15AC613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87998" y="702000"/>
            <a:ext cx="11664001" cy="324000"/>
          </a:xfrm>
        </p:spPr>
        <p:txBody>
          <a:bodyPr>
            <a:noAutofit/>
          </a:bodyPr>
          <a:lstStyle>
            <a:lvl1pPr marL="0" indent="0">
              <a:buNone/>
              <a:defRPr sz="2250">
                <a:latin typeface="+mj-lt"/>
              </a:defRPr>
            </a:lvl1pPr>
            <a:lvl2pPr marL="216000" indent="0">
              <a:buNone/>
              <a:defRPr/>
            </a:lvl2pPr>
          </a:lstStyle>
          <a:p>
            <a:pPr lvl="0"/>
            <a:r>
              <a:rPr lang="en-GB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393925998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Text Columns with Images and Box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352D4-4DE5-4E9D-A342-AA7CF37CD0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396000"/>
            <a:ext cx="11602799" cy="324000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455495-2822-4D2C-8BD8-20BB02CB5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FD96F-21B2-46E2-AE53-1EAD3D1198D4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4515FF2-736A-034B-9FA6-AD18C7530C7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87999" y="1260000"/>
            <a:ext cx="7668000" cy="5040000"/>
          </a:xfrm>
        </p:spPr>
        <p:txBody>
          <a:bodyPr numCol="2" spcCol="360000"/>
          <a:lstStyle>
            <a:lvl5pPr marL="0" indent="0"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0E5512A-C41C-CB48-81D4-441A70C2464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326339" y="4776788"/>
            <a:ext cx="7560000" cy="1558925"/>
          </a:xfrm>
          <a:solidFill>
            <a:schemeClr val="tx2"/>
          </a:solidFill>
        </p:spPr>
        <p:txBody>
          <a:bodyPr lIns="108000" tIns="108000" rIns="108000" bIns="108000">
            <a:noAutofit/>
          </a:bodyPr>
          <a:lstStyle>
            <a:lvl1pPr marL="0" indent="0">
              <a:buNone/>
              <a:defRPr sz="11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E0649BBA-E598-704B-9283-3C46EC20AA3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29600" y="1260000"/>
            <a:ext cx="3660775" cy="33274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6213CA7-2297-9549-B513-E6387429BD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87998" y="702000"/>
            <a:ext cx="11664001" cy="324000"/>
          </a:xfrm>
        </p:spPr>
        <p:txBody>
          <a:bodyPr>
            <a:noAutofit/>
          </a:bodyPr>
          <a:lstStyle>
            <a:lvl1pPr marL="0" indent="0">
              <a:buNone/>
              <a:defRPr sz="2250">
                <a:latin typeface="+mj-lt"/>
              </a:defRPr>
            </a:lvl1pPr>
            <a:lvl2pPr marL="216000" indent="0">
              <a:buNone/>
              <a:defRPr/>
            </a:lvl2pPr>
          </a:lstStyle>
          <a:p>
            <a:pPr lvl="0"/>
            <a:r>
              <a:rPr lang="en-GB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1954805702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B3F68-8CA1-4A54-A511-10982D57E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3C81E5-9424-4ACC-85EB-F3567D8DA4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88000" y="1260000"/>
            <a:ext cx="3708000" cy="5040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F23E64-5608-4C18-A391-541B243BBB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66000" y="1260000"/>
            <a:ext cx="3708000" cy="5040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1DC898-D739-4A13-A308-AC206C68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FD96F-21B2-46E2-AE53-1EAD3D1198D4}" type="slidenum">
              <a:rPr lang="en-GB" smtClean="0"/>
              <a:t>‹#›</a:t>
            </a:fld>
            <a:endParaRPr lang="en-GB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405D00CB-07BC-FC48-8C35-CB96E14682B4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244000" y="1277092"/>
            <a:ext cx="3708000" cy="5040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85E2D39B-1087-7C4E-838C-54723E7308C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87998" y="702000"/>
            <a:ext cx="11664001" cy="324000"/>
          </a:xfrm>
        </p:spPr>
        <p:txBody>
          <a:bodyPr>
            <a:noAutofit/>
          </a:bodyPr>
          <a:lstStyle>
            <a:lvl1pPr marL="0" indent="0">
              <a:buNone/>
              <a:defRPr sz="2250">
                <a:latin typeface="+mj-lt"/>
              </a:defRPr>
            </a:lvl1pPr>
            <a:lvl2pPr marL="216000" indent="0">
              <a:buNone/>
              <a:defRPr/>
            </a:lvl2pPr>
          </a:lstStyle>
          <a:p>
            <a:pPr lvl="0"/>
            <a:r>
              <a:rPr lang="en-GB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2908970240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B3F68-8CA1-4A54-A511-10982D57E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F23E64-5608-4C18-A391-541B243BBB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66000" y="1260000"/>
            <a:ext cx="7686000" cy="5040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1DC898-D739-4A13-A308-AC206C68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FD96F-21B2-46E2-AE53-1EAD3D1198D4}" type="slidenum">
              <a:rPr lang="en-GB" smtClean="0"/>
              <a:t>‹#›</a:t>
            </a:fld>
            <a:endParaRPr lang="en-GB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365F3D9-FCF9-E848-A922-B85CCE4B86C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87738" y="1260475"/>
            <a:ext cx="3708000" cy="504031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4385DCC-53E0-E144-AA6A-AB42C7BD8A4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87998" y="702000"/>
            <a:ext cx="11664001" cy="324000"/>
          </a:xfrm>
        </p:spPr>
        <p:txBody>
          <a:bodyPr>
            <a:noAutofit/>
          </a:bodyPr>
          <a:lstStyle>
            <a:lvl1pPr marL="0" indent="0">
              <a:buNone/>
              <a:defRPr sz="2250">
                <a:latin typeface="+mj-lt"/>
              </a:defRPr>
            </a:lvl1pPr>
            <a:lvl2pPr marL="216000" indent="0">
              <a:buNone/>
              <a:defRPr/>
            </a:lvl2pPr>
          </a:lstStyle>
          <a:p>
            <a:pPr lvl="0"/>
            <a:r>
              <a:rPr lang="en-GB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324405927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BEC08-0C20-46DD-BF50-3CB388C01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D8B5AD-7CA8-4CA6-8DD4-E3FA59625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FD96F-21B2-46E2-AE53-1EAD3D1198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3417027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1269463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45529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179867CD-CD09-0EEC-D165-96584688B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96" y="64007"/>
            <a:ext cx="12015216" cy="5120639"/>
          </a:xfrm>
        </p:spPr>
        <p:txBody>
          <a:bodyPr>
            <a:normAutofit/>
          </a:bodyPr>
          <a:lstStyle>
            <a:lvl1pPr>
              <a:defRPr sz="11000" cap="all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65D245-B564-481D-A323-F73C5BCA8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88136" y="5360878"/>
            <a:ext cx="10037064" cy="566928"/>
          </a:xfrm>
        </p:spPr>
        <p:txBody>
          <a:bodyPr anchor="b" anchorCtr="0">
            <a:normAutofit/>
          </a:bodyPr>
          <a:lstStyle>
            <a:lvl1pPr marL="0" indent="0" algn="r">
              <a:lnSpc>
                <a:spcPct val="100000"/>
              </a:lnSpc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1422A5-3076-413B-84CB-ED3BA4171C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072EE-51B3-4C0C-A460-4684AB079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267C68-40D5-477E-9DBC-C28FD4B11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FD96F-21B2-46E2-AE53-1EAD3D1198D4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C1F8589-B640-4540-D0AD-2B0461CD3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387805" y="5749927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1406849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3EE2F5-9D3C-4BE7-9AD5-335B31CF2C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090246"/>
            <a:ext cx="10840626" cy="79051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F98C4F-4BF6-47CF-ABEE-2B12748C4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8135" y="1880756"/>
            <a:ext cx="10840627" cy="455814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51AB30-CD74-471D-9FA6-ADC0C901E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539070-70D2-4DD1-A439-155343FE2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A137C4-F19E-4521-8DCB-4E0CF9CA3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FD96F-21B2-46E2-AE53-1EAD3D1198D4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D144482-F463-E942-01AE-69DF54F417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586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6392632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7847" y="4676177"/>
            <a:ext cx="10835639" cy="1319510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5400" dirty="0"/>
            </a:lvl1pPr>
          </a:lstStyle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87847" y="6065134"/>
            <a:ext cx="10835639" cy="373766"/>
          </a:xfrm>
        </p:spPr>
        <p:txBody>
          <a:bodyPr vert="horz" lIns="91440" tIns="45720" rIns="91440" bIns="45720" rtlCol="0" anchor="b">
            <a:noAutofit/>
          </a:bodyPr>
          <a:lstStyle>
            <a:lvl1pPr marL="0" indent="0">
              <a:spcBef>
                <a:spcPts val="0"/>
              </a:spcBef>
              <a:buNone/>
              <a:defRPr lang="en-US" sz="2000" dirty="0"/>
            </a:lvl1pPr>
          </a:lstStyle>
          <a:p>
            <a:pPr lvl="0"/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12191999" cy="446782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7765164-0D02-5316-1845-119CB0111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5715000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FA2081-8ED6-0719-D0B6-2818D601933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51F47A-9B8B-A343-2C56-110E21331A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259CCC4-FA9E-2074-3142-5EBA62F91B2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58FD96F-21B2-46E2-AE53-1EAD3D1198D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0153089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6390" y="1411358"/>
            <a:ext cx="3736010" cy="2845567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3600" dirty="0"/>
            </a:lvl1pPr>
          </a:lstStyle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46388" y="4403039"/>
            <a:ext cx="3729915" cy="112312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1600" dirty="0"/>
            </a:lvl1pPr>
          </a:lstStyle>
          <a:p>
            <a:pPr lvl="0"/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1A639AF-317A-79DF-3175-64C726EA318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7617785" cy="6858000"/>
          </a:xfrm>
          <a:custGeom>
            <a:avLst/>
            <a:gdLst>
              <a:gd name="connsiteX0" fmla="*/ 0 w 7195675"/>
              <a:gd name="connsiteY0" fmla="*/ 0 h 6858000"/>
              <a:gd name="connsiteX1" fmla="*/ 7195675 w 7195675"/>
              <a:gd name="connsiteY1" fmla="*/ 0 h 6858000"/>
              <a:gd name="connsiteX2" fmla="*/ 7195675 w 7195675"/>
              <a:gd name="connsiteY2" fmla="*/ 6858000 h 6858000"/>
              <a:gd name="connsiteX3" fmla="*/ 0 w 719567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95675" h="6858000">
                <a:moveTo>
                  <a:pt x="0" y="0"/>
                </a:moveTo>
                <a:lnTo>
                  <a:pt x="7195675" y="0"/>
                </a:lnTo>
                <a:lnTo>
                  <a:pt x="7195675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DF8C2BF2-38FB-0598-A4BE-DD111229A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46388" y="6438900"/>
            <a:ext cx="1714301" cy="419100"/>
          </a:xfrm>
        </p:spPr>
        <p:txBody>
          <a:bodyPr/>
          <a:lstStyle/>
          <a:p>
            <a:endParaRPr lang="en-GB"/>
          </a:p>
        </p:txBody>
      </p:sp>
      <p:sp>
        <p:nvSpPr>
          <p:cNvPr id="18" name="Date Placeholder 4">
            <a:extLst>
              <a:ext uri="{FF2B5EF4-FFF2-40B4-BE49-F238E27FC236}">
                <a16:creationId xmlns:a16="http://schemas.microsoft.com/office/drawing/2014/main" id="{5A41BBAF-5441-8512-B575-2EB961DD485E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50896" y="6438900"/>
            <a:ext cx="864704" cy="419100"/>
          </a:xfrm>
        </p:spPr>
        <p:txBody>
          <a:bodyPr/>
          <a:lstStyle/>
          <a:p>
            <a:endParaRPr lang="en-GB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89401810-4A83-D1CF-00A6-76F622C71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23764" y="6438900"/>
            <a:ext cx="601436" cy="419100"/>
          </a:xfrm>
        </p:spPr>
        <p:txBody>
          <a:bodyPr/>
          <a:lstStyle/>
          <a:p>
            <a:fld id="{A58FD96F-21B2-46E2-AE53-1EAD3D1198D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6402488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61A7175-8061-E7CC-68E4-2B3CECB6CC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8136" y="1090244"/>
            <a:ext cx="10037064" cy="5159257"/>
          </a:xfrm>
        </p:spPr>
        <p:txBody>
          <a:bodyPr>
            <a:normAutofit/>
          </a:bodyPr>
          <a:lstStyle>
            <a:lvl1pPr>
              <a:defRPr sz="8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094542-CAEF-4D6C-BE6A-BC100F059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08851-4DCC-447C-828A-5F7E66F762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8BDE40-8468-4051-9703-B751608AA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58FD96F-21B2-46E2-AE53-1EAD3D1198D4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6A5A591-C2D3-D6A3-432F-2C1371951C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5868"/>
            <a:ext cx="804195" cy="0"/>
          </a:xfrm>
          <a:prstGeom prst="line">
            <a:avLst/>
          </a:prstGeom>
          <a:ln w="1206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8201794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B916BDA-9E36-8180-7EBC-AC2A35C79F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0940" y="1088702"/>
            <a:ext cx="8479072" cy="139555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92AF672E-4752-50B9-9301-C8042FD003C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96697" y="2484255"/>
            <a:ext cx="8467558" cy="3539514"/>
          </a:xfrm>
        </p:spPr>
        <p:txBody>
          <a:bodyPr>
            <a:normAutofit/>
          </a:bodyPr>
          <a:lstStyle>
            <a:lvl1pPr marL="457200" indent="-457200">
              <a:lnSpc>
                <a:spcPct val="100000"/>
              </a:lnSpc>
              <a:buFont typeface="+mj-lt"/>
              <a:buAutoNum type="arabicPeriod"/>
              <a:defRPr sz="2000"/>
            </a:lvl1pPr>
            <a:lvl2pPr marL="685800" indent="-457200">
              <a:lnSpc>
                <a:spcPct val="100000"/>
              </a:lnSpc>
              <a:buFont typeface="+mj-lt"/>
              <a:buAutoNum type="arabicPeriod"/>
              <a:defRPr sz="2000"/>
            </a:lvl2pPr>
            <a:lvl3pPr marL="800100" indent="-342900">
              <a:lnSpc>
                <a:spcPct val="100000"/>
              </a:lnSpc>
              <a:buFont typeface="+mj-lt"/>
              <a:buAutoNum type="arabicPeriod"/>
              <a:defRPr sz="2000"/>
            </a:lvl3pPr>
            <a:lvl4pPr marL="1028700" indent="-342900">
              <a:lnSpc>
                <a:spcPct val="100000"/>
              </a:lnSpc>
              <a:buFont typeface="+mj-lt"/>
              <a:buAutoNum type="arabicPeriod"/>
              <a:defRPr sz="2000"/>
            </a:lvl4pPr>
            <a:lvl5pPr marL="1257300" indent="-342900">
              <a:lnSpc>
                <a:spcPct val="100000"/>
              </a:lnSpc>
              <a:buFont typeface="+mj-lt"/>
              <a:buAutoNum type="arabicPeriod"/>
              <a:defRPr sz="20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FD96F-21B2-46E2-AE53-1EAD3D1198D4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65070F-FB67-7572-2807-986A25537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0352485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8136" y="1088136"/>
            <a:ext cx="5749392" cy="1554480"/>
          </a:xfrm>
        </p:spPr>
        <p:txBody>
          <a:bodyPr anchor="t" anchorCtr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88136" y="2651760"/>
            <a:ext cx="5749392" cy="3694176"/>
          </a:xfrm>
        </p:spPr>
        <p:txBody>
          <a:bodyPr>
            <a:normAutofit/>
          </a:bodyPr>
          <a:lstStyle>
            <a:lvl1pPr marL="342900" indent="-342900">
              <a:lnSpc>
                <a:spcPct val="100000"/>
              </a:lnSpc>
              <a:buFont typeface="System Font Regular"/>
              <a:buChar char="-"/>
              <a:defRPr sz="2000"/>
            </a:lvl1pPr>
            <a:lvl2pPr>
              <a:lnSpc>
                <a:spcPct val="100000"/>
              </a:lnSpc>
              <a:defRPr sz="2000"/>
            </a:lvl2pPr>
            <a:lvl3pPr>
              <a:lnSpc>
                <a:spcPct val="100000"/>
              </a:lnSpc>
              <a:defRPr sz="2000"/>
            </a:lvl3pPr>
            <a:lvl4pPr>
              <a:lnSpc>
                <a:spcPct val="100000"/>
              </a:lnSpc>
              <a:defRPr sz="2000"/>
            </a:lvl4pPr>
            <a:lvl5pPr>
              <a:lnSpc>
                <a:spcPct val="100000"/>
              </a:lnSpc>
              <a:defRPr sz="20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0940" y="6438900"/>
            <a:ext cx="3915404" cy="419100"/>
          </a:xfrm>
        </p:spPr>
        <p:txBody>
          <a:bodyPr/>
          <a:lstStyle/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006344" y="6438900"/>
            <a:ext cx="1126120" cy="419100"/>
          </a:xfrm>
        </p:spPr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32464" y="6438900"/>
            <a:ext cx="705064" cy="419100"/>
          </a:xfrm>
        </p:spPr>
        <p:txBody>
          <a:bodyPr/>
          <a:lstStyle/>
          <a:p>
            <a:fld id="{A58FD96F-21B2-46E2-AE53-1EAD3D1198D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E4B52E79-E470-1B1A-EADF-94DA7253B32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315200" y="0"/>
            <a:ext cx="487680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4C1AE97-7274-F222-2135-C3524958A8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9108398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7676" y="1114856"/>
            <a:ext cx="3923455" cy="4083580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294612" y="1115290"/>
            <a:ext cx="5809713" cy="517121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600"/>
            </a:lvl3pPr>
            <a:lvl4pPr>
              <a:lnSpc>
                <a:spcPct val="100000"/>
              </a:lnSpc>
              <a:defRPr sz="1600"/>
            </a:lvl4pPr>
            <a:lvl5pPr>
              <a:lnSpc>
                <a:spcPct val="100000"/>
              </a:lnSpc>
              <a:defRPr sz="16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FD96F-21B2-46E2-AE53-1EAD3D1198D4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954F329-E63B-9F25-4E06-2E98A6453D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0150136"/>
      </p:ext>
    </p:extLst>
  </p:cSld>
  <p:clrMapOvr>
    <a:masterClrMapping/>
  </p:clrMapOvr>
  <p:hf sldNum="0"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3701" y="1114655"/>
            <a:ext cx="2771326" cy="3675552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34532" y="1129145"/>
            <a:ext cx="7794231" cy="5157355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600"/>
            </a:lvl3pPr>
            <a:lvl4pPr>
              <a:lnSpc>
                <a:spcPct val="100000"/>
              </a:lnSpc>
              <a:defRPr sz="1600"/>
            </a:lvl4pPr>
            <a:lvl5pPr>
              <a:lnSpc>
                <a:spcPct val="100000"/>
              </a:lnSpc>
              <a:defRPr sz="16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FD96F-21B2-46E2-AE53-1EAD3D1198D4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547F2C9-46DC-B902-E883-CE0360E6DD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756457"/>
      </p:ext>
    </p:extLst>
  </p:cSld>
  <p:clrMapOvr>
    <a:masterClrMapping/>
  </p:clrMapOvr>
  <p:hf sldNum="0"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5788" y="1111101"/>
            <a:ext cx="6339412" cy="1143000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6FB7CB50-241E-E6B6-1C0E-1B5466B1477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2192" y="0"/>
            <a:ext cx="45065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A1C94DDD-A7D7-1407-F63C-F296AB454220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785787" y="2402887"/>
            <a:ext cx="6339414" cy="3883614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600"/>
            </a:lvl3pPr>
            <a:lvl4pPr>
              <a:lnSpc>
                <a:spcPct val="100000"/>
              </a:lnSpc>
              <a:defRPr sz="1600"/>
            </a:lvl4pPr>
            <a:lvl5pPr>
              <a:lnSpc>
                <a:spcPct val="100000"/>
              </a:lnSpc>
              <a:defRPr sz="16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63871FB-7459-8C2E-BA80-AD31AE855A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11375613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504282-04A3-1CE1-50A4-AF83D0D40A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85788" y="6438900"/>
            <a:ext cx="4774902" cy="419100"/>
          </a:xfrm>
        </p:spPr>
        <p:txBody>
          <a:bodyPr/>
          <a:lstStyle/>
          <a:p>
            <a:endParaRPr lang="en-GB"/>
          </a:p>
        </p:txBody>
      </p:sp>
      <p:sp>
        <p:nvSpPr>
          <p:cNvPr id="7" name="Date Placeholder 4">
            <a:extLst>
              <a:ext uri="{FF2B5EF4-FFF2-40B4-BE49-F238E27FC236}">
                <a16:creationId xmlns:a16="http://schemas.microsoft.com/office/drawing/2014/main" id="{CA12AEFE-D7DE-804A-807C-704D5B34E130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50896" y="6438900"/>
            <a:ext cx="864704" cy="419100"/>
          </a:xfrm>
        </p:spPr>
        <p:txBody>
          <a:bodyPr/>
          <a:lstStyle/>
          <a:p>
            <a:endParaRPr lang="en-GB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9C293909-C7AB-A707-F48B-6007FE725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23764" y="6438900"/>
            <a:ext cx="601436" cy="419100"/>
          </a:xfrm>
        </p:spPr>
        <p:txBody>
          <a:bodyPr/>
          <a:lstStyle/>
          <a:p>
            <a:fld id="{A58FD96F-21B2-46E2-AE53-1EAD3D1198D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7595845"/>
      </p:ext>
    </p:extLst>
  </p:cSld>
  <p:clrMapOvr>
    <a:masterClrMapping/>
  </p:clrMapOvr>
  <p:hf sldNum="0"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6991" y="1112104"/>
            <a:ext cx="7321615" cy="932688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5189CF27-6D02-DB0D-F5D1-1535F1479166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352643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6373ED08-D584-FD0F-C5B0-EF4E07A0D890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76075" y="2187258"/>
            <a:ext cx="7349126" cy="4099242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600"/>
            </a:lvl3pPr>
            <a:lvl4pPr>
              <a:lnSpc>
                <a:spcPct val="100000"/>
              </a:lnSpc>
              <a:defRPr sz="1600"/>
            </a:lvl4pPr>
            <a:lvl5pPr>
              <a:lnSpc>
                <a:spcPct val="100000"/>
              </a:lnSpc>
              <a:defRPr sz="16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906524-8E7E-05A8-4F9E-A2C39750A3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11375613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56971-28FA-FA33-0A85-0B851EA7A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76076" y="6438900"/>
            <a:ext cx="5784614" cy="419100"/>
          </a:xfrm>
        </p:spPr>
        <p:txBody>
          <a:bodyPr/>
          <a:lstStyle/>
          <a:p>
            <a:endParaRPr lang="en-GB"/>
          </a:p>
        </p:txBody>
      </p:sp>
      <p:sp>
        <p:nvSpPr>
          <p:cNvPr id="7" name="Date Placeholder 4">
            <a:extLst>
              <a:ext uri="{FF2B5EF4-FFF2-40B4-BE49-F238E27FC236}">
                <a16:creationId xmlns:a16="http://schemas.microsoft.com/office/drawing/2014/main" id="{F04B437D-29C2-D3ED-BEFA-E1F868B0FB5E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50896" y="6438900"/>
            <a:ext cx="864704" cy="419100"/>
          </a:xfrm>
        </p:spPr>
        <p:txBody>
          <a:bodyPr/>
          <a:lstStyle/>
          <a:p>
            <a:endParaRPr lang="en-GB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70EB108D-6128-5356-6097-7D1D10551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23764" y="6438900"/>
            <a:ext cx="601436" cy="419100"/>
          </a:xfrm>
        </p:spPr>
        <p:txBody>
          <a:bodyPr/>
          <a:lstStyle/>
          <a:p>
            <a:fld id="{A58FD96F-21B2-46E2-AE53-1EAD3D1198D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044863"/>
      </p:ext>
    </p:extLst>
  </p:cSld>
  <p:clrMapOvr>
    <a:masterClrMapping/>
  </p:clrMapOvr>
  <p:hf sldNum="0"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3394" y="1112104"/>
            <a:ext cx="7343564" cy="932688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3393" y="2187258"/>
            <a:ext cx="7343565" cy="4099242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600"/>
            </a:lvl3pPr>
            <a:lvl4pPr>
              <a:lnSpc>
                <a:spcPct val="100000"/>
              </a:lnSpc>
              <a:defRPr sz="1600"/>
            </a:lvl4pPr>
            <a:lvl5pPr>
              <a:lnSpc>
                <a:spcPct val="100000"/>
              </a:lnSpc>
              <a:defRPr sz="16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D039FC6-F740-7D02-FD07-5B1B076DCE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666571-786A-B2D2-4FC3-C22E71C243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3394" y="6438900"/>
            <a:ext cx="5779054" cy="419100"/>
          </a:xfrm>
        </p:spPr>
        <p:txBody>
          <a:bodyPr/>
          <a:lstStyle/>
          <a:p>
            <a:endParaRPr lang="en-GB"/>
          </a:p>
        </p:txBody>
      </p:sp>
      <p:sp>
        <p:nvSpPr>
          <p:cNvPr id="6" name="Date Placeholder 4">
            <a:extLst>
              <a:ext uri="{FF2B5EF4-FFF2-40B4-BE49-F238E27FC236}">
                <a16:creationId xmlns:a16="http://schemas.microsoft.com/office/drawing/2014/main" id="{A324A0C0-9CB0-6208-0780-67E3C7F2C02C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962654" y="6438900"/>
            <a:ext cx="864704" cy="419100"/>
          </a:xfr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F7421E2-5EEC-7791-DBEE-600FF5170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35522" y="6438900"/>
            <a:ext cx="601436" cy="419100"/>
          </a:xfrm>
        </p:spPr>
        <p:txBody>
          <a:bodyPr/>
          <a:lstStyle/>
          <a:p>
            <a:fld id="{A58FD96F-21B2-46E2-AE53-1EAD3D1198D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61964118-5CFA-FFA8-E19F-A107D63DDC0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665559" y="0"/>
            <a:ext cx="352643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3635530963"/>
      </p:ext>
    </p:extLst>
  </p:cSld>
  <p:clrMapOvr>
    <a:masterClrMapping/>
  </p:clrMapOvr>
  <p:hf sldNum="0" hdr="0" ft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066" y="1115736"/>
            <a:ext cx="4738583" cy="1288169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88192" y="2552124"/>
            <a:ext cx="4738450" cy="3734376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84581EB-7A5A-925D-6E20-5C04A0EAA2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084EA123-AEAB-8F33-C22D-31F9F11A9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88066" y="6438900"/>
            <a:ext cx="3174065" cy="419100"/>
          </a:xfrm>
        </p:spPr>
        <p:txBody>
          <a:bodyPr/>
          <a:lstStyle/>
          <a:p>
            <a:endParaRPr lang="en-GB"/>
          </a:p>
        </p:txBody>
      </p:sp>
      <p:sp>
        <p:nvSpPr>
          <p:cNvPr id="9" name="Date Placeholder 4">
            <a:extLst>
              <a:ext uri="{FF2B5EF4-FFF2-40B4-BE49-F238E27FC236}">
                <a16:creationId xmlns:a16="http://schemas.microsoft.com/office/drawing/2014/main" id="{AA2FCA56-AA13-81B1-1707-7A5D7557B5F8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352338" y="6438900"/>
            <a:ext cx="864704" cy="419100"/>
          </a:xfrm>
        </p:spPr>
        <p:txBody>
          <a:bodyPr/>
          <a:lstStyle/>
          <a:p>
            <a:endParaRPr lang="en-GB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4358A8E3-C7AA-9216-35FD-FE8205982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225206" y="6438900"/>
            <a:ext cx="601436" cy="419100"/>
          </a:xfrm>
        </p:spPr>
        <p:txBody>
          <a:bodyPr/>
          <a:lstStyle/>
          <a:p>
            <a:fld id="{A58FD96F-21B2-46E2-AE53-1EAD3D1198D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000" y="0"/>
            <a:ext cx="609600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337402475"/>
      </p:ext>
    </p:extLst>
  </p:cSld>
  <p:clrMapOvr>
    <a:masterClrMapping/>
  </p:clrMapOvr>
  <p:hf sldNum="0" hdr="0" ft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8396" y="1111101"/>
            <a:ext cx="3813845" cy="1493863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8397" y="2700671"/>
            <a:ext cx="3813846" cy="3585830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6A796DD-1556-39E2-B5E4-90C1C2459D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713B13-BCC2-B853-769C-4BC6A57D7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8395" y="6438900"/>
            <a:ext cx="2249335" cy="419100"/>
          </a:xfrm>
        </p:spPr>
        <p:txBody>
          <a:bodyPr/>
          <a:lstStyle/>
          <a:p>
            <a:endParaRPr lang="en-GB"/>
          </a:p>
        </p:txBody>
      </p:sp>
      <p:sp>
        <p:nvSpPr>
          <p:cNvPr id="6" name="Date Placeholder 4">
            <a:extLst>
              <a:ext uri="{FF2B5EF4-FFF2-40B4-BE49-F238E27FC236}">
                <a16:creationId xmlns:a16="http://schemas.microsoft.com/office/drawing/2014/main" id="{A9915D6C-CE56-12D3-C15C-C56B3EFEAFE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437937" y="6438900"/>
            <a:ext cx="864704" cy="419100"/>
          </a:xfr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C3F576B-887C-7B84-0990-9143EA6C6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310805" y="6438900"/>
            <a:ext cx="601436" cy="419100"/>
          </a:xfrm>
        </p:spPr>
        <p:txBody>
          <a:bodyPr/>
          <a:lstStyle/>
          <a:p>
            <a:fld id="{A58FD96F-21B2-46E2-AE53-1EAD3D1198D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192232" y="0"/>
            <a:ext cx="699976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2999303000"/>
      </p:ext>
    </p:extLst>
  </p:cSld>
  <p:clrMapOvr>
    <a:masterClrMapping/>
  </p:clrMapOvr>
  <p:hf sldNum="0" hdr="0" ft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175ACA1F-D859-596B-9F50-F1E9A2654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7894207" y="1112431"/>
            <a:ext cx="3230993" cy="1858941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2A43D9F3-C10E-5B48-BB59-16A8600BD36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2192" y="0"/>
            <a:ext cx="7481777" cy="68580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4" name="Content Placeholder 7">
            <a:extLst>
              <a:ext uri="{FF2B5EF4-FFF2-40B4-BE49-F238E27FC236}">
                <a16:creationId xmlns:a16="http://schemas.microsoft.com/office/drawing/2014/main" id="{2E10F120-2F5B-B2FD-DB40-683E6176C3D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901280" y="3133255"/>
            <a:ext cx="3223920" cy="265625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dirty="0"/>
            </a:lvl1pPr>
            <a:lvl2pPr marL="228600" indent="0">
              <a:lnSpc>
                <a:spcPct val="100000"/>
              </a:lnSpc>
              <a:buNone/>
              <a:defRPr lang="en-US" dirty="0"/>
            </a:lvl2pPr>
            <a:lvl3pPr marL="457200" indent="0">
              <a:lnSpc>
                <a:spcPct val="100000"/>
              </a:lnSpc>
              <a:buNone/>
              <a:defRPr lang="en-US" dirty="0"/>
            </a:lvl3pPr>
            <a:lvl4pPr marL="685800" indent="0">
              <a:lnSpc>
                <a:spcPct val="100000"/>
              </a:lnSpc>
              <a:buNone/>
              <a:defRPr lang="en-US" dirty="0"/>
            </a:lvl4pPr>
            <a:lvl5pPr marL="914400" indent="0">
              <a:lnSpc>
                <a:spcPct val="100000"/>
              </a:lnSpc>
              <a:buNone/>
              <a:defRPr lang="en-US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9A12B08-97E1-66BD-9B69-377E285127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11375613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EACEEC7-E0DC-ABF5-188B-5636A17BD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94207" y="6438900"/>
            <a:ext cx="1666482" cy="419100"/>
          </a:xfrm>
        </p:spPr>
        <p:txBody>
          <a:bodyPr/>
          <a:lstStyle/>
          <a:p>
            <a:endParaRPr lang="en-GB"/>
          </a:p>
        </p:txBody>
      </p:sp>
      <p:sp>
        <p:nvSpPr>
          <p:cNvPr id="8" name="Date Placeholder 4">
            <a:extLst>
              <a:ext uri="{FF2B5EF4-FFF2-40B4-BE49-F238E27FC236}">
                <a16:creationId xmlns:a16="http://schemas.microsoft.com/office/drawing/2014/main" id="{D0A24C6D-468E-EAE9-2363-772EA5E51DD0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9650896" y="6438900"/>
            <a:ext cx="864704" cy="419100"/>
          </a:xfrm>
        </p:spPr>
        <p:txBody>
          <a:bodyPr/>
          <a:lstStyle/>
          <a:p>
            <a:endParaRPr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4C85811-EF51-7552-5F12-17748D2806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23764" y="6438900"/>
            <a:ext cx="601436" cy="419100"/>
          </a:xfrm>
        </p:spPr>
        <p:txBody>
          <a:bodyPr/>
          <a:lstStyle/>
          <a:p>
            <a:fld id="{A58FD96F-21B2-46E2-AE53-1EAD3D1198D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144736"/>
      </p:ext>
    </p:extLst>
  </p:cSld>
  <p:clrMapOvr>
    <a:masterClrMapping/>
  </p:clrMapOvr>
  <p:hf sldNum="0" hdr="0" ftr="0" dt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324" y="3987802"/>
            <a:ext cx="3044954" cy="2309785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443331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55935" y="3987802"/>
            <a:ext cx="7460029" cy="2309785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lnSpc>
                <a:spcPct val="100000"/>
              </a:lnSpc>
              <a:buNone/>
              <a:defRPr lang="en-US" dirty="0"/>
            </a:lvl1pPr>
            <a:lvl2pPr marL="228600" indent="0">
              <a:lnSpc>
                <a:spcPct val="100000"/>
              </a:lnSpc>
              <a:buNone/>
              <a:defRPr lang="en-US" dirty="0"/>
            </a:lvl2pPr>
            <a:lvl3pPr marL="457200" indent="0">
              <a:lnSpc>
                <a:spcPct val="100000"/>
              </a:lnSpc>
              <a:buNone/>
              <a:defRPr lang="en-US" dirty="0"/>
            </a:lvl3pPr>
            <a:lvl4pPr marL="685800" indent="0">
              <a:lnSpc>
                <a:spcPct val="100000"/>
              </a:lnSpc>
              <a:buNone/>
              <a:defRPr lang="en-US" dirty="0"/>
            </a:lvl4pPr>
            <a:lvl5pPr marL="914400" indent="0">
              <a:lnSpc>
                <a:spcPct val="100000"/>
              </a:lnSpc>
              <a:buNone/>
              <a:defRPr lang="en-US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C699AE1-DA01-C4DA-C5BE-8DD9BE13F6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4115092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73F0BC-3C5E-8E58-AFDC-804E1C1C761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E6E5C888-EE74-5D59-47AA-40A53F60011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794CA46-7ABA-FF39-20BD-C83B4F6D957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58FD96F-21B2-46E2-AE53-1EAD3D1198D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3139213"/>
      </p:ext>
    </p:extLst>
  </p:cSld>
  <p:clrMapOvr>
    <a:masterClrMapping/>
  </p:clrMapOvr>
  <p:hf sldNum="0"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85BA164-9326-7934-95DF-A6AAB3F42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940" y="1120990"/>
            <a:ext cx="10477320" cy="969264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96F64025-FA05-CC42-8294-F944BC95DD0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2286008"/>
            <a:ext cx="6096000" cy="4571992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91745" y="2286008"/>
            <a:ext cx="4876515" cy="4000492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B0BF8A-7D94-1C82-F661-F1B7A93A43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88C72B-1D4E-3882-C750-7F965F6E7BC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691744" y="6438900"/>
            <a:ext cx="2959151" cy="419100"/>
          </a:xfrm>
        </p:spPr>
        <p:txBody>
          <a:bodyPr/>
          <a:lstStyle/>
          <a:p>
            <a:endParaRPr lang="en-GB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14FA71-0863-B2C8-8E42-C0A1F133DC69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D6C2E8-E8FC-5DC8-863C-CF7823CD4AE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58FD96F-21B2-46E2-AE53-1EAD3D1198D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968564"/>
      </p:ext>
    </p:extLst>
  </p:cSld>
  <p:clrMapOvr>
    <a:masterClrMapping/>
  </p:clrMapOvr>
  <p:hf sldNum="0" hdr="0" ft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243CE06-05E5-2B64-1E1C-8F81B788D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940" y="1122200"/>
            <a:ext cx="3696859" cy="1505157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9ADE1102-BF4C-FC7C-22F6-B8453DE3B19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81100" y="2840181"/>
            <a:ext cx="3606699" cy="344631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6C8ACD7F-7B34-5741-6323-6829CFDA10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13673" y="1122201"/>
            <a:ext cx="6602291" cy="5164298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FD96F-21B2-46E2-AE53-1EAD3D1198D4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1322A97-1C32-A52E-951B-60B114B307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7364668"/>
      </p:ext>
    </p:extLst>
  </p:cSld>
  <p:clrMapOvr>
    <a:masterClrMapping/>
  </p:clrMapOvr>
  <p:hf sldNum="0" hdr="0" ftr="0" dt="0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umber Lar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99AD5248-C0E5-8356-EB8F-904EDDA5FC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47304" y="4757193"/>
            <a:ext cx="6477896" cy="1126554"/>
          </a:xfrm>
        </p:spPr>
        <p:txBody>
          <a:bodyPr anchor="b">
            <a:normAutofit/>
          </a:bodyPr>
          <a:lstStyle>
            <a:lvl1pPr algn="r">
              <a:defRPr sz="2000" b="0" cap="none" baseline="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A5F5F1C4-3BA4-0163-6A5F-9D95D58C7EA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" y="64008"/>
            <a:ext cx="12027408" cy="4600592"/>
          </a:xfrm>
        </p:spPr>
        <p:txBody>
          <a:bodyPr>
            <a:noAutofit/>
          </a:bodyPr>
          <a:lstStyle>
            <a:lvl1pPr>
              <a:lnSpc>
                <a:spcPct val="85000"/>
              </a:lnSpc>
              <a:defRPr sz="31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58FD96F-21B2-46E2-AE53-1EAD3D1198D4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A84DB20-94E7-1E79-B65B-67C6158DB1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387805" y="5715000"/>
            <a:ext cx="804195" cy="0"/>
          </a:xfrm>
          <a:prstGeom prst="line">
            <a:avLst/>
          </a:prstGeom>
          <a:ln w="1206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7551645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286261"/>
            <a:ext cx="10652760" cy="113385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88136" y="1039095"/>
            <a:ext cx="9418320" cy="5070068"/>
          </a:xfr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buNone/>
              <a:defRPr sz="6000" b="1"/>
            </a:lvl1pPr>
            <a:lvl2pPr marL="228600" indent="0">
              <a:lnSpc>
                <a:spcPct val="90000"/>
              </a:lnSpc>
              <a:buNone/>
              <a:defRPr sz="6000" b="1"/>
            </a:lvl2pPr>
            <a:lvl3pPr marL="457200" indent="0">
              <a:lnSpc>
                <a:spcPct val="90000"/>
              </a:lnSpc>
              <a:buNone/>
              <a:defRPr sz="6000" b="1"/>
            </a:lvl3pPr>
            <a:lvl4pPr marL="685800" indent="0">
              <a:lnSpc>
                <a:spcPct val="90000"/>
              </a:lnSpc>
              <a:buNone/>
              <a:defRPr sz="6000" b="1"/>
            </a:lvl4pPr>
            <a:lvl5pPr marL="914400" indent="0">
              <a:lnSpc>
                <a:spcPct val="90000"/>
              </a:lnSpc>
              <a:buNone/>
              <a:defRPr sz="6000" b="1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FD96F-21B2-46E2-AE53-1EAD3D1198D4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7F2505C-CAED-34DC-7CD1-C57ADBBF98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4467769"/>
      </p:ext>
    </p:extLst>
  </p:cSld>
  <p:clrMapOvr>
    <a:masterClrMapping/>
  </p:clrMapOvr>
  <p:hf sldNum="0" hdr="0" ft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9">
            <a:extLst>
              <a:ext uri="{FF2B5EF4-FFF2-40B4-BE49-F238E27FC236}">
                <a16:creationId xmlns:a16="http://schemas.microsoft.com/office/drawing/2014/main" id="{873E5EF9-EDC5-CB2D-000A-85BB4DB582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6800" y="5418360"/>
            <a:ext cx="10058400" cy="466345"/>
          </a:xfrm>
        </p:spPr>
        <p:txBody>
          <a:bodyPr anchor="b">
            <a:normAutofit/>
          </a:bodyPr>
          <a:lstStyle>
            <a:lvl1pPr algn="r">
              <a:lnSpc>
                <a:spcPct val="100000"/>
              </a:lnSpc>
              <a:defRPr sz="2000" b="0" cap="none" baseline="0"/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E5D1FFC6-C597-BE81-1790-A08954F44C4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95250" y="63500"/>
            <a:ext cx="11977688" cy="5080000"/>
          </a:xfrm>
        </p:spPr>
        <p:txBody>
          <a:bodyPr>
            <a:normAutofit/>
          </a:bodyPr>
          <a:lstStyle>
            <a:lvl1pPr>
              <a:lnSpc>
                <a:spcPct val="85000"/>
              </a:lnSpc>
              <a:defRPr sz="8000" b="1" cap="all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FD96F-21B2-46E2-AE53-1EAD3D1198D4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2949BEA-90AC-BE5F-28A7-80D65BD19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387805" y="5715292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6975106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BF7AE-3892-4896-8C15-7A35A41EF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119132"/>
            <a:ext cx="9890066" cy="1204593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FD9A26-86F1-4817-B243-4DE63B4F18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82185" y="2440568"/>
            <a:ext cx="4841505" cy="3801284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54BF9B-EA16-48C8-96B9-7A66051BE7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40568"/>
            <a:ext cx="4806002" cy="380128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629E05-3F6C-40BF-9324-118588B6C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6E2D9F-1FCE-4A1C-996E-DB05777A89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9BE013-C5C0-4CBD-982E-36F037F73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FD96F-21B2-46E2-AE53-1EAD3D1198D4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B20CA7A-449A-6AC2-BFC5-17AF5007E7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7752185"/>
      </p:ext>
    </p:extLst>
  </p:cSld>
  <p:clrMapOvr>
    <a:masterClrMapping/>
  </p:clrMapOvr>
  <p:hf sldNum="0" hdr="0" ftr="0" dt="0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ED885-5FE5-4407-BE4D-FAD01C40A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940" y="1115329"/>
            <a:ext cx="9949455" cy="83885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322A77-C134-4857-83E5-51217D3C29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2088" y="1923190"/>
            <a:ext cx="4816475" cy="838856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800" b="1" cap="all" spc="1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10AFC6-F407-4F35-BD37-B32F9B4036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15482" y="1923190"/>
            <a:ext cx="4824913" cy="838856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800" b="1" cap="all" spc="1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4ECBFE-C62C-471B-BFE4-1272EAC347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92088" y="2825791"/>
            <a:ext cx="4816475" cy="3363871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8D60D5-0F83-46CB-92F3-849FC08E6E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15482" y="2825791"/>
            <a:ext cx="4824913" cy="3363871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40A80D-4CCB-4899-9E1D-A5967F4E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5AE694-5CA0-48DA-90D3-EC42BD1D8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F753A9D-469A-4ED9-99A1-7E4B115F8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FD96F-21B2-46E2-AE53-1EAD3D1198D4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DA35A86-E7F6-6593-119D-A6DC85581F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1915082"/>
      </p:ext>
    </p:extLst>
  </p:cSld>
  <p:clrMapOvr>
    <a:masterClrMapping/>
  </p:clrMapOvr>
  <p:hf sldNum="0" hdr="0" ftr="0" dt="0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7C91E-0A11-4E5D-9B8D-5316E73A2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104100"/>
            <a:ext cx="9922764" cy="1294228"/>
          </a:xfrm>
        </p:spPr>
        <p:txBody>
          <a:bodyPr>
            <a:normAutofit/>
          </a:bodyPr>
          <a:lstStyle>
            <a:lvl1pPr>
              <a:defRPr sz="3600" cap="none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E36922-9A4C-453D-9B70-0C3A70281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B8A8D1-71AD-4F9F-B393-9EED83FEF0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5AAEF2-65DC-4E28-9AA4-5115ACB07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FD96F-21B2-46E2-AE53-1EAD3D1198D4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8CF7AFD-0570-B046-A2C2-3EFA87354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0655943"/>
      </p:ext>
    </p:extLst>
  </p:cSld>
  <p:clrMapOvr>
    <a:masterClrMapping/>
  </p:clrMapOvr>
  <p:hf sldNum="0" hdr="0" ftr="0" dt="0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459378-C430-49DB-B2D6-E32FBBCD4A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FF5A02-0FC4-41C8-A13C-4C929B288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B9D57D-CB8E-4E67-AE2D-2790E2AA6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FD96F-21B2-46E2-AE53-1EAD3D1198D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1437560"/>
      </p:ext>
    </p:extLst>
  </p:cSld>
  <p:clrMapOvr>
    <a:masterClrMapping/>
  </p:clrMapOvr>
  <p:hf sldNum="0" hdr="0" ftr="0" dt="0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088135"/>
            <a:ext cx="10627828" cy="2084551"/>
          </a:xfrm>
        </p:spPr>
        <p:txBody>
          <a:bodyPr anchor="t" anchorCtr="0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419A5DD2-B3B3-D9BF-1A71-B20742D142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88134" y="3276600"/>
            <a:ext cx="10627829" cy="3162300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1pPr>
            <a:lvl2pPr marL="22860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2pPr>
            <a:lvl3pPr marL="45720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3pPr>
            <a:lvl4pPr marL="68580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4pPr>
            <a:lvl5pPr marL="91440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58FD96F-21B2-46E2-AE53-1EAD3D1198D4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DCA1022-3377-EB7D-8261-EDD841636B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7907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088136"/>
            <a:ext cx="8430767" cy="1842020"/>
          </a:xfrm>
        </p:spPr>
        <p:txBody>
          <a:bodyPr anchor="t" anchorCtr="0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C06F55DC-E754-4B2B-C0AE-962C82565D0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77213" y="4246692"/>
            <a:ext cx="8430639" cy="1608008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22860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2pPr>
            <a:lvl3pPr marL="45720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3pPr>
            <a:lvl4pPr marL="68580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4pPr>
            <a:lvl5pPr marL="91440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58FD96F-21B2-46E2-AE53-1EAD3D1198D4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C829929-F774-AF4E-F1BE-2DA3C43D0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73205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03323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13" Type="http://schemas.openxmlformats.org/officeDocument/2006/relationships/slideLayout" Target="../slideLayouts/slideLayout23.xml"/><Relationship Id="rId18" Type="http://schemas.openxmlformats.org/officeDocument/2006/relationships/slideLayout" Target="../slideLayouts/slideLayout28.xml"/><Relationship Id="rId26" Type="http://schemas.openxmlformats.org/officeDocument/2006/relationships/slideLayout" Target="../slideLayouts/slideLayout36.xml"/><Relationship Id="rId3" Type="http://schemas.openxmlformats.org/officeDocument/2006/relationships/slideLayout" Target="../slideLayouts/slideLayout13.xml"/><Relationship Id="rId21" Type="http://schemas.openxmlformats.org/officeDocument/2006/relationships/slideLayout" Target="../slideLayouts/slideLayout31.xml"/><Relationship Id="rId7" Type="http://schemas.openxmlformats.org/officeDocument/2006/relationships/slideLayout" Target="../slideLayouts/slideLayout17.xml"/><Relationship Id="rId12" Type="http://schemas.openxmlformats.org/officeDocument/2006/relationships/slideLayout" Target="../slideLayouts/slideLayout22.xml"/><Relationship Id="rId17" Type="http://schemas.openxmlformats.org/officeDocument/2006/relationships/slideLayout" Target="../slideLayouts/slideLayout27.xml"/><Relationship Id="rId25" Type="http://schemas.openxmlformats.org/officeDocument/2006/relationships/slideLayout" Target="../slideLayouts/slideLayout35.xml"/><Relationship Id="rId2" Type="http://schemas.openxmlformats.org/officeDocument/2006/relationships/slideLayout" Target="../slideLayouts/slideLayout12.xml"/><Relationship Id="rId16" Type="http://schemas.openxmlformats.org/officeDocument/2006/relationships/slideLayout" Target="../slideLayouts/slideLayout26.xml"/><Relationship Id="rId20" Type="http://schemas.openxmlformats.org/officeDocument/2006/relationships/slideLayout" Target="../slideLayouts/slideLayout30.xml"/><Relationship Id="rId29" Type="http://schemas.openxmlformats.org/officeDocument/2006/relationships/theme" Target="../theme/theme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34.xml"/><Relationship Id="rId5" Type="http://schemas.openxmlformats.org/officeDocument/2006/relationships/slideLayout" Target="../slideLayouts/slideLayout15.xml"/><Relationship Id="rId15" Type="http://schemas.openxmlformats.org/officeDocument/2006/relationships/slideLayout" Target="../slideLayouts/slideLayout25.xml"/><Relationship Id="rId23" Type="http://schemas.openxmlformats.org/officeDocument/2006/relationships/slideLayout" Target="../slideLayouts/slideLayout33.xml"/><Relationship Id="rId28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9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24.xml"/><Relationship Id="rId22" Type="http://schemas.openxmlformats.org/officeDocument/2006/relationships/slideLayout" Target="../slideLayouts/slideLayout32.xml"/><Relationship Id="rId27" Type="http://schemas.openxmlformats.org/officeDocument/2006/relationships/slideLayout" Target="../slideLayouts/slideLayout3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88486DD-DC80-4105-B5C1-F24DF1E13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" y="396000"/>
            <a:ext cx="11664000" cy="324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211E34-3616-4A64-8CC2-B6148A83C0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88000" y="1260000"/>
            <a:ext cx="11664000" cy="435133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75616D-0293-4E67-9011-BACFE61DEC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88000" y="6426000"/>
            <a:ext cx="2743200" cy="216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B93153-1063-4BCC-93D0-269BCCE6EA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26000"/>
            <a:ext cx="4114800" cy="216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ctr">
              <a:defRPr sz="1100"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D43AD7-2F25-4C5B-BAD2-57612C5643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32000" y="6426000"/>
            <a:ext cx="720000" cy="216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100" b="1">
                <a:solidFill>
                  <a:schemeClr val="tx1"/>
                </a:solidFill>
                <a:latin typeface="+mj-lt"/>
              </a:defRPr>
            </a:lvl1pPr>
          </a:lstStyle>
          <a:p>
            <a:fld id="{A58FD96F-21B2-46E2-AE53-1EAD3D1198D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9554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25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914400" rtl="0" eaLnBrk="1" latinLnBrk="0" hangingPunct="1">
        <a:lnSpc>
          <a:spcPct val="105000"/>
        </a:lnSpc>
        <a:spcBef>
          <a:spcPts val="0"/>
        </a:spcBef>
        <a:spcAft>
          <a:spcPts val="750"/>
        </a:spcAft>
        <a:buFont typeface="System Font Regular"/>
        <a:buChar char="–"/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914400" rtl="0" eaLnBrk="1" latinLnBrk="0" hangingPunct="1">
        <a:lnSpc>
          <a:spcPct val="105000"/>
        </a:lnSpc>
        <a:spcBef>
          <a:spcPts val="0"/>
        </a:spcBef>
        <a:spcAft>
          <a:spcPts val="750"/>
        </a:spcAft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914400" rtl="0" eaLnBrk="1" latinLnBrk="0" hangingPunct="1">
        <a:lnSpc>
          <a:spcPct val="105000"/>
        </a:lnSpc>
        <a:spcBef>
          <a:spcPts val="0"/>
        </a:spcBef>
        <a:spcAft>
          <a:spcPts val="750"/>
        </a:spcAft>
        <a:buFont typeface="System Font Regular"/>
        <a:buChar char="–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216000" indent="-216000" algn="l" defTabSz="914400" rtl="0" eaLnBrk="1" latinLnBrk="0" hangingPunct="1">
        <a:lnSpc>
          <a:spcPct val="105000"/>
        </a:lnSpc>
        <a:spcBef>
          <a:spcPts val="0"/>
        </a:spcBef>
        <a:spcAft>
          <a:spcPts val="750"/>
        </a:spcAft>
        <a:buFont typeface="+mj-lt"/>
        <a:buAutoNum type="arabicPeriod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05000"/>
        </a:lnSpc>
        <a:spcBef>
          <a:spcPts val="0"/>
        </a:spcBef>
        <a:spcAft>
          <a:spcPts val="2000"/>
        </a:spcAft>
        <a:buFont typeface="Arial" panose="020B0604020202020204" pitchFamily="34" charset="0"/>
        <a:buNone/>
        <a:defRPr sz="2700" b="1" kern="1200">
          <a:solidFill>
            <a:schemeClr val="tx1"/>
          </a:solidFill>
          <a:latin typeface="+mj-lt"/>
          <a:ea typeface="+mn-ea"/>
          <a:cs typeface="+mn-cs"/>
        </a:defRPr>
      </a:lvl5pPr>
      <a:lvl6pPr marL="216000" indent="-216000" algn="l" defTabSz="914400" rtl="0" eaLnBrk="1" latinLnBrk="0" hangingPunct="1">
        <a:lnSpc>
          <a:spcPct val="105000"/>
        </a:lnSpc>
        <a:spcBef>
          <a:spcPts val="0"/>
        </a:spcBef>
        <a:spcAft>
          <a:spcPts val="750"/>
        </a:spcAft>
        <a:buFont typeface="System Font Regular"/>
        <a:buChar char="–"/>
        <a:defRPr sz="155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-216000" algn="l" defTabSz="914400" rtl="0" eaLnBrk="1" latinLnBrk="0" hangingPunct="1">
        <a:lnSpc>
          <a:spcPct val="105000"/>
        </a:lnSpc>
        <a:spcBef>
          <a:spcPts val="0"/>
        </a:spcBef>
        <a:spcAft>
          <a:spcPts val="750"/>
        </a:spcAft>
        <a:buFont typeface="System Font Regular"/>
        <a:buChar char="–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432000" indent="-216000" algn="l" defTabSz="914400" rtl="0" eaLnBrk="1" latinLnBrk="0" hangingPunct="1">
        <a:lnSpc>
          <a:spcPct val="105000"/>
        </a:lnSpc>
        <a:spcBef>
          <a:spcPts val="0"/>
        </a:spcBef>
        <a:spcAft>
          <a:spcPts val="750"/>
        </a:spcAft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105000"/>
        </a:lnSpc>
        <a:spcBef>
          <a:spcPts val="0"/>
        </a:spcBef>
        <a:spcAft>
          <a:spcPts val="750"/>
        </a:spcAft>
        <a:buFont typeface="Arial" panose="020B0604020202020204" pitchFamily="34" charset="0"/>
        <a:buNone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E4438DC-3CEE-4170-9B1C-BAC05CD8C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090245"/>
            <a:ext cx="9922764" cy="93598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C19D24-DCBE-47F9-8B85-8A118B02B3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88136" y="2119745"/>
            <a:ext cx="9922764" cy="41667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D5844-8163-4D82-BEFC-BC2D8D511B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88136" y="6438900"/>
            <a:ext cx="8562760" cy="4191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900"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4F5788-BDCE-49E2-80AE-31C739C6A0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650896" y="6438900"/>
            <a:ext cx="864704" cy="4191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900"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698A50-C435-4220-82C6-C8D62A7C9E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23764" y="6438900"/>
            <a:ext cx="601436" cy="4191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900">
                <a:solidFill>
                  <a:schemeClr val="tx1"/>
                </a:solidFill>
              </a:defRPr>
            </a:lvl1pPr>
          </a:lstStyle>
          <a:p>
            <a:fld id="{A58FD96F-21B2-46E2-AE53-1EAD3D1198D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5126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  <p:sldLayoutId id="2147483744" r:id="rId12"/>
    <p:sldLayoutId id="2147483745" r:id="rId13"/>
    <p:sldLayoutId id="2147483746" r:id="rId14"/>
    <p:sldLayoutId id="2147483747" r:id="rId15"/>
    <p:sldLayoutId id="2147483748" r:id="rId16"/>
    <p:sldLayoutId id="2147483749" r:id="rId17"/>
    <p:sldLayoutId id="2147483750" r:id="rId18"/>
    <p:sldLayoutId id="2147483751" r:id="rId19"/>
    <p:sldLayoutId id="2147483752" r:id="rId20"/>
    <p:sldLayoutId id="2147483753" r:id="rId21"/>
    <p:sldLayoutId id="2147483754" r:id="rId22"/>
    <p:sldLayoutId id="2147483755" r:id="rId23"/>
    <p:sldLayoutId id="2147483756" r:id="rId24"/>
    <p:sldLayoutId id="2147483757" r:id="rId25"/>
    <p:sldLayoutId id="2147483758" r:id="rId26"/>
    <p:sldLayoutId id="2147483759" r:id="rId27"/>
    <p:sldLayoutId id="2147483760" r:id="rId28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600" b="1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30000"/>
        </a:lnSpc>
        <a:spcBef>
          <a:spcPts val="0"/>
        </a:spcBef>
        <a:buFont typeface="Neue Haas Grotesk Text Pro" panose="020B05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02920" indent="-228600" algn="l" defTabSz="914400" rtl="0" eaLnBrk="1" latinLnBrk="0" hangingPunct="1">
        <a:lnSpc>
          <a:spcPct val="130000"/>
        </a:lnSpc>
        <a:spcBef>
          <a:spcPts val="0"/>
        </a:spcBef>
        <a:buFont typeface="Neue Haas Grotesk Text Pro" panose="020B0504020202020204" pitchFamily="34" charset="0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30000"/>
        </a:lnSpc>
        <a:spcBef>
          <a:spcPts val="0"/>
        </a:spcBef>
        <a:buFont typeface="Neue Haas Grotesk Text Pro" panose="020B0504020202020204" pitchFamily="34" charset="0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228600" algn="l" defTabSz="914400" rtl="0" eaLnBrk="1" latinLnBrk="0" hangingPunct="1">
        <a:lnSpc>
          <a:spcPct val="130000"/>
        </a:lnSpc>
        <a:spcBef>
          <a:spcPts val="0"/>
        </a:spcBef>
        <a:buFont typeface="Neue Haas Grotesk Text Pro" panose="020B0504020202020204" pitchFamily="34" charset="0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228600" algn="l" defTabSz="914400" rtl="0" eaLnBrk="1" latinLnBrk="0" hangingPunct="1">
        <a:lnSpc>
          <a:spcPct val="130000"/>
        </a:lnSpc>
        <a:spcBef>
          <a:spcPts val="0"/>
        </a:spcBef>
        <a:buFont typeface="Neue Haas Grotesk Text Pro" panose="020B0504020202020204" pitchFamily="34" charset="0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pos="744">
          <p15:clr>
            <a:srgbClr val="F26B43"/>
          </p15:clr>
        </p15:guide>
        <p15:guide id="6">
          <p15:clr>
            <a:srgbClr val="F26B43"/>
          </p15:clr>
        </p15:guide>
        <p15:guide id="8" pos="6936">
          <p15:clr>
            <a:srgbClr val="F26B43"/>
          </p15:clr>
        </p15:guide>
        <p15:guide id="10" orient="horz" pos="720">
          <p15:clr>
            <a:srgbClr val="F26B43"/>
          </p15:clr>
        </p15:guide>
        <p15:guide id="14" pos="6624">
          <p15:clr>
            <a:srgbClr val="F26B43"/>
          </p15:clr>
        </p15:guide>
        <p15:guide id="22" orient="horz" pos="360">
          <p15:clr>
            <a:srgbClr val="F26B43"/>
          </p15:clr>
        </p15:guide>
        <p15:guide id="23" orient="horz" pos="3960">
          <p15:clr>
            <a:srgbClr val="F26B43"/>
          </p15:clr>
        </p15:guide>
        <p15:guide id="24" orient="horz" pos="2160">
          <p15:clr>
            <a:srgbClr val="F26B43"/>
          </p15:clr>
        </p15:guide>
        <p15:guide id="25" pos="7680">
          <p15:clr>
            <a:srgbClr val="F26B43"/>
          </p15:clr>
        </p15:guide>
        <p15:guide id="26" pos="3840">
          <p15:clr>
            <a:srgbClr val="F26B43"/>
          </p15:clr>
        </p15:guide>
        <p15:guide id="27" pos="6168">
          <p15:clr>
            <a:srgbClr val="F26B43"/>
          </p15:clr>
        </p15:guide>
        <p15:guide id="28" pos="672">
          <p15:clr>
            <a:srgbClr val="F26B43"/>
          </p15:clr>
        </p15:guide>
        <p15:guide id="29" pos="7008">
          <p15:clr>
            <a:srgbClr val="F26B43"/>
          </p15:clr>
        </p15:guide>
        <p15:guide id="30" orient="horz" pos="4056">
          <p15:clr>
            <a:srgbClr val="F26B43"/>
          </p15:clr>
        </p15:guide>
        <p15:guide id="31" orient="horz" pos="364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34440" y="1463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B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API MANAGEMENT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88720" y="1783080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Architecture</a:t>
            </a:r>
            <a:endParaRPr lang="en-US" sz="4200" dirty="0"/>
          </a:p>
          <a:p>
            <a:pPr marL="0" indent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Build-Out Design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315468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 APIM deployment - edge, hosting, ingress, egress and resilience decisions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4069080"/>
            <a:ext cx="1965960" cy="1234440"/>
          </a:xfrm>
          <a:prstGeom prst="roundRect">
            <a:avLst>
              <a:gd name="adj" fmla="val 4444"/>
            </a:avLst>
          </a:prstGeom>
          <a:solidFill>
            <a:srgbClr val="F7FAFC"/>
          </a:solidFill>
          <a:ln w="12700">
            <a:solidFill>
              <a:srgbClr val="CBD7E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 txBox="1"/>
          <p:nvPr/>
        </p:nvSpPr>
        <p:spPr>
          <a:xfrm>
            <a:off x="1024128" y="42062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B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4553712"/>
            <a:ext cx="1563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2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017520" y="4069080"/>
            <a:ext cx="1965960" cy="1234440"/>
          </a:xfrm>
          <a:prstGeom prst="roundRect">
            <a:avLst>
              <a:gd name="adj" fmla="val 4444"/>
            </a:avLst>
          </a:prstGeom>
          <a:solidFill>
            <a:srgbClr val="F7FAFC"/>
          </a:solidFill>
          <a:ln w="12700">
            <a:solidFill>
              <a:srgbClr val="CBD7E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 txBox="1"/>
          <p:nvPr/>
        </p:nvSpPr>
        <p:spPr>
          <a:xfrm>
            <a:off x="3218688" y="42062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B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218688" y="4553712"/>
            <a:ext cx="1563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</a:t>
            </a:r>
            <a:endParaRPr lang="en-US" sz="12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212080" y="4069080"/>
            <a:ext cx="1965960" cy="1234440"/>
          </a:xfrm>
          <a:prstGeom prst="roundRect">
            <a:avLst>
              <a:gd name="adj" fmla="val 4444"/>
            </a:avLst>
          </a:prstGeom>
          <a:solidFill>
            <a:srgbClr val="F7FAFC"/>
          </a:solidFill>
          <a:ln w="12700">
            <a:solidFill>
              <a:srgbClr val="CBD7E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 txBox="1"/>
          <p:nvPr/>
        </p:nvSpPr>
        <p:spPr>
          <a:xfrm>
            <a:off x="5413248" y="42062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B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413248" y="4553712"/>
            <a:ext cx="1563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</a:t>
            </a:r>
            <a:endParaRPr lang="en-US" sz="12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406640" y="4069080"/>
            <a:ext cx="1965960" cy="1234440"/>
          </a:xfrm>
          <a:prstGeom prst="roundRect">
            <a:avLst>
              <a:gd name="adj" fmla="val 4444"/>
            </a:avLst>
          </a:prstGeom>
          <a:solidFill>
            <a:srgbClr val="F7FAFC"/>
          </a:solidFill>
          <a:ln w="12700">
            <a:solidFill>
              <a:srgbClr val="CBD7E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 txBox="1"/>
          <p:nvPr/>
        </p:nvSpPr>
        <p:spPr>
          <a:xfrm>
            <a:off x="7607808" y="42062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B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607808" y="4553712"/>
            <a:ext cx="1563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</a:t>
            </a:r>
            <a:endParaRPr lang="en-US" sz="12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Egress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601200" y="4069080"/>
            <a:ext cx="1965960" cy="1234440"/>
          </a:xfrm>
          <a:prstGeom prst="roundRect">
            <a:avLst>
              <a:gd name="adj" fmla="val 4444"/>
            </a:avLst>
          </a:prstGeom>
          <a:solidFill>
            <a:srgbClr val="F7FAFC"/>
          </a:solidFill>
          <a:ln w="12700">
            <a:solidFill>
              <a:srgbClr val="CBD7E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 txBox="1"/>
          <p:nvPr/>
        </p:nvSpPr>
        <p:spPr>
          <a:xfrm>
            <a:off x="9802368" y="42062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B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9802368" y="4553712"/>
            <a:ext cx="1563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&amp; DR</a:t>
            </a:r>
            <a:endParaRPr lang="en-US" sz="12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475488" cy="475488"/>
          </a:xfrm>
          <a:prstGeom prst="ellipse">
            <a:avLst/>
          </a:prstGeom>
          <a:solidFill>
            <a:srgbClr val="1B6FB3"/>
          </a:solidFill>
          <a:ln w="12700">
            <a:solidFill>
              <a:srgbClr val="1B6FB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 txBox="1"/>
          <p:nvPr/>
        </p:nvSpPr>
        <p:spPr>
          <a:xfrm>
            <a:off x="50292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10896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1B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ARCHITECTURE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APIM &amp; Edge Service Component Selection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99669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policy-enforced front door for every external API. APIM itself holds no public endpoint.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1874520" cy="2194560"/>
          </a:xfrm>
          <a:prstGeom prst="roundRect">
            <a:avLst>
              <a:gd name="adj" fmla="val 2927"/>
            </a:avLst>
          </a:prstGeom>
          <a:solidFill>
            <a:srgbClr val="F7FAFC"/>
          </a:solidFill>
          <a:ln w="12700">
            <a:solidFill>
              <a:srgbClr val="CBD7E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 txBox="1"/>
          <p:nvPr/>
        </p:nvSpPr>
        <p:spPr>
          <a:xfrm>
            <a:off x="667512" y="1563624"/>
            <a:ext cx="1545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2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67512" y="1828800"/>
            <a:ext cx="1545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57860" y="209215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 / B2B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SaaS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926080" y="1417320"/>
            <a:ext cx="2423160" cy="2194560"/>
          </a:xfrm>
          <a:prstGeom prst="roundRect">
            <a:avLst>
              <a:gd name="adj" fmla="val 2500"/>
            </a:avLst>
          </a:prstGeom>
          <a:solidFill>
            <a:srgbClr val="F7FAFC"/>
          </a:solidFill>
          <a:ln w="12700">
            <a:solidFill>
              <a:srgbClr val="CBD7E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 txBox="1"/>
          <p:nvPr/>
        </p:nvSpPr>
        <p:spPr>
          <a:xfrm>
            <a:off x="3090672" y="1563624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20" dirty="0">
                <a:solidFill>
                  <a:srgbClr val="3F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— PUBLIC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3090672" y="1828800"/>
            <a:ext cx="20939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Front Door Premium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090672" y="235000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WAF: managed DRS + bot rules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DDoS protection, TLS 1.2 / 1.3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anycast + caching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public entry point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897880" y="1417320"/>
            <a:ext cx="2560320" cy="2194560"/>
          </a:xfrm>
          <a:prstGeom prst="roundRect">
            <a:avLst>
              <a:gd name="adj" fmla="val 2500"/>
            </a:avLst>
          </a:prstGeom>
          <a:solidFill>
            <a:srgbClr val="F7FAFC"/>
          </a:solidFill>
          <a:ln w="12700">
            <a:solidFill>
              <a:srgbClr val="CBD7E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 txBox="1"/>
          <p:nvPr/>
        </p:nvSpPr>
        <p:spPr>
          <a:xfrm>
            <a:off x="6062472" y="1563624"/>
            <a:ext cx="2231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20" dirty="0">
                <a:solidFill>
                  <a:srgbClr val="1B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 — PRIVATE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062472" y="1828800"/>
            <a:ext cx="22311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APIM Premium V2 · Internal VNet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062472" y="2350008"/>
            <a:ext cx="22311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 / JWT validation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Products, versions, revisions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Quota, throttle, schema checks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/ response shaping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006840" y="1417320"/>
            <a:ext cx="2679192" cy="2194560"/>
          </a:xfrm>
          <a:prstGeom prst="roundRect">
            <a:avLst>
              <a:gd name="adj" fmla="val 2500"/>
            </a:avLst>
          </a:prstGeom>
          <a:solidFill>
            <a:srgbClr val="F7FAFC"/>
          </a:solidFill>
          <a:ln w="12700">
            <a:solidFill>
              <a:srgbClr val="CBD7E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 txBox="1"/>
          <p:nvPr/>
        </p:nvSpPr>
        <p:spPr>
          <a:xfrm>
            <a:off x="9171432" y="1563624"/>
            <a:ext cx="2350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20" dirty="0">
                <a:solidFill>
                  <a:srgbClr val="0E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BACKENDS — PRIVATE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171432" y="1828800"/>
            <a:ext cx="2350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of record &amp; services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9171432" y="2350008"/>
            <a:ext cx="23500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PaaS via Private Endpoint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</a:p>
          <a:p>
            <a:pPr>
              <a:spcAft>
                <a:spcPts val="500"/>
              </a:spcAft>
              <a:buSzPct val="100000"/>
            </a:pPr>
            <a:r>
              <a:rPr lang="en-US" sz="105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AKS / Container Apps</a:t>
            </a:r>
            <a:endParaRPr lang="en-US" sz="1050" dirty="0"/>
          </a:p>
          <a:p>
            <a:pPr>
              <a:spcAft>
                <a:spcPts val="500"/>
              </a:spcAft>
              <a:buSzPct val="100000"/>
            </a:pPr>
            <a:r>
              <a:rPr lang="en-US" sz="105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Functions &amp; Logic Apps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487168" y="2514600"/>
            <a:ext cx="329184" cy="0"/>
          </a:xfrm>
          <a:prstGeom prst="line">
            <a:avLst/>
          </a:prstGeom>
          <a:noFill/>
          <a:ln w="25400">
            <a:solidFill>
              <a:srgbClr val="1B6FB3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 txBox="1"/>
          <p:nvPr/>
        </p:nvSpPr>
        <p:spPr>
          <a:xfrm>
            <a:off x="2286000" y="19659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1B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458968" y="2514600"/>
            <a:ext cx="329184" cy="0"/>
          </a:xfrm>
          <a:prstGeom prst="line">
            <a:avLst/>
          </a:prstGeom>
          <a:noFill/>
          <a:ln w="25400">
            <a:solidFill>
              <a:srgbClr val="1B6FB3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 txBox="1"/>
          <p:nvPr/>
        </p:nvSpPr>
        <p:spPr>
          <a:xfrm>
            <a:off x="5257800" y="19659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1B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</a:t>
            </a:r>
            <a:endParaRPr lang="en-US" sz="80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1B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8567928" y="2514600"/>
            <a:ext cx="329184" cy="0"/>
          </a:xfrm>
          <a:prstGeom prst="line">
            <a:avLst/>
          </a:prstGeom>
          <a:noFill/>
          <a:ln w="25400">
            <a:solidFill>
              <a:srgbClr val="1B6FB3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 txBox="1"/>
          <p:nvPr/>
        </p:nvSpPr>
        <p:spPr>
          <a:xfrm>
            <a:off x="8366760" y="19659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1B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VNet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7548" y="4297679"/>
            <a:ext cx="11183112" cy="643929"/>
          </a:xfrm>
          <a:prstGeom prst="roundRect">
            <a:avLst>
              <a:gd name="adj" fmla="val 9677"/>
            </a:avLst>
          </a:prstGeom>
          <a:solidFill>
            <a:srgbClr val="F0F5FA"/>
          </a:solidFill>
          <a:ln w="12700">
            <a:solidFill>
              <a:srgbClr val="1B6FB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 txBox="1"/>
          <p:nvPr/>
        </p:nvSpPr>
        <p:spPr>
          <a:xfrm>
            <a:off x="657860" y="4374681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B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DECISION  </a:t>
            </a:r>
            <a:r>
              <a:rPr lang="en-US" sz="110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Door Premium (WAF) → Private Link → APIM internal. No public IP on APIM.</a:t>
            </a:r>
          </a:p>
          <a:p>
            <a:r>
              <a:rPr lang="en-GB" sz="900" dirty="0"/>
              <a:t>Front Door Premium establishes a hardened security boundary in front of the API platform. WAF policies, DDoS protection, and centralised traffic control help ensure secure, reliable, and governed access to digital services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5425D5FD-F370-4513-2576-37CF08D05F80}"/>
              </a:ext>
            </a:extLst>
          </p:cNvPr>
          <p:cNvSpPr/>
          <p:nvPr/>
        </p:nvSpPr>
        <p:spPr>
          <a:xfrm>
            <a:off x="424688" y="5266943"/>
            <a:ext cx="11183112" cy="854723"/>
          </a:xfrm>
          <a:prstGeom prst="roundRect">
            <a:avLst>
              <a:gd name="adj" fmla="val 9677"/>
            </a:avLst>
          </a:prstGeom>
          <a:solidFill>
            <a:srgbClr val="F0F5FA"/>
          </a:solidFill>
          <a:ln w="12700">
            <a:solidFill>
              <a:srgbClr val="1B6FB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38">
            <a:extLst>
              <a:ext uri="{FF2B5EF4-FFF2-40B4-BE49-F238E27FC236}">
                <a16:creationId xmlns:a16="http://schemas.microsoft.com/office/drawing/2014/main" id="{50C1DE78-5DE2-3DC3-6D23-607AD1D6EA24}"/>
              </a:ext>
            </a:extLst>
          </p:cNvPr>
          <p:cNvSpPr txBox="1"/>
          <p:nvPr/>
        </p:nvSpPr>
        <p:spPr>
          <a:xfrm>
            <a:off x="621284" y="5486400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B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APIM DECISION </a:t>
            </a:r>
            <a:r>
              <a:rPr lang="en-US" sz="110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V2</a:t>
            </a:r>
          </a:p>
          <a:p>
            <a:pPr marL="0" indent="0">
              <a:buNone/>
            </a:pPr>
            <a:endParaRPr lang="en-US" sz="1100" dirty="0">
              <a:solidFill>
                <a:srgbClr val="1B2836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GB" sz="1000" dirty="0"/>
              <a:t>Premium V2 delivers the network isolation, performance, and governance controls required for strategic API management. It enables consistent policy enforcement, secure connectivity, and future growth without architectural redesign.</a:t>
            </a:r>
          </a:p>
          <a:p>
            <a:pPr marL="0" indent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475488" cy="475488"/>
          </a:xfrm>
          <a:prstGeom prst="ellipse">
            <a:avLst/>
          </a:prstGeom>
          <a:solidFill>
            <a:srgbClr val="1B6FB3"/>
          </a:solidFill>
          <a:ln w="12700">
            <a:solidFill>
              <a:srgbClr val="1B6FB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 txBox="1"/>
          <p:nvPr/>
        </p:nvSpPr>
        <p:spPr>
          <a:xfrm>
            <a:off x="50292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10896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1B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APIM HOSTING MODEL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Managed, VNet-Injected or Self-Hosted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99669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model = Premium V2, Managed gateway, VNet injection in Internal mode. Self-hosted gateway is a hybrid add-on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3544824" cy="3657600"/>
          </a:xfrm>
          <a:prstGeom prst="roundRect">
            <a:avLst>
              <a:gd name="adj" fmla="val 1548"/>
            </a:avLst>
          </a:prstGeom>
          <a:solidFill>
            <a:srgbClr val="F7FAFC"/>
          </a:solidFill>
          <a:ln w="12700">
            <a:solidFill>
              <a:srgbClr val="5E6D7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 txBox="1"/>
          <p:nvPr/>
        </p:nvSpPr>
        <p:spPr>
          <a:xfrm>
            <a:off x="685800" y="158191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2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66416" y="1563624"/>
            <a:ext cx="1298448" cy="237744"/>
          </a:xfrm>
          <a:prstGeom prst="roundRect">
            <a:avLst>
              <a:gd name="adj" fmla="val 50000"/>
            </a:avLst>
          </a:prstGeom>
          <a:solidFill>
            <a:srgbClr val="5E6D7C"/>
          </a:solidFill>
          <a:ln w="12700">
            <a:solidFill>
              <a:srgbClr val="5E6D7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 txBox="1"/>
          <p:nvPr/>
        </p:nvSpPr>
        <p:spPr>
          <a:xfrm>
            <a:off x="2566416" y="1563624"/>
            <a:ext cx="1298448" cy="23774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SUFFICIENT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192024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b="1" dirty="0">
                <a:solidFill>
                  <a:srgbClr val="0E3F6E"/>
                </a:solidFill>
                <a:latin typeface="Calibri"/>
                <a:ea typeface="Calibri"/>
                <a:cs typeface="Calibri"/>
              </a:rPr>
              <a:t>VNet Injection – External mode</a:t>
            </a:r>
            <a:endParaRPr lang="en-US" sz="150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0" indent="0" algn="l">
              <a:lnSpc>
                <a:spcPts val="1900"/>
              </a:lnSpc>
              <a:buNone/>
            </a:pPr>
            <a:endParaRPr lang="en-US" sz="1500" b="1" dirty="0">
              <a:solidFill>
                <a:srgbClr val="0E3F6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85800" y="2350008"/>
            <a:ext cx="3179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12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MODEL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2551176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50"/>
              </a:lnSpc>
            </a:pPr>
            <a:r>
              <a:rPr lang="en-US" sz="1000" i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gateway injected into the VNet · External mode · public inbound VIP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026664"/>
            <a:ext cx="317906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lvl="0" indent="-34290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10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Fully managed service with minimal operational overhead.</a:t>
            </a:r>
          </a:p>
          <a:p>
            <a:pPr marL="342900" lvl="0" indent="-34290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GB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fontAlgn="t">
              <a:buFont typeface="Arial" panose="020B0604020202020204" pitchFamily="34" charset="0"/>
              <a:buChar char="•"/>
            </a:pPr>
            <a:r>
              <a:rPr lang="en-GB" sz="1050" dirty="0">
                <a:latin typeface="Calibri"/>
                <a:ea typeface="Calibri"/>
                <a:cs typeface="Calibri"/>
              </a:rPr>
              <a:t>Supports Public IP resulting in public exposure.</a:t>
            </a:r>
          </a:p>
          <a:p>
            <a:pPr marL="342900" indent="-342900" fontAlgn="t">
              <a:buFont typeface="Arial" panose="020B0604020202020204" pitchFamily="34" charset="0"/>
              <a:buChar char="•"/>
            </a:pPr>
            <a:endParaRPr lang="en-GB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1050" dirty="0">
                <a:latin typeface="Calibri"/>
                <a:ea typeface="Calibri"/>
                <a:cs typeface="Calibri"/>
              </a:rPr>
              <a:t>Suitable for Public-facing APIs that need direct, secure access to private database backends.</a:t>
            </a:r>
            <a:endParaRPr lang="en-GB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85800" y="4416552"/>
            <a:ext cx="3179064" cy="539496"/>
          </a:xfrm>
          <a:prstGeom prst="roundRect">
            <a:avLst>
              <a:gd name="adj" fmla="val 8333"/>
            </a:avLst>
          </a:prstGeom>
          <a:solidFill>
            <a:srgbClr val="EDF2F7"/>
          </a:solidFill>
          <a:ln w="12700">
            <a:solidFill>
              <a:srgbClr val="EDF2F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 txBox="1"/>
          <p:nvPr/>
        </p:nvSpPr>
        <p:spPr>
          <a:xfrm>
            <a:off x="822960" y="4416552"/>
            <a:ext cx="2904744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fontAlgn="t">
              <a:lnSpc>
                <a:spcPct val="100000"/>
              </a:lnSpc>
              <a:buNone/>
            </a:pPr>
            <a:r>
              <a:rPr lang="en-GB" sz="105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Does not meet private first security posture as it retains a public attack surface</a:t>
            </a:r>
          </a:p>
        </p:txBody>
      </p:sp>
      <p:sp>
        <p:nvSpPr>
          <p:cNvPr id="17" name="Shape 15"/>
          <p:cNvSpPr/>
          <p:nvPr/>
        </p:nvSpPr>
        <p:spPr>
          <a:xfrm>
            <a:off x="4322064" y="1417320"/>
            <a:ext cx="3544824" cy="3657600"/>
          </a:xfrm>
          <a:prstGeom prst="roundRect">
            <a:avLst>
              <a:gd name="adj" fmla="val 1548"/>
            </a:avLst>
          </a:prstGeom>
          <a:solidFill>
            <a:srgbClr val="F7FAFC"/>
          </a:solidFill>
          <a:ln w="25400">
            <a:solidFill>
              <a:srgbClr val="0E3F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 txBox="1"/>
          <p:nvPr/>
        </p:nvSpPr>
        <p:spPr>
          <a:xfrm>
            <a:off x="4504944" y="158191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2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385560" y="1563624"/>
            <a:ext cx="1298448" cy="237744"/>
          </a:xfrm>
          <a:prstGeom prst="roundRect">
            <a:avLst>
              <a:gd name="adj" fmla="val 50000"/>
            </a:avLst>
          </a:prstGeom>
          <a:solidFill>
            <a:srgbClr val="0E3F6E"/>
          </a:solidFill>
          <a:ln w="12700">
            <a:solidFill>
              <a:srgbClr val="0E3F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 txBox="1"/>
          <p:nvPr/>
        </p:nvSpPr>
        <p:spPr>
          <a:xfrm>
            <a:off x="6385560" y="1563624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MODEL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4504944" y="192024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E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VNet Injection - Internal mode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504944" y="2253996"/>
            <a:ext cx="3179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12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MODEL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504944" y="2433828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gateway injected into the VNet · Internal mode ·  Premium V2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504944" y="2807208"/>
            <a:ext cx="317906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GB" sz="105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gateway deployed within the enterprise network boundary.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GB" sz="105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public APIM endpoint; access is through approved private connectivity.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GB" sz="105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connectivity to Azure services, spoke networks, and on-premises systems.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GB" sz="105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control of routing, security policies, and outbound traffic flows.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04944" y="4416552"/>
            <a:ext cx="3179064" cy="539496"/>
          </a:xfrm>
          <a:prstGeom prst="roundRect">
            <a:avLst>
              <a:gd name="adj" fmla="val 8333"/>
            </a:avLst>
          </a:prstGeom>
          <a:solidFill>
            <a:srgbClr val="EDF2F7"/>
          </a:solidFill>
          <a:ln w="12700">
            <a:solidFill>
              <a:srgbClr val="EDF2F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 txBox="1"/>
          <p:nvPr/>
        </p:nvSpPr>
        <p:spPr>
          <a:xfrm>
            <a:off x="4642104" y="4416552"/>
            <a:ext cx="2904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00"/>
              </a:lnSpc>
            </a:pPr>
            <a:r>
              <a:rPr lang="en-GB" sz="1050" b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Provides the required private connectivity, network control, and security posture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141208" y="1417320"/>
            <a:ext cx="3544824" cy="3657600"/>
          </a:xfrm>
          <a:prstGeom prst="roundRect">
            <a:avLst>
              <a:gd name="adj" fmla="val 1548"/>
            </a:avLst>
          </a:prstGeom>
          <a:solidFill>
            <a:srgbClr val="F7FAFC"/>
          </a:solidFill>
          <a:ln w="12700">
            <a:solidFill>
              <a:srgbClr val="3F6B8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 txBox="1"/>
          <p:nvPr/>
        </p:nvSpPr>
        <p:spPr>
          <a:xfrm>
            <a:off x="8324088" y="158191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2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0204704" y="1563624"/>
            <a:ext cx="1298448" cy="237744"/>
          </a:xfrm>
          <a:prstGeom prst="roundRect">
            <a:avLst>
              <a:gd name="adj" fmla="val 50000"/>
            </a:avLst>
          </a:prstGeom>
          <a:solidFill>
            <a:srgbClr val="3F6B8F"/>
          </a:solidFill>
          <a:ln w="12700">
            <a:solidFill>
              <a:srgbClr val="00206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 txBox="1"/>
          <p:nvPr/>
        </p:nvSpPr>
        <p:spPr>
          <a:xfrm>
            <a:off x="10204704" y="1563624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ADD-ON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8324088" y="192024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E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Gateway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324088" y="2350008"/>
            <a:ext cx="3179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12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MODEL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8324088" y="2551176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container on AKS / on-prem · control plane stays in Azure APIM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8324088" y="2891028"/>
            <a:ext cx="3179064" cy="1342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Overhead for maintenance of the Gateway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data plane next to the backend, removes hairpin round-trips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regulated traffic inside its own boundary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as one logical APIM instance and policy set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324088" y="4297680"/>
            <a:ext cx="3179064" cy="658368"/>
          </a:xfrm>
          <a:prstGeom prst="roundRect">
            <a:avLst>
              <a:gd name="adj" fmla="val 8333"/>
            </a:avLst>
          </a:prstGeom>
          <a:solidFill>
            <a:srgbClr val="EDF2F7"/>
          </a:solidFill>
          <a:ln w="12700">
            <a:solidFill>
              <a:srgbClr val="EDF2F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 txBox="1"/>
          <p:nvPr/>
        </p:nvSpPr>
        <p:spPr>
          <a:xfrm>
            <a:off x="8461248" y="4297680"/>
            <a:ext cx="2904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fontAlgn="t">
              <a:lnSpc>
                <a:spcPct val="100000"/>
              </a:lnSpc>
              <a:buNone/>
            </a:pPr>
            <a:r>
              <a:rPr lang="en-GB" sz="105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Self-hosted gateways are intended for on-premises or data-residency scenarios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475488" cy="475488"/>
          </a:xfrm>
          <a:prstGeom prst="ellipse">
            <a:avLst/>
          </a:prstGeom>
          <a:solidFill>
            <a:srgbClr val="1B6FB3"/>
          </a:solidFill>
          <a:ln w="12700">
            <a:solidFill>
              <a:srgbClr val="1B6FB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 txBox="1"/>
          <p:nvPr/>
        </p:nvSpPr>
        <p:spPr>
          <a:xfrm>
            <a:off x="50292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10896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1B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API INGRESS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Ingress with WAF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99669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L7 inspection point at the edge; every layer below adds identity and control, no secondary WAF.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4418" y="1325880"/>
            <a:ext cx="11183112" cy="1097280"/>
          </a:xfrm>
          <a:prstGeom prst="roundRect">
            <a:avLst>
              <a:gd name="adj" fmla="val 5000"/>
            </a:avLst>
          </a:prstGeom>
          <a:solidFill>
            <a:srgbClr val="EDF2F7"/>
          </a:solidFill>
          <a:ln w="12700">
            <a:solidFill>
              <a:srgbClr val="EDF2F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 txBox="1"/>
          <p:nvPr/>
        </p:nvSpPr>
        <p:spPr>
          <a:xfrm>
            <a:off x="713232" y="14447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20" dirty="0">
                <a:solidFill>
                  <a:srgbClr val="1B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REQUEST FLOW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161965" y="1728216"/>
            <a:ext cx="1365069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7E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 txBox="1"/>
          <p:nvPr/>
        </p:nvSpPr>
        <p:spPr>
          <a:xfrm>
            <a:off x="1198541" y="1810512"/>
            <a:ext cx="129191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1198541" y="2020824"/>
            <a:ext cx="129191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7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caller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2523067" y="2002536"/>
            <a:ext cx="351190" cy="0"/>
          </a:xfrm>
          <a:prstGeom prst="line">
            <a:avLst/>
          </a:prstGeom>
          <a:noFill/>
          <a:ln w="22225">
            <a:solidFill>
              <a:srgbClr val="1B6FB3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2874258" y="1728216"/>
            <a:ext cx="1365069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7E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 txBox="1"/>
          <p:nvPr/>
        </p:nvSpPr>
        <p:spPr>
          <a:xfrm>
            <a:off x="2910834" y="1810512"/>
            <a:ext cx="129191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DNS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2910834" y="2020824"/>
            <a:ext cx="129191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7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CNAME → AFD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251016" y="2002536"/>
            <a:ext cx="354583" cy="0"/>
          </a:xfrm>
          <a:prstGeom prst="line">
            <a:avLst/>
          </a:prstGeom>
          <a:noFill/>
          <a:ln w="22225">
            <a:solidFill>
              <a:srgbClr val="1B6FB3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4605599" y="1728216"/>
            <a:ext cx="1365069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1B6FB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 txBox="1"/>
          <p:nvPr/>
        </p:nvSpPr>
        <p:spPr>
          <a:xfrm>
            <a:off x="4642175" y="1810512"/>
            <a:ext cx="129191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B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DOOR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4642175" y="2020824"/>
            <a:ext cx="129191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7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 · TLS · DDoS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5988050" y="2002536"/>
            <a:ext cx="525700" cy="9144"/>
          </a:xfrm>
          <a:prstGeom prst="line">
            <a:avLst/>
          </a:prstGeom>
          <a:noFill/>
          <a:ln w="22225">
            <a:solidFill>
              <a:srgbClr val="1B6FB3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6521501" y="1728216"/>
            <a:ext cx="1365069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7E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 txBox="1"/>
          <p:nvPr/>
        </p:nvSpPr>
        <p:spPr>
          <a:xfrm>
            <a:off x="6558077" y="1810512"/>
            <a:ext cx="129191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LINK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6558077" y="2020824"/>
            <a:ext cx="129191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7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public inbound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7894320" y="2002536"/>
            <a:ext cx="441814" cy="0"/>
          </a:xfrm>
          <a:prstGeom prst="line">
            <a:avLst/>
          </a:prstGeom>
          <a:noFill/>
          <a:ln w="22225">
            <a:solidFill>
              <a:srgbClr val="1B6FB3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8336135" y="1728216"/>
            <a:ext cx="1365069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0E3F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 txBox="1"/>
          <p:nvPr/>
        </p:nvSpPr>
        <p:spPr>
          <a:xfrm>
            <a:off x="8372711" y="1810512"/>
            <a:ext cx="129191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E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APIM PREMIUM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8372711" y="2020824"/>
            <a:ext cx="129191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7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authN · quota · schema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9701204" y="2002536"/>
            <a:ext cx="391159" cy="0"/>
          </a:xfrm>
          <a:prstGeom prst="line">
            <a:avLst/>
          </a:prstGeom>
          <a:noFill/>
          <a:ln w="22225">
            <a:solidFill>
              <a:srgbClr val="1B6FB3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10110651" y="1728216"/>
            <a:ext cx="1365069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7E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 txBox="1"/>
          <p:nvPr/>
        </p:nvSpPr>
        <p:spPr>
          <a:xfrm>
            <a:off x="10147227" y="1810512"/>
            <a:ext cx="129191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10147227" y="2020824"/>
            <a:ext cx="129191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7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endpoint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685797" y="2505456"/>
            <a:ext cx="3544824" cy="1614638"/>
          </a:xfrm>
          <a:prstGeom prst="roundRect">
            <a:avLst>
              <a:gd name="adj" fmla="val 3750"/>
            </a:avLst>
          </a:prstGeom>
          <a:solidFill>
            <a:srgbClr val="F7FAFC"/>
          </a:solidFill>
          <a:ln w="12700">
            <a:solidFill>
              <a:srgbClr val="3F6B8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 txBox="1"/>
          <p:nvPr/>
        </p:nvSpPr>
        <p:spPr>
          <a:xfrm>
            <a:off x="868677" y="2752344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E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Door Premium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3041098" y="2752344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3F6B8F"/>
          </a:solidFill>
          <a:ln w="12700">
            <a:solidFill>
              <a:srgbClr val="3F6B8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 txBox="1"/>
          <p:nvPr/>
        </p:nvSpPr>
        <p:spPr>
          <a:xfrm>
            <a:off x="3087620" y="2747772"/>
            <a:ext cx="91113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WAF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727662" y="3099816"/>
            <a:ext cx="317906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GB" sz="80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WAF rules (DRS 2.1) with bot protection.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GB" sz="80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termination, DDoS protection, rate limiting, and geo-filtering.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GB" sz="80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public entry point for all internet-facing APIs.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GB" sz="80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traffic routing and health-based failover.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GB" sz="80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Centralised security and access controls before APIM.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4532350" y="2505456"/>
            <a:ext cx="3544824" cy="1563624"/>
          </a:xfrm>
          <a:prstGeom prst="roundRect">
            <a:avLst>
              <a:gd name="adj" fmla="val 3750"/>
            </a:avLst>
          </a:prstGeom>
          <a:solidFill>
            <a:srgbClr val="F7FAFC"/>
          </a:solidFill>
          <a:ln w="12700">
            <a:solidFill>
              <a:srgbClr val="0E3F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 txBox="1"/>
          <p:nvPr/>
        </p:nvSpPr>
        <p:spPr>
          <a:xfrm>
            <a:off x="4715230" y="2752344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E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APIM Premium — Internal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6842734" y="2752344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0E3F6E"/>
          </a:solidFill>
          <a:ln w="12700">
            <a:solidFill>
              <a:srgbClr val="0E3F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 txBox="1"/>
          <p:nvPr/>
        </p:nvSpPr>
        <p:spPr>
          <a:xfrm>
            <a:off x="6842734" y="2752344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4589803" y="3013162"/>
            <a:ext cx="31790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GB" sz="80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Authenticates and authorizes API access.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GB" sz="80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rate limits and usage controls.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GB" sz="80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requests before they reach backend services.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GB" sz="80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traffic securely to backend systems over private connectivity</a:t>
            </a:r>
            <a:r>
              <a:rPr lang="en-GB" sz="100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68226" y="4251960"/>
            <a:ext cx="7408948" cy="1463040"/>
          </a:xfrm>
          <a:prstGeom prst="roundRect">
            <a:avLst>
              <a:gd name="adj" fmla="val 4138"/>
            </a:avLst>
          </a:prstGeom>
          <a:solidFill>
            <a:srgbClr val="F7FAFC"/>
          </a:solidFill>
          <a:ln w="12700">
            <a:solidFill>
              <a:srgbClr val="CBD7E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3"/>
          <p:cNvSpPr txBox="1"/>
          <p:nvPr/>
        </p:nvSpPr>
        <p:spPr>
          <a:xfrm>
            <a:off x="851106" y="439826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20" dirty="0">
                <a:solidFill>
                  <a:srgbClr val="1B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 SUFFICIENCY</a:t>
            </a:r>
            <a:endParaRPr lang="en-US" sz="950" dirty="0"/>
          </a:p>
        </p:txBody>
      </p:sp>
      <p:sp>
        <p:nvSpPr>
          <p:cNvPr id="56" name="Text 54"/>
          <p:cNvSpPr txBox="1"/>
          <p:nvPr/>
        </p:nvSpPr>
        <p:spPr>
          <a:xfrm>
            <a:off x="851106" y="4690872"/>
            <a:ext cx="50886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GB" sz="80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 common web application attacks.</a:t>
            </a:r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GB" sz="80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malicious internet traffic before it reaches APIM.</a:t>
            </a:r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GB" sz="80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Helps protect against bots and excessive request volumes.</a:t>
            </a:r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GB" sz="80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Provides centralised monitoring and security logging.</a:t>
            </a:r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GB" sz="80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Enforces consistent security controls across all APIs.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608076" y="5894030"/>
            <a:ext cx="7469098" cy="566928"/>
          </a:xfrm>
          <a:prstGeom prst="roundRect">
            <a:avLst>
              <a:gd name="adj" fmla="val 9677"/>
            </a:avLst>
          </a:prstGeom>
          <a:solidFill>
            <a:srgbClr val="F0F5FA"/>
          </a:solidFill>
          <a:ln w="12700">
            <a:solidFill>
              <a:srgbClr val="1B6FB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 txBox="1"/>
          <p:nvPr/>
        </p:nvSpPr>
        <p:spPr>
          <a:xfrm>
            <a:off x="727662" y="5919056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B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 DECISION  </a:t>
            </a:r>
            <a:r>
              <a:rPr lang="en-US" sz="110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Door Premium WAF covers OWASP top-10 and bot protection for external APIs. 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475488" cy="475488"/>
          </a:xfrm>
          <a:prstGeom prst="ellipse">
            <a:avLst/>
          </a:prstGeom>
          <a:solidFill>
            <a:srgbClr val="1B6FB3"/>
          </a:solidFill>
          <a:ln w="12700">
            <a:solidFill>
              <a:srgbClr val="1B6FB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 txBox="1"/>
          <p:nvPr/>
        </p:nvSpPr>
        <p:spPr>
          <a:xfrm>
            <a:off x="50292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10896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1B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API EGRESS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Egress via Palo Alto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99669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intent forces internet and private traffic through the NGFW; Azure PaaS stays on private endpoints.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3870" y="1325880"/>
            <a:ext cx="11183112" cy="1097280"/>
          </a:xfrm>
          <a:prstGeom prst="roundRect">
            <a:avLst>
              <a:gd name="adj" fmla="val 5000"/>
            </a:avLst>
          </a:prstGeom>
          <a:solidFill>
            <a:srgbClr val="EDF2F7"/>
          </a:solidFill>
          <a:ln w="12700">
            <a:solidFill>
              <a:srgbClr val="EDF2F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 txBox="1"/>
          <p:nvPr/>
        </p:nvSpPr>
        <p:spPr>
          <a:xfrm>
            <a:off x="713232" y="14447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20" dirty="0">
                <a:solidFill>
                  <a:srgbClr val="1B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 REQUEST FLOW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13232" y="1728216"/>
            <a:ext cx="1626108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7E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 txBox="1"/>
          <p:nvPr/>
        </p:nvSpPr>
        <p:spPr>
          <a:xfrm>
            <a:off x="749808" y="1810512"/>
            <a:ext cx="15529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APIM GATEWAY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2020824"/>
            <a:ext cx="1552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7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 subnet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 flipV="1">
            <a:off x="2357628" y="2001647"/>
            <a:ext cx="458852" cy="889"/>
          </a:xfrm>
          <a:prstGeom prst="line">
            <a:avLst/>
          </a:prstGeom>
          <a:noFill/>
          <a:ln w="22225">
            <a:solidFill>
              <a:srgbClr val="1B6FB3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2827147" y="1728216"/>
            <a:ext cx="1626108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7E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 txBox="1"/>
          <p:nvPr/>
        </p:nvSpPr>
        <p:spPr>
          <a:xfrm>
            <a:off x="2737485" y="1810512"/>
            <a:ext cx="15529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vWAN HUB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2737485" y="2020824"/>
            <a:ext cx="1552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7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intent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5083810" y="1728216"/>
            <a:ext cx="1626108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1B6FB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 txBox="1"/>
          <p:nvPr/>
        </p:nvSpPr>
        <p:spPr>
          <a:xfrm>
            <a:off x="5120386" y="1810512"/>
            <a:ext cx="15529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B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PALO ALTO NGFW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5120386" y="2020824"/>
            <a:ext cx="1552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7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proxy · FQDN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6709918" y="2001645"/>
            <a:ext cx="652907" cy="891"/>
          </a:xfrm>
          <a:prstGeom prst="line">
            <a:avLst/>
          </a:prstGeom>
          <a:noFill/>
          <a:ln w="22225">
            <a:solidFill>
              <a:srgbClr val="1B6FB3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7377811" y="1728216"/>
            <a:ext cx="1626108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7E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 txBox="1"/>
          <p:nvPr/>
        </p:nvSpPr>
        <p:spPr>
          <a:xfrm>
            <a:off x="7414387" y="1810512"/>
            <a:ext cx="15529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SNAT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7414387" y="2020824"/>
            <a:ext cx="1552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7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egress IP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9003919" y="2001645"/>
            <a:ext cx="827405" cy="891"/>
          </a:xfrm>
          <a:prstGeom prst="line">
            <a:avLst/>
          </a:prstGeom>
          <a:noFill/>
          <a:ln w="22225">
            <a:solidFill>
              <a:srgbClr val="1B6FB3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9849612" y="1728216"/>
            <a:ext cx="1626108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7E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 txBox="1"/>
          <p:nvPr/>
        </p:nvSpPr>
        <p:spPr>
          <a:xfrm>
            <a:off x="9886188" y="1810512"/>
            <a:ext cx="15529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/ Third Party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9886188" y="2020824"/>
            <a:ext cx="1552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7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allow-listed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502920" y="2606040"/>
            <a:ext cx="3544824" cy="1508760"/>
          </a:xfrm>
          <a:prstGeom prst="roundRect">
            <a:avLst>
              <a:gd name="adj" fmla="val 3636"/>
            </a:avLst>
          </a:prstGeom>
          <a:solidFill>
            <a:srgbClr val="F7FAFC"/>
          </a:solidFill>
          <a:ln w="12700">
            <a:solidFill>
              <a:srgbClr val="CBD7E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 txBox="1"/>
          <p:nvPr/>
        </p:nvSpPr>
        <p:spPr>
          <a:xfrm>
            <a:off x="685800" y="2752344"/>
            <a:ext cx="3179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2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 — APIM VNET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685800" y="3008376"/>
            <a:ext cx="3179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 Gateway subnet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13232" y="3337560"/>
            <a:ext cx="3179064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public IP, no NAT gateway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endpoints off - private endpoints only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322064" y="2606040"/>
            <a:ext cx="3544824" cy="1508760"/>
          </a:xfrm>
          <a:prstGeom prst="roundRect">
            <a:avLst>
              <a:gd name="adj" fmla="val 3636"/>
            </a:avLst>
          </a:prstGeom>
          <a:solidFill>
            <a:srgbClr val="F7FAFC"/>
          </a:solidFill>
          <a:ln w="25400">
            <a:solidFill>
              <a:srgbClr val="1B6FB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 txBox="1"/>
          <p:nvPr/>
        </p:nvSpPr>
        <p:spPr>
          <a:xfrm>
            <a:off x="4504944" y="2752344"/>
            <a:ext cx="3179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20" dirty="0">
                <a:solidFill>
                  <a:srgbClr val="1B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WAN SECURED HUB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4504944" y="3008376"/>
            <a:ext cx="3179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intent: Internet + Private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504944" y="3337560"/>
            <a:ext cx="3179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Palo Alto Cloud NGFW (SaaS) or VM-Series in the hub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forward proxy, FQDN allow-list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routing policy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141208" y="2606040"/>
            <a:ext cx="3544824" cy="1508760"/>
          </a:xfrm>
          <a:prstGeom prst="roundRect">
            <a:avLst>
              <a:gd name="adj" fmla="val 3636"/>
            </a:avLst>
          </a:prstGeom>
          <a:solidFill>
            <a:srgbClr val="F7FAFC"/>
          </a:solidFill>
          <a:ln w="12700">
            <a:solidFill>
              <a:srgbClr val="CBD7E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 txBox="1"/>
          <p:nvPr/>
        </p:nvSpPr>
        <p:spPr>
          <a:xfrm>
            <a:off x="8324088" y="2752344"/>
            <a:ext cx="3179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20" dirty="0">
                <a:solidFill>
                  <a:srgbClr val="0E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DESTINATIONS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8324088" y="3008376"/>
            <a:ext cx="3179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 by default, allow by exception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8324088" y="3337560"/>
            <a:ext cx="3179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/ SaaS APIs over allow-listed FQDNs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On-premises systems via ExpressRoute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PaaS via Private Endpoint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02920" y="4297680"/>
            <a:ext cx="5454396" cy="1234440"/>
          </a:xfrm>
          <a:prstGeom prst="roundRect">
            <a:avLst>
              <a:gd name="adj" fmla="val 4444"/>
            </a:avLst>
          </a:prstGeom>
          <a:solidFill>
            <a:srgbClr val="EDF2F7"/>
          </a:solidFill>
          <a:ln w="12700">
            <a:solidFill>
              <a:srgbClr val="EDF2F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 txBox="1"/>
          <p:nvPr/>
        </p:nvSpPr>
        <p:spPr>
          <a:xfrm>
            <a:off x="667512" y="44348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20" dirty="0">
                <a:solidFill>
                  <a:srgbClr val="1B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DESIGN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667512" y="4718304"/>
            <a:ext cx="51252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GB" sz="105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DNS is connected across the hub and all application networks.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GB" sz="105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resolution works seamlessly between on-premises and Azure.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GB" sz="105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users resolve the API endpoint to the private APIM address.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245421" y="4261104"/>
            <a:ext cx="5454396" cy="1234440"/>
          </a:xfrm>
          <a:prstGeom prst="roundRect">
            <a:avLst>
              <a:gd name="adj" fmla="val 4444"/>
            </a:avLst>
          </a:prstGeom>
          <a:solidFill>
            <a:srgbClr val="EDF2F7"/>
          </a:solidFill>
          <a:ln w="12700">
            <a:solidFill>
              <a:srgbClr val="EDF2F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6"/>
          <p:cNvSpPr txBox="1"/>
          <p:nvPr/>
        </p:nvSpPr>
        <p:spPr>
          <a:xfrm>
            <a:off x="6396228" y="44348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20" dirty="0">
                <a:solidFill>
                  <a:srgbClr val="1B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EGRESS CONTROLS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6396228" y="4718304"/>
            <a:ext cx="51252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lvl="0" indent="-34290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10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Approved outbound endpoints documented per API.</a:t>
            </a:r>
          </a:p>
          <a:p>
            <a:pPr marL="342900" lvl="0" indent="-34290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10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 outbound traffic is logged and auditable at firewall</a:t>
            </a:r>
          </a:p>
          <a:p>
            <a:pPr marL="342900" lvl="0" indent="-34290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10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Premium V2 isolates platform dependencies from Chaucer VNet and no firewall </a:t>
            </a:r>
            <a:r>
              <a:rPr lang="en-GB" sz="105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exemptions required</a:t>
            </a:r>
            <a:endParaRPr lang="en-GB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502920" y="5715000"/>
            <a:ext cx="11183112" cy="566928"/>
          </a:xfrm>
          <a:prstGeom prst="roundRect">
            <a:avLst>
              <a:gd name="adj" fmla="val 9677"/>
            </a:avLst>
          </a:prstGeom>
          <a:solidFill>
            <a:srgbClr val="F0F5FA"/>
          </a:solidFill>
          <a:ln w="12700">
            <a:solidFill>
              <a:srgbClr val="1B6FB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9"/>
          <p:cNvSpPr txBox="1"/>
          <p:nvPr/>
        </p:nvSpPr>
        <p:spPr>
          <a:xfrm>
            <a:off x="713232" y="5715000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B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EGRESS DECISION  </a:t>
            </a:r>
            <a:r>
              <a:rPr lang="en-US" sz="110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WAN routing intent with Palo Alto in the secured hub.</a:t>
            </a:r>
            <a:endParaRPr lang="en-US" sz="1100" dirty="0"/>
          </a:p>
        </p:txBody>
      </p:sp>
      <p:sp>
        <p:nvSpPr>
          <p:cNvPr id="53" name="Shape 22">
            <a:extLst>
              <a:ext uri="{FF2B5EF4-FFF2-40B4-BE49-F238E27FC236}">
                <a16:creationId xmlns:a16="http://schemas.microsoft.com/office/drawing/2014/main" id="{B28A5521-101C-62F0-DB64-5D46229AE4AA}"/>
              </a:ext>
            </a:extLst>
          </p:cNvPr>
          <p:cNvSpPr/>
          <p:nvPr/>
        </p:nvSpPr>
        <p:spPr>
          <a:xfrm flipV="1">
            <a:off x="4453256" y="2001645"/>
            <a:ext cx="607694" cy="889"/>
          </a:xfrm>
          <a:prstGeom prst="line">
            <a:avLst/>
          </a:prstGeom>
          <a:noFill/>
          <a:ln w="22225">
            <a:solidFill>
              <a:srgbClr val="1B6FB3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475488" cy="475488"/>
          </a:xfrm>
          <a:prstGeom prst="ellipse">
            <a:avLst/>
          </a:prstGeom>
          <a:solidFill>
            <a:srgbClr val="1B6FB3"/>
          </a:solidFill>
          <a:ln w="12700">
            <a:solidFill>
              <a:srgbClr val="1B6FB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 txBox="1"/>
          <p:nvPr/>
        </p:nvSpPr>
        <p:spPr>
          <a:xfrm>
            <a:off x="50292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10896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1B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AVAILABILITY &amp; DISASTER RECOVERY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Availability and DR Strategy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99669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units across 2 zones in the primary region. Secondary-region cost is a straight trade against RTO.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23589" y="1252728"/>
            <a:ext cx="5454396" cy="3884112"/>
          </a:xfrm>
          <a:prstGeom prst="roundRect">
            <a:avLst>
              <a:gd name="adj" fmla="val 3077"/>
            </a:avLst>
          </a:prstGeom>
          <a:solidFill>
            <a:srgbClr val="F7FAFC"/>
          </a:solidFill>
          <a:ln w="25400">
            <a:solidFill>
              <a:schemeClr val="bg1">
                <a:lumMod val="50000"/>
              </a:scheme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 txBox="1"/>
          <p:nvPr/>
        </p:nvSpPr>
        <p:spPr>
          <a:xfrm>
            <a:off x="6413241" y="1332735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20" dirty="0">
                <a:solidFill>
                  <a:srgbClr val="0E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REGION – MULTIPLE UNITS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0217762" y="142579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0E3F6E"/>
          </a:solidFill>
          <a:ln w="12700">
            <a:solidFill>
              <a:srgbClr val="0E3F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 txBox="1"/>
          <p:nvPr/>
        </p:nvSpPr>
        <p:spPr>
          <a:xfrm>
            <a:off x="10217762" y="143085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50" b="1" kern="0" spc="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6398162" y="3555505"/>
            <a:ext cx="4855314" cy="12095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GB" sz="80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 is deployed across multiple Azure regions, with multiple units provisioned in each region to provide both regional and platform resilience.</a:t>
            </a:r>
          </a:p>
          <a:p>
            <a:pPr marL="171450" indent="-1714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GB" sz="80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availability is maintained through geographic distribution, reducing the impact of infrastructure, availability zone, or regional failures.</a:t>
            </a:r>
          </a:p>
          <a:p>
            <a:pPr marL="171450" indent="-1714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GB" sz="80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can be routed between regions using approved failover or load-balancing mechanisms to support service continuity during disaster scenarios.</a:t>
            </a:r>
          </a:p>
          <a:p>
            <a:pPr marL="171450" indent="-1714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GB" sz="80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approach represents the highest resilience tier, combining backup, zonal resilience, and cross-region redundancy for business-critical production services.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28315" y="1297432"/>
            <a:ext cx="5454396" cy="1783080"/>
          </a:xfrm>
          <a:prstGeom prst="roundRect">
            <a:avLst>
              <a:gd name="adj" fmla="val 3077"/>
            </a:avLst>
          </a:prstGeom>
          <a:solidFill>
            <a:srgbClr val="F7FAFC"/>
          </a:solidFill>
          <a:ln w="22225">
            <a:solidFill>
              <a:schemeClr val="bg1">
                <a:lumMod val="50000"/>
              </a:schemeClr>
            </a:solidFill>
            <a:prstDash val="solid"/>
          </a:ln>
        </p:spPr>
        <p:txBody>
          <a:bodyPr/>
          <a:lstStyle/>
          <a:p>
            <a:endParaRPr lang="en-GB" b="1" dirty="0"/>
          </a:p>
        </p:txBody>
      </p:sp>
      <p:sp>
        <p:nvSpPr>
          <p:cNvPr id="18" name="Text 16"/>
          <p:cNvSpPr txBox="1"/>
          <p:nvPr/>
        </p:nvSpPr>
        <p:spPr>
          <a:xfrm>
            <a:off x="619755" y="13614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b="1" kern="0" spc="120" dirty="0">
                <a:solidFill>
                  <a:srgbClr val="0E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REGION- SINGLE UNIT</a:t>
            </a:r>
          </a:p>
        </p:txBody>
      </p:sp>
      <p:sp>
        <p:nvSpPr>
          <p:cNvPr id="20" name="Text 18"/>
          <p:cNvSpPr txBox="1"/>
          <p:nvPr/>
        </p:nvSpPr>
        <p:spPr>
          <a:xfrm>
            <a:off x="619755" y="1796532"/>
            <a:ext cx="3291840" cy="978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lvl="0" indent="-17145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single Azure API Management unit is deployed in one Azure region, with no secondary region or active-active configuration.</a:t>
            </a:r>
          </a:p>
          <a:p>
            <a:pPr marL="171450" lvl="0" indent="-17145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Service resilience relies on Azure platform recovery and standard restoration processes rather than cross-region failover.</a:t>
            </a:r>
          </a:p>
          <a:p>
            <a:pPr marL="171450" lvl="0" indent="-17145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 additional gateway units or regional replicas are provisioned, minimising infrastructure and operating costs.</a:t>
            </a:r>
          </a:p>
          <a:p>
            <a:pPr marL="171450" lvl="0" indent="-17145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approach prioritises cost efficiency and aligns with Bronze-tier resilience requirements where extended recovery times are acceptable.</a:t>
            </a:r>
          </a:p>
        </p:txBody>
      </p:sp>
      <p:sp>
        <p:nvSpPr>
          <p:cNvPr id="42" name="Shape 7">
            <a:extLst>
              <a:ext uri="{FF2B5EF4-FFF2-40B4-BE49-F238E27FC236}">
                <a16:creationId xmlns:a16="http://schemas.microsoft.com/office/drawing/2014/main" id="{A80B9F96-3B99-B108-32C2-4F15916783AE}"/>
              </a:ext>
            </a:extLst>
          </p:cNvPr>
          <p:cNvSpPr/>
          <p:nvPr/>
        </p:nvSpPr>
        <p:spPr>
          <a:xfrm>
            <a:off x="4516966" y="1385665"/>
            <a:ext cx="1085750" cy="237744"/>
          </a:xfrm>
          <a:prstGeom prst="roundRect">
            <a:avLst>
              <a:gd name="adj" fmla="val 50000"/>
            </a:avLst>
          </a:prstGeom>
          <a:solidFill>
            <a:srgbClr val="0E3F6E"/>
          </a:solidFill>
          <a:ln w="12700">
            <a:solidFill>
              <a:srgbClr val="0E3F6E"/>
            </a:solidFill>
            <a:prstDash val="solid"/>
          </a:ln>
        </p:spPr>
        <p:txBody>
          <a:bodyPr/>
          <a:lstStyle/>
          <a:p>
            <a:pPr algn="ctr"/>
            <a:r>
              <a:rPr lang="en-GB" sz="85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BRONZE</a:t>
            </a:r>
          </a:p>
        </p:txBody>
      </p:sp>
      <p:sp>
        <p:nvSpPr>
          <p:cNvPr id="41" name="Shape 5">
            <a:extLst>
              <a:ext uri="{FF2B5EF4-FFF2-40B4-BE49-F238E27FC236}">
                <a16:creationId xmlns:a16="http://schemas.microsoft.com/office/drawing/2014/main" id="{C20E27B3-5993-1796-539E-46075210D5EA}"/>
              </a:ext>
            </a:extLst>
          </p:cNvPr>
          <p:cNvSpPr/>
          <p:nvPr/>
        </p:nvSpPr>
        <p:spPr>
          <a:xfrm>
            <a:off x="528315" y="3408690"/>
            <a:ext cx="5454396" cy="2452614"/>
          </a:xfrm>
          <a:prstGeom prst="roundRect">
            <a:avLst>
              <a:gd name="adj" fmla="val 3077"/>
            </a:avLst>
          </a:prstGeom>
          <a:solidFill>
            <a:srgbClr val="F7FAFC"/>
          </a:solidFill>
          <a:ln w="25400">
            <a:solidFill>
              <a:schemeClr val="bg1">
                <a:lumMod val="50000"/>
              </a:scheme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6">
            <a:extLst>
              <a:ext uri="{FF2B5EF4-FFF2-40B4-BE49-F238E27FC236}">
                <a16:creationId xmlns:a16="http://schemas.microsoft.com/office/drawing/2014/main" id="{838CD20B-3C07-EDCE-7826-67307D9F2B2F}"/>
              </a:ext>
            </a:extLst>
          </p:cNvPr>
          <p:cNvSpPr txBox="1"/>
          <p:nvPr/>
        </p:nvSpPr>
        <p:spPr>
          <a:xfrm>
            <a:off x="711195" y="343713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20" dirty="0">
                <a:solidFill>
                  <a:srgbClr val="0E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REGION – MORE THAN 1 UNIT</a:t>
            </a:r>
            <a:endParaRPr lang="en-US" sz="950" dirty="0"/>
          </a:p>
        </p:txBody>
      </p:sp>
      <p:sp>
        <p:nvSpPr>
          <p:cNvPr id="46" name="Shape 7">
            <a:extLst>
              <a:ext uri="{FF2B5EF4-FFF2-40B4-BE49-F238E27FC236}">
                <a16:creationId xmlns:a16="http://schemas.microsoft.com/office/drawing/2014/main" id="{710D087C-5AF0-6BA4-3163-8EF57F51DE69}"/>
              </a:ext>
            </a:extLst>
          </p:cNvPr>
          <p:cNvSpPr/>
          <p:nvPr/>
        </p:nvSpPr>
        <p:spPr>
          <a:xfrm>
            <a:off x="4748271" y="354585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0E3F6E"/>
          </a:solidFill>
          <a:ln w="12700">
            <a:solidFill>
              <a:srgbClr val="0E3F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8">
            <a:extLst>
              <a:ext uri="{FF2B5EF4-FFF2-40B4-BE49-F238E27FC236}">
                <a16:creationId xmlns:a16="http://schemas.microsoft.com/office/drawing/2014/main" id="{7AA89157-2A04-AFC1-D095-AF09BCB1863E}"/>
              </a:ext>
            </a:extLst>
          </p:cNvPr>
          <p:cNvSpPr txBox="1"/>
          <p:nvPr/>
        </p:nvSpPr>
        <p:spPr>
          <a:xfrm>
            <a:off x="4748271" y="354585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50" b="1" kern="0" spc="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850" dirty="0"/>
          </a:p>
        </p:txBody>
      </p:sp>
      <p:sp>
        <p:nvSpPr>
          <p:cNvPr id="60" name="Text 14">
            <a:extLst>
              <a:ext uri="{FF2B5EF4-FFF2-40B4-BE49-F238E27FC236}">
                <a16:creationId xmlns:a16="http://schemas.microsoft.com/office/drawing/2014/main" id="{06393D4B-63A7-D7DD-6C0D-7F762FA1375B}"/>
              </a:ext>
            </a:extLst>
          </p:cNvPr>
          <p:cNvSpPr txBox="1"/>
          <p:nvPr/>
        </p:nvSpPr>
        <p:spPr>
          <a:xfrm>
            <a:off x="711195" y="4017772"/>
            <a:ext cx="3108960" cy="1173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GB" sz="80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API Management is deployed in a single Azure region with multiple units, providing increased capacity and resilience within the region.</a:t>
            </a:r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GB" sz="80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units reduce the impact of underlying infrastructure failures and support continued service availability during platform maintenance events.</a:t>
            </a:r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GB" sz="80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Restoration capabilities remain in place as part of the baseline resilience controls inherited from the Bronze tier.</a:t>
            </a:r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GB" sz="80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approach aligns with the Silver resilience tier, delivering enhanced availability for production services without the additional cost and complexity of cross-region deployment</a:t>
            </a:r>
            <a:r>
              <a:rPr lang="en-GB" sz="100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00" dirty="0"/>
          </a:p>
        </p:txBody>
      </p:sp>
      <p:sp>
        <p:nvSpPr>
          <p:cNvPr id="28" name="Shape 10">
            <a:extLst>
              <a:ext uri="{FF2B5EF4-FFF2-40B4-BE49-F238E27FC236}">
                <a16:creationId xmlns:a16="http://schemas.microsoft.com/office/drawing/2014/main" id="{32EEDF85-88ED-3CF0-9738-E72455560E8F}"/>
              </a:ext>
            </a:extLst>
          </p:cNvPr>
          <p:cNvSpPr/>
          <p:nvPr/>
        </p:nvSpPr>
        <p:spPr>
          <a:xfrm>
            <a:off x="6492654" y="2319450"/>
            <a:ext cx="1852858" cy="952500"/>
          </a:xfrm>
          <a:prstGeom prst="roundRect">
            <a:avLst>
              <a:gd name="adj" fmla="val 43333"/>
            </a:avLst>
          </a:prstGeom>
          <a:solidFill>
            <a:schemeClr val="tx2">
              <a:lumMod val="75000"/>
            </a:schemeClr>
          </a:solidFill>
          <a:ln w="12700">
            <a:solidFill>
              <a:srgbClr val="E3ECF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10">
            <a:extLst>
              <a:ext uri="{FF2B5EF4-FFF2-40B4-BE49-F238E27FC236}">
                <a16:creationId xmlns:a16="http://schemas.microsoft.com/office/drawing/2014/main" id="{B4A25D50-9BB3-8986-F384-F08A4C5532D0}"/>
              </a:ext>
            </a:extLst>
          </p:cNvPr>
          <p:cNvSpPr/>
          <p:nvPr/>
        </p:nvSpPr>
        <p:spPr>
          <a:xfrm>
            <a:off x="9038201" y="2326641"/>
            <a:ext cx="1942550" cy="952500"/>
          </a:xfrm>
          <a:prstGeom prst="roundRect">
            <a:avLst>
              <a:gd name="adj" fmla="val 43333"/>
            </a:avLst>
          </a:prstGeom>
          <a:solidFill>
            <a:schemeClr val="tx2"/>
          </a:solidFill>
          <a:ln w="12700">
            <a:solidFill>
              <a:srgbClr val="E3ECF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781362" y="2477064"/>
            <a:ext cx="1143000" cy="274320"/>
          </a:xfrm>
          <a:prstGeom prst="roundRect">
            <a:avLst>
              <a:gd name="adj" fmla="val 43333"/>
            </a:avLst>
          </a:prstGeom>
          <a:solidFill>
            <a:srgbClr val="E3ECF4"/>
          </a:solidFill>
          <a:ln w="12700">
            <a:solidFill>
              <a:srgbClr val="E3ECF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 txBox="1"/>
          <p:nvPr/>
        </p:nvSpPr>
        <p:spPr>
          <a:xfrm>
            <a:off x="6698360" y="2475657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80" dirty="0">
                <a:solidFill>
                  <a:srgbClr val="0E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1</a:t>
            </a:r>
            <a:endParaRPr lang="en-US" sz="900" dirty="0"/>
          </a:p>
        </p:txBody>
      </p:sp>
      <p:sp>
        <p:nvSpPr>
          <p:cNvPr id="32" name="Shape 10">
            <a:extLst>
              <a:ext uri="{FF2B5EF4-FFF2-40B4-BE49-F238E27FC236}">
                <a16:creationId xmlns:a16="http://schemas.microsoft.com/office/drawing/2014/main" id="{FA3E06F5-1943-D903-4CA2-DE8B6DA7D20B}"/>
              </a:ext>
            </a:extLst>
          </p:cNvPr>
          <p:cNvSpPr/>
          <p:nvPr/>
        </p:nvSpPr>
        <p:spPr>
          <a:xfrm>
            <a:off x="6780613" y="2846969"/>
            <a:ext cx="1143000" cy="274320"/>
          </a:xfrm>
          <a:prstGeom prst="roundRect">
            <a:avLst>
              <a:gd name="adj" fmla="val 43333"/>
            </a:avLst>
          </a:prstGeom>
          <a:solidFill>
            <a:srgbClr val="E3ECF4"/>
          </a:solidFill>
          <a:ln w="12700">
            <a:solidFill>
              <a:srgbClr val="E3ECF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11">
            <a:extLst>
              <a:ext uri="{FF2B5EF4-FFF2-40B4-BE49-F238E27FC236}">
                <a16:creationId xmlns:a16="http://schemas.microsoft.com/office/drawing/2014/main" id="{8D9F436F-13B7-3D18-0C21-C329B2C9D6B8}"/>
              </a:ext>
            </a:extLst>
          </p:cNvPr>
          <p:cNvSpPr txBox="1"/>
          <p:nvPr/>
        </p:nvSpPr>
        <p:spPr>
          <a:xfrm>
            <a:off x="6697611" y="284556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80" dirty="0">
                <a:solidFill>
                  <a:srgbClr val="0E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</a:t>
            </a:r>
            <a:endParaRPr lang="en-US" sz="900" dirty="0"/>
          </a:p>
        </p:txBody>
      </p:sp>
      <p:sp>
        <p:nvSpPr>
          <p:cNvPr id="36" name="Shape 10">
            <a:extLst>
              <a:ext uri="{FF2B5EF4-FFF2-40B4-BE49-F238E27FC236}">
                <a16:creationId xmlns:a16="http://schemas.microsoft.com/office/drawing/2014/main" id="{2A1312AE-3846-BEBF-FA82-05AD6E3CFF90}"/>
              </a:ext>
            </a:extLst>
          </p:cNvPr>
          <p:cNvSpPr/>
          <p:nvPr/>
        </p:nvSpPr>
        <p:spPr>
          <a:xfrm>
            <a:off x="9424386" y="2711216"/>
            <a:ext cx="1143000" cy="274320"/>
          </a:xfrm>
          <a:prstGeom prst="roundRect">
            <a:avLst>
              <a:gd name="adj" fmla="val 43333"/>
            </a:avLst>
          </a:prstGeom>
          <a:solidFill>
            <a:srgbClr val="E3ECF4"/>
          </a:solidFill>
          <a:ln w="12700">
            <a:solidFill>
              <a:srgbClr val="E3ECF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11">
            <a:extLst>
              <a:ext uri="{FF2B5EF4-FFF2-40B4-BE49-F238E27FC236}">
                <a16:creationId xmlns:a16="http://schemas.microsoft.com/office/drawing/2014/main" id="{DB796042-A80D-F962-E435-526766287840}"/>
              </a:ext>
            </a:extLst>
          </p:cNvPr>
          <p:cNvSpPr txBox="1"/>
          <p:nvPr/>
        </p:nvSpPr>
        <p:spPr>
          <a:xfrm>
            <a:off x="9412223" y="2684215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80" dirty="0">
                <a:solidFill>
                  <a:srgbClr val="0E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1</a:t>
            </a:r>
            <a:endParaRPr lang="en-US" sz="900" dirty="0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AF47FA95-62CE-5036-80BD-E728AA5BA066}"/>
              </a:ext>
            </a:extLst>
          </p:cNvPr>
          <p:cNvSpPr/>
          <p:nvPr/>
        </p:nvSpPr>
        <p:spPr>
          <a:xfrm>
            <a:off x="6926960" y="2034383"/>
            <a:ext cx="914400" cy="177853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5" name="Text 11">
            <a:extLst>
              <a:ext uri="{FF2B5EF4-FFF2-40B4-BE49-F238E27FC236}">
                <a16:creationId xmlns:a16="http://schemas.microsoft.com/office/drawing/2014/main" id="{39308141-443D-1D0C-6849-77C8A15D1135}"/>
              </a:ext>
            </a:extLst>
          </p:cNvPr>
          <p:cNvSpPr txBox="1"/>
          <p:nvPr/>
        </p:nvSpPr>
        <p:spPr>
          <a:xfrm>
            <a:off x="6812660" y="1962583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80" dirty="0">
                <a:solidFill>
                  <a:srgbClr val="0E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1</a:t>
            </a:r>
            <a:endParaRPr lang="en-US" sz="900" dirty="0"/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1A293620-D5C5-D266-4ABC-D57A478BB5BB}"/>
              </a:ext>
            </a:extLst>
          </p:cNvPr>
          <p:cNvSpPr/>
          <p:nvPr/>
        </p:nvSpPr>
        <p:spPr>
          <a:xfrm>
            <a:off x="9510718" y="2026087"/>
            <a:ext cx="914400" cy="177853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" name="Text 11">
            <a:extLst>
              <a:ext uri="{FF2B5EF4-FFF2-40B4-BE49-F238E27FC236}">
                <a16:creationId xmlns:a16="http://schemas.microsoft.com/office/drawing/2014/main" id="{E90FF846-B4AD-2720-B3D6-3E09069E5B71}"/>
              </a:ext>
            </a:extLst>
          </p:cNvPr>
          <p:cNvSpPr txBox="1"/>
          <p:nvPr/>
        </p:nvSpPr>
        <p:spPr>
          <a:xfrm>
            <a:off x="9539822" y="2024680"/>
            <a:ext cx="856360" cy="177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80" dirty="0">
                <a:solidFill>
                  <a:srgbClr val="0E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2</a:t>
            </a:r>
            <a:endParaRPr lang="en-US" sz="900" dirty="0"/>
          </a:p>
        </p:txBody>
      </p:sp>
      <p:sp>
        <p:nvSpPr>
          <p:cNvPr id="61" name="Arrow: Left-Right 60">
            <a:extLst>
              <a:ext uri="{FF2B5EF4-FFF2-40B4-BE49-F238E27FC236}">
                <a16:creationId xmlns:a16="http://schemas.microsoft.com/office/drawing/2014/main" id="{AA89BE25-0107-B66B-BE59-90117CE6A42E}"/>
              </a:ext>
            </a:extLst>
          </p:cNvPr>
          <p:cNvSpPr/>
          <p:nvPr/>
        </p:nvSpPr>
        <p:spPr>
          <a:xfrm>
            <a:off x="8309798" y="2775343"/>
            <a:ext cx="728402" cy="71626"/>
          </a:xfrm>
          <a:prstGeom prst="leftRightArrow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0" name="RegionLabel200"/>
          <p:cNvSpPr/>
          <p:nvPr/>
        </p:nvSpPr>
        <p:spPr>
          <a:xfrm>
            <a:off x="4389120" y="1965960"/>
            <a:ext cx="1051560" cy="219456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lIns="0" tIns="0" rIns="0" bIns="0" anchor="ctr"/>
          <a:lstStyle/>
          <a:p>
            <a:pPr algn="ctr">
              <a:buNone/>
            </a:pPr>
            <a:r>
              <a:rPr lang="en-US" sz="900" b="1" spc="60" dirty="0">
                <a:solidFill>
                  <a:srgbClr val="0E3F6E"/>
                </a:solidFill>
                <a:latin typeface="Calibri"/>
              </a:rPr>
              <a:t>Region 1</a:t>
            </a:r>
          </a:p>
        </p:txBody>
      </p:sp>
      <p:sp>
        <p:nvSpPr>
          <p:cNvPr id="201" name="RegionPod201"/>
          <p:cNvSpPr/>
          <p:nvPr/>
        </p:nvSpPr>
        <p:spPr>
          <a:xfrm>
            <a:off x="4069080" y="2320773"/>
            <a:ext cx="1691640" cy="640080"/>
          </a:xfrm>
          <a:prstGeom prst="roundRect">
            <a:avLst>
              <a:gd name="adj" fmla="val 28000"/>
            </a:avLst>
          </a:prstGeom>
          <a:solidFill>
            <a:schemeClr val="tx2">
              <a:lumMod val="75000"/>
            </a:schemeClr>
          </a:solidFill>
          <a:ln w="12700">
            <a:solidFill>
              <a:srgbClr val="E3ECF4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202" name="ZonePill202"/>
          <p:cNvSpPr/>
          <p:nvPr/>
        </p:nvSpPr>
        <p:spPr>
          <a:xfrm>
            <a:off x="4297680" y="2503653"/>
            <a:ext cx="1234440" cy="274320"/>
          </a:xfrm>
          <a:prstGeom prst="roundRect">
            <a:avLst>
              <a:gd name="adj" fmla="val 43333"/>
            </a:avLst>
          </a:prstGeom>
          <a:solidFill>
            <a:srgbClr val="E3ECF4"/>
          </a:solidFill>
          <a:ln w="12700">
            <a:solidFill>
              <a:srgbClr val="E3ECF4"/>
            </a:solidFill>
          </a:ln>
        </p:spPr>
        <p:txBody>
          <a:bodyPr lIns="0" tIns="0" rIns="0" bIns="0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0E3F6E"/>
                </a:solidFill>
                <a:latin typeface="Calibri"/>
              </a:rPr>
              <a:t>ZONE 1</a:t>
            </a:r>
          </a:p>
        </p:txBody>
      </p:sp>
      <p:sp>
        <p:nvSpPr>
          <p:cNvPr id="210" name="RegionLabel210"/>
          <p:cNvSpPr/>
          <p:nvPr/>
        </p:nvSpPr>
        <p:spPr>
          <a:xfrm>
            <a:off x="4297680" y="4509086"/>
            <a:ext cx="1097280" cy="219456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lIns="0" tIns="0" rIns="0" bIns="0" anchor="ctr"/>
          <a:lstStyle/>
          <a:p>
            <a:pPr algn="ctr">
              <a:buNone/>
            </a:pPr>
            <a:r>
              <a:rPr lang="en-US" sz="900" b="1" spc="60" dirty="0">
                <a:solidFill>
                  <a:srgbClr val="0E3F6E"/>
                </a:solidFill>
                <a:latin typeface="Calibri"/>
              </a:rPr>
              <a:t>Region 1</a:t>
            </a:r>
          </a:p>
        </p:txBody>
      </p:sp>
      <p:sp>
        <p:nvSpPr>
          <p:cNvPr id="211" name="RegionPod211"/>
          <p:cNvSpPr/>
          <p:nvPr/>
        </p:nvSpPr>
        <p:spPr>
          <a:xfrm>
            <a:off x="3794760" y="4809192"/>
            <a:ext cx="2103120" cy="658368"/>
          </a:xfrm>
          <a:prstGeom prst="roundRect">
            <a:avLst>
              <a:gd name="adj" fmla="val 26000"/>
            </a:avLst>
          </a:prstGeom>
          <a:solidFill>
            <a:schemeClr val="tx2">
              <a:lumMod val="75000"/>
            </a:schemeClr>
          </a:solidFill>
          <a:ln w="12700">
            <a:solidFill>
              <a:srgbClr val="E3ECF4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212" name="ZonePill212"/>
          <p:cNvSpPr/>
          <p:nvPr/>
        </p:nvSpPr>
        <p:spPr>
          <a:xfrm>
            <a:off x="3931920" y="5010360"/>
            <a:ext cx="859536" cy="274320"/>
          </a:xfrm>
          <a:prstGeom prst="roundRect">
            <a:avLst>
              <a:gd name="adj" fmla="val 43333"/>
            </a:avLst>
          </a:prstGeom>
          <a:solidFill>
            <a:srgbClr val="E3ECF4"/>
          </a:solidFill>
          <a:ln w="12700">
            <a:solidFill>
              <a:srgbClr val="E3ECF4"/>
            </a:solidFill>
          </a:ln>
        </p:spPr>
        <p:txBody>
          <a:bodyPr lIns="0" tIns="0" rIns="0" bIns="0" anchor="ctr"/>
          <a:lstStyle/>
          <a:p>
            <a:pPr algn="ctr">
              <a:buNone/>
            </a:pPr>
            <a:r>
              <a:rPr lang="en-US" sz="850" b="1" spc="40" dirty="0">
                <a:solidFill>
                  <a:srgbClr val="0E3F6E"/>
                </a:solidFill>
                <a:latin typeface="Calibri"/>
              </a:rPr>
              <a:t>ZONE 1</a:t>
            </a:r>
          </a:p>
        </p:txBody>
      </p:sp>
      <p:sp>
        <p:nvSpPr>
          <p:cNvPr id="213" name="ZonePill213"/>
          <p:cNvSpPr/>
          <p:nvPr/>
        </p:nvSpPr>
        <p:spPr>
          <a:xfrm>
            <a:off x="4901184" y="5010360"/>
            <a:ext cx="859536" cy="274320"/>
          </a:xfrm>
          <a:prstGeom prst="roundRect">
            <a:avLst>
              <a:gd name="adj" fmla="val 43333"/>
            </a:avLst>
          </a:prstGeom>
          <a:solidFill>
            <a:srgbClr val="E3ECF4"/>
          </a:solidFill>
          <a:ln w="12700">
            <a:solidFill>
              <a:srgbClr val="E3ECF4"/>
            </a:solidFill>
          </a:ln>
        </p:spPr>
        <p:txBody>
          <a:bodyPr lIns="0" tIns="0" rIns="0" bIns="0" anchor="ctr"/>
          <a:lstStyle/>
          <a:p>
            <a:pPr algn="ctr">
              <a:buNone/>
            </a:pPr>
            <a:r>
              <a:rPr lang="en-US" sz="850" b="1" spc="40" dirty="0">
                <a:solidFill>
                  <a:srgbClr val="0E3F6E"/>
                </a:solidFill>
                <a:latin typeface="Calibri"/>
              </a:rPr>
              <a:t>ZONE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475488" cy="475488"/>
          </a:xfrm>
          <a:prstGeom prst="ellipse">
            <a:avLst/>
          </a:prstGeom>
          <a:solidFill>
            <a:srgbClr val="1B6FB3"/>
          </a:solidFill>
          <a:ln w="12700">
            <a:solidFill>
              <a:srgbClr val="1B6FB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 txBox="1"/>
          <p:nvPr/>
        </p:nvSpPr>
        <p:spPr>
          <a:xfrm>
            <a:off x="50292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10896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1B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AVAILABILITY &amp; DISASTER RECOVERY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Resilience Topology — Bronze, Silver, Gold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99669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 and Silver run the primary region only, standing up the secondary on DR via IaC to keep cost minimal. Gold runs active-active across both regions.</a:t>
            </a:r>
            <a:endParaRPr lang="en-US" sz="1200" dirty="0"/>
          </a:p>
        </p:txBody>
      </p:sp>
      <p:pic>
        <p:nvPicPr>
          <p:cNvPr id="200" name="Resilience Topolog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6667" y="1371600"/>
            <a:ext cx="927836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475488" cy="475488"/>
          </a:xfrm>
          <a:prstGeom prst="ellipse">
            <a:avLst/>
          </a:prstGeom>
          <a:solidFill>
            <a:srgbClr val="1B6FB3"/>
          </a:solidFill>
          <a:ln w="12700">
            <a:solidFill>
              <a:srgbClr val="1B6FB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 txBox="1"/>
          <p:nvPr/>
        </p:nvSpPr>
        <p:spPr>
          <a:xfrm>
            <a:off x="50292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10896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1B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· GLOBAL ROUTING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Front Door vs Traffic Manager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99669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route across regions but at different layers. Azure Front Door is the chosen edge for HTTPS APIs; Traffic Manager only wins for non-HTTP or non-Azure routing.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1417320"/>
            <a:ext cx="4933518" cy="3657600"/>
          </a:xfrm>
          <a:prstGeom prst="roundRect">
            <a:avLst>
              <a:gd name="adj" fmla="val 1548"/>
            </a:avLst>
          </a:prstGeom>
          <a:solidFill>
            <a:srgbClr val="F7FAFC"/>
          </a:solidFill>
          <a:ln w="12700">
            <a:solidFill>
              <a:srgbClr val="5E6D7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 txBox="1"/>
          <p:nvPr/>
        </p:nvSpPr>
        <p:spPr>
          <a:xfrm>
            <a:off x="1077484" y="1581912"/>
            <a:ext cx="20361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2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94836" y="1563624"/>
            <a:ext cx="1807118" cy="237744"/>
          </a:xfrm>
          <a:prstGeom prst="roundRect">
            <a:avLst>
              <a:gd name="adj" fmla="val 50000"/>
            </a:avLst>
          </a:prstGeom>
          <a:solidFill>
            <a:srgbClr val="5E6D7C"/>
          </a:solidFill>
          <a:ln w="12700">
            <a:solidFill>
              <a:srgbClr val="5E6D7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 txBox="1"/>
          <p:nvPr/>
        </p:nvSpPr>
        <p:spPr>
          <a:xfrm>
            <a:off x="3694836" y="1563624"/>
            <a:ext cx="1807118" cy="23774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1077484" y="1920240"/>
            <a:ext cx="4424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b="1" dirty="0">
                <a:solidFill>
                  <a:srgbClr val="0E3F6E"/>
                </a:solidFill>
                <a:latin typeface="Calibri"/>
                <a:ea typeface="Calibri"/>
                <a:cs typeface="Calibri"/>
              </a:rPr>
              <a:t>Azure Front Door</a:t>
            </a:r>
            <a:endParaRPr lang="en-US" sz="150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0" indent="0" algn="l">
              <a:lnSpc>
                <a:spcPts val="1900"/>
              </a:lnSpc>
              <a:buNone/>
            </a:pPr>
            <a:endParaRPr lang="en-US" sz="1500" b="1" dirty="0">
              <a:solidFill>
                <a:srgbClr val="0E3F6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1077484" y="2350008"/>
            <a:ext cx="4424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12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&amp; ROLE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1077484" y="2551176"/>
            <a:ext cx="4424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50"/>
              </a:lnSpc>
            </a:pPr>
            <a:r>
              <a:rPr lang="en-US" sz="1000" i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7 · global anycast · edge WAF · Private Link origin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077484" y="3026664"/>
            <a:ext cx="4424471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lvl="0" indent="-34290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10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Built-in WAF, TLS termination, DDoS and caching at the Microsoft edge.</a:t>
            </a:r>
          </a:p>
          <a:p>
            <a:pPr marL="342900" lvl="0" indent="-34290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GB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fontAlgn="t">
              <a:buFont typeface="Arial" panose="020B0604020202020204" pitchFamily="34" charset="0"/>
              <a:buChar char="•"/>
            </a:pPr>
            <a:r>
              <a:rPr lang="en-GB" sz="1050" dirty="0">
                <a:latin typeface="Calibri"/>
                <a:ea typeface="Calibri"/>
                <a:cs typeface="Calibri"/>
              </a:rPr>
              <a:t>Anycast routing with fast, sub-minute health-based regional failover.</a:t>
            </a:r>
          </a:p>
          <a:p>
            <a:pPr marL="342900" indent="-342900" fontAlgn="t">
              <a:buFont typeface="Arial" panose="020B0604020202020204" pitchFamily="34" charset="0"/>
              <a:buChar char="•"/>
            </a:pPr>
            <a:endParaRPr lang="en-GB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1050" dirty="0">
                <a:latin typeface="Calibri"/>
                <a:ea typeface="Calibri"/>
                <a:cs typeface="Calibri"/>
              </a:rPr>
              <a:t>One global hostname; Private Link origin into internal-mode APIM.</a:t>
            </a:r>
            <a:endParaRPr lang="en-GB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1077484" y="4416552"/>
            <a:ext cx="4424471" cy="539496"/>
          </a:xfrm>
          <a:prstGeom prst="roundRect">
            <a:avLst>
              <a:gd name="adj" fmla="val 8333"/>
            </a:avLst>
          </a:prstGeom>
          <a:solidFill>
            <a:srgbClr val="EDF2F7"/>
          </a:solidFill>
          <a:ln w="12700">
            <a:solidFill>
              <a:srgbClr val="EDF2F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 txBox="1"/>
          <p:nvPr/>
        </p:nvSpPr>
        <p:spPr>
          <a:xfrm>
            <a:off x="1268376" y="4416552"/>
            <a:ext cx="4042685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fontAlgn="t">
              <a:lnSpc>
                <a:spcPct val="100000"/>
              </a:lnSpc>
              <a:buNone/>
            </a:pPr>
            <a:r>
              <a:rPr lang="en-GB" sz="105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Chosen: every API is HTTPS and benefits from edge security and fast failover.</a:t>
            </a:r>
          </a:p>
        </p:txBody>
      </p:sp>
      <p:sp>
        <p:nvSpPr>
          <p:cNvPr id="17" name="Shape 15"/>
          <p:cNvSpPr/>
          <p:nvPr/>
        </p:nvSpPr>
        <p:spPr>
          <a:xfrm>
            <a:off x="6423990" y="1417320"/>
            <a:ext cx="4933518" cy="3657600"/>
          </a:xfrm>
          <a:prstGeom prst="roundRect">
            <a:avLst>
              <a:gd name="adj" fmla="val 1548"/>
            </a:avLst>
          </a:prstGeom>
          <a:solidFill>
            <a:srgbClr val="F7FAFC"/>
          </a:solidFill>
          <a:ln w="25400">
            <a:solidFill>
              <a:srgbClr val="0E3F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 txBox="1"/>
          <p:nvPr/>
        </p:nvSpPr>
        <p:spPr>
          <a:xfrm>
            <a:off x="6678514" y="1581912"/>
            <a:ext cx="20361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2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295866" y="1563624"/>
            <a:ext cx="1807118" cy="237744"/>
          </a:xfrm>
          <a:prstGeom prst="roundRect">
            <a:avLst>
              <a:gd name="adj" fmla="val 50000"/>
            </a:avLst>
          </a:prstGeom>
          <a:solidFill>
            <a:srgbClr val="0E3F6E"/>
          </a:solidFill>
          <a:ln w="12700">
            <a:solidFill>
              <a:srgbClr val="0E3F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 txBox="1"/>
          <p:nvPr/>
        </p:nvSpPr>
        <p:spPr>
          <a:xfrm>
            <a:off x="9295866" y="1563624"/>
            <a:ext cx="18071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CHOSEN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6678514" y="1920240"/>
            <a:ext cx="4424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E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Traffic Manager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678514" y="2253996"/>
            <a:ext cx="4424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12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&amp; ROLE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6678514" y="2433828"/>
            <a:ext cx="4424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layer · protocol-agnostic · no inline inspection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678514" y="2807208"/>
            <a:ext cx="4424471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GB" sz="105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Resolves DNS to a healthy regional endpoint, then steps out of the path.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GB" sz="105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for any protocol, including non-HTTP and non-Azure endpoints.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GB" sz="105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WAF, TLS offload or caching of its own.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GB" sz="105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 bounded by client DNS cache TTLs, so slower; cheaper per query.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678514" y="4416552"/>
            <a:ext cx="4424471" cy="539496"/>
          </a:xfrm>
          <a:prstGeom prst="roundRect">
            <a:avLst>
              <a:gd name="adj" fmla="val 8333"/>
            </a:avLst>
          </a:prstGeom>
          <a:solidFill>
            <a:srgbClr val="EDF2F7"/>
          </a:solidFill>
          <a:ln w="12700">
            <a:solidFill>
              <a:srgbClr val="EDF2F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 txBox="1"/>
          <p:nvPr/>
        </p:nvSpPr>
        <p:spPr>
          <a:xfrm>
            <a:off x="6869406" y="4416552"/>
            <a:ext cx="404268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00"/>
              </a:lnSpc>
            </a:pPr>
            <a:r>
              <a:rPr lang="en-GB" sz="1050" b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chosen: no edge security and DNS-TTL failover is too slow for the RTO.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475488" cy="475488"/>
          </a:xfrm>
          <a:prstGeom prst="ellipse">
            <a:avLst/>
          </a:prstGeom>
          <a:solidFill>
            <a:srgbClr val="1B6FB3"/>
          </a:solidFill>
          <a:ln w="12700">
            <a:solidFill>
              <a:srgbClr val="1B6FB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 txBox="1"/>
          <p:nvPr/>
        </p:nvSpPr>
        <p:spPr>
          <a:xfrm>
            <a:off x="50292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10896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1B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· EDGE SERVICE OPTIONS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Front Door Tiers &amp; Offerings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99669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Door comes in several SKUs. Premium is the chosen tier because it adds the managed WAF and Private Link origin a governed API edge requires.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1417320"/>
            <a:ext cx="4933518" cy="3657600"/>
          </a:xfrm>
          <a:prstGeom prst="roundRect">
            <a:avLst>
              <a:gd name="adj" fmla="val 1548"/>
            </a:avLst>
          </a:prstGeom>
          <a:solidFill>
            <a:srgbClr val="F7FAFC"/>
          </a:solidFill>
          <a:ln w="12700">
            <a:solidFill>
              <a:srgbClr val="5E6D7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 txBox="1"/>
          <p:nvPr/>
        </p:nvSpPr>
        <p:spPr>
          <a:xfrm>
            <a:off x="1077484" y="1581912"/>
            <a:ext cx="20361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2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94836" y="1563624"/>
            <a:ext cx="1807118" cy="237744"/>
          </a:xfrm>
          <a:prstGeom prst="roundRect">
            <a:avLst>
              <a:gd name="adj" fmla="val 50000"/>
            </a:avLst>
          </a:prstGeom>
          <a:solidFill>
            <a:srgbClr val="5E6D7C"/>
          </a:solidFill>
          <a:ln w="12700">
            <a:solidFill>
              <a:srgbClr val="5E6D7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 txBox="1"/>
          <p:nvPr/>
        </p:nvSpPr>
        <p:spPr>
          <a:xfrm>
            <a:off x="3694836" y="1563624"/>
            <a:ext cx="1807118" cy="23774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1077484" y="1920240"/>
            <a:ext cx="4424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b="1" dirty="0">
                <a:solidFill>
                  <a:srgbClr val="0E3F6E"/>
                </a:solidFill>
                <a:latin typeface="Calibri"/>
                <a:ea typeface="Calibri"/>
                <a:cs typeface="Calibri"/>
              </a:rPr>
              <a:t>Front Door Standard</a:t>
            </a:r>
            <a:endParaRPr lang="en-US" sz="150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0" indent="0" algn="l">
              <a:lnSpc>
                <a:spcPts val="1900"/>
              </a:lnSpc>
              <a:buNone/>
            </a:pPr>
            <a:endParaRPr lang="en-US" sz="1500" b="1" dirty="0">
              <a:solidFill>
                <a:srgbClr val="0E3F6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1077484" y="2350008"/>
            <a:ext cx="4424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12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 PROFILE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1077484" y="2551176"/>
            <a:ext cx="4424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50"/>
              </a:lnSpc>
            </a:pPr>
            <a:r>
              <a:rPr lang="en-US" sz="1000" i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CDN + global Layer 7 routing, no advanced security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077484" y="3026664"/>
            <a:ext cx="4424471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lvl="0" indent="-34290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10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Anycast routing, caching, TLS termination and custom domains.</a:t>
            </a:r>
          </a:p>
          <a:p>
            <a:pPr marL="342900" lvl="0" indent="-34290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GB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fontAlgn="t">
              <a:buFont typeface="Arial" panose="020B0604020202020204" pitchFamily="34" charset="0"/>
              <a:buChar char="•"/>
            </a:pPr>
            <a:r>
              <a:rPr lang="en-GB" sz="1050" dirty="0">
                <a:latin typeface="Calibri"/>
                <a:ea typeface="Calibri"/>
                <a:cs typeface="Calibri"/>
              </a:rPr>
              <a:t>No managed WAF or bot protection, and no Private Link origin support.</a:t>
            </a:r>
          </a:p>
          <a:p>
            <a:pPr marL="342900" indent="-342900" fontAlgn="t">
              <a:buFont typeface="Arial" panose="020B0604020202020204" pitchFamily="34" charset="0"/>
              <a:buChar char="•"/>
            </a:pPr>
            <a:endParaRPr lang="en-GB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1050" dirty="0">
                <a:latin typeface="Calibri"/>
                <a:ea typeface="Calibri"/>
                <a:cs typeface="Calibri"/>
              </a:rPr>
              <a:t>Lower cost; suited to content delivery, not a secured API edge.</a:t>
            </a:r>
            <a:endParaRPr lang="en-GB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1077484" y="4416552"/>
            <a:ext cx="4424471" cy="539496"/>
          </a:xfrm>
          <a:prstGeom prst="roundRect">
            <a:avLst>
              <a:gd name="adj" fmla="val 8333"/>
            </a:avLst>
          </a:prstGeom>
          <a:solidFill>
            <a:srgbClr val="EDF2F7"/>
          </a:solidFill>
          <a:ln w="12700">
            <a:solidFill>
              <a:srgbClr val="EDF2F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 txBox="1"/>
          <p:nvPr/>
        </p:nvSpPr>
        <p:spPr>
          <a:xfrm>
            <a:off x="1268376" y="4416552"/>
            <a:ext cx="4042685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fontAlgn="t">
              <a:lnSpc>
                <a:spcPct val="100000"/>
              </a:lnSpc>
              <a:buNone/>
            </a:pPr>
            <a:r>
              <a:rPr lang="en-GB" sz="105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sufficient: no WAF and no Private Link origin for internal APIM.</a:t>
            </a:r>
          </a:p>
        </p:txBody>
      </p:sp>
      <p:sp>
        <p:nvSpPr>
          <p:cNvPr id="17" name="Shape 15"/>
          <p:cNvSpPr/>
          <p:nvPr/>
        </p:nvSpPr>
        <p:spPr>
          <a:xfrm>
            <a:off x="6423990" y="1417320"/>
            <a:ext cx="4933518" cy="3657600"/>
          </a:xfrm>
          <a:prstGeom prst="roundRect">
            <a:avLst>
              <a:gd name="adj" fmla="val 1548"/>
            </a:avLst>
          </a:prstGeom>
          <a:solidFill>
            <a:srgbClr val="F7FAFC"/>
          </a:solidFill>
          <a:ln w="25400">
            <a:solidFill>
              <a:srgbClr val="0E3F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 txBox="1"/>
          <p:nvPr/>
        </p:nvSpPr>
        <p:spPr>
          <a:xfrm>
            <a:off x="6678514" y="1581912"/>
            <a:ext cx="20361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2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295866" y="1563624"/>
            <a:ext cx="1807118" cy="237744"/>
          </a:xfrm>
          <a:prstGeom prst="roundRect">
            <a:avLst>
              <a:gd name="adj" fmla="val 50000"/>
            </a:avLst>
          </a:prstGeom>
          <a:solidFill>
            <a:srgbClr val="0E3F6E"/>
          </a:solidFill>
          <a:ln w="12700">
            <a:solidFill>
              <a:srgbClr val="0E3F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 txBox="1"/>
          <p:nvPr/>
        </p:nvSpPr>
        <p:spPr>
          <a:xfrm>
            <a:off x="9295866" y="1563624"/>
            <a:ext cx="18071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6678514" y="1920240"/>
            <a:ext cx="4424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E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Door Premium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678514" y="2253996"/>
            <a:ext cx="4424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12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 PROFILE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6678514" y="2433828"/>
            <a:ext cx="4424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+ managed WAF + Private Link origin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678514" y="2807208"/>
            <a:ext cx="4424471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GB" sz="105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WAF (DRS 2.1) with bot protection and rate limiting.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GB" sz="105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Link origin to an internal-mode APIM, so no public IP.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GB" sz="105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DDoS protection and enhanced security analytics.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GB" sz="105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hardened, governed edge this design requires.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678514" y="4416552"/>
            <a:ext cx="4424471" cy="539496"/>
          </a:xfrm>
          <a:prstGeom prst="roundRect">
            <a:avLst>
              <a:gd name="adj" fmla="val 8333"/>
            </a:avLst>
          </a:prstGeom>
          <a:solidFill>
            <a:srgbClr val="EDF2F7"/>
          </a:solidFill>
          <a:ln w="12700">
            <a:solidFill>
              <a:srgbClr val="EDF2F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 txBox="1"/>
          <p:nvPr/>
        </p:nvSpPr>
        <p:spPr>
          <a:xfrm>
            <a:off x="6869406" y="4416552"/>
            <a:ext cx="404268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00"/>
              </a:lnSpc>
            </a:pPr>
            <a:r>
              <a:rPr lang="en-GB" sz="1050" b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Chosen: WAF plus Private Link origin gives a secure, private API edge.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475488" cy="475488"/>
          </a:xfrm>
          <a:prstGeom prst="ellipse">
            <a:avLst/>
          </a:prstGeom>
          <a:solidFill>
            <a:srgbClr val="1B6FB3"/>
          </a:solidFill>
          <a:ln w="12700">
            <a:solidFill>
              <a:srgbClr val="1B6FB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 txBox="1"/>
          <p:nvPr/>
        </p:nvSpPr>
        <p:spPr>
          <a:xfrm>
            <a:off x="50292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10896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1B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· APIM GATEWAY TIERS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APIM Gateway Tiers &amp; Offerings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99669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APIM offers several tiers. Premium v2 provides the network isolation, scale and governance a strategic API platform needs.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3544824" cy="3657600"/>
          </a:xfrm>
          <a:prstGeom prst="roundRect">
            <a:avLst>
              <a:gd name="adj" fmla="val 1548"/>
            </a:avLst>
          </a:prstGeom>
          <a:solidFill>
            <a:srgbClr val="F7FAFC"/>
          </a:solidFill>
          <a:ln w="12700">
            <a:solidFill>
              <a:srgbClr val="5E6D7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 txBox="1"/>
          <p:nvPr/>
        </p:nvSpPr>
        <p:spPr>
          <a:xfrm>
            <a:off x="685800" y="158191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2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TIERS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66416" y="1563624"/>
            <a:ext cx="1298448" cy="237744"/>
          </a:xfrm>
          <a:prstGeom prst="roundRect">
            <a:avLst>
              <a:gd name="adj" fmla="val 50000"/>
            </a:avLst>
          </a:prstGeom>
          <a:solidFill>
            <a:srgbClr val="5E6D7C"/>
          </a:solidFill>
          <a:ln w="12700">
            <a:solidFill>
              <a:srgbClr val="5E6D7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 txBox="1"/>
          <p:nvPr/>
        </p:nvSpPr>
        <p:spPr>
          <a:xfrm>
            <a:off x="2566416" y="1563624"/>
            <a:ext cx="1298448" cy="23774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SUFFICIENT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192024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b="1" dirty="0">
                <a:solidFill>
                  <a:srgbClr val="0E3F6E"/>
                </a:solidFill>
                <a:latin typeface="Calibri"/>
                <a:ea typeface="Calibri"/>
                <a:cs typeface="Calibri"/>
              </a:rPr>
              <a:t>Consumption / Developer / Basic / Standard</a:t>
            </a:r>
            <a:endParaRPr lang="en-US" sz="150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0" indent="0" algn="l">
              <a:lnSpc>
                <a:spcPts val="1900"/>
              </a:lnSpc>
              <a:buNone/>
            </a:pPr>
            <a:endParaRPr lang="en-US" sz="1500" b="1" dirty="0">
              <a:solidFill>
                <a:srgbClr val="0E3F6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85800" y="2350008"/>
            <a:ext cx="3179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12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PROFILE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2551176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50"/>
              </a:lnSpc>
            </a:pPr>
            <a:r>
              <a:rPr lang="en-US" sz="1000" i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serverless, non-production and entry production tiers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026664"/>
            <a:ext cx="317906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lvl="0" indent="-34290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10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Consumption is serverless and per-call; Developer has no SLA (non-prod only).</a:t>
            </a:r>
          </a:p>
          <a:p>
            <a:pPr marL="342900" lvl="0" indent="-34290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GB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fontAlgn="t">
              <a:buFont typeface="Arial" panose="020B0604020202020204" pitchFamily="34" charset="0"/>
              <a:buChar char="•"/>
            </a:pPr>
            <a:r>
              <a:rPr lang="en-GB" sz="1050" dirty="0">
                <a:latin typeface="Calibri"/>
                <a:ea typeface="Calibri"/>
                <a:cs typeface="Calibri"/>
              </a:rPr>
              <a:t>Basic and Standard carry a production SLA but no VNet injection.</a:t>
            </a:r>
          </a:p>
          <a:p>
            <a:pPr marL="342900" indent="-342900" fontAlgn="t">
              <a:buFont typeface="Arial" panose="020B0604020202020204" pitchFamily="34" charset="0"/>
              <a:buChar char="•"/>
            </a:pPr>
            <a:endParaRPr lang="en-GB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1050" dirty="0">
                <a:latin typeface="Calibri"/>
                <a:ea typeface="Calibri"/>
                <a:cs typeface="Calibri"/>
              </a:rPr>
              <a:t>None provide the private networking or isolation this design needs.</a:t>
            </a:r>
            <a:endParaRPr lang="en-GB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85800" y="4416552"/>
            <a:ext cx="3179064" cy="539496"/>
          </a:xfrm>
          <a:prstGeom prst="roundRect">
            <a:avLst>
              <a:gd name="adj" fmla="val 8333"/>
            </a:avLst>
          </a:prstGeom>
          <a:solidFill>
            <a:srgbClr val="EDF2F7"/>
          </a:solidFill>
          <a:ln w="12700">
            <a:solidFill>
              <a:srgbClr val="EDF2F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 txBox="1"/>
          <p:nvPr/>
        </p:nvSpPr>
        <p:spPr>
          <a:xfrm>
            <a:off x="822960" y="4416552"/>
            <a:ext cx="2904744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fontAlgn="t">
              <a:lnSpc>
                <a:spcPct val="100000"/>
              </a:lnSpc>
              <a:buNone/>
            </a:pPr>
            <a:r>
              <a:rPr lang="en-GB" sz="105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sufficient: no VNet injection or private isolation for the platform.</a:t>
            </a:r>
          </a:p>
        </p:txBody>
      </p:sp>
      <p:sp>
        <p:nvSpPr>
          <p:cNvPr id="17" name="Shape 15"/>
          <p:cNvSpPr/>
          <p:nvPr/>
        </p:nvSpPr>
        <p:spPr>
          <a:xfrm>
            <a:off x="4322064" y="1417320"/>
            <a:ext cx="3544824" cy="3657600"/>
          </a:xfrm>
          <a:prstGeom prst="roundRect">
            <a:avLst>
              <a:gd name="adj" fmla="val 1548"/>
            </a:avLst>
          </a:prstGeom>
          <a:solidFill>
            <a:srgbClr val="F7FAFC"/>
          </a:solidFill>
          <a:ln w="25400">
            <a:solidFill>
              <a:srgbClr val="0E3F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 txBox="1"/>
          <p:nvPr/>
        </p:nvSpPr>
        <p:spPr>
          <a:xfrm>
            <a:off x="4504944" y="158191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2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TIER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385560" y="1563624"/>
            <a:ext cx="1298448" cy="237744"/>
          </a:xfrm>
          <a:prstGeom prst="roundRect">
            <a:avLst>
              <a:gd name="adj" fmla="val 50000"/>
            </a:avLst>
          </a:prstGeom>
          <a:solidFill>
            <a:srgbClr val="0E3F6E"/>
          </a:solidFill>
          <a:ln w="12700">
            <a:solidFill>
              <a:srgbClr val="0E3F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 txBox="1"/>
          <p:nvPr/>
        </p:nvSpPr>
        <p:spPr>
          <a:xfrm>
            <a:off x="6385560" y="1563624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4504944" y="192024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E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v2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504944" y="2253996"/>
            <a:ext cx="3179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12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PROFILE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504944" y="2433828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VNet injection · internal mode · zones · scale units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504944" y="2807208"/>
            <a:ext cx="317906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GB" sz="105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VNet injection in internal mode, with no public endpoint.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GB" sz="105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Private Link and availability-zone support.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GB" sz="105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Simplified networking versus classic Premium.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GB" sz="105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units, workspaces and full policy governance.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04944" y="4416552"/>
            <a:ext cx="3179064" cy="539496"/>
          </a:xfrm>
          <a:prstGeom prst="roundRect">
            <a:avLst>
              <a:gd name="adj" fmla="val 8333"/>
            </a:avLst>
          </a:prstGeom>
          <a:solidFill>
            <a:srgbClr val="EDF2F7"/>
          </a:solidFill>
          <a:ln w="12700">
            <a:solidFill>
              <a:srgbClr val="EDF2F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 txBox="1"/>
          <p:nvPr/>
        </p:nvSpPr>
        <p:spPr>
          <a:xfrm>
            <a:off x="4642104" y="4416552"/>
            <a:ext cx="2904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00"/>
              </a:lnSpc>
            </a:pPr>
            <a:r>
              <a:rPr lang="en-GB" sz="1050" b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Chosen: the isolation, scale and governance a strategic platform needs.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141208" y="1417320"/>
            <a:ext cx="3544824" cy="3657600"/>
          </a:xfrm>
          <a:prstGeom prst="roundRect">
            <a:avLst>
              <a:gd name="adj" fmla="val 1548"/>
            </a:avLst>
          </a:prstGeom>
          <a:solidFill>
            <a:srgbClr val="F7FAFC"/>
          </a:solidFill>
          <a:ln w="12700">
            <a:solidFill>
              <a:srgbClr val="3F6B8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 txBox="1"/>
          <p:nvPr/>
        </p:nvSpPr>
        <p:spPr>
          <a:xfrm>
            <a:off x="8324088" y="158191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2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0204704" y="1563624"/>
            <a:ext cx="1298448" cy="237744"/>
          </a:xfrm>
          <a:prstGeom prst="roundRect">
            <a:avLst>
              <a:gd name="adj" fmla="val 50000"/>
            </a:avLst>
          </a:prstGeom>
          <a:solidFill>
            <a:srgbClr val="3F6B8F"/>
          </a:solidFill>
          <a:ln w="12700">
            <a:solidFill>
              <a:srgbClr val="00206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 txBox="1"/>
          <p:nvPr/>
        </p:nvSpPr>
        <p:spPr>
          <a:xfrm>
            <a:off x="10204704" y="1563624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MULTI-REGION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8324088" y="192024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E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Premium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324088" y="2350008"/>
            <a:ext cx="3179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12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PROFILE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8324088" y="2551176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line · instance multi-region today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8324088" y="2891028"/>
            <a:ext cx="3179064" cy="1342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tier with instance-level multi-region deployment today.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VNet injection and workspaces; established and mature.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the control-plane bypass route that v2 removes.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where multi-region is needed on day one.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324088" y="4297680"/>
            <a:ext cx="3179064" cy="658368"/>
          </a:xfrm>
          <a:prstGeom prst="roundRect">
            <a:avLst>
              <a:gd name="adj" fmla="val 8333"/>
            </a:avLst>
          </a:prstGeom>
          <a:solidFill>
            <a:srgbClr val="EDF2F7"/>
          </a:solidFill>
          <a:ln w="12700">
            <a:solidFill>
              <a:srgbClr val="EDF2F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 txBox="1"/>
          <p:nvPr/>
        </p:nvSpPr>
        <p:spPr>
          <a:xfrm>
            <a:off x="8461248" y="4297680"/>
            <a:ext cx="2904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fontAlgn="t">
              <a:lnSpc>
                <a:spcPct val="100000"/>
              </a:lnSpc>
              <a:buNone/>
            </a:pPr>
            <a:r>
              <a:rPr lang="en-GB" sz="105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Alternative: use if instance multi-region is needed before v2 supports it.</a:t>
            </a:r>
          </a:p>
        </p:txBody>
      </p:sp>
      <p:sp>
        <p:nvSpPr>
          <p:cNvPr id="300" name="envlabel"/>
          <p:cNvSpPr txBox="1"/>
          <p:nvPr/>
        </p:nvSpPr>
        <p:spPr>
          <a:xfrm>
            <a:off x="822960" y="5230368"/>
            <a:ext cx="10515600" cy="2743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lang="en-US" sz="1100" b="1" dirty="0">
                <a:solidFill>
                  <a:srgbClr val="5A6B7D"/>
                </a:solidFill>
                <a:latin typeface="Calibri"/>
              </a:rPr>
              <a:t>ENVIRONMENT → TIER MAPPING</a:t>
            </a:r>
          </a:p>
        </p:txBody>
      </p:sp>
      <p:sp>
        <p:nvSpPr>
          <p:cNvPr id="301" name="dev"/>
          <p:cNvSpPr/>
          <p:nvPr/>
        </p:nvSpPr>
        <p:spPr>
          <a:xfrm>
            <a:off x="868680" y="5596128"/>
            <a:ext cx="1234440" cy="868680"/>
          </a:xfrm>
          <a:prstGeom prst="roundRect">
            <a:avLst>
              <a:gd name="adj" fmla="val 12000"/>
            </a:avLst>
          </a:prstGeom>
          <a:solidFill>
            <a:srgbClr val="E4ECF5"/>
          </a:solidFill>
          <a:ln w="12700">
            <a:solidFill>
              <a:srgbClr val="C9D4E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2" name="devt"/>
          <p:cNvSpPr txBox="1"/>
          <p:nvPr/>
        </p:nvSpPr>
        <p:spPr>
          <a:xfrm>
            <a:off x="868680" y="5596128"/>
            <a:ext cx="1234440" cy="86868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en-US" sz="1500" b="1" dirty="0">
                <a:solidFill>
                  <a:srgbClr val="1B2836"/>
                </a:solidFill>
                <a:latin typeface="Calibri"/>
              </a:rPr>
              <a:t>DEV</a:t>
            </a:r>
          </a:p>
          <a:p>
            <a:pPr algn="ctr"/>
            <a:r>
              <a:rPr lang="en-US" sz="950" b="0" dirty="0">
                <a:solidFill>
                  <a:srgbClr val="5A6B7D"/>
                </a:solidFill>
                <a:latin typeface="Calibri"/>
              </a:rPr>
              <a:t>Non-prod</a:t>
            </a:r>
          </a:p>
        </p:txBody>
      </p:sp>
      <p:sp>
        <p:nvSpPr>
          <p:cNvPr id="303" name="sit"/>
          <p:cNvSpPr/>
          <p:nvPr/>
        </p:nvSpPr>
        <p:spPr>
          <a:xfrm>
            <a:off x="2231136" y="5596128"/>
            <a:ext cx="1234440" cy="868680"/>
          </a:xfrm>
          <a:prstGeom prst="roundRect">
            <a:avLst>
              <a:gd name="adj" fmla="val 12000"/>
            </a:avLst>
          </a:prstGeom>
          <a:solidFill>
            <a:srgbClr val="E4ECF5"/>
          </a:solidFill>
          <a:ln w="12700">
            <a:solidFill>
              <a:srgbClr val="C9D4E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4" name="sitt"/>
          <p:cNvSpPr txBox="1"/>
          <p:nvPr/>
        </p:nvSpPr>
        <p:spPr>
          <a:xfrm>
            <a:off x="2231136" y="5596128"/>
            <a:ext cx="1234440" cy="86868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en-US" sz="1500" b="1" dirty="0">
                <a:solidFill>
                  <a:srgbClr val="1B2836"/>
                </a:solidFill>
                <a:latin typeface="Calibri"/>
              </a:rPr>
              <a:t>SIT</a:t>
            </a:r>
          </a:p>
          <a:p>
            <a:pPr algn="ctr"/>
            <a:r>
              <a:rPr lang="en-US" sz="950" b="0" dirty="0">
                <a:solidFill>
                  <a:srgbClr val="5A6B7D"/>
                </a:solidFill>
                <a:latin typeface="Calibri"/>
              </a:rPr>
              <a:t>Non-prod</a:t>
            </a:r>
          </a:p>
        </p:txBody>
      </p:sp>
      <p:cxnSp>
        <p:nvCxnSpPr>
          <p:cNvPr id="305" name="arr1"/>
          <p:cNvCxnSpPr/>
          <p:nvPr/>
        </p:nvCxnSpPr>
        <p:spPr>
          <a:xfrm>
            <a:off x="3538728" y="6021324"/>
            <a:ext cx="457200" cy="1"/>
          </a:xfrm>
          <a:prstGeom prst="straightConnector1">
            <a:avLst/>
          </a:prstGeom>
          <a:ln w="19050">
            <a:solidFill>
              <a:srgbClr val="3F6B8F"/>
            </a:solidFill>
            <a:tailEnd type="triangle"/>
          </a:ln>
        </p:spPr>
      </p:cxnSp>
      <p:sp>
        <p:nvSpPr>
          <p:cNvPr id="306" name="devtier"/>
          <p:cNvSpPr/>
          <p:nvPr/>
        </p:nvSpPr>
        <p:spPr>
          <a:xfrm>
            <a:off x="4105656" y="5596128"/>
            <a:ext cx="1828800" cy="868680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2700">
            <a:solidFill>
              <a:srgbClr val="3F6B8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7" name="devtiert"/>
          <p:cNvSpPr txBox="1"/>
          <p:nvPr/>
        </p:nvSpPr>
        <p:spPr>
          <a:xfrm>
            <a:off x="4105656" y="5596128"/>
            <a:ext cx="1828800" cy="86868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0E3F6E"/>
                </a:solidFill>
                <a:latin typeface="Calibri"/>
              </a:rPr>
              <a:t>Developer tier</a:t>
            </a:r>
          </a:p>
          <a:p>
            <a:pPr algn="ctr"/>
            <a:r>
              <a:rPr lang="en-US" sz="950" b="0" dirty="0">
                <a:solidFill>
                  <a:srgbClr val="5A6B7D"/>
                </a:solidFill>
                <a:latin typeface="Calibri"/>
              </a:rPr>
              <a:t>full features · no SLA</a:t>
            </a:r>
          </a:p>
        </p:txBody>
      </p:sp>
      <p:sp>
        <p:nvSpPr>
          <p:cNvPr id="311" name="uat"/>
          <p:cNvSpPr/>
          <p:nvPr/>
        </p:nvSpPr>
        <p:spPr>
          <a:xfrm>
            <a:off x="6355080" y="5596128"/>
            <a:ext cx="1234440" cy="868680"/>
          </a:xfrm>
          <a:prstGeom prst="roundRect">
            <a:avLst>
              <a:gd name="adj" fmla="val 12000"/>
            </a:avLst>
          </a:prstGeom>
          <a:solidFill>
            <a:srgbClr val="E4ECF5"/>
          </a:solidFill>
          <a:ln w="12700">
            <a:solidFill>
              <a:srgbClr val="C9D4E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2" name="uatt"/>
          <p:cNvSpPr txBox="1"/>
          <p:nvPr/>
        </p:nvSpPr>
        <p:spPr>
          <a:xfrm>
            <a:off x="6355080" y="5596128"/>
            <a:ext cx="1234440" cy="86868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en-US" sz="1500" b="1" dirty="0">
                <a:solidFill>
                  <a:srgbClr val="1B2836"/>
                </a:solidFill>
                <a:latin typeface="Calibri"/>
              </a:rPr>
              <a:t>UAT</a:t>
            </a:r>
          </a:p>
          <a:p>
            <a:pPr algn="ctr"/>
            <a:r>
              <a:rPr lang="en-US" sz="950" b="0" dirty="0">
                <a:solidFill>
                  <a:srgbClr val="5A6B7D"/>
                </a:solidFill>
                <a:latin typeface="Calibri"/>
              </a:rPr>
              <a:t>Prod-like</a:t>
            </a:r>
          </a:p>
        </p:txBody>
      </p:sp>
      <p:sp>
        <p:nvSpPr>
          <p:cNvPr id="313" name="prod"/>
          <p:cNvSpPr/>
          <p:nvPr/>
        </p:nvSpPr>
        <p:spPr>
          <a:xfrm>
            <a:off x="7717536" y="5596128"/>
            <a:ext cx="1234440" cy="868680"/>
          </a:xfrm>
          <a:prstGeom prst="roundRect">
            <a:avLst>
              <a:gd name="adj" fmla="val 12000"/>
            </a:avLst>
          </a:prstGeom>
          <a:solidFill>
            <a:srgbClr val="E4ECF5"/>
          </a:solidFill>
          <a:ln w="12700">
            <a:solidFill>
              <a:srgbClr val="C9D4E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4" name="prodt"/>
          <p:cNvSpPr txBox="1"/>
          <p:nvPr/>
        </p:nvSpPr>
        <p:spPr>
          <a:xfrm>
            <a:off x="7717536" y="5596128"/>
            <a:ext cx="1234440" cy="86868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en-US" sz="1500" b="1" dirty="0">
                <a:solidFill>
                  <a:srgbClr val="1B2836"/>
                </a:solidFill>
                <a:latin typeface="Calibri"/>
              </a:rPr>
              <a:t>PROD</a:t>
            </a:r>
          </a:p>
          <a:p>
            <a:pPr algn="ctr"/>
            <a:r>
              <a:rPr lang="en-US" sz="950" b="0" dirty="0">
                <a:solidFill>
                  <a:srgbClr val="5A6B7D"/>
                </a:solidFill>
                <a:latin typeface="Calibri"/>
              </a:rPr>
              <a:t>Production</a:t>
            </a:r>
          </a:p>
        </p:txBody>
      </p:sp>
      <p:cxnSp>
        <p:nvCxnSpPr>
          <p:cNvPr id="315" name="arr2"/>
          <p:cNvCxnSpPr/>
          <p:nvPr/>
        </p:nvCxnSpPr>
        <p:spPr>
          <a:xfrm>
            <a:off x="9025128" y="6021324"/>
            <a:ext cx="457200" cy="1"/>
          </a:xfrm>
          <a:prstGeom prst="straightConnector1">
            <a:avLst/>
          </a:prstGeom>
          <a:ln w="19050">
            <a:solidFill>
              <a:srgbClr val="2E7D5B"/>
            </a:solidFill>
            <a:tailEnd type="triangle"/>
          </a:ln>
        </p:spPr>
      </p:cxnSp>
      <p:sp>
        <p:nvSpPr>
          <p:cNvPr id="316" name="premtier"/>
          <p:cNvSpPr/>
          <p:nvPr/>
        </p:nvSpPr>
        <p:spPr>
          <a:xfrm>
            <a:off x="9592056" y="5596128"/>
            <a:ext cx="1828800" cy="868680"/>
          </a:xfrm>
          <a:prstGeom prst="roundRect">
            <a:avLst>
              <a:gd name="adj" fmla="val 12000"/>
            </a:avLst>
          </a:prstGeom>
          <a:solidFill>
            <a:srgbClr val="0E3F6E"/>
          </a:solidFill>
          <a:ln w="12700">
            <a:solidFill>
              <a:srgbClr val="0E3F6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7" name="premtiert"/>
          <p:cNvSpPr txBox="1"/>
          <p:nvPr/>
        </p:nvSpPr>
        <p:spPr>
          <a:xfrm>
            <a:off x="9592056" y="5596128"/>
            <a:ext cx="1828800" cy="86868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alibri"/>
              </a:rPr>
              <a:t>Premium v2</a:t>
            </a:r>
          </a:p>
          <a:p>
            <a:pPr algn="ctr"/>
            <a:r>
              <a:rPr lang="en-US" sz="950" b="0" dirty="0">
                <a:solidFill>
                  <a:srgbClr val="CBD9EA"/>
                </a:solidFill>
                <a:latin typeface="Calibri"/>
              </a:rPr>
              <a:t>VNet · internal · SLA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ucer V2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haucer">
      <a:majorFont>
        <a:latin typeface="Regular"/>
        <a:ea typeface=""/>
        <a:cs typeface=""/>
      </a:majorFont>
      <a:minorFont>
        <a:latin typeface="Noe Tex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0" rtlCol="0">
        <a:noAutofit/>
      </a:bodyPr>
      <a:lstStyle>
        <a:defPPr algn="l">
          <a:defRPr sz="1100">
            <a:latin typeface="+mj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Chaucer New Locked Powerpoint Template 2021" id="{B664D363-6541-4198-B173-396DDC8B384E}" vid="{3B86F81F-18B4-49DB-9A1E-D92E38AF7C4C}"/>
    </a:ext>
  </a:extLst>
</a:theme>
</file>

<file path=ppt/theme/theme2.xml><?xml version="1.0" encoding="utf-8"?>
<a:theme xmlns:a="http://schemas.openxmlformats.org/drawingml/2006/main" name="Bjorn">
  <a:themeElements>
    <a:clrScheme name="Bjorn">
      <a:dk1>
        <a:srgbClr val="000000"/>
      </a:dk1>
      <a:lt1>
        <a:srgbClr val="FFFFFF"/>
      </a:lt1>
      <a:dk2>
        <a:srgbClr val="003474"/>
      </a:dk2>
      <a:lt2>
        <a:srgbClr val="EFE6EB"/>
      </a:lt2>
      <a:accent1>
        <a:srgbClr val="28AE70"/>
      </a:accent1>
      <a:accent2>
        <a:srgbClr val="AC9E0C"/>
      </a:accent2>
      <a:accent3>
        <a:srgbClr val="EF3475"/>
      </a:accent3>
      <a:accent4>
        <a:srgbClr val="8961F3"/>
      </a:accent4>
      <a:accent5>
        <a:srgbClr val="11ADD3"/>
      </a:accent5>
      <a:accent6>
        <a:srgbClr val="E78813"/>
      </a:accent6>
      <a:hlink>
        <a:srgbClr val="CD45C3"/>
      </a:hlink>
      <a:folHlink>
        <a:srgbClr val="E34E4E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jorn" id="{121AC9A9-9DF1-410F-980B-228D05632962}" vid="{661A2AC3-DE07-4883-A618-4B52B678F5E5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2079</Words>
  <Application>Microsoft Office PowerPoint</Application>
  <PresentationFormat>Widescreen</PresentationFormat>
  <Paragraphs>311</Paragraphs>
  <Slides>10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Arial</vt:lpstr>
      <vt:lpstr>Calibri</vt:lpstr>
      <vt:lpstr>Neue Haas Grotesk Text Pro</vt:lpstr>
      <vt:lpstr>Noe Text</vt:lpstr>
      <vt:lpstr>Regular</vt:lpstr>
      <vt:lpstr>System Font Regular</vt:lpstr>
      <vt:lpstr>Chaucer V2 Theme</vt:lpstr>
      <vt:lpstr>Bjorn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Puneet Kumar</cp:lastModifiedBy>
  <cp:revision>27</cp:revision>
  <dcterms:created xsi:type="dcterms:W3CDTF">2026-09-22T10:49:43Z</dcterms:created>
  <dcterms:modified xsi:type="dcterms:W3CDTF">2026-09-23T06:12:50Z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6034dab-5829-4c7a-a87e-18a6fc150b18_Enabled">
    <vt:lpwstr>true</vt:lpwstr>
  </property>
  <property fmtid="{D5CDD505-2E9C-101B-9397-08002B2CF9AE}" pid="3" name="MSIP_Label_66034dab-5829-4c7a-a87e-18a6fc150b18_SetDate">
    <vt:lpwstr>2026-09-22T12:18:02Z</vt:lpwstr>
  </property>
  <property fmtid="{D5CDD505-2E9C-101B-9397-08002B2CF9AE}" pid="4" name="MSIP_Label_66034dab-5829-4c7a-a87e-18a6fc150b18_Method">
    <vt:lpwstr>Standard</vt:lpwstr>
  </property>
  <property fmtid="{D5CDD505-2E9C-101B-9397-08002B2CF9AE}" pid="5" name="MSIP_Label_66034dab-5829-4c7a-a87e-18a6fc150b18_Name">
    <vt:lpwstr>Internal</vt:lpwstr>
  </property>
  <property fmtid="{D5CDD505-2E9C-101B-9397-08002B2CF9AE}" pid="6" name="MSIP_Label_66034dab-5829-4c7a-a87e-18a6fc150b18_SiteId">
    <vt:lpwstr>7c2d3141-755f-485a-aaae-ca6b3055ca0c</vt:lpwstr>
  </property>
  <property fmtid="{D5CDD505-2E9C-101B-9397-08002B2CF9AE}" pid="7" name="MSIP_Label_66034dab-5829-4c7a-a87e-18a6fc150b18_ActionId">
    <vt:lpwstr>71638389-f8a7-4740-8bbc-fff401d40e68</vt:lpwstr>
  </property>
  <property fmtid="{D5CDD505-2E9C-101B-9397-08002B2CF9AE}" pid="8" name="MSIP_Label_66034dab-5829-4c7a-a87e-18a6fc150b18_ContentBits">
    <vt:lpwstr>0</vt:lpwstr>
  </property>
  <property fmtid="{D5CDD505-2E9C-101B-9397-08002B2CF9AE}" pid="9" name="MSIP_Label_66034dab-5829-4c7a-a87e-18a6fc150b18_Tag">
    <vt:lpwstr>10, 3, 0, 1</vt:lpwstr>
  </property>
  <property fmtid="{D5CDD505-2E9C-101B-9397-08002B2CF9AE}" pid="10" name="MSIP_Label_1ce9c13b-f1a3-4e5b-8875-1890574fd341_Enabled">
    <vt:lpwstr>true</vt:lpwstr>
  </property>
  <property fmtid="{D5CDD505-2E9C-101B-9397-08002B2CF9AE}" pid="11" name="MSIP_Label_1ce9c13b-f1a3-4e5b-8875-1890574fd341_SetDate">
    <vt:lpwstr>2026-09-23T06:11:39Z</vt:lpwstr>
  </property>
  <property fmtid="{D5CDD505-2E9C-101B-9397-08002B2CF9AE}" pid="12" name="MSIP_Label_1ce9c13b-f1a3-4e5b-8875-1890574fd341_Method">
    <vt:lpwstr>Standard</vt:lpwstr>
  </property>
  <property fmtid="{D5CDD505-2E9C-101B-9397-08002B2CF9AE}" pid="13" name="MSIP_Label_1ce9c13b-f1a3-4e5b-8875-1890574fd341_Name">
    <vt:lpwstr>Public</vt:lpwstr>
  </property>
  <property fmtid="{D5CDD505-2E9C-101B-9397-08002B2CF9AE}" pid="14" name="MSIP_Label_1ce9c13b-f1a3-4e5b-8875-1890574fd341_SiteId">
    <vt:lpwstr>f483e185-4618-4764-b311-a3d53d22e4db</vt:lpwstr>
  </property>
  <property fmtid="{D5CDD505-2E9C-101B-9397-08002B2CF9AE}" pid="15" name="MSIP_Label_1ce9c13b-f1a3-4e5b-8875-1890574fd341_ActionId">
    <vt:lpwstr>bfc8ccf7-a89a-4a0c-9c74-71d733b1a425</vt:lpwstr>
  </property>
  <property fmtid="{D5CDD505-2E9C-101B-9397-08002B2CF9AE}" pid="16" name="MSIP_Label_1ce9c13b-f1a3-4e5b-8875-1890574fd341_ContentBits">
    <vt:lpwstr>0</vt:lpwstr>
  </property>
  <property fmtid="{D5CDD505-2E9C-101B-9397-08002B2CF9AE}" pid="17" name="MSIP_Label_1ce9c13b-f1a3-4e5b-8875-1890574fd341_Tag">
    <vt:lpwstr>10, 3, 0, 1</vt:lpwstr>
  </property>
</Properties>
</file>