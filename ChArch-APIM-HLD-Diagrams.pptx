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 — APIM Service 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5.2 Logical Architecture Overview: logical components and how a request flows between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421" y="1631852"/>
            <a:ext cx="8567224" cy="664698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Platform + domain teams define APIs, products,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5781" y="2591972"/>
            <a:ext cx="2511083" cy="664698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0E3F6E"/>
                </a:solidFill>
                <a:latin typeface="Calibri"/>
              </a:rPr>
              <a:t>Developer portal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Microsoft-managed website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auto-generated, customisable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5418" y="2444261"/>
            <a:ext cx="2215661" cy="443132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Entra ID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Internal, corporate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25418" y="2710140"/>
            <a:ext cx="2215661" cy="443132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Entra ID B2B guest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External partner, own credentials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431323" y="2296550"/>
            <a:ext cx="147710" cy="273265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686864" y="2665827"/>
            <a:ext cx="694241" cy="221566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686864" y="2931707"/>
            <a:ext cx="694241" cy="10339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75781" y="3847513"/>
            <a:ext cx="1181686" cy="472674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Internal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5178" y="3847513"/>
            <a:ext cx="1181686" cy="472674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partner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 (B2B guest)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5781" y="4807633"/>
            <a:ext cx="3101926" cy="664698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0F6E56"/>
                </a:solidFill>
                <a:latin typeface="Calibri"/>
              </a:rPr>
              <a:t>APIM gateway (data plane)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Runtime authN/authZ, rate limits,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policy enforcement on every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2406" y="4807633"/>
            <a:ext cx="1698673" cy="664698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0F6E56"/>
                </a:solidFill>
                <a:latin typeface="Calibri"/>
              </a:rPr>
              <a:t>Backend services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77707" y="5139983"/>
            <a:ext cx="620385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66624" y="4320188"/>
            <a:ext cx="0" cy="465289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22166" y="4320188"/>
            <a:ext cx="73855" cy="465289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66624" y="3271441"/>
            <a:ext cx="295422" cy="576072"/>
          </a:xfrm>
          <a:prstGeom prst="line">
            <a:avLst/>
          </a:prstGeom>
          <a:ln w="1778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800600" y="3271441"/>
            <a:ext cx="295421" cy="576072"/>
          </a:xfrm>
          <a:prstGeom prst="line">
            <a:avLst/>
          </a:prstGeom>
          <a:ln w="1778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0" y="852133714"/>
            <a:ext cx="12191695" cy="2743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100" b="0" i="1">
                <a:solidFill>
                  <a:srgbClr val="5A6B7D"/>
                </a:solidFill>
                <a:latin typeface="Calibri"/>
              </a:rPr>
              <a:t>The portal publishes and mediates discovery and subscription; the gateway enforces every call at runtime.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3a — API Access Model and Security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5.3: internal and external paths converging on the same internal-mode gateway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54249" y="1843186"/>
            <a:ext cx="0" cy="284098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098826937" y="201018098"/>
            <a:ext cx="3657600" cy="2743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Internet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98369737" y="583237298"/>
            <a:ext cx="4572000" cy="2743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crossed only at the edge, by external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484" y="2229916"/>
            <a:ext cx="1784908" cy="535472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External consumer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public client / partner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82393" y="2497653"/>
            <a:ext cx="1383304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2991" y="2125797"/>
            <a:ext cx="2082393" cy="743711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0E3F6E"/>
                </a:solidFill>
                <a:latin typeface="Calibri"/>
              </a:rPr>
              <a:t>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TLS termination, OWASP rules,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rate limiting, IP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2991" y="3717340"/>
            <a:ext cx="1784908" cy="535472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Internal application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already inside the VNet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2211" y="2676143"/>
            <a:ext cx="2528620" cy="1487423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2032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4B3F8A"/>
                </a:solidFill>
                <a:latin typeface="Calibri"/>
              </a:rPr>
              <a:t>Azure API Management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Internal VNet mode — one instance, no public endpoint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External calls: OAuth 2.0 token validated at the gateway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Internal calls: Entra ID client credentials flow validated first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85385" y="2445593"/>
            <a:ext cx="937077" cy="676778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0" y="2200168"/>
            <a:ext cx="1338681" cy="223113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B3261E"/>
                </a:solidFill>
                <a:latin typeface="Calibri"/>
              </a:rPr>
              <a:t>Private Link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387900" y="3717340"/>
            <a:ext cx="1234562" cy="26773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1972" y="3776837"/>
            <a:ext cx="1636166" cy="223113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direct, no edge 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0172" y="3010814"/>
            <a:ext cx="2082393" cy="818083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0F6E56"/>
                </a:solidFill>
                <a:latin typeface="Calibri"/>
              </a:rPr>
              <a:t>Backend services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Functions, integration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services, Private Endpoint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0831" y="3419856"/>
            <a:ext cx="639593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7484" y="5353507"/>
            <a:ext cx="10635081" cy="11899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9AA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0000" rIns="40000" tIns="20000" bIns="20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76506098"/>
            <a:ext cx="5486400" cy="2743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200" b="1" i="0">
                <a:solidFill>
                  <a:srgbClr val="5A6B7D"/>
                </a:solidFill>
                <a:latin typeface="Calibri"/>
              </a:rPr>
              <a:t>Shared across every layer, inside the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5769985"/>
            <a:ext cx="2826105" cy="669340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3347" y="5769985"/>
            <a:ext cx="2826105" cy="669340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875324" y="4163567"/>
            <a:ext cx="1041197" cy="1591544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296400" y="3828897"/>
            <a:ext cx="594969" cy="1926214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3b — Ingress Flow (High-Level Azure APIM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6.1 Ingress flow: request path from external consumer to backend, with Private Link labelled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281" y="1506443"/>
            <a:ext cx="2687116" cy="509137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External consumer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67840" y="2015581"/>
            <a:ext cx="0" cy="50206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79980" y="2086295"/>
            <a:ext cx="1131417" cy="2121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1.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0E3F6E"/>
                </a:solidFill>
                <a:latin typeface="Calibri"/>
              </a:rPr>
              <a:t>Edge security</a:t>
            </a:r>
          </a:p>
          <a:p>
            <a:pPr algn="ctr"/>
            <a:r>
              <a:rPr sz="1100" b="0" i="0">
                <a:solidFill>
                  <a:srgbClr val="0E3F6E"/>
                </a:solidFill>
                <a:latin typeface="Calibri"/>
              </a:rPr>
              <a:t>Azure 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TLS, DDoS, bot protection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1398" y="3033857"/>
            <a:ext cx="890991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82112" y="2602504"/>
            <a:ext cx="848563" cy="169712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5A6B7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0684" y="3146999"/>
            <a:ext cx="1272844" cy="183855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B3261E"/>
                </a:solidFill>
                <a:latin typeface="Calibri"/>
              </a:rPr>
              <a:t>Private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2399" y="3302568"/>
            <a:ext cx="1414272" cy="155569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00" b="0" i="0">
                <a:solidFill>
                  <a:srgbClr val="B3261E"/>
                </a:solidFill>
                <a:latin typeface="Calibri"/>
              </a:rPr>
              <a:t>(Private Endpoint)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0675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4B3F8A"/>
                </a:solidFill>
                <a:latin typeface="Calibri"/>
              </a:rPr>
              <a:t>Azure API Management</a:t>
            </a:r>
          </a:p>
          <a:p>
            <a:pPr algn="ctr"/>
            <a:r>
              <a:rPr sz="1100" b="0" i="0">
                <a:solidFill>
                  <a:srgbClr val="4B3F8A"/>
                </a:solidFill>
                <a:latin typeface="Calibri"/>
              </a:rPr>
              <a:t>Internal gateway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Auth, policy, routing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17792" y="3033857"/>
            <a:ext cx="395996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8505" y="2602504"/>
            <a:ext cx="707136" cy="169712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5A6B7D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2073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651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0F6E56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Functions and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integration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" y="3967276"/>
            <a:ext cx="9404908" cy="12728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9AA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136" y="4235988"/>
            <a:ext cx="2828544" cy="2121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200" b="1" i="0">
                <a:solidFill>
                  <a:srgbClr val="5A6B7D"/>
                </a:solidFill>
                <a:latin typeface="Calibri"/>
              </a:rPr>
              <a:t>Shared across every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77" y="4412772"/>
            <a:ext cx="2969971" cy="671779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633" y="4412772"/>
            <a:ext cx="2969971" cy="671779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67840" y="3535923"/>
            <a:ext cx="537423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67840" y="3535923"/>
            <a:ext cx="5051779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305263" y="3535923"/>
            <a:ext cx="3068970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74233" y="3535923"/>
            <a:ext cx="1445386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305263" y="3535923"/>
            <a:ext cx="6180369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819619" y="3535923"/>
            <a:ext cx="1666013" cy="862706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10 — Which Flows Use the Palo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6.3 Topology and the guiding principle: outbound-only inspection; UDR terminology removed for Premium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21487999"/>
            <a:ext cx="10972800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Calibri"/>
              </a:rPr>
              <a:t>Inbound (no firewall)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" y="1625803"/>
            <a:ext cx="1382572" cy="460857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/</a:t>
            </a:r>
          </a:p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partner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13001" y="1856231"/>
            <a:ext cx="230429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24523" y="1717974"/>
            <a:ext cx="691286" cy="115214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50" b="0" i="0">
                <a:solidFill>
                  <a:srgbClr val="0F6E56"/>
                </a:solidFill>
                <a:latin typeface="Calibri"/>
              </a:rPr>
              <a:t>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6252" y="1545153"/>
            <a:ext cx="1613001" cy="576072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0E3F6E"/>
                </a:solidFill>
                <a:latin typeface="Calibri"/>
              </a:rPr>
              <a:t>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edge inspection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9253" y="1873514"/>
            <a:ext cx="195865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63817" y="1729496"/>
            <a:ext cx="633679" cy="103692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00" b="0" i="0">
                <a:solidFill>
                  <a:srgbClr val="0F6E56"/>
                </a:solidFill>
                <a:latin typeface="Calibri"/>
              </a:rPr>
              <a:t>Private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8147" y="1545153"/>
            <a:ext cx="1958644" cy="576072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4B3F8A"/>
                </a:solidFill>
                <a:latin typeface="Calibri"/>
              </a:rPr>
              <a:t>APIM internal-mode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gateway (spoke)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36792" y="1873514"/>
            <a:ext cx="195864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4828" y="1545153"/>
            <a:ext cx="1180947" cy="576072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0E3F6E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204" y="1637324"/>
            <a:ext cx="2649931" cy="345643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Internal / on-prem callers reach APIM directly over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the private network, also without the firewall.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7519999"/>
            <a:ext cx="10972800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B98A3E"/>
                </a:solidFill>
                <a:latin typeface="Calibri"/>
              </a:rPr>
              <a:t>Outbound to external third party (uses the firewall)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8147" y="3238804"/>
            <a:ext cx="1958644" cy="460857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4B3F8A"/>
                </a:solidFill>
                <a:latin typeface="Calibri"/>
              </a:rPr>
              <a:t>APIM / backend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outbound call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36792" y="3469233"/>
            <a:ext cx="668243" cy="0"/>
          </a:xfrm>
          <a:prstGeom prst="line">
            <a:avLst/>
          </a:prstGeom>
          <a:ln w="17780">
            <a:solidFill>
              <a:srgbClr val="B9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28963" y="3319454"/>
            <a:ext cx="806500" cy="115214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50" b="1" i="0">
                <a:solidFill>
                  <a:srgbClr val="B98A3E"/>
                </a:solidFill>
                <a:latin typeface="Calibri"/>
              </a:rPr>
              <a:t>egress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8078" y="3238804"/>
            <a:ext cx="1411376" cy="460857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Palo Alto</a:t>
            </a:r>
          </a:p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NVA or Cloud NGFW, egress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39454" y="3469233"/>
            <a:ext cx="380208" cy="0"/>
          </a:xfrm>
          <a:prstGeom prst="line">
            <a:avLst/>
          </a:prstGeom>
          <a:ln w="17780">
            <a:solidFill>
              <a:srgbClr val="B9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97062" y="3319454"/>
            <a:ext cx="633679" cy="115214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50" b="0" i="0">
                <a:solidFill>
                  <a:srgbClr val="B98A3E"/>
                </a:solidFill>
                <a:latin typeface="Calibri"/>
              </a:rPr>
              <a:t>inspected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705" y="3238804"/>
            <a:ext cx="1411376" cy="460857"/>
          </a:xfrm>
          <a:prstGeom prst="roundRect">
            <a:avLst>
              <a:gd name="adj" fmla="val 10000"/>
            </a:avLst>
          </a:prstGeom>
          <a:solidFill>
            <a:srgbClr val="EDECEA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third party</a:t>
            </a:r>
          </a:p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SaaS API outside Azure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08576" y="3699662"/>
            <a:ext cx="2649931" cy="426293"/>
          </a:xfrm>
          <a:prstGeom prst="line">
            <a:avLst/>
          </a:prstGeom>
          <a:ln w="17780">
            <a:solidFill>
              <a:srgbClr val="6B5F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28078" y="3930091"/>
            <a:ext cx="1411376" cy="391728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240">
            <a:solidFill>
              <a:srgbClr val="6B5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50" b="1" i="0">
                <a:solidFill>
                  <a:srgbClr val="4B3F8A"/>
                </a:solidFill>
                <a:latin typeface="Calibri"/>
              </a:rPr>
              <a:t>Azure control plane</a:t>
            </a:r>
          </a:p>
          <a:p>
            <a:pPr algn="ctr"/>
            <a:r>
              <a:rPr sz="900" b="0" i="0">
                <a:solidFill>
                  <a:srgbClr val="5A6B7D"/>
                </a:solidFill>
                <a:latin typeface="Calibri"/>
              </a:rPr>
              <a:t>service tag, bypasses firewall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9883" y="4010741"/>
            <a:ext cx="2649931" cy="288036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APIM to private/internal backends stays on the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private network, also bypassing the firewall.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32a — Bronze — Single Region, Single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14.1 Resilience Strategy: deployment topology for this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3" y="1472184"/>
            <a:ext cx="2496311" cy="480059"/>
          </a:xfrm>
          <a:prstGeom prst="roundRect">
            <a:avLst>
              <a:gd name="adj" fmla="val 50000"/>
            </a:avLst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" y="2336291"/>
            <a:ext cx="10561319" cy="3264408"/>
          </a:xfrm>
          <a:prstGeom prst="roundRect">
            <a:avLst>
              <a:gd name="adj" fmla="val 10000"/>
            </a:avLst>
          </a:prstGeom>
          <a:solidFill>
            <a:srgbClr val="E4ECF5"/>
          </a:solidFill>
          <a:ln w="1524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0000" rIns="40000" tIns="20000" bIns="20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" y="2432303"/>
            <a:ext cx="10273284" cy="288035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132040"/>
                </a:solidFill>
                <a:latin typeface="Calibri"/>
              </a:rPr>
              <a:t>UK South (single region)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1" y="2912364"/>
            <a:ext cx="10042855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32b — Silver — Single Region, Multiple Units (Zone-Redundant)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14.1 Resilience Strategy: deployment topology for this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3" y="1472184"/>
            <a:ext cx="2496311" cy="480059"/>
          </a:xfrm>
          <a:prstGeom prst="roundRect">
            <a:avLst>
              <a:gd name="adj" fmla="val 50000"/>
            </a:avLst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SILVER (Chosen baseline)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" y="2336291"/>
            <a:ext cx="10561319" cy="3264408"/>
          </a:xfrm>
          <a:prstGeom prst="roundRect">
            <a:avLst>
              <a:gd name="adj" fmla="val 10000"/>
            </a:avLst>
          </a:prstGeom>
          <a:solidFill>
            <a:srgbClr val="E4ECF5"/>
          </a:solidFill>
          <a:ln w="1524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0000" rIns="40000" tIns="20000" bIns="20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" y="2432303"/>
            <a:ext cx="10273284" cy="288035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132040"/>
                </a:solidFill>
                <a:latin typeface="Calibri"/>
              </a:rPr>
              <a:t>UK South — 3 Availability Zones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1" y="2912364"/>
            <a:ext cx="3258007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Zone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8495" y="2912364"/>
            <a:ext cx="3258007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Zone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19" y="2912364"/>
            <a:ext cx="3258007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Zone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32c — Gold — Multi-Region Active-Active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14.1 Resilience Strategy: deployment topology for this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3" y="1472184"/>
            <a:ext cx="2496311" cy="480059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" y="2336291"/>
            <a:ext cx="4800599" cy="3264408"/>
          </a:xfrm>
          <a:prstGeom prst="roundRect">
            <a:avLst>
              <a:gd name="adj" fmla="val 10000"/>
            </a:avLst>
          </a:prstGeom>
          <a:solidFill>
            <a:srgbClr val="E4ECF5"/>
          </a:solidFill>
          <a:ln w="1524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0000" rIns="40000" tIns="20000" bIns="20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" y="2432303"/>
            <a:ext cx="4512564" cy="288035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132040"/>
                </a:solidFill>
                <a:latin typeface="Calibri"/>
              </a:rPr>
              <a:t>UK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1" y="2912364"/>
            <a:ext cx="2073859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4347" y="2912364"/>
            <a:ext cx="2073859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68695" y="2336291"/>
            <a:ext cx="4800599" cy="3264408"/>
          </a:xfrm>
          <a:prstGeom prst="roundRect">
            <a:avLst>
              <a:gd name="adj" fmla="val 10000"/>
            </a:avLst>
          </a:prstGeom>
          <a:solidFill>
            <a:srgbClr val="E4ECF5"/>
          </a:solidFill>
          <a:ln w="1524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0000" rIns="40000" tIns="20000" bIns="20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2315" y="2432303"/>
            <a:ext cx="4512564" cy="288035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300" b="1" i="0">
                <a:solidFill>
                  <a:srgbClr val="132040"/>
                </a:solidFill>
                <a:latin typeface="Calibri"/>
              </a:rPr>
              <a:t>UK West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19" y="2912364"/>
            <a:ext cx="2073859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8996" y="2912364"/>
            <a:ext cx="2073859" cy="2208275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33 — Environment Cost by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15 Capacity, Cost and Service Tiers: four environments, tier and indicative monthly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1" y="5463328"/>
            <a:ext cx="2496311" cy="425407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778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132040"/>
                </a:solidFill>
                <a:latin typeface="Calibri"/>
              </a:rPr>
              <a:t>~£40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1" y="5984748"/>
            <a:ext cx="2496311" cy="576071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Dev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0420" y="5463328"/>
            <a:ext cx="2496311" cy="425407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778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132040"/>
                </a:solidFill>
                <a:latin typeface="Calibri"/>
              </a:rPr>
              <a:t>~£40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420" y="5984748"/>
            <a:ext cx="2496311" cy="576071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Test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7" y="3023147"/>
            <a:ext cx="2496311" cy="2865588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778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132040"/>
                </a:solidFill>
                <a:latin typeface="Calibri"/>
              </a:rPr>
              <a:t>~£2,400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7" y="5984748"/>
            <a:ext cx="2496311" cy="576071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UAT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Premium v2, 1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9115" y="2816352"/>
            <a:ext cx="2496311" cy="3072383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778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500" b="1" i="0">
                <a:solidFill>
                  <a:srgbClr val="132040"/>
                </a:solidFill>
                <a:latin typeface="Calibri"/>
              </a:rPr>
              <a:t>~£2,600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9115" y="5984748"/>
            <a:ext cx="2496311" cy="576071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Prod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Premium v2, zone-redundant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3984000"/>
            <a:ext cx="10972800" cy="36576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 i="1">
                <a:solidFill>
                  <a:srgbClr val="5A6B7D"/>
                </a:solidFill>
                <a:latin typeface="Calibri"/>
              </a:rPr>
              <a:t>Dev and Test share the low-cost Developer tier; UAT and Production both run Premium v2, with Production adding zone redundancy.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33a — Operating Model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16.1 Operational ownership and support tiers: three-tier escalation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4108" y="2720340"/>
            <a:ext cx="3264408" cy="1728216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778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0" i="1">
                <a:solidFill>
                  <a:srgbClr val="5A6B7D"/>
                </a:solidFill>
                <a:latin typeface="Calibri"/>
              </a:rPr>
              <a:t>Tier 1</a:t>
            </a:r>
          </a:p>
          <a:p>
            <a:pPr algn="ctr"/>
            <a:r>
              <a:rPr sz="1600" b="1" i="0">
                <a:solidFill>
                  <a:srgbClr val="132040"/>
                </a:solidFill>
                <a:latin typeface="Calibri"/>
              </a:rPr>
              <a:t>Service Desk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First response, triage,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known-issue resolution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28515" y="3584448"/>
            <a:ext cx="518465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47718" y="3296412"/>
            <a:ext cx="960119" cy="23042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00" b="0" i="1">
                <a:solidFill>
                  <a:srgbClr val="5A6B7D"/>
                </a:solidFill>
                <a:latin typeface="Calibri"/>
              </a:rPr>
              <a:t>escalates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4588" y="2720340"/>
            <a:ext cx="3264408" cy="1728216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778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0" i="1">
                <a:solidFill>
                  <a:srgbClr val="5A6B7D"/>
                </a:solidFill>
                <a:latin typeface="Calibri"/>
              </a:rPr>
              <a:t>Tier 2</a:t>
            </a:r>
          </a:p>
          <a:p>
            <a:pPr algn="ctr"/>
            <a:r>
              <a:rPr sz="1600" b="1" i="0">
                <a:solidFill>
                  <a:srgbClr val="132040"/>
                </a:solidFill>
                <a:latin typeface="Calibri"/>
              </a:rPr>
              <a:t>Platform Team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API-level issues, policy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and config changes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68996" y="3584448"/>
            <a:ext cx="518464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88198" y="3296412"/>
            <a:ext cx="960119" cy="23042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900" b="0" i="1">
                <a:solidFill>
                  <a:srgbClr val="5A6B7D"/>
                </a:solidFill>
                <a:latin typeface="Calibri"/>
              </a:rPr>
              <a:t>escalates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5067" y="2720340"/>
            <a:ext cx="3264408" cy="1728216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778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200" b="0" i="1">
                <a:solidFill>
                  <a:srgbClr val="5A6B7D"/>
                </a:solidFill>
                <a:latin typeface="Calibri"/>
              </a:rPr>
              <a:t>Tier 3</a:t>
            </a:r>
          </a:p>
          <a:p>
            <a:pPr algn="ctr"/>
            <a:r>
              <a:rPr sz="1600" b="1" i="0">
                <a:solidFill>
                  <a:srgbClr val="132040"/>
                </a:solidFill>
                <a:latin typeface="Calibri"/>
              </a:rPr>
              <a:t>Engineering / Vendor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Platform defects,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Microsoft support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" y="5120640"/>
            <a:ext cx="10945367" cy="864108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150" b="1" i="0">
                <a:solidFill>
                  <a:srgbClr val="8A6A1F"/>
                </a:solidFill>
                <a:latin typeface="Calibri"/>
              </a:rPr>
              <a:t>Break-glass path (Section 10.2): emergency platform-team access, bypassing the normal tier flow when APIOps itself is unavailable.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